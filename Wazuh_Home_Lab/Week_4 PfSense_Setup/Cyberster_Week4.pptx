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923"/>
        </a:solidFill>
      </p:bgPr>
    </p:bg>
    <p:spTree>
      <p:nvGrpSpPr>
        <p:cNvPr id="1" name=""/>
        <p:cNvGrpSpPr/>
        <p:nvPr/>
      </p:nvGrpSpPr>
      <p:grpSpPr>
        <a:xfrm>
          <a:off x="0" y="0"/>
          <a:ext cx="0" cy="0"/>
          <a:chOff x="0" y="0"/>
          <a:chExt cx="0" cy="0"/>
        </a:xfrm>
      </p:grpSpPr>
      <p:sp>
        <p:nvSpPr>
          <p:cNvPr id="2" name="Shape 0"/>
          <p:cNvSpPr/>
          <p:nvPr/>
        </p:nvSpPr>
        <p:spPr>
          <a:xfrm>
            <a:off x="0" y="0"/>
            <a:ext cx="9144000" cy="1463040"/>
          </a:xfrm>
          <a:prstGeom prst="rect">
            <a:avLst/>
          </a:prstGeom>
          <a:solidFill>
            <a:srgbClr val="0A1118"/>
          </a:solidFill>
          <a:ln w="12700">
            <a:solidFill>
              <a:srgbClr val="0A1118"/>
            </a:solidFill>
            <a:prstDash val="solid"/>
          </a:ln>
        </p:spPr>
      </p:sp>
      <p:sp>
        <p:nvSpPr>
          <p:cNvPr id="3" name="Shape 1"/>
          <p:cNvSpPr/>
          <p:nvPr/>
        </p:nvSpPr>
        <p:spPr>
          <a:xfrm>
            <a:off x="0" y="1426464"/>
            <a:ext cx="9144000" cy="54864"/>
          </a:xfrm>
          <a:prstGeom prst="rect">
            <a:avLst/>
          </a:prstGeom>
          <a:solidFill>
            <a:srgbClr val="00C9A7"/>
          </a:solidFill>
          <a:ln w="12700">
            <a:solidFill>
              <a:srgbClr val="00C9A7"/>
            </a:solidFill>
            <a:prstDash val="solid"/>
          </a:ln>
        </p:spPr>
      </p:sp>
      <p:sp>
        <p:nvSpPr>
          <p:cNvPr id="4" name="Text 2"/>
          <p:cNvSpPr/>
          <p:nvPr/>
        </p:nvSpPr>
        <p:spPr>
          <a:xfrm>
            <a:off x="457200" y="201168"/>
            <a:ext cx="8229600" cy="320040"/>
          </a:xfrm>
          <a:prstGeom prst="rect">
            <a:avLst/>
          </a:prstGeom>
          <a:noFill/>
          <a:ln/>
        </p:spPr>
        <p:txBody>
          <a:bodyPr wrap="square" lIns="0" tIns="0" rIns="0" bIns="0" rtlCol="0" anchor="ctr"/>
          <a:lstStyle/>
          <a:p>
            <a:pPr indent="0" marL="0">
              <a:buNone/>
            </a:pPr>
            <a:r>
              <a:rPr lang="en-US" sz="1200" b="1" spc="400" kern="0" dirty="0">
                <a:solidFill>
                  <a:srgbClr val="00C9A7"/>
                </a:solidFill>
                <a:latin typeface="Calibri" pitchFamily="34" charset="0"/>
                <a:ea typeface="Calibri" pitchFamily="34" charset="-122"/>
                <a:cs typeface="Calibri" pitchFamily="34" charset="-120"/>
              </a:rPr>
              <a:t>CYBERSTER BLUE TEAM INTERNSHIP</a:t>
            </a:r>
            <a:endParaRPr lang="en-US" sz="1200" dirty="0"/>
          </a:p>
        </p:txBody>
      </p:sp>
      <p:sp>
        <p:nvSpPr>
          <p:cNvPr id="5" name="Text 3"/>
          <p:cNvSpPr/>
          <p:nvPr/>
        </p:nvSpPr>
        <p:spPr>
          <a:xfrm>
            <a:off x="457200" y="548640"/>
            <a:ext cx="8229600" cy="804672"/>
          </a:xfrm>
          <a:prstGeom prst="rect">
            <a:avLst/>
          </a:prstGeom>
          <a:noFill/>
          <a:ln/>
        </p:spPr>
        <p:txBody>
          <a:bodyPr wrap="square" lIns="0" tIns="0" rIns="0" bIns="0" rtlCol="0" anchor="ctr"/>
          <a:lstStyle/>
          <a:p>
            <a:pPr indent="0" marL="0">
              <a:buNone/>
            </a:pPr>
            <a:r>
              <a:rPr lang="en-US" sz="4600" b="1" dirty="0">
                <a:solidFill>
                  <a:srgbClr val="FFFFFF"/>
                </a:solidFill>
                <a:latin typeface="Calibri" pitchFamily="34" charset="0"/>
                <a:ea typeface="Calibri" pitchFamily="34" charset="-122"/>
                <a:cs typeface="Calibri" pitchFamily="34" charset="-120"/>
              </a:rPr>
              <a:t>Week 4 Masterclass</a:t>
            </a:r>
            <a:endParaRPr lang="en-US" sz="4600" dirty="0"/>
          </a:p>
        </p:txBody>
      </p:sp>
      <p:sp>
        <p:nvSpPr>
          <p:cNvPr id="6" name="Text 4"/>
          <p:cNvSpPr/>
          <p:nvPr/>
        </p:nvSpPr>
        <p:spPr>
          <a:xfrm>
            <a:off x="457200" y="1664208"/>
            <a:ext cx="8229600" cy="347472"/>
          </a:xfrm>
          <a:prstGeom prst="rect">
            <a:avLst/>
          </a:prstGeom>
          <a:noFill/>
          <a:ln/>
        </p:spPr>
        <p:txBody>
          <a:bodyPr wrap="square" lIns="0" tIns="0" rIns="0" bIns="0" rtlCol="0" anchor="ctr"/>
          <a:lstStyle/>
          <a:p>
            <a:pPr indent="0" marL="0">
              <a:buNone/>
            </a:pPr>
            <a:r>
              <a:rPr lang="en-US" sz="1500" i="1" dirty="0">
                <a:solidFill>
                  <a:srgbClr val="4FC3F7"/>
                </a:solidFill>
                <a:latin typeface="Calibri" pitchFamily="34" charset="0"/>
                <a:ea typeface="Calibri" pitchFamily="34" charset="-122"/>
                <a:cs typeface="Calibri" pitchFamily="34" charset="-120"/>
              </a:rPr>
              <a:t>pfSense Firewall  ·  Threat Intelligence  ·  Vulnerability Assessment  ·  SOC Reporting</a:t>
            </a:r>
            <a:endParaRPr lang="en-US" sz="1500" dirty="0"/>
          </a:p>
        </p:txBody>
      </p:sp>
      <p:sp>
        <p:nvSpPr>
          <p:cNvPr id="7" name="Shape 5"/>
          <p:cNvSpPr/>
          <p:nvPr/>
        </p:nvSpPr>
        <p:spPr>
          <a:xfrm>
            <a:off x="457200" y="2487168"/>
            <a:ext cx="2743200" cy="640080"/>
          </a:xfrm>
          <a:prstGeom prst="rect">
            <a:avLst/>
          </a:prstGeom>
          <a:solidFill>
            <a:srgbClr val="162230"/>
          </a:solidFill>
          <a:ln w="12700">
            <a:solidFill>
              <a:srgbClr val="162230"/>
            </a:solidFill>
            <a:prstDash val="solid"/>
          </a:ln>
        </p:spPr>
      </p:sp>
      <p:sp>
        <p:nvSpPr>
          <p:cNvPr id="8" name="Shape 6"/>
          <p:cNvSpPr/>
          <p:nvPr/>
        </p:nvSpPr>
        <p:spPr>
          <a:xfrm>
            <a:off x="457200" y="2487168"/>
            <a:ext cx="45720" cy="640080"/>
          </a:xfrm>
          <a:prstGeom prst="rect">
            <a:avLst/>
          </a:prstGeom>
          <a:solidFill>
            <a:srgbClr val="00C9A7"/>
          </a:solidFill>
          <a:ln w="12700">
            <a:solidFill>
              <a:srgbClr val="00C9A7"/>
            </a:solidFill>
            <a:prstDash val="solid"/>
          </a:ln>
        </p:spPr>
      </p:sp>
      <p:sp>
        <p:nvSpPr>
          <p:cNvPr id="9" name="Text 7"/>
          <p:cNvSpPr/>
          <p:nvPr/>
        </p:nvSpPr>
        <p:spPr>
          <a:xfrm>
            <a:off x="566928" y="2505456"/>
            <a:ext cx="2560320" cy="201168"/>
          </a:xfrm>
          <a:prstGeom prst="rect">
            <a:avLst/>
          </a:prstGeom>
          <a:noFill/>
          <a:ln/>
        </p:spPr>
        <p:txBody>
          <a:bodyPr wrap="square" lIns="0" tIns="0" rIns="0" bIns="0" rtlCol="0" anchor="ctr"/>
          <a:lstStyle/>
          <a:p>
            <a:pPr indent="0" marL="0">
              <a:buNone/>
            </a:pPr>
            <a:r>
              <a:rPr lang="en-US" sz="900" b="1" spc="200" kern="0" dirty="0">
                <a:solidFill>
                  <a:srgbClr val="00C9A7"/>
                </a:solidFill>
                <a:latin typeface="Calibri" pitchFamily="34" charset="0"/>
                <a:ea typeface="Calibri" pitchFamily="34" charset="-122"/>
                <a:cs typeface="Calibri" pitchFamily="34" charset="-120"/>
              </a:rPr>
              <a:t>SESSION</a:t>
            </a:r>
            <a:endParaRPr lang="en-US" sz="900" dirty="0"/>
          </a:p>
        </p:txBody>
      </p:sp>
      <p:sp>
        <p:nvSpPr>
          <p:cNvPr id="10" name="Text 8"/>
          <p:cNvSpPr/>
          <p:nvPr/>
        </p:nvSpPr>
        <p:spPr>
          <a:xfrm>
            <a:off x="566928" y="2706624"/>
            <a:ext cx="2560320" cy="256032"/>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Live Masterclass</a:t>
            </a:r>
            <a:endParaRPr lang="en-US" sz="1300" dirty="0"/>
          </a:p>
        </p:txBody>
      </p:sp>
      <p:sp>
        <p:nvSpPr>
          <p:cNvPr id="11" name="Shape 9"/>
          <p:cNvSpPr/>
          <p:nvPr/>
        </p:nvSpPr>
        <p:spPr>
          <a:xfrm>
            <a:off x="3383280" y="2487168"/>
            <a:ext cx="2743200" cy="640080"/>
          </a:xfrm>
          <a:prstGeom prst="rect">
            <a:avLst/>
          </a:prstGeom>
          <a:solidFill>
            <a:srgbClr val="162230"/>
          </a:solidFill>
          <a:ln w="12700">
            <a:solidFill>
              <a:srgbClr val="162230"/>
            </a:solidFill>
            <a:prstDash val="solid"/>
          </a:ln>
        </p:spPr>
      </p:sp>
      <p:sp>
        <p:nvSpPr>
          <p:cNvPr id="12" name="Shape 10"/>
          <p:cNvSpPr/>
          <p:nvPr/>
        </p:nvSpPr>
        <p:spPr>
          <a:xfrm>
            <a:off x="3383280" y="2487168"/>
            <a:ext cx="45720" cy="640080"/>
          </a:xfrm>
          <a:prstGeom prst="rect">
            <a:avLst/>
          </a:prstGeom>
          <a:solidFill>
            <a:srgbClr val="00C9A7"/>
          </a:solidFill>
          <a:ln w="12700">
            <a:solidFill>
              <a:srgbClr val="00C9A7"/>
            </a:solidFill>
            <a:prstDash val="solid"/>
          </a:ln>
        </p:spPr>
      </p:sp>
      <p:sp>
        <p:nvSpPr>
          <p:cNvPr id="13" name="Text 11"/>
          <p:cNvSpPr/>
          <p:nvPr/>
        </p:nvSpPr>
        <p:spPr>
          <a:xfrm>
            <a:off x="3493008" y="2505456"/>
            <a:ext cx="2560320" cy="201168"/>
          </a:xfrm>
          <a:prstGeom prst="rect">
            <a:avLst/>
          </a:prstGeom>
          <a:noFill/>
          <a:ln/>
        </p:spPr>
        <p:txBody>
          <a:bodyPr wrap="square" lIns="0" tIns="0" rIns="0" bIns="0" rtlCol="0" anchor="ctr"/>
          <a:lstStyle/>
          <a:p>
            <a:pPr indent="0" marL="0">
              <a:buNone/>
            </a:pPr>
            <a:r>
              <a:rPr lang="en-US" sz="900" b="1" spc="200" kern="0" dirty="0">
                <a:solidFill>
                  <a:srgbClr val="00C9A7"/>
                </a:solidFill>
                <a:latin typeface="Calibri" pitchFamily="34" charset="0"/>
                <a:ea typeface="Calibri" pitchFamily="34" charset="-122"/>
                <a:cs typeface="Calibri" pitchFamily="34" charset="-120"/>
              </a:rPr>
              <a:t>PHASE</a:t>
            </a:r>
            <a:endParaRPr lang="en-US" sz="900" dirty="0"/>
          </a:p>
        </p:txBody>
      </p:sp>
      <p:sp>
        <p:nvSpPr>
          <p:cNvPr id="14" name="Text 12"/>
          <p:cNvSpPr/>
          <p:nvPr/>
        </p:nvSpPr>
        <p:spPr>
          <a:xfrm>
            <a:off x="3493008" y="2706624"/>
            <a:ext cx="2560320" cy="256032"/>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Phase One  ·  Week 4</a:t>
            </a:r>
            <a:endParaRPr lang="en-US" sz="1300" dirty="0"/>
          </a:p>
        </p:txBody>
      </p:sp>
      <p:sp>
        <p:nvSpPr>
          <p:cNvPr id="15" name="Shape 13"/>
          <p:cNvSpPr/>
          <p:nvPr/>
        </p:nvSpPr>
        <p:spPr>
          <a:xfrm>
            <a:off x="6309360" y="2487168"/>
            <a:ext cx="2743200" cy="640080"/>
          </a:xfrm>
          <a:prstGeom prst="rect">
            <a:avLst/>
          </a:prstGeom>
          <a:solidFill>
            <a:srgbClr val="162230"/>
          </a:solidFill>
          <a:ln w="12700">
            <a:solidFill>
              <a:srgbClr val="162230"/>
            </a:solidFill>
            <a:prstDash val="solid"/>
          </a:ln>
        </p:spPr>
      </p:sp>
      <p:sp>
        <p:nvSpPr>
          <p:cNvPr id="16" name="Shape 14"/>
          <p:cNvSpPr/>
          <p:nvPr/>
        </p:nvSpPr>
        <p:spPr>
          <a:xfrm>
            <a:off x="6309360" y="2487168"/>
            <a:ext cx="45720" cy="640080"/>
          </a:xfrm>
          <a:prstGeom prst="rect">
            <a:avLst/>
          </a:prstGeom>
          <a:solidFill>
            <a:srgbClr val="00C9A7"/>
          </a:solidFill>
          <a:ln w="12700">
            <a:solidFill>
              <a:srgbClr val="00C9A7"/>
            </a:solidFill>
            <a:prstDash val="solid"/>
          </a:ln>
        </p:spPr>
      </p:sp>
      <p:sp>
        <p:nvSpPr>
          <p:cNvPr id="17" name="Text 15"/>
          <p:cNvSpPr/>
          <p:nvPr/>
        </p:nvSpPr>
        <p:spPr>
          <a:xfrm>
            <a:off x="6419088" y="2505456"/>
            <a:ext cx="2560320" cy="201168"/>
          </a:xfrm>
          <a:prstGeom prst="rect">
            <a:avLst/>
          </a:prstGeom>
          <a:noFill/>
          <a:ln/>
        </p:spPr>
        <p:txBody>
          <a:bodyPr wrap="square" lIns="0" tIns="0" rIns="0" bIns="0" rtlCol="0" anchor="ctr"/>
          <a:lstStyle/>
          <a:p>
            <a:pPr indent="0" marL="0">
              <a:buNone/>
            </a:pPr>
            <a:r>
              <a:rPr lang="en-US" sz="900" b="1" spc="200" kern="0" dirty="0">
                <a:solidFill>
                  <a:srgbClr val="00C9A7"/>
                </a:solidFill>
                <a:latin typeface="Calibri" pitchFamily="34" charset="0"/>
                <a:ea typeface="Calibri" pitchFamily="34" charset="-122"/>
                <a:cs typeface="Calibri" pitchFamily="34" charset="-120"/>
              </a:rPr>
              <a:t>DURATION</a:t>
            </a:r>
            <a:endParaRPr lang="en-US" sz="900" dirty="0"/>
          </a:p>
        </p:txBody>
      </p:sp>
      <p:sp>
        <p:nvSpPr>
          <p:cNvPr id="18" name="Text 16"/>
          <p:cNvSpPr/>
          <p:nvPr/>
        </p:nvSpPr>
        <p:spPr>
          <a:xfrm>
            <a:off x="6419088" y="2706624"/>
            <a:ext cx="2560320" cy="256032"/>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60 Minutes</a:t>
            </a:r>
            <a:endParaRPr lang="en-US" sz="1300" dirty="0"/>
          </a:p>
        </p:txBody>
      </p:sp>
      <p:sp>
        <p:nvSpPr>
          <p:cNvPr id="19" name="Shape 17"/>
          <p:cNvSpPr/>
          <p:nvPr/>
        </p:nvSpPr>
        <p:spPr>
          <a:xfrm>
            <a:off x="0" y="4983480"/>
            <a:ext cx="9144000" cy="160020"/>
          </a:xfrm>
          <a:prstGeom prst="rect">
            <a:avLst/>
          </a:prstGeom>
          <a:solidFill>
            <a:srgbClr val="0A1118"/>
          </a:solidFill>
          <a:ln w="12700">
            <a:solidFill>
              <a:srgbClr val="0A1118"/>
            </a:solidFill>
            <a:prstDash val="solid"/>
          </a:ln>
        </p:spPr>
      </p:sp>
      <p:sp>
        <p:nvSpPr>
          <p:cNvPr id="20" name="Text 18"/>
          <p:cNvSpPr/>
          <p:nvPr/>
        </p:nvSpPr>
        <p:spPr>
          <a:xfrm>
            <a:off x="182880" y="4974336"/>
            <a:ext cx="8778240" cy="164592"/>
          </a:xfrm>
          <a:prstGeom prst="rect">
            <a:avLst/>
          </a:prstGeom>
          <a:noFill/>
          <a:ln/>
        </p:spPr>
        <p:txBody>
          <a:bodyPr wrap="square" lIns="0" tIns="0" rIns="0" bIns="0" rtlCol="0" anchor="ctr"/>
          <a:lstStyle/>
          <a:p>
            <a:pPr indent="0" marL="0">
              <a:buNone/>
            </a:pPr>
            <a:r>
              <a:rPr lang="en-US" sz="900" dirty="0">
                <a:solidFill>
                  <a:srgbClr val="8CA3B5"/>
                </a:solidFill>
                <a:latin typeface="Calibri" pitchFamily="34" charset="0"/>
                <a:ea typeface="Calibri" pitchFamily="34" charset="-122"/>
                <a:cs typeface="Calibri" pitchFamily="34" charset="-120"/>
              </a:rPr>
              <a:t>Cyberster Blue Team  ·  Week 4 Masterclass</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923"/>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00C9A7"/>
          </a:solidFill>
          <a:ln w="12700">
            <a:solidFill>
              <a:srgbClr val="00C9A7"/>
            </a:solidFill>
            <a:prstDash val="solid"/>
          </a:ln>
        </p:spPr>
      </p:sp>
      <p:sp>
        <p:nvSpPr>
          <p:cNvPr id="3" name="Text 1"/>
          <p:cNvSpPr/>
          <p:nvPr/>
        </p:nvSpPr>
        <p:spPr>
          <a:xfrm>
            <a:off x="201168" y="256032"/>
            <a:ext cx="8503920" cy="566928"/>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Where We Are After Week 3</a:t>
            </a:r>
            <a:endParaRPr lang="en-US" sz="2800" dirty="0"/>
          </a:p>
        </p:txBody>
      </p:sp>
      <p:sp>
        <p:nvSpPr>
          <p:cNvPr id="4" name="Text 2"/>
          <p:cNvSpPr/>
          <p:nvPr/>
        </p:nvSpPr>
        <p:spPr>
          <a:xfrm>
            <a:off x="201168" y="786384"/>
            <a:ext cx="8503920" cy="237744"/>
          </a:xfrm>
          <a:prstGeom prst="rect">
            <a:avLst/>
          </a:prstGeom>
          <a:noFill/>
          <a:ln/>
        </p:spPr>
        <p:txBody>
          <a:bodyPr wrap="square" lIns="0" tIns="0" rIns="0" bIns="0" rtlCol="0" anchor="ctr"/>
          <a:lstStyle/>
          <a:p>
            <a:pPr indent="0" marL="0">
              <a:buNone/>
            </a:pPr>
            <a:r>
              <a:rPr lang="en-US" sz="1300" i="1" dirty="0">
                <a:solidFill>
                  <a:srgbClr val="00C9A7"/>
                </a:solidFill>
                <a:latin typeface="Calibri" pitchFamily="34" charset="0"/>
                <a:ea typeface="Calibri" pitchFamily="34" charset="-122"/>
                <a:cs typeface="Calibri" pitchFamily="34" charset="-120"/>
              </a:rPr>
              <a:t>What the lab has, what it is still missing</a:t>
            </a:r>
            <a:endParaRPr lang="en-US" sz="1300" dirty="0"/>
          </a:p>
        </p:txBody>
      </p:sp>
      <p:sp>
        <p:nvSpPr>
          <p:cNvPr id="5" name="Shape 3"/>
          <p:cNvSpPr/>
          <p:nvPr/>
        </p:nvSpPr>
        <p:spPr>
          <a:xfrm>
            <a:off x="0" y="4983480"/>
            <a:ext cx="9144000" cy="160020"/>
          </a:xfrm>
          <a:prstGeom prst="rect">
            <a:avLst/>
          </a:prstGeom>
          <a:solidFill>
            <a:srgbClr val="0A1118"/>
          </a:solidFill>
          <a:ln w="12700">
            <a:solidFill>
              <a:srgbClr val="0A1118"/>
            </a:solidFill>
            <a:prstDash val="solid"/>
          </a:ln>
        </p:spPr>
      </p:sp>
      <p:sp>
        <p:nvSpPr>
          <p:cNvPr id="6" name="Text 4"/>
          <p:cNvSpPr/>
          <p:nvPr/>
        </p:nvSpPr>
        <p:spPr>
          <a:xfrm>
            <a:off x="182880" y="4974336"/>
            <a:ext cx="8778240" cy="164592"/>
          </a:xfrm>
          <a:prstGeom prst="rect">
            <a:avLst/>
          </a:prstGeom>
          <a:noFill/>
          <a:ln/>
        </p:spPr>
        <p:txBody>
          <a:bodyPr wrap="square" lIns="0" tIns="0" rIns="0" bIns="0" rtlCol="0" anchor="ctr"/>
          <a:lstStyle/>
          <a:p>
            <a:pPr indent="0" marL="0">
              <a:buNone/>
            </a:pPr>
            <a:r>
              <a:rPr lang="en-US" sz="900" dirty="0">
                <a:solidFill>
                  <a:srgbClr val="8CA3B5"/>
                </a:solidFill>
                <a:latin typeface="Calibri" pitchFamily="34" charset="0"/>
                <a:ea typeface="Calibri" pitchFamily="34" charset="-122"/>
                <a:cs typeface="Calibri" pitchFamily="34" charset="-120"/>
              </a:rPr>
              <a:t>Cyberster Blue Team  ·  Week 4 Masterclass</a:t>
            </a:r>
            <a:endParaRPr lang="en-US" sz="900" dirty="0"/>
          </a:p>
        </p:txBody>
      </p:sp>
      <p:sp>
        <p:nvSpPr>
          <p:cNvPr id="7" name="Shape 5"/>
          <p:cNvSpPr/>
          <p:nvPr/>
        </p:nvSpPr>
        <p:spPr>
          <a:xfrm>
            <a:off x="201168" y="1042416"/>
            <a:ext cx="1828800" cy="246888"/>
          </a:xfrm>
          <a:prstGeom prst="rect">
            <a:avLst/>
          </a:prstGeom>
          <a:solidFill>
            <a:srgbClr val="00C9A7"/>
          </a:solidFill>
          <a:ln w="12700">
            <a:solidFill>
              <a:srgbClr val="00C9A7"/>
            </a:solidFill>
            <a:prstDash val="solid"/>
          </a:ln>
        </p:spPr>
      </p:sp>
      <p:sp>
        <p:nvSpPr>
          <p:cNvPr id="8" name="Text 6"/>
          <p:cNvSpPr/>
          <p:nvPr/>
        </p:nvSpPr>
        <p:spPr>
          <a:xfrm>
            <a:off x="201168" y="1033272"/>
            <a:ext cx="1828800" cy="256032"/>
          </a:xfrm>
          <a:prstGeom prst="rect">
            <a:avLst/>
          </a:prstGeom>
          <a:noFill/>
          <a:ln/>
        </p:spPr>
        <p:txBody>
          <a:bodyPr wrap="square" lIns="50800" tIns="50800" rIns="50800" bIns="50800" rtlCol="0" anchor="ctr"/>
          <a:lstStyle/>
          <a:p>
            <a:pPr algn="ctr" indent="0" marL="0">
              <a:buNone/>
            </a:pPr>
            <a:r>
              <a:rPr lang="en-US" sz="1000" b="1" dirty="0">
                <a:solidFill>
                  <a:srgbClr val="0A1118"/>
                </a:solidFill>
                <a:latin typeface="Calibri" pitchFamily="34" charset="0"/>
                <a:ea typeface="Calibri" pitchFamily="34" charset="-122"/>
                <a:cs typeface="Calibri" pitchFamily="34" charset="-120"/>
              </a:rPr>
              <a:t>CONTEXT</a:t>
            </a:r>
            <a:endParaRPr lang="en-US" sz="1000" dirty="0"/>
          </a:p>
        </p:txBody>
      </p:sp>
      <p:sp>
        <p:nvSpPr>
          <p:cNvPr id="9" name="Shape 7"/>
          <p:cNvSpPr/>
          <p:nvPr/>
        </p:nvSpPr>
        <p:spPr>
          <a:xfrm>
            <a:off x="201168" y="1371600"/>
            <a:ext cx="4251960" cy="3401568"/>
          </a:xfrm>
          <a:prstGeom prst="rect">
            <a:avLst/>
          </a:prstGeom>
          <a:solidFill>
            <a:srgbClr val="162230"/>
          </a:solidFill>
          <a:ln w="12700">
            <a:solidFill>
              <a:srgbClr val="162230"/>
            </a:solidFill>
            <a:prstDash val="solid"/>
          </a:ln>
          <a:effectLst>
            <a:outerShdw sx="100000" sy="100000" kx="0" ky="0" algn="bl" rotWithShape="0" blurRad="101600" dist="38100" dir="8100000">
              <a:srgbClr val="000000">
                <a:alpha val="25000"/>
              </a:srgbClr>
            </a:outerShdw>
          </a:effectLst>
        </p:spPr>
      </p:sp>
      <p:sp>
        <p:nvSpPr>
          <p:cNvPr id="10" name="Shape 8"/>
          <p:cNvSpPr/>
          <p:nvPr/>
        </p:nvSpPr>
        <p:spPr>
          <a:xfrm>
            <a:off x="201168" y="1371600"/>
            <a:ext cx="45720" cy="3401568"/>
          </a:xfrm>
          <a:prstGeom prst="rect">
            <a:avLst/>
          </a:prstGeom>
          <a:solidFill>
            <a:srgbClr val="00C9A7"/>
          </a:solidFill>
          <a:ln w="12700">
            <a:solidFill>
              <a:srgbClr val="00C9A7"/>
            </a:solidFill>
            <a:prstDash val="solid"/>
          </a:ln>
        </p:spPr>
      </p:sp>
      <p:sp>
        <p:nvSpPr>
          <p:cNvPr id="11" name="Text 9"/>
          <p:cNvSpPr/>
          <p:nvPr/>
        </p:nvSpPr>
        <p:spPr>
          <a:xfrm>
            <a:off x="329184" y="1463040"/>
            <a:ext cx="3986784" cy="274320"/>
          </a:xfrm>
          <a:prstGeom prst="rect">
            <a:avLst/>
          </a:prstGeom>
          <a:noFill/>
          <a:ln/>
        </p:spPr>
        <p:txBody>
          <a:bodyPr wrap="square" lIns="0" tIns="0" rIns="0" bIns="0" rtlCol="0" anchor="ctr"/>
          <a:lstStyle/>
          <a:p>
            <a:pPr indent="0" marL="0">
              <a:buNone/>
            </a:pPr>
            <a:r>
              <a:rPr lang="en-US" sz="1400" b="1" dirty="0">
                <a:solidFill>
                  <a:srgbClr val="00C9A7"/>
                </a:solidFill>
                <a:latin typeface="Calibri" pitchFamily="34" charset="0"/>
                <a:ea typeface="Calibri" pitchFamily="34" charset="-122"/>
                <a:cs typeface="Calibri" pitchFamily="34" charset="-120"/>
              </a:rPr>
              <a:t>What your lab can do right now</a:t>
            </a:r>
            <a:endParaRPr lang="en-US" sz="1400" dirty="0"/>
          </a:p>
        </p:txBody>
      </p:sp>
      <p:sp>
        <p:nvSpPr>
          <p:cNvPr id="12" name="Text 10"/>
          <p:cNvSpPr/>
          <p:nvPr/>
        </p:nvSpPr>
        <p:spPr>
          <a:xfrm>
            <a:off x="329184" y="1792224"/>
            <a:ext cx="3986784" cy="2834640"/>
          </a:xfrm>
          <a:prstGeom prst="rect">
            <a:avLst/>
          </a:prstGeom>
          <a:noFill/>
          <a:ln/>
        </p:spPr>
        <p:txBody>
          <a:bodyPr wrap="square" rtlCol="0" anchor="ctr"/>
          <a:lstStyle/>
          <a:p>
            <a:pPr marL="342900" indent="-342900">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Collect logs from Linux and Windows agents</a:t>
            </a:r>
            <a:endParaRPr lang="en-US" sz="1200" dirty="0"/>
          </a:p>
          <a:p>
            <a:pPr marL="342900" indent="-342900">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Alert on file system changes in real time</a:t>
            </a:r>
            <a:endParaRPr lang="en-US" sz="1200" dirty="0"/>
          </a:p>
          <a:p>
            <a:pPr marL="342900" indent="-342900">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Detect SSH brute force with custom rules</a:t>
            </a:r>
            <a:endParaRPr lang="en-US" sz="1200" dirty="0"/>
          </a:p>
          <a:p>
            <a:pPr marL="342900" indent="-342900">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Inspect network packets with Suricata</a:t>
            </a:r>
            <a:endParaRPr lang="en-US" sz="1200" dirty="0"/>
          </a:p>
          <a:p>
            <a:pPr marL="342900" indent="-342900">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Correlate host and network events in one dashboard</a:t>
            </a:r>
            <a:endParaRPr lang="en-US" sz="1200" dirty="0"/>
          </a:p>
          <a:p>
            <a:pPr marL="342900" indent="-342900">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Block IPs automatically with active response</a:t>
            </a:r>
            <a:endParaRPr lang="en-US" sz="1200" dirty="0"/>
          </a:p>
        </p:txBody>
      </p:sp>
      <p:sp>
        <p:nvSpPr>
          <p:cNvPr id="13" name="Shape 11"/>
          <p:cNvSpPr/>
          <p:nvPr/>
        </p:nvSpPr>
        <p:spPr>
          <a:xfrm>
            <a:off x="4645152" y="1371600"/>
            <a:ext cx="4297680" cy="3401568"/>
          </a:xfrm>
          <a:prstGeom prst="rect">
            <a:avLst/>
          </a:prstGeom>
          <a:solidFill>
            <a:srgbClr val="162230"/>
          </a:solidFill>
          <a:ln w="12700">
            <a:solidFill>
              <a:srgbClr val="162230"/>
            </a:solidFill>
            <a:prstDash val="solid"/>
          </a:ln>
          <a:effectLst>
            <a:outerShdw sx="100000" sy="100000" kx="0" ky="0" algn="bl" rotWithShape="0" blurRad="101600" dist="38100" dir="8100000">
              <a:srgbClr val="000000">
                <a:alpha val="25000"/>
              </a:srgbClr>
            </a:outerShdw>
          </a:effectLst>
        </p:spPr>
      </p:sp>
      <p:sp>
        <p:nvSpPr>
          <p:cNvPr id="14" name="Shape 12"/>
          <p:cNvSpPr/>
          <p:nvPr/>
        </p:nvSpPr>
        <p:spPr>
          <a:xfrm>
            <a:off x="4645152" y="1371600"/>
            <a:ext cx="45720" cy="3401568"/>
          </a:xfrm>
          <a:prstGeom prst="rect">
            <a:avLst/>
          </a:prstGeom>
          <a:solidFill>
            <a:srgbClr val="E05252"/>
          </a:solidFill>
          <a:ln w="12700">
            <a:solidFill>
              <a:srgbClr val="E05252"/>
            </a:solidFill>
            <a:prstDash val="solid"/>
          </a:ln>
        </p:spPr>
      </p:sp>
      <p:sp>
        <p:nvSpPr>
          <p:cNvPr id="15" name="Text 13"/>
          <p:cNvSpPr/>
          <p:nvPr/>
        </p:nvSpPr>
        <p:spPr>
          <a:xfrm>
            <a:off x="4773168" y="1463040"/>
            <a:ext cx="4041648" cy="274320"/>
          </a:xfrm>
          <a:prstGeom prst="rect">
            <a:avLst/>
          </a:prstGeom>
          <a:noFill/>
          <a:ln/>
        </p:spPr>
        <p:txBody>
          <a:bodyPr wrap="square" lIns="0" tIns="0" rIns="0" bIns="0" rtlCol="0" anchor="ctr"/>
          <a:lstStyle/>
          <a:p>
            <a:pPr indent="0" marL="0">
              <a:buNone/>
            </a:pPr>
            <a:r>
              <a:rPr lang="en-US" sz="1400" b="1" dirty="0">
                <a:solidFill>
                  <a:srgbClr val="E05252"/>
                </a:solidFill>
                <a:latin typeface="Calibri" pitchFamily="34" charset="0"/>
                <a:ea typeface="Calibri" pitchFamily="34" charset="-122"/>
                <a:cs typeface="Calibri" pitchFamily="34" charset="-120"/>
              </a:rPr>
              <a:t>What is still missing</a:t>
            </a:r>
            <a:endParaRPr lang="en-US" sz="1400" dirty="0"/>
          </a:p>
        </p:txBody>
      </p:sp>
      <p:sp>
        <p:nvSpPr>
          <p:cNvPr id="16" name="Text 14"/>
          <p:cNvSpPr/>
          <p:nvPr/>
        </p:nvSpPr>
        <p:spPr>
          <a:xfrm>
            <a:off x="4773168" y="1792224"/>
            <a:ext cx="4041648" cy="2834640"/>
          </a:xfrm>
          <a:prstGeom prst="rect">
            <a:avLst/>
          </a:prstGeom>
          <a:noFill/>
          <a:ln/>
        </p:spPr>
        <p:txBody>
          <a:bodyPr wrap="square" rtlCol="0" anchor="ctr"/>
          <a:lstStyle/>
          <a:p>
            <a:pPr marL="342900" indent="-342900">
              <a:spcAft>
                <a:spcPts val="1000"/>
              </a:spcAft>
              <a:buSzPct val="100000"/>
              <a:buChar char="•"/>
            </a:pPr>
            <a:r>
              <a:rPr lang="en-US" sz="1200" dirty="0">
                <a:solidFill>
                  <a:srgbClr val="FFFFFF"/>
                </a:solidFill>
                <a:latin typeface="Calibri" pitchFamily="34" charset="0"/>
                <a:ea typeface="Calibri" pitchFamily="34" charset="-122"/>
                <a:cs typeface="Calibri" pitchFamily="34" charset="-120"/>
              </a:rPr>
              <a:t>No managed network perimeter — VMs talk to each other with no enforcement</a:t>
            </a:r>
            <a:endParaRPr lang="en-US" sz="1200" dirty="0"/>
          </a:p>
          <a:p>
            <a:pPr marL="342900" indent="-342900">
              <a:spcAft>
                <a:spcPts val="1000"/>
              </a:spcAft>
              <a:buSzPct val="100000"/>
              <a:buChar char="•"/>
            </a:pPr>
            <a:r>
              <a:rPr lang="en-US" sz="1200" dirty="0">
                <a:solidFill>
                  <a:srgbClr val="FFFFFF"/>
                </a:solidFill>
                <a:latin typeface="Calibri" pitchFamily="34" charset="0"/>
                <a:ea typeface="Calibri" pitchFamily="34" charset="-122"/>
                <a:cs typeface="Calibri" pitchFamily="34" charset="-120"/>
              </a:rPr>
              <a:t>No threat intelligence — alerts have no external context</a:t>
            </a:r>
            <a:endParaRPr lang="en-US" sz="1200" dirty="0"/>
          </a:p>
          <a:p>
            <a:pPr marL="342900" indent="-342900">
              <a:spcAft>
                <a:spcPts val="1000"/>
              </a:spcAft>
              <a:buSzPct val="100000"/>
              <a:buChar char="•"/>
            </a:pPr>
            <a:r>
              <a:rPr lang="en-US" sz="1200" dirty="0">
                <a:solidFill>
                  <a:srgbClr val="FFFFFF"/>
                </a:solidFill>
                <a:latin typeface="Calibri" pitchFamily="34" charset="0"/>
                <a:ea typeface="Calibri" pitchFamily="34" charset="-122"/>
                <a:cs typeface="Calibri" pitchFamily="34" charset="-120"/>
              </a:rPr>
              <a:t>No visibility into what software vulnerabilities exist</a:t>
            </a:r>
            <a:endParaRPr lang="en-US" sz="1200" dirty="0"/>
          </a:p>
          <a:p>
            <a:pPr marL="342900" indent="-342900">
              <a:spcAft>
                <a:spcPts val="1000"/>
              </a:spcAft>
              <a:buSzPct val="100000"/>
              <a:buChar char="•"/>
            </a:pPr>
            <a:r>
              <a:rPr lang="en-US" sz="1200" dirty="0">
                <a:solidFill>
                  <a:srgbClr val="FFFFFF"/>
                </a:solidFill>
                <a:latin typeface="Calibri" pitchFamily="34" charset="0"/>
                <a:ea typeface="Calibri" pitchFamily="34" charset="-122"/>
                <a:cs typeface="Calibri" pitchFamily="34" charset="-120"/>
              </a:rPr>
              <a:t>No structured reporting output for leadership or ops teams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923"/>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00C9A7"/>
          </a:solidFill>
          <a:ln w="12700">
            <a:solidFill>
              <a:srgbClr val="00C9A7"/>
            </a:solidFill>
            <a:prstDash val="solid"/>
          </a:ln>
        </p:spPr>
      </p:sp>
      <p:sp>
        <p:nvSpPr>
          <p:cNvPr id="3" name="Text 1"/>
          <p:cNvSpPr/>
          <p:nvPr/>
        </p:nvSpPr>
        <p:spPr>
          <a:xfrm>
            <a:off x="201168" y="256032"/>
            <a:ext cx="8503920" cy="566928"/>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What is a Firewall?</a:t>
            </a:r>
            <a:endParaRPr lang="en-US" sz="2800" dirty="0"/>
          </a:p>
        </p:txBody>
      </p:sp>
      <p:sp>
        <p:nvSpPr>
          <p:cNvPr id="4" name="Text 2"/>
          <p:cNvSpPr/>
          <p:nvPr/>
        </p:nvSpPr>
        <p:spPr>
          <a:xfrm>
            <a:off x="201168" y="786384"/>
            <a:ext cx="8503920" cy="237744"/>
          </a:xfrm>
          <a:prstGeom prst="rect">
            <a:avLst/>
          </a:prstGeom>
          <a:noFill/>
          <a:ln/>
        </p:spPr>
        <p:txBody>
          <a:bodyPr wrap="square" lIns="0" tIns="0" rIns="0" bIns="0" rtlCol="0" anchor="ctr"/>
          <a:lstStyle/>
          <a:p>
            <a:pPr indent="0" marL="0">
              <a:buNone/>
            </a:pPr>
            <a:r>
              <a:rPr lang="en-US" sz="1300" i="1" dirty="0">
                <a:solidFill>
                  <a:srgbClr val="00C9A7"/>
                </a:solidFill>
                <a:latin typeface="Calibri" pitchFamily="34" charset="0"/>
                <a:ea typeface="Calibri" pitchFamily="34" charset="-122"/>
                <a:cs typeface="Calibri" pitchFamily="34" charset="-120"/>
              </a:rPr>
              <a:t>The boundary control that decides what traffic is allowed</a:t>
            </a:r>
            <a:endParaRPr lang="en-US" sz="1300" dirty="0"/>
          </a:p>
        </p:txBody>
      </p:sp>
      <p:sp>
        <p:nvSpPr>
          <p:cNvPr id="5" name="Shape 3"/>
          <p:cNvSpPr/>
          <p:nvPr/>
        </p:nvSpPr>
        <p:spPr>
          <a:xfrm>
            <a:off x="0" y="4983480"/>
            <a:ext cx="9144000" cy="160020"/>
          </a:xfrm>
          <a:prstGeom prst="rect">
            <a:avLst/>
          </a:prstGeom>
          <a:solidFill>
            <a:srgbClr val="0A1118"/>
          </a:solidFill>
          <a:ln w="12700">
            <a:solidFill>
              <a:srgbClr val="0A1118"/>
            </a:solidFill>
            <a:prstDash val="solid"/>
          </a:ln>
        </p:spPr>
      </p:sp>
      <p:sp>
        <p:nvSpPr>
          <p:cNvPr id="6" name="Text 4"/>
          <p:cNvSpPr/>
          <p:nvPr/>
        </p:nvSpPr>
        <p:spPr>
          <a:xfrm>
            <a:off x="182880" y="4974336"/>
            <a:ext cx="8778240" cy="164592"/>
          </a:xfrm>
          <a:prstGeom prst="rect">
            <a:avLst/>
          </a:prstGeom>
          <a:noFill/>
          <a:ln/>
        </p:spPr>
        <p:txBody>
          <a:bodyPr wrap="square" lIns="0" tIns="0" rIns="0" bIns="0" rtlCol="0" anchor="ctr"/>
          <a:lstStyle/>
          <a:p>
            <a:pPr indent="0" marL="0">
              <a:buNone/>
            </a:pPr>
            <a:r>
              <a:rPr lang="en-US" sz="900" dirty="0">
                <a:solidFill>
                  <a:srgbClr val="8CA3B5"/>
                </a:solidFill>
                <a:latin typeface="Calibri" pitchFamily="34" charset="0"/>
                <a:ea typeface="Calibri" pitchFamily="34" charset="-122"/>
                <a:cs typeface="Calibri" pitchFamily="34" charset="-120"/>
              </a:rPr>
              <a:t>Cyberster Blue Team  ·  Week 4 Masterclass</a:t>
            </a:r>
            <a:endParaRPr lang="en-US" sz="900" dirty="0"/>
          </a:p>
        </p:txBody>
      </p:sp>
      <p:sp>
        <p:nvSpPr>
          <p:cNvPr id="7" name="Shape 5"/>
          <p:cNvSpPr/>
          <p:nvPr/>
        </p:nvSpPr>
        <p:spPr>
          <a:xfrm>
            <a:off x="201168" y="1042416"/>
            <a:ext cx="1828800" cy="246888"/>
          </a:xfrm>
          <a:prstGeom prst="rect">
            <a:avLst/>
          </a:prstGeom>
          <a:solidFill>
            <a:srgbClr val="00C9A7"/>
          </a:solidFill>
          <a:ln w="12700">
            <a:solidFill>
              <a:srgbClr val="00C9A7"/>
            </a:solidFill>
            <a:prstDash val="solid"/>
          </a:ln>
        </p:spPr>
      </p:sp>
      <p:sp>
        <p:nvSpPr>
          <p:cNvPr id="8" name="Text 6"/>
          <p:cNvSpPr/>
          <p:nvPr/>
        </p:nvSpPr>
        <p:spPr>
          <a:xfrm>
            <a:off x="201168" y="1033272"/>
            <a:ext cx="1828800" cy="256032"/>
          </a:xfrm>
          <a:prstGeom prst="rect">
            <a:avLst/>
          </a:prstGeom>
          <a:noFill/>
          <a:ln/>
        </p:spPr>
        <p:txBody>
          <a:bodyPr wrap="square" lIns="50800" tIns="50800" rIns="50800" bIns="50800" rtlCol="0" anchor="ctr"/>
          <a:lstStyle/>
          <a:p>
            <a:pPr algn="ctr" indent="0" marL="0">
              <a:buNone/>
            </a:pPr>
            <a:r>
              <a:rPr lang="en-US" sz="1000" b="1" dirty="0">
                <a:solidFill>
                  <a:srgbClr val="0A1118"/>
                </a:solidFill>
                <a:latin typeface="Calibri" pitchFamily="34" charset="0"/>
                <a:ea typeface="Calibri" pitchFamily="34" charset="-122"/>
                <a:cs typeface="Calibri" pitchFamily="34" charset="-120"/>
              </a:rPr>
              <a:t>CONCEPT  ·  NETWORK SECURITY</a:t>
            </a:r>
            <a:endParaRPr lang="en-US" sz="1000" dirty="0"/>
          </a:p>
        </p:txBody>
      </p:sp>
      <p:sp>
        <p:nvSpPr>
          <p:cNvPr id="9" name="Shape 7"/>
          <p:cNvSpPr/>
          <p:nvPr/>
        </p:nvSpPr>
        <p:spPr>
          <a:xfrm>
            <a:off x="201168" y="1371600"/>
            <a:ext cx="8741664" cy="1481328"/>
          </a:xfrm>
          <a:prstGeom prst="rect">
            <a:avLst/>
          </a:prstGeom>
          <a:solidFill>
            <a:srgbClr val="162230"/>
          </a:solidFill>
          <a:ln w="12700">
            <a:solidFill>
              <a:srgbClr val="162230"/>
            </a:solidFill>
            <a:prstDash val="solid"/>
          </a:ln>
          <a:effectLst>
            <a:outerShdw sx="100000" sy="100000" kx="0" ky="0" algn="bl" rotWithShape="0" blurRad="101600" dist="38100" dir="8100000">
              <a:srgbClr val="000000">
                <a:alpha val="25000"/>
              </a:srgbClr>
            </a:outerShdw>
          </a:effectLst>
        </p:spPr>
      </p:sp>
      <p:sp>
        <p:nvSpPr>
          <p:cNvPr id="10" name="Shape 8"/>
          <p:cNvSpPr/>
          <p:nvPr/>
        </p:nvSpPr>
        <p:spPr>
          <a:xfrm>
            <a:off x="201168" y="1371600"/>
            <a:ext cx="45720" cy="1481328"/>
          </a:xfrm>
          <a:prstGeom prst="rect">
            <a:avLst/>
          </a:prstGeom>
          <a:solidFill>
            <a:srgbClr val="00C9A7"/>
          </a:solidFill>
          <a:ln w="12700">
            <a:solidFill>
              <a:srgbClr val="00C9A7"/>
            </a:solidFill>
            <a:prstDash val="solid"/>
          </a:ln>
        </p:spPr>
      </p:sp>
      <p:sp>
        <p:nvSpPr>
          <p:cNvPr id="11" name="Text 9"/>
          <p:cNvSpPr/>
          <p:nvPr/>
        </p:nvSpPr>
        <p:spPr>
          <a:xfrm>
            <a:off x="329184" y="1463040"/>
            <a:ext cx="8412480" cy="256032"/>
          </a:xfrm>
          <a:prstGeom prst="rect">
            <a:avLst/>
          </a:prstGeom>
          <a:noFill/>
          <a:ln/>
        </p:spPr>
        <p:txBody>
          <a:bodyPr wrap="square" lIns="0" tIns="0" rIns="0" bIns="0" rtlCol="0" anchor="ctr"/>
          <a:lstStyle/>
          <a:p>
            <a:pPr indent="0" marL="0">
              <a:buNone/>
            </a:pPr>
            <a:r>
              <a:rPr lang="en-US" sz="1400" b="1" dirty="0">
                <a:solidFill>
                  <a:srgbClr val="00C9A7"/>
                </a:solidFill>
                <a:latin typeface="Calibri" pitchFamily="34" charset="0"/>
                <a:ea typeface="Calibri" pitchFamily="34" charset="-122"/>
                <a:cs typeface="Calibri" pitchFamily="34" charset="-120"/>
              </a:rPr>
              <a:t>The core job of a firewall</a:t>
            </a:r>
            <a:endParaRPr lang="en-US" sz="1400" dirty="0"/>
          </a:p>
        </p:txBody>
      </p:sp>
      <p:sp>
        <p:nvSpPr>
          <p:cNvPr id="12" name="Text 10"/>
          <p:cNvSpPr/>
          <p:nvPr/>
        </p:nvSpPr>
        <p:spPr>
          <a:xfrm>
            <a:off x="329184" y="1755648"/>
            <a:ext cx="8412480" cy="987552"/>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A firewall sits at a network boundary and enforces rules about which traffic is allowed to cross it. Every packet is checked: where it came from, where it is going, which protocol it uses, which port it targets. If a rule says allow, the packet passes. If a rule says block, the packet is dropped. If there is no matching rule, the default policy applies — usually deny everything not explicitly allowed.</a:t>
            </a:r>
            <a:endParaRPr lang="en-US" sz="1200" dirty="0"/>
          </a:p>
        </p:txBody>
      </p:sp>
      <p:sp>
        <p:nvSpPr>
          <p:cNvPr id="13" name="Shape 11"/>
          <p:cNvSpPr/>
          <p:nvPr/>
        </p:nvSpPr>
        <p:spPr>
          <a:xfrm>
            <a:off x="201168" y="3017520"/>
            <a:ext cx="2798064" cy="1755648"/>
          </a:xfrm>
          <a:prstGeom prst="rect">
            <a:avLst/>
          </a:prstGeom>
          <a:solidFill>
            <a:srgbClr val="162230"/>
          </a:solidFill>
          <a:ln w="12700">
            <a:solidFill>
              <a:srgbClr val="162230"/>
            </a:solidFill>
            <a:prstDash val="solid"/>
          </a:ln>
          <a:effectLst>
            <a:outerShdw sx="100000" sy="100000" kx="0" ky="0" algn="bl" rotWithShape="0" blurRad="101600" dist="38100" dir="8100000">
              <a:srgbClr val="000000">
                <a:alpha val="25000"/>
              </a:srgbClr>
            </a:outerShdw>
          </a:effectLst>
        </p:spPr>
      </p:sp>
      <p:sp>
        <p:nvSpPr>
          <p:cNvPr id="14" name="Shape 12"/>
          <p:cNvSpPr/>
          <p:nvPr/>
        </p:nvSpPr>
        <p:spPr>
          <a:xfrm>
            <a:off x="201168" y="3017520"/>
            <a:ext cx="45720" cy="1755648"/>
          </a:xfrm>
          <a:prstGeom prst="rect">
            <a:avLst/>
          </a:prstGeom>
          <a:solidFill>
            <a:srgbClr val="00C9A7"/>
          </a:solidFill>
          <a:ln w="12700">
            <a:solidFill>
              <a:srgbClr val="00C9A7"/>
            </a:solidFill>
            <a:prstDash val="solid"/>
          </a:ln>
        </p:spPr>
      </p:sp>
      <p:sp>
        <p:nvSpPr>
          <p:cNvPr id="15" name="Text 13"/>
          <p:cNvSpPr/>
          <p:nvPr/>
        </p:nvSpPr>
        <p:spPr>
          <a:xfrm>
            <a:off x="310896" y="3108960"/>
            <a:ext cx="2596896" cy="256032"/>
          </a:xfrm>
          <a:prstGeom prst="rect">
            <a:avLst/>
          </a:prstGeom>
          <a:noFill/>
          <a:ln/>
        </p:spPr>
        <p:txBody>
          <a:bodyPr wrap="square" lIns="0" tIns="0" rIns="0" bIns="0" rtlCol="0" anchor="ctr"/>
          <a:lstStyle/>
          <a:p>
            <a:pPr indent="0" marL="0">
              <a:buNone/>
            </a:pPr>
            <a:r>
              <a:rPr lang="en-US" sz="1300" b="1" dirty="0">
                <a:solidFill>
                  <a:srgbClr val="00C9A7"/>
                </a:solidFill>
                <a:latin typeface="Calibri" pitchFamily="34" charset="0"/>
                <a:ea typeface="Calibri" pitchFamily="34" charset="-122"/>
                <a:cs typeface="Calibri" pitchFamily="34" charset="-120"/>
              </a:rPr>
              <a:t>Stateful inspection</a:t>
            </a:r>
            <a:endParaRPr lang="en-US" sz="1300" dirty="0"/>
          </a:p>
        </p:txBody>
      </p:sp>
      <p:sp>
        <p:nvSpPr>
          <p:cNvPr id="16" name="Text 14"/>
          <p:cNvSpPr/>
          <p:nvPr/>
        </p:nvSpPr>
        <p:spPr>
          <a:xfrm>
            <a:off x="310896" y="3401568"/>
            <a:ext cx="2596896" cy="128016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Modern firewalls track the state of active connections. A reply to an outbound request is allowed automatically because the firewall knows the session exists. A random inbound packet with no corresponding outbound request is blocked.</a:t>
            </a:r>
            <a:endParaRPr lang="en-US" sz="1100" dirty="0"/>
          </a:p>
        </p:txBody>
      </p:sp>
      <p:sp>
        <p:nvSpPr>
          <p:cNvPr id="17" name="Shape 15"/>
          <p:cNvSpPr/>
          <p:nvPr/>
        </p:nvSpPr>
        <p:spPr>
          <a:xfrm>
            <a:off x="3163824" y="3017520"/>
            <a:ext cx="2798064" cy="1755648"/>
          </a:xfrm>
          <a:prstGeom prst="rect">
            <a:avLst/>
          </a:prstGeom>
          <a:solidFill>
            <a:srgbClr val="162230"/>
          </a:solidFill>
          <a:ln w="12700">
            <a:solidFill>
              <a:srgbClr val="162230"/>
            </a:solidFill>
            <a:prstDash val="solid"/>
          </a:ln>
          <a:effectLst>
            <a:outerShdw sx="100000" sy="100000" kx="0" ky="0" algn="bl" rotWithShape="0" blurRad="101600" dist="38100" dir="8100000">
              <a:srgbClr val="000000">
                <a:alpha val="25000"/>
              </a:srgbClr>
            </a:outerShdw>
          </a:effectLst>
        </p:spPr>
      </p:sp>
      <p:sp>
        <p:nvSpPr>
          <p:cNvPr id="18" name="Shape 16"/>
          <p:cNvSpPr/>
          <p:nvPr/>
        </p:nvSpPr>
        <p:spPr>
          <a:xfrm>
            <a:off x="3163824" y="3017520"/>
            <a:ext cx="45720" cy="1755648"/>
          </a:xfrm>
          <a:prstGeom prst="rect">
            <a:avLst/>
          </a:prstGeom>
          <a:solidFill>
            <a:srgbClr val="4FC3F7"/>
          </a:solidFill>
          <a:ln w="12700">
            <a:solidFill>
              <a:srgbClr val="4FC3F7"/>
            </a:solidFill>
            <a:prstDash val="solid"/>
          </a:ln>
        </p:spPr>
      </p:sp>
      <p:sp>
        <p:nvSpPr>
          <p:cNvPr id="19" name="Text 17"/>
          <p:cNvSpPr/>
          <p:nvPr/>
        </p:nvSpPr>
        <p:spPr>
          <a:xfrm>
            <a:off x="3273552" y="3108960"/>
            <a:ext cx="2596896" cy="256032"/>
          </a:xfrm>
          <a:prstGeom prst="rect">
            <a:avLst/>
          </a:prstGeom>
          <a:noFill/>
          <a:ln/>
        </p:spPr>
        <p:txBody>
          <a:bodyPr wrap="square" lIns="0" tIns="0" rIns="0" bIns="0" rtlCol="0" anchor="ctr"/>
          <a:lstStyle/>
          <a:p>
            <a:pPr indent="0" marL="0">
              <a:buNone/>
            </a:pPr>
            <a:r>
              <a:rPr lang="en-US" sz="1300" b="1" dirty="0">
                <a:solidFill>
                  <a:srgbClr val="4FC3F7"/>
                </a:solidFill>
                <a:latin typeface="Calibri" pitchFamily="34" charset="0"/>
                <a:ea typeface="Calibri" pitchFamily="34" charset="-122"/>
                <a:cs typeface="Calibri" pitchFamily="34" charset="-120"/>
              </a:rPr>
              <a:t>Rule direction</a:t>
            </a:r>
            <a:endParaRPr lang="en-US" sz="1300" dirty="0"/>
          </a:p>
        </p:txBody>
      </p:sp>
      <p:sp>
        <p:nvSpPr>
          <p:cNvPr id="20" name="Text 18"/>
          <p:cNvSpPr/>
          <p:nvPr/>
        </p:nvSpPr>
        <p:spPr>
          <a:xfrm>
            <a:off x="3273552" y="3401568"/>
            <a:ext cx="2596896" cy="128016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Rules apply to specific interfaces and directions. A rule on the LAN interface controls traffic from internal machines. A rule on the WAN interface controls traffic arriving from outside. Getting the direction wrong is a common and confusing mistake.</a:t>
            </a:r>
            <a:endParaRPr lang="en-US" sz="1100" dirty="0"/>
          </a:p>
        </p:txBody>
      </p:sp>
      <p:sp>
        <p:nvSpPr>
          <p:cNvPr id="21" name="Shape 19"/>
          <p:cNvSpPr/>
          <p:nvPr/>
        </p:nvSpPr>
        <p:spPr>
          <a:xfrm>
            <a:off x="6126480" y="3017520"/>
            <a:ext cx="2798064" cy="1755648"/>
          </a:xfrm>
          <a:prstGeom prst="rect">
            <a:avLst/>
          </a:prstGeom>
          <a:solidFill>
            <a:srgbClr val="162230"/>
          </a:solidFill>
          <a:ln w="12700">
            <a:solidFill>
              <a:srgbClr val="162230"/>
            </a:solidFill>
            <a:prstDash val="solid"/>
          </a:ln>
          <a:effectLst>
            <a:outerShdw sx="100000" sy="100000" kx="0" ky="0" algn="bl" rotWithShape="0" blurRad="101600" dist="38100" dir="8100000">
              <a:srgbClr val="000000">
                <a:alpha val="25000"/>
              </a:srgbClr>
            </a:outerShdw>
          </a:effectLst>
        </p:spPr>
      </p:sp>
      <p:sp>
        <p:nvSpPr>
          <p:cNvPr id="22" name="Shape 20"/>
          <p:cNvSpPr/>
          <p:nvPr/>
        </p:nvSpPr>
        <p:spPr>
          <a:xfrm>
            <a:off x="6126480" y="3017520"/>
            <a:ext cx="45720" cy="1755648"/>
          </a:xfrm>
          <a:prstGeom prst="rect">
            <a:avLst/>
          </a:prstGeom>
          <a:solidFill>
            <a:srgbClr val="00C9A7"/>
          </a:solidFill>
          <a:ln w="12700">
            <a:solidFill>
              <a:srgbClr val="00C9A7"/>
            </a:solidFill>
            <a:prstDash val="solid"/>
          </a:ln>
        </p:spPr>
      </p:sp>
      <p:sp>
        <p:nvSpPr>
          <p:cNvPr id="23" name="Text 21"/>
          <p:cNvSpPr/>
          <p:nvPr/>
        </p:nvSpPr>
        <p:spPr>
          <a:xfrm>
            <a:off x="6236208" y="3108960"/>
            <a:ext cx="2596896" cy="256032"/>
          </a:xfrm>
          <a:prstGeom prst="rect">
            <a:avLst/>
          </a:prstGeom>
          <a:noFill/>
          <a:ln/>
        </p:spPr>
        <p:txBody>
          <a:bodyPr wrap="square" lIns="0" tIns="0" rIns="0" bIns="0" rtlCol="0" anchor="ctr"/>
          <a:lstStyle/>
          <a:p>
            <a:pPr indent="0" marL="0">
              <a:buNone/>
            </a:pPr>
            <a:r>
              <a:rPr lang="en-US" sz="1300" b="1" dirty="0">
                <a:solidFill>
                  <a:srgbClr val="00C9A7"/>
                </a:solidFill>
                <a:latin typeface="Calibri" pitchFamily="34" charset="0"/>
                <a:ea typeface="Calibri" pitchFamily="34" charset="-122"/>
                <a:cs typeface="Calibri" pitchFamily="34" charset="-120"/>
              </a:rPr>
              <a:t>pfSense</a:t>
            </a:r>
            <a:endParaRPr lang="en-US" sz="1300" dirty="0"/>
          </a:p>
        </p:txBody>
      </p:sp>
      <p:sp>
        <p:nvSpPr>
          <p:cNvPr id="24" name="Text 22"/>
          <p:cNvSpPr/>
          <p:nvPr/>
        </p:nvSpPr>
        <p:spPr>
          <a:xfrm>
            <a:off x="6236208" y="3401568"/>
            <a:ext cx="2596896" cy="128016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pfSense is an open-source firewall that runs as a full operating system on its own VM. It has a web-based management interface, supports all standard firewall features, and can forward its logs to external systems like Wazuh. It is widely used in small to mid-size production environments.</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923"/>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00C9A7"/>
          </a:solidFill>
          <a:ln w="12700">
            <a:solidFill>
              <a:srgbClr val="00C9A7"/>
            </a:solidFill>
            <a:prstDash val="solid"/>
          </a:ln>
        </p:spPr>
      </p:sp>
      <p:sp>
        <p:nvSpPr>
          <p:cNvPr id="3" name="Text 1"/>
          <p:cNvSpPr/>
          <p:nvPr/>
        </p:nvSpPr>
        <p:spPr>
          <a:xfrm>
            <a:off x="201168" y="256032"/>
            <a:ext cx="8503920" cy="566928"/>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Your Lab Topology with pfSense</a:t>
            </a:r>
            <a:endParaRPr lang="en-US" sz="2800" dirty="0"/>
          </a:p>
        </p:txBody>
      </p:sp>
      <p:sp>
        <p:nvSpPr>
          <p:cNvPr id="4" name="Text 2"/>
          <p:cNvSpPr/>
          <p:nvPr/>
        </p:nvSpPr>
        <p:spPr>
          <a:xfrm>
            <a:off x="201168" y="786384"/>
            <a:ext cx="8503920" cy="237744"/>
          </a:xfrm>
          <a:prstGeom prst="rect">
            <a:avLst/>
          </a:prstGeom>
          <a:noFill/>
          <a:ln/>
        </p:spPr>
        <p:txBody>
          <a:bodyPr wrap="square" lIns="0" tIns="0" rIns="0" bIns="0" rtlCol="0" anchor="ctr"/>
          <a:lstStyle/>
          <a:p>
            <a:pPr indent="0" marL="0">
              <a:buNone/>
            </a:pPr>
            <a:r>
              <a:rPr lang="en-US" sz="1300" i="1" dirty="0">
                <a:solidFill>
                  <a:srgbClr val="00C9A7"/>
                </a:solidFill>
                <a:latin typeface="Calibri" pitchFamily="34" charset="0"/>
                <a:ea typeface="Calibri" pitchFamily="34" charset="-122"/>
                <a:cs typeface="Calibri" pitchFamily="34" charset="-120"/>
              </a:rPr>
              <a:t>How traffic flows once pfSense is in place</a:t>
            </a:r>
            <a:endParaRPr lang="en-US" sz="1300" dirty="0"/>
          </a:p>
        </p:txBody>
      </p:sp>
      <p:sp>
        <p:nvSpPr>
          <p:cNvPr id="5" name="Shape 3"/>
          <p:cNvSpPr/>
          <p:nvPr/>
        </p:nvSpPr>
        <p:spPr>
          <a:xfrm>
            <a:off x="0" y="4983480"/>
            <a:ext cx="9144000" cy="160020"/>
          </a:xfrm>
          <a:prstGeom prst="rect">
            <a:avLst/>
          </a:prstGeom>
          <a:solidFill>
            <a:srgbClr val="0A1118"/>
          </a:solidFill>
          <a:ln w="12700">
            <a:solidFill>
              <a:srgbClr val="0A1118"/>
            </a:solidFill>
            <a:prstDash val="solid"/>
          </a:ln>
        </p:spPr>
      </p:sp>
      <p:sp>
        <p:nvSpPr>
          <p:cNvPr id="6" name="Text 4"/>
          <p:cNvSpPr/>
          <p:nvPr/>
        </p:nvSpPr>
        <p:spPr>
          <a:xfrm>
            <a:off x="182880" y="4974336"/>
            <a:ext cx="8778240" cy="164592"/>
          </a:xfrm>
          <a:prstGeom prst="rect">
            <a:avLst/>
          </a:prstGeom>
          <a:noFill/>
          <a:ln/>
        </p:spPr>
        <p:txBody>
          <a:bodyPr wrap="square" lIns="0" tIns="0" rIns="0" bIns="0" rtlCol="0" anchor="ctr"/>
          <a:lstStyle/>
          <a:p>
            <a:pPr indent="0" marL="0">
              <a:buNone/>
            </a:pPr>
            <a:r>
              <a:rPr lang="en-US" sz="900" dirty="0">
                <a:solidFill>
                  <a:srgbClr val="8CA3B5"/>
                </a:solidFill>
                <a:latin typeface="Calibri" pitchFamily="34" charset="0"/>
                <a:ea typeface="Calibri" pitchFamily="34" charset="-122"/>
                <a:cs typeface="Calibri" pitchFamily="34" charset="-120"/>
              </a:rPr>
              <a:t>Cyberster Blue Team  ·  Week 4 Masterclass</a:t>
            </a:r>
            <a:endParaRPr lang="en-US" sz="900" dirty="0"/>
          </a:p>
        </p:txBody>
      </p:sp>
      <p:sp>
        <p:nvSpPr>
          <p:cNvPr id="7" name="Shape 5"/>
          <p:cNvSpPr/>
          <p:nvPr/>
        </p:nvSpPr>
        <p:spPr>
          <a:xfrm>
            <a:off x="201168" y="1042416"/>
            <a:ext cx="1828800" cy="246888"/>
          </a:xfrm>
          <a:prstGeom prst="rect">
            <a:avLst/>
          </a:prstGeom>
          <a:solidFill>
            <a:srgbClr val="00C9A7"/>
          </a:solidFill>
          <a:ln w="12700">
            <a:solidFill>
              <a:srgbClr val="00C9A7"/>
            </a:solidFill>
            <a:prstDash val="solid"/>
          </a:ln>
        </p:spPr>
      </p:sp>
      <p:sp>
        <p:nvSpPr>
          <p:cNvPr id="8" name="Text 6"/>
          <p:cNvSpPr/>
          <p:nvPr/>
        </p:nvSpPr>
        <p:spPr>
          <a:xfrm>
            <a:off x="201168" y="1033272"/>
            <a:ext cx="1828800" cy="256032"/>
          </a:xfrm>
          <a:prstGeom prst="rect">
            <a:avLst/>
          </a:prstGeom>
          <a:noFill/>
          <a:ln/>
        </p:spPr>
        <p:txBody>
          <a:bodyPr wrap="square" lIns="50800" tIns="50800" rIns="50800" bIns="50800" rtlCol="0" anchor="ctr"/>
          <a:lstStyle/>
          <a:p>
            <a:pPr algn="ctr" indent="0" marL="0">
              <a:buNone/>
            </a:pPr>
            <a:r>
              <a:rPr lang="en-US" sz="1000" b="1" dirty="0">
                <a:solidFill>
                  <a:srgbClr val="0A1118"/>
                </a:solidFill>
                <a:latin typeface="Calibri" pitchFamily="34" charset="0"/>
                <a:ea typeface="Calibri" pitchFamily="34" charset="-122"/>
                <a:cs typeface="Calibri" pitchFamily="34" charset="-120"/>
              </a:rPr>
              <a:t>NETWORK DESIGN</a:t>
            </a:r>
            <a:endParaRPr lang="en-US" sz="1000" dirty="0"/>
          </a:p>
        </p:txBody>
      </p:sp>
      <p:sp>
        <p:nvSpPr>
          <p:cNvPr id="9" name="Shape 7"/>
          <p:cNvSpPr/>
          <p:nvPr/>
        </p:nvSpPr>
        <p:spPr>
          <a:xfrm>
            <a:off x="274320" y="1371600"/>
            <a:ext cx="1737360" cy="640080"/>
          </a:xfrm>
          <a:prstGeom prst="rect">
            <a:avLst/>
          </a:prstGeom>
          <a:solidFill>
            <a:srgbClr val="162230"/>
          </a:solidFill>
          <a:ln w="12700">
            <a:solidFill>
              <a:srgbClr val="162230"/>
            </a:solidFill>
            <a:prstDash val="solid"/>
          </a:ln>
          <a:effectLst>
            <a:outerShdw sx="100000" sy="100000" kx="0" ky="0" algn="bl" rotWithShape="0" blurRad="101600" dist="38100" dir="8100000">
              <a:srgbClr val="000000">
                <a:alpha val="25000"/>
              </a:srgbClr>
            </a:outerShdw>
          </a:effectLst>
        </p:spPr>
      </p:sp>
      <p:sp>
        <p:nvSpPr>
          <p:cNvPr id="10" name="Shape 8"/>
          <p:cNvSpPr/>
          <p:nvPr/>
        </p:nvSpPr>
        <p:spPr>
          <a:xfrm>
            <a:off x="274320" y="1371600"/>
            <a:ext cx="45720" cy="640080"/>
          </a:xfrm>
          <a:prstGeom prst="rect">
            <a:avLst/>
          </a:prstGeom>
          <a:solidFill>
            <a:srgbClr val="8CA3B5"/>
          </a:solidFill>
          <a:ln w="12700">
            <a:solidFill>
              <a:srgbClr val="8CA3B5"/>
            </a:solidFill>
            <a:prstDash val="solid"/>
          </a:ln>
        </p:spPr>
      </p:sp>
      <p:sp>
        <p:nvSpPr>
          <p:cNvPr id="11" name="Text 9"/>
          <p:cNvSpPr/>
          <p:nvPr/>
        </p:nvSpPr>
        <p:spPr>
          <a:xfrm>
            <a:off x="274320" y="1408176"/>
            <a:ext cx="1737360" cy="566928"/>
          </a:xfrm>
          <a:prstGeom prst="rect">
            <a:avLst/>
          </a:prstGeom>
          <a:noFill/>
          <a:ln/>
        </p:spPr>
        <p:txBody>
          <a:bodyPr wrap="square" lIns="50800" tIns="50800" rIns="50800" bIns="5080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Host Machine / Internet</a:t>
            </a:r>
            <a:endParaRPr lang="en-US" sz="1100" dirty="0"/>
          </a:p>
        </p:txBody>
      </p:sp>
      <p:sp>
        <p:nvSpPr>
          <p:cNvPr id="12" name="Shape 10"/>
          <p:cNvSpPr/>
          <p:nvPr/>
        </p:nvSpPr>
        <p:spPr>
          <a:xfrm>
            <a:off x="1143000" y="2029968"/>
            <a:ext cx="0" cy="347472"/>
          </a:xfrm>
          <a:prstGeom prst="line">
            <a:avLst/>
          </a:prstGeom>
          <a:noFill/>
          <a:ln w="25400">
            <a:solidFill>
              <a:srgbClr val="00C9A7"/>
            </a:solidFill>
            <a:prstDash val="solid"/>
          </a:ln>
        </p:spPr>
      </p:sp>
      <p:sp>
        <p:nvSpPr>
          <p:cNvPr id="13" name="Text 11"/>
          <p:cNvSpPr/>
          <p:nvPr/>
        </p:nvSpPr>
        <p:spPr>
          <a:xfrm>
            <a:off x="1042416" y="2304288"/>
            <a:ext cx="201168" cy="201168"/>
          </a:xfrm>
          <a:prstGeom prst="rect">
            <a:avLst/>
          </a:prstGeom>
          <a:noFill/>
          <a:ln/>
        </p:spPr>
        <p:txBody>
          <a:bodyPr wrap="square" lIns="0" tIns="0" rIns="0" bIns="0" rtlCol="0" anchor="ctr"/>
          <a:lstStyle/>
          <a:p>
            <a:pPr indent="0" marL="0">
              <a:buNone/>
            </a:pPr>
            <a:r>
              <a:rPr lang="en-US" sz="1200" dirty="0">
                <a:solidFill>
                  <a:srgbClr val="00C9A7"/>
                </a:solidFill>
                <a:latin typeface="Calibri" pitchFamily="34" charset="0"/>
                <a:ea typeface="Calibri" pitchFamily="34" charset="-122"/>
                <a:cs typeface="Calibri" pitchFamily="34" charset="-120"/>
              </a:rPr>
              <a:t>▼</a:t>
            </a:r>
            <a:endParaRPr lang="en-US" sz="1200" dirty="0"/>
          </a:p>
        </p:txBody>
      </p:sp>
      <p:sp>
        <p:nvSpPr>
          <p:cNvPr id="14" name="Shape 12"/>
          <p:cNvSpPr/>
          <p:nvPr/>
        </p:nvSpPr>
        <p:spPr>
          <a:xfrm>
            <a:off x="201168" y="2523744"/>
            <a:ext cx="1901952" cy="749808"/>
          </a:xfrm>
          <a:prstGeom prst="rect">
            <a:avLst/>
          </a:prstGeom>
          <a:solidFill>
            <a:srgbClr val="00C9A7"/>
          </a:solidFill>
          <a:ln w="12700">
            <a:solidFill>
              <a:srgbClr val="00C9A7"/>
            </a:solidFill>
            <a:prstDash val="solid"/>
          </a:ln>
        </p:spPr>
      </p:sp>
      <p:sp>
        <p:nvSpPr>
          <p:cNvPr id="15" name="Text 13"/>
          <p:cNvSpPr/>
          <p:nvPr/>
        </p:nvSpPr>
        <p:spPr>
          <a:xfrm>
            <a:off x="201168" y="2560320"/>
            <a:ext cx="1901952" cy="329184"/>
          </a:xfrm>
          <a:prstGeom prst="rect">
            <a:avLst/>
          </a:prstGeom>
          <a:noFill/>
          <a:ln/>
        </p:spPr>
        <p:txBody>
          <a:bodyPr wrap="square" lIns="0" tIns="0" rIns="0" bIns="0" rtlCol="0" anchor="ctr"/>
          <a:lstStyle/>
          <a:p>
            <a:pPr algn="ctr" indent="0" marL="0">
              <a:buNone/>
            </a:pPr>
            <a:r>
              <a:rPr lang="en-US" sz="1400" b="1" dirty="0">
                <a:solidFill>
                  <a:srgbClr val="0A1118"/>
                </a:solidFill>
                <a:latin typeface="Calibri" pitchFamily="34" charset="0"/>
                <a:ea typeface="Calibri" pitchFamily="34" charset="-122"/>
                <a:cs typeface="Calibri" pitchFamily="34" charset="-120"/>
              </a:rPr>
              <a:t>pfSense VM</a:t>
            </a:r>
            <a:endParaRPr lang="en-US" sz="1400" dirty="0"/>
          </a:p>
        </p:txBody>
      </p:sp>
      <p:sp>
        <p:nvSpPr>
          <p:cNvPr id="16" name="Text 14"/>
          <p:cNvSpPr/>
          <p:nvPr/>
        </p:nvSpPr>
        <p:spPr>
          <a:xfrm>
            <a:off x="201168" y="2871216"/>
            <a:ext cx="1901952" cy="237744"/>
          </a:xfrm>
          <a:prstGeom prst="rect">
            <a:avLst/>
          </a:prstGeom>
          <a:noFill/>
          <a:ln/>
        </p:spPr>
        <p:txBody>
          <a:bodyPr wrap="square" lIns="0" tIns="0" rIns="0" bIns="0" rtlCol="0" anchor="ctr"/>
          <a:lstStyle/>
          <a:p>
            <a:pPr algn="ctr" indent="0" marL="0">
              <a:buNone/>
            </a:pPr>
            <a:r>
              <a:rPr lang="en-US" sz="1100" dirty="0">
                <a:solidFill>
                  <a:srgbClr val="0A1118"/>
                </a:solidFill>
                <a:latin typeface="Calibri" pitchFamily="34" charset="0"/>
                <a:ea typeface="Calibri" pitchFamily="34" charset="-122"/>
                <a:cs typeface="Calibri" pitchFamily="34" charset="-120"/>
              </a:rPr>
              <a:t>WAN  ←→  LAN</a:t>
            </a:r>
            <a:endParaRPr lang="en-US" sz="1100" dirty="0"/>
          </a:p>
        </p:txBody>
      </p:sp>
      <p:sp>
        <p:nvSpPr>
          <p:cNvPr id="17" name="Shape 15"/>
          <p:cNvSpPr/>
          <p:nvPr/>
        </p:nvSpPr>
        <p:spPr>
          <a:xfrm>
            <a:off x="2103120" y="2907792"/>
            <a:ext cx="457200" cy="0"/>
          </a:xfrm>
          <a:prstGeom prst="line">
            <a:avLst/>
          </a:prstGeom>
          <a:noFill/>
          <a:ln w="25400">
            <a:solidFill>
              <a:srgbClr val="00C9A7"/>
            </a:solidFill>
            <a:prstDash val="solid"/>
          </a:ln>
        </p:spPr>
      </p:sp>
      <p:sp>
        <p:nvSpPr>
          <p:cNvPr id="18" name="Text 16"/>
          <p:cNvSpPr/>
          <p:nvPr/>
        </p:nvSpPr>
        <p:spPr>
          <a:xfrm>
            <a:off x="2468880" y="2816352"/>
            <a:ext cx="201168" cy="201168"/>
          </a:xfrm>
          <a:prstGeom prst="rect">
            <a:avLst/>
          </a:prstGeom>
          <a:noFill/>
          <a:ln/>
        </p:spPr>
        <p:txBody>
          <a:bodyPr wrap="square" lIns="0" tIns="0" rIns="0" bIns="0" rtlCol="0" anchor="ctr"/>
          <a:lstStyle/>
          <a:p>
            <a:pPr indent="0" marL="0">
              <a:buNone/>
            </a:pPr>
            <a:r>
              <a:rPr lang="en-US" sz="1200" dirty="0">
                <a:solidFill>
                  <a:srgbClr val="00C9A7"/>
                </a:solidFill>
                <a:latin typeface="Calibri" pitchFamily="34" charset="0"/>
                <a:ea typeface="Calibri" pitchFamily="34" charset="-122"/>
                <a:cs typeface="Calibri" pitchFamily="34" charset="-120"/>
              </a:rPr>
              <a:t>►</a:t>
            </a:r>
            <a:endParaRPr lang="en-US" sz="1200" dirty="0"/>
          </a:p>
        </p:txBody>
      </p:sp>
      <p:sp>
        <p:nvSpPr>
          <p:cNvPr id="19" name="Shape 17"/>
          <p:cNvSpPr/>
          <p:nvPr/>
        </p:nvSpPr>
        <p:spPr>
          <a:xfrm>
            <a:off x="2724912" y="2523744"/>
            <a:ext cx="6217920" cy="2304288"/>
          </a:xfrm>
          <a:prstGeom prst="rect">
            <a:avLst/>
          </a:prstGeom>
          <a:solidFill>
            <a:srgbClr val="162230"/>
          </a:solidFill>
          <a:ln w="12700">
            <a:solidFill>
              <a:srgbClr val="162230"/>
            </a:solidFill>
            <a:prstDash val="solid"/>
          </a:ln>
          <a:effectLst>
            <a:outerShdw sx="100000" sy="100000" kx="0" ky="0" algn="bl" rotWithShape="0" blurRad="101600" dist="38100" dir="8100000">
              <a:srgbClr val="000000">
                <a:alpha val="25000"/>
              </a:srgbClr>
            </a:outerShdw>
          </a:effectLst>
        </p:spPr>
      </p:sp>
      <p:sp>
        <p:nvSpPr>
          <p:cNvPr id="20" name="Shape 18"/>
          <p:cNvSpPr/>
          <p:nvPr/>
        </p:nvSpPr>
        <p:spPr>
          <a:xfrm>
            <a:off x="2724912" y="2523744"/>
            <a:ext cx="45720" cy="2304288"/>
          </a:xfrm>
          <a:prstGeom prst="rect">
            <a:avLst/>
          </a:prstGeom>
          <a:solidFill>
            <a:srgbClr val="4FC3F7"/>
          </a:solidFill>
          <a:ln w="12700">
            <a:solidFill>
              <a:srgbClr val="4FC3F7"/>
            </a:solidFill>
            <a:prstDash val="solid"/>
          </a:ln>
        </p:spPr>
      </p:sp>
      <p:sp>
        <p:nvSpPr>
          <p:cNvPr id="21" name="Text 19"/>
          <p:cNvSpPr/>
          <p:nvPr/>
        </p:nvSpPr>
        <p:spPr>
          <a:xfrm>
            <a:off x="2852928" y="2615184"/>
            <a:ext cx="5961888" cy="256032"/>
          </a:xfrm>
          <a:prstGeom prst="rect">
            <a:avLst/>
          </a:prstGeom>
          <a:noFill/>
          <a:ln/>
        </p:spPr>
        <p:txBody>
          <a:bodyPr wrap="square" lIns="0" tIns="0" rIns="0" bIns="0" rtlCol="0" anchor="ctr"/>
          <a:lstStyle/>
          <a:p>
            <a:pPr indent="0" marL="0">
              <a:buNone/>
            </a:pPr>
            <a:r>
              <a:rPr lang="en-US" sz="1200" b="1" dirty="0">
                <a:solidFill>
                  <a:srgbClr val="4FC3F7"/>
                </a:solidFill>
                <a:latin typeface="Calibri" pitchFamily="34" charset="0"/>
                <a:ea typeface="Calibri" pitchFamily="34" charset="-122"/>
                <a:cs typeface="Calibri" pitchFamily="34" charset="-120"/>
              </a:rPr>
              <a:t>Host-Only LAN  (all VMs default gateway = pfSense LAN IP)</a:t>
            </a:r>
            <a:endParaRPr lang="en-US" sz="1200" dirty="0"/>
          </a:p>
        </p:txBody>
      </p:sp>
      <p:sp>
        <p:nvSpPr>
          <p:cNvPr id="22" name="Shape 20"/>
          <p:cNvSpPr/>
          <p:nvPr/>
        </p:nvSpPr>
        <p:spPr>
          <a:xfrm>
            <a:off x="2852928" y="2980944"/>
            <a:ext cx="1719072" cy="822960"/>
          </a:xfrm>
          <a:prstGeom prst="rect">
            <a:avLst/>
          </a:prstGeom>
          <a:solidFill>
            <a:srgbClr val="0F1923"/>
          </a:solidFill>
          <a:ln w="12700">
            <a:solidFill>
              <a:srgbClr val="162230"/>
            </a:solidFill>
            <a:prstDash val="solid"/>
          </a:ln>
        </p:spPr>
      </p:sp>
      <p:sp>
        <p:nvSpPr>
          <p:cNvPr id="23" name="Text 21"/>
          <p:cNvSpPr/>
          <p:nvPr/>
        </p:nvSpPr>
        <p:spPr>
          <a:xfrm>
            <a:off x="2852928" y="2980944"/>
            <a:ext cx="1719072" cy="822960"/>
          </a:xfrm>
          <a:prstGeom prst="rect">
            <a:avLst/>
          </a:prstGeom>
          <a:noFill/>
          <a:ln/>
        </p:spPr>
        <p:txBody>
          <a:bodyPr wrap="square" lIns="50800" tIns="50800" rIns="50800" bIns="5080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Ubuntu Server</a:t>
            </a:r>
            <a:endParaRPr lang="en-US" sz="1100" dirty="0"/>
          </a:p>
          <a:p>
            <a:pPr algn="ctr" indent="0" marL="0">
              <a:buNone/>
            </a:pPr>
            <a:r>
              <a:rPr lang="en-US" sz="1100" dirty="0">
                <a:solidFill>
                  <a:srgbClr val="FFFFFF"/>
                </a:solidFill>
                <a:latin typeface="Calibri" pitchFamily="34" charset="0"/>
                <a:ea typeface="Calibri" pitchFamily="34" charset="-122"/>
                <a:cs typeface="Calibri" pitchFamily="34" charset="-120"/>
              </a:rPr>
              <a:t>(Wazuh Manager)</a:t>
            </a:r>
            <a:endParaRPr lang="en-US" sz="1100" dirty="0"/>
          </a:p>
        </p:txBody>
      </p:sp>
      <p:sp>
        <p:nvSpPr>
          <p:cNvPr id="24" name="Shape 22"/>
          <p:cNvSpPr/>
          <p:nvPr/>
        </p:nvSpPr>
        <p:spPr>
          <a:xfrm>
            <a:off x="4773168" y="2980944"/>
            <a:ext cx="1719072" cy="822960"/>
          </a:xfrm>
          <a:prstGeom prst="rect">
            <a:avLst/>
          </a:prstGeom>
          <a:solidFill>
            <a:srgbClr val="0F1923"/>
          </a:solidFill>
          <a:ln w="12700">
            <a:solidFill>
              <a:srgbClr val="162230"/>
            </a:solidFill>
            <a:prstDash val="solid"/>
          </a:ln>
        </p:spPr>
      </p:sp>
      <p:sp>
        <p:nvSpPr>
          <p:cNvPr id="25" name="Text 23"/>
          <p:cNvSpPr/>
          <p:nvPr/>
        </p:nvSpPr>
        <p:spPr>
          <a:xfrm>
            <a:off x="4773168" y="2980944"/>
            <a:ext cx="1719072" cy="822960"/>
          </a:xfrm>
          <a:prstGeom prst="rect">
            <a:avLst/>
          </a:prstGeom>
          <a:noFill/>
          <a:ln/>
        </p:spPr>
        <p:txBody>
          <a:bodyPr wrap="square" lIns="50800" tIns="50800" rIns="50800" bIns="5080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Kali Linux</a:t>
            </a:r>
            <a:endParaRPr lang="en-US" sz="1100" dirty="0"/>
          </a:p>
          <a:p>
            <a:pPr algn="ctr" indent="0" marL="0">
              <a:buNone/>
            </a:pPr>
            <a:r>
              <a:rPr lang="en-US" sz="1100" dirty="0">
                <a:solidFill>
                  <a:srgbClr val="FFFFFF"/>
                </a:solidFill>
                <a:latin typeface="Calibri" pitchFamily="34" charset="0"/>
                <a:ea typeface="Calibri" pitchFamily="34" charset="-122"/>
                <a:cs typeface="Calibri" pitchFamily="34" charset="-120"/>
              </a:rPr>
              <a:t>(Suricata)</a:t>
            </a:r>
            <a:endParaRPr lang="en-US" sz="1100" dirty="0"/>
          </a:p>
        </p:txBody>
      </p:sp>
      <p:sp>
        <p:nvSpPr>
          <p:cNvPr id="26" name="Shape 24"/>
          <p:cNvSpPr/>
          <p:nvPr/>
        </p:nvSpPr>
        <p:spPr>
          <a:xfrm>
            <a:off x="6693408" y="2980944"/>
            <a:ext cx="1719072" cy="822960"/>
          </a:xfrm>
          <a:prstGeom prst="rect">
            <a:avLst/>
          </a:prstGeom>
          <a:solidFill>
            <a:srgbClr val="0F1923"/>
          </a:solidFill>
          <a:ln w="12700">
            <a:solidFill>
              <a:srgbClr val="162230"/>
            </a:solidFill>
            <a:prstDash val="solid"/>
          </a:ln>
        </p:spPr>
      </p:sp>
      <p:sp>
        <p:nvSpPr>
          <p:cNvPr id="27" name="Text 25"/>
          <p:cNvSpPr/>
          <p:nvPr/>
        </p:nvSpPr>
        <p:spPr>
          <a:xfrm>
            <a:off x="6693408" y="2980944"/>
            <a:ext cx="1719072" cy="822960"/>
          </a:xfrm>
          <a:prstGeom prst="rect">
            <a:avLst/>
          </a:prstGeom>
          <a:noFill/>
          <a:ln/>
        </p:spPr>
        <p:txBody>
          <a:bodyPr wrap="square" lIns="50800" tIns="50800" rIns="50800" bIns="5080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Windows 10</a:t>
            </a:r>
            <a:endParaRPr lang="en-US" sz="1100" dirty="0"/>
          </a:p>
          <a:p>
            <a:pPr algn="ctr" indent="0" marL="0">
              <a:buNone/>
            </a:pPr>
            <a:r>
              <a:rPr lang="en-US" sz="1100" dirty="0">
                <a:solidFill>
                  <a:srgbClr val="FFFFFF"/>
                </a:solidFill>
                <a:latin typeface="Calibri" pitchFamily="34" charset="0"/>
                <a:ea typeface="Calibri" pitchFamily="34" charset="-122"/>
                <a:cs typeface="Calibri" pitchFamily="34" charset="-120"/>
              </a:rPr>
              <a:t>(Agent)</a:t>
            </a:r>
            <a:endParaRPr lang="en-US" sz="1100" dirty="0"/>
          </a:p>
        </p:txBody>
      </p:sp>
      <p:sp>
        <p:nvSpPr>
          <p:cNvPr id="28" name="Shape 26"/>
          <p:cNvSpPr/>
          <p:nvPr/>
        </p:nvSpPr>
        <p:spPr>
          <a:xfrm>
            <a:off x="201168" y="4590288"/>
            <a:ext cx="8741664" cy="292608"/>
          </a:xfrm>
          <a:prstGeom prst="rect">
            <a:avLst/>
          </a:prstGeom>
          <a:solidFill>
            <a:srgbClr val="162230"/>
          </a:solidFill>
          <a:ln w="12700">
            <a:solidFill>
              <a:srgbClr val="162230"/>
            </a:solidFill>
            <a:prstDash val="solid"/>
          </a:ln>
          <a:effectLst>
            <a:outerShdw sx="100000" sy="100000" kx="0" ky="0" algn="bl" rotWithShape="0" blurRad="101600" dist="38100" dir="8100000">
              <a:srgbClr val="000000">
                <a:alpha val="25000"/>
              </a:srgbClr>
            </a:outerShdw>
          </a:effectLst>
        </p:spPr>
      </p:sp>
      <p:sp>
        <p:nvSpPr>
          <p:cNvPr id="29" name="Shape 27"/>
          <p:cNvSpPr/>
          <p:nvPr/>
        </p:nvSpPr>
        <p:spPr>
          <a:xfrm>
            <a:off x="201168" y="4590288"/>
            <a:ext cx="45720" cy="292608"/>
          </a:xfrm>
          <a:prstGeom prst="rect">
            <a:avLst/>
          </a:prstGeom>
          <a:solidFill>
            <a:srgbClr val="8CA3B5"/>
          </a:solidFill>
          <a:ln w="12700">
            <a:solidFill>
              <a:srgbClr val="8CA3B5"/>
            </a:solidFill>
            <a:prstDash val="solid"/>
          </a:ln>
        </p:spPr>
      </p:sp>
      <p:sp>
        <p:nvSpPr>
          <p:cNvPr id="30" name="Text 28"/>
          <p:cNvSpPr/>
          <p:nvPr/>
        </p:nvSpPr>
        <p:spPr>
          <a:xfrm>
            <a:off x="329184" y="4626864"/>
            <a:ext cx="8412480" cy="201168"/>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Every packet between VMs and between VMs and the outside passes through pfSense. pfSense decides what crosses the boundary and logs everything it sees.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923"/>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00C9A7"/>
          </a:solidFill>
          <a:ln w="12700">
            <a:solidFill>
              <a:srgbClr val="00C9A7"/>
            </a:solidFill>
            <a:prstDash val="solid"/>
          </a:ln>
        </p:spPr>
      </p:sp>
      <p:sp>
        <p:nvSpPr>
          <p:cNvPr id="3" name="Text 1"/>
          <p:cNvSpPr/>
          <p:nvPr/>
        </p:nvSpPr>
        <p:spPr>
          <a:xfrm>
            <a:off x="201168" y="256032"/>
            <a:ext cx="8503920" cy="566928"/>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What is Threat Intelligence?</a:t>
            </a:r>
            <a:endParaRPr lang="en-US" sz="2800" dirty="0"/>
          </a:p>
        </p:txBody>
      </p:sp>
      <p:sp>
        <p:nvSpPr>
          <p:cNvPr id="4" name="Text 2"/>
          <p:cNvSpPr/>
          <p:nvPr/>
        </p:nvSpPr>
        <p:spPr>
          <a:xfrm>
            <a:off x="201168" y="786384"/>
            <a:ext cx="8503920" cy="237744"/>
          </a:xfrm>
          <a:prstGeom prst="rect">
            <a:avLst/>
          </a:prstGeom>
          <a:noFill/>
          <a:ln/>
        </p:spPr>
        <p:txBody>
          <a:bodyPr wrap="square" lIns="0" tIns="0" rIns="0" bIns="0" rtlCol="0" anchor="ctr"/>
          <a:lstStyle/>
          <a:p>
            <a:pPr indent="0" marL="0">
              <a:buNone/>
            </a:pPr>
            <a:r>
              <a:rPr lang="en-US" sz="1300" i="1" dirty="0">
                <a:solidFill>
                  <a:srgbClr val="00C9A7"/>
                </a:solidFill>
                <a:latin typeface="Calibri" pitchFamily="34" charset="0"/>
                <a:ea typeface="Calibri" pitchFamily="34" charset="-122"/>
                <a:cs typeface="Calibri" pitchFamily="34" charset="-120"/>
              </a:rPr>
              <a:t>Turning external knowledge into better alerts</a:t>
            </a:r>
            <a:endParaRPr lang="en-US" sz="1300" dirty="0"/>
          </a:p>
        </p:txBody>
      </p:sp>
      <p:sp>
        <p:nvSpPr>
          <p:cNvPr id="5" name="Shape 3"/>
          <p:cNvSpPr/>
          <p:nvPr/>
        </p:nvSpPr>
        <p:spPr>
          <a:xfrm>
            <a:off x="0" y="4983480"/>
            <a:ext cx="9144000" cy="160020"/>
          </a:xfrm>
          <a:prstGeom prst="rect">
            <a:avLst/>
          </a:prstGeom>
          <a:solidFill>
            <a:srgbClr val="0A1118"/>
          </a:solidFill>
          <a:ln w="12700">
            <a:solidFill>
              <a:srgbClr val="0A1118"/>
            </a:solidFill>
            <a:prstDash val="solid"/>
          </a:ln>
        </p:spPr>
      </p:sp>
      <p:sp>
        <p:nvSpPr>
          <p:cNvPr id="6" name="Text 4"/>
          <p:cNvSpPr/>
          <p:nvPr/>
        </p:nvSpPr>
        <p:spPr>
          <a:xfrm>
            <a:off x="182880" y="4974336"/>
            <a:ext cx="8778240" cy="164592"/>
          </a:xfrm>
          <a:prstGeom prst="rect">
            <a:avLst/>
          </a:prstGeom>
          <a:noFill/>
          <a:ln/>
        </p:spPr>
        <p:txBody>
          <a:bodyPr wrap="square" lIns="0" tIns="0" rIns="0" bIns="0" rtlCol="0" anchor="ctr"/>
          <a:lstStyle/>
          <a:p>
            <a:pPr indent="0" marL="0">
              <a:buNone/>
            </a:pPr>
            <a:r>
              <a:rPr lang="en-US" sz="900" dirty="0">
                <a:solidFill>
                  <a:srgbClr val="8CA3B5"/>
                </a:solidFill>
                <a:latin typeface="Calibri" pitchFamily="34" charset="0"/>
                <a:ea typeface="Calibri" pitchFamily="34" charset="-122"/>
                <a:cs typeface="Calibri" pitchFamily="34" charset="-120"/>
              </a:rPr>
              <a:t>Cyberster Blue Team  ·  Week 4 Masterclass</a:t>
            </a:r>
            <a:endParaRPr lang="en-US" sz="900" dirty="0"/>
          </a:p>
        </p:txBody>
      </p:sp>
      <p:sp>
        <p:nvSpPr>
          <p:cNvPr id="7" name="Shape 5"/>
          <p:cNvSpPr/>
          <p:nvPr/>
        </p:nvSpPr>
        <p:spPr>
          <a:xfrm>
            <a:off x="201168" y="1042416"/>
            <a:ext cx="1828800" cy="246888"/>
          </a:xfrm>
          <a:prstGeom prst="rect">
            <a:avLst/>
          </a:prstGeom>
          <a:solidFill>
            <a:srgbClr val="00C9A7"/>
          </a:solidFill>
          <a:ln w="12700">
            <a:solidFill>
              <a:srgbClr val="00C9A7"/>
            </a:solidFill>
            <a:prstDash val="solid"/>
          </a:ln>
        </p:spPr>
      </p:sp>
      <p:sp>
        <p:nvSpPr>
          <p:cNvPr id="8" name="Text 6"/>
          <p:cNvSpPr/>
          <p:nvPr/>
        </p:nvSpPr>
        <p:spPr>
          <a:xfrm>
            <a:off x="201168" y="1033272"/>
            <a:ext cx="1828800" cy="256032"/>
          </a:xfrm>
          <a:prstGeom prst="rect">
            <a:avLst/>
          </a:prstGeom>
          <a:noFill/>
          <a:ln/>
        </p:spPr>
        <p:txBody>
          <a:bodyPr wrap="square" lIns="50800" tIns="50800" rIns="50800" bIns="50800" rtlCol="0" anchor="ctr"/>
          <a:lstStyle/>
          <a:p>
            <a:pPr algn="ctr" indent="0" marL="0">
              <a:buNone/>
            </a:pPr>
            <a:r>
              <a:rPr lang="en-US" sz="1000" b="1" dirty="0">
                <a:solidFill>
                  <a:srgbClr val="0A1118"/>
                </a:solidFill>
                <a:latin typeface="Calibri" pitchFamily="34" charset="0"/>
                <a:ea typeface="Calibri" pitchFamily="34" charset="-122"/>
                <a:cs typeface="Calibri" pitchFamily="34" charset="-120"/>
              </a:rPr>
              <a:t>CONCEPT  ·  THREAT INTEL</a:t>
            </a:r>
            <a:endParaRPr lang="en-US" sz="1000" dirty="0"/>
          </a:p>
        </p:txBody>
      </p:sp>
      <p:sp>
        <p:nvSpPr>
          <p:cNvPr id="9" name="Shape 7"/>
          <p:cNvSpPr/>
          <p:nvPr/>
        </p:nvSpPr>
        <p:spPr>
          <a:xfrm>
            <a:off x="201168" y="1371600"/>
            <a:ext cx="8741664" cy="1389888"/>
          </a:xfrm>
          <a:prstGeom prst="rect">
            <a:avLst/>
          </a:prstGeom>
          <a:solidFill>
            <a:srgbClr val="162230"/>
          </a:solidFill>
          <a:ln w="12700">
            <a:solidFill>
              <a:srgbClr val="162230"/>
            </a:solidFill>
            <a:prstDash val="solid"/>
          </a:ln>
          <a:effectLst>
            <a:outerShdw sx="100000" sy="100000" kx="0" ky="0" algn="bl" rotWithShape="0" blurRad="101600" dist="38100" dir="8100000">
              <a:srgbClr val="000000">
                <a:alpha val="25000"/>
              </a:srgbClr>
            </a:outerShdw>
          </a:effectLst>
        </p:spPr>
      </p:sp>
      <p:sp>
        <p:nvSpPr>
          <p:cNvPr id="10" name="Shape 8"/>
          <p:cNvSpPr/>
          <p:nvPr/>
        </p:nvSpPr>
        <p:spPr>
          <a:xfrm>
            <a:off x="201168" y="1371600"/>
            <a:ext cx="45720" cy="1389888"/>
          </a:xfrm>
          <a:prstGeom prst="rect">
            <a:avLst/>
          </a:prstGeom>
          <a:solidFill>
            <a:srgbClr val="00C9A7"/>
          </a:solidFill>
          <a:ln w="12700">
            <a:solidFill>
              <a:srgbClr val="00C9A7"/>
            </a:solidFill>
            <a:prstDash val="solid"/>
          </a:ln>
        </p:spPr>
      </p:sp>
      <p:sp>
        <p:nvSpPr>
          <p:cNvPr id="11" name="Text 9"/>
          <p:cNvSpPr/>
          <p:nvPr/>
        </p:nvSpPr>
        <p:spPr>
          <a:xfrm>
            <a:off x="329184" y="1463040"/>
            <a:ext cx="8412480" cy="256032"/>
          </a:xfrm>
          <a:prstGeom prst="rect">
            <a:avLst/>
          </a:prstGeom>
          <a:noFill/>
          <a:ln/>
        </p:spPr>
        <p:txBody>
          <a:bodyPr wrap="square" lIns="0" tIns="0" rIns="0" bIns="0" rtlCol="0" anchor="ctr"/>
          <a:lstStyle/>
          <a:p>
            <a:pPr indent="0" marL="0">
              <a:buNone/>
            </a:pPr>
            <a:r>
              <a:rPr lang="en-US" sz="1400" b="1" dirty="0">
                <a:solidFill>
                  <a:srgbClr val="00C9A7"/>
                </a:solidFill>
                <a:latin typeface="Calibri" pitchFamily="34" charset="0"/>
                <a:ea typeface="Calibri" pitchFamily="34" charset="-122"/>
                <a:cs typeface="Calibri" pitchFamily="34" charset="-120"/>
              </a:rPr>
              <a:t>The difference between detection and intelligence</a:t>
            </a:r>
            <a:endParaRPr lang="en-US" sz="1400" dirty="0"/>
          </a:p>
        </p:txBody>
      </p:sp>
      <p:sp>
        <p:nvSpPr>
          <p:cNvPr id="12" name="Text 10"/>
          <p:cNvSpPr/>
          <p:nvPr/>
        </p:nvSpPr>
        <p:spPr>
          <a:xfrm>
            <a:off x="329184" y="1755648"/>
            <a:ext cx="8412480" cy="84124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A Wazuh alert tells you a file changed on your system. That is detection. Threat intelligence tells you whether that file is known malware that has appeared in 200 campaigns across 40 countries. That is context. The combination changes how urgently you respond and what you do next.</a:t>
            </a:r>
            <a:endParaRPr lang="en-US" sz="1200" dirty="0"/>
          </a:p>
        </p:txBody>
      </p:sp>
      <p:sp>
        <p:nvSpPr>
          <p:cNvPr id="13" name="Shape 11"/>
          <p:cNvSpPr/>
          <p:nvPr/>
        </p:nvSpPr>
        <p:spPr>
          <a:xfrm>
            <a:off x="201168" y="2926080"/>
            <a:ext cx="4297680" cy="896112"/>
          </a:xfrm>
          <a:prstGeom prst="rect">
            <a:avLst/>
          </a:prstGeom>
          <a:solidFill>
            <a:srgbClr val="162230"/>
          </a:solidFill>
          <a:ln w="12700">
            <a:solidFill>
              <a:srgbClr val="162230"/>
            </a:solidFill>
            <a:prstDash val="solid"/>
          </a:ln>
          <a:effectLst>
            <a:outerShdw sx="100000" sy="100000" kx="0" ky="0" algn="bl" rotWithShape="0" blurRad="101600" dist="38100" dir="8100000">
              <a:srgbClr val="000000">
                <a:alpha val="25000"/>
              </a:srgbClr>
            </a:outerShdw>
          </a:effectLst>
        </p:spPr>
      </p:sp>
      <p:sp>
        <p:nvSpPr>
          <p:cNvPr id="14" name="Shape 12"/>
          <p:cNvSpPr/>
          <p:nvPr/>
        </p:nvSpPr>
        <p:spPr>
          <a:xfrm>
            <a:off x="201168" y="2926080"/>
            <a:ext cx="45720" cy="896112"/>
          </a:xfrm>
          <a:prstGeom prst="rect">
            <a:avLst/>
          </a:prstGeom>
          <a:solidFill>
            <a:srgbClr val="00C9A7"/>
          </a:solidFill>
          <a:ln w="12700">
            <a:solidFill>
              <a:srgbClr val="00C9A7"/>
            </a:solidFill>
            <a:prstDash val="solid"/>
          </a:ln>
        </p:spPr>
      </p:sp>
      <p:sp>
        <p:nvSpPr>
          <p:cNvPr id="15" name="Text 13"/>
          <p:cNvSpPr/>
          <p:nvPr/>
        </p:nvSpPr>
        <p:spPr>
          <a:xfrm>
            <a:off x="310896" y="2999232"/>
            <a:ext cx="4078224" cy="219456"/>
          </a:xfrm>
          <a:prstGeom prst="rect">
            <a:avLst/>
          </a:prstGeom>
          <a:noFill/>
          <a:ln/>
        </p:spPr>
        <p:txBody>
          <a:bodyPr wrap="square" lIns="0" tIns="0" rIns="0" bIns="0" rtlCol="0" anchor="ctr"/>
          <a:lstStyle/>
          <a:p>
            <a:pPr indent="0" marL="0">
              <a:buNone/>
            </a:pPr>
            <a:r>
              <a:rPr lang="en-US" sz="1300" b="1" dirty="0">
                <a:solidFill>
                  <a:srgbClr val="00C9A7"/>
                </a:solidFill>
                <a:latin typeface="Calibri" pitchFamily="34" charset="0"/>
                <a:ea typeface="Calibri" pitchFamily="34" charset="-122"/>
                <a:cs typeface="Calibri" pitchFamily="34" charset="-120"/>
              </a:rPr>
              <a:t>File hashes</a:t>
            </a:r>
            <a:endParaRPr lang="en-US" sz="1300" dirty="0"/>
          </a:p>
        </p:txBody>
      </p:sp>
      <p:sp>
        <p:nvSpPr>
          <p:cNvPr id="16" name="Text 14"/>
          <p:cNvSpPr/>
          <p:nvPr/>
        </p:nvSpPr>
        <p:spPr>
          <a:xfrm>
            <a:off x="310896" y="3236976"/>
            <a:ext cx="4078224" cy="512064"/>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MD5, SHA1, SHA256 hashes of known malicious files. Wazuh FIM captures file hashes. VirusTotal checks them.</a:t>
            </a:r>
            <a:endParaRPr lang="en-US" sz="1100" dirty="0"/>
          </a:p>
        </p:txBody>
      </p:sp>
      <p:sp>
        <p:nvSpPr>
          <p:cNvPr id="17" name="Shape 15"/>
          <p:cNvSpPr/>
          <p:nvPr/>
        </p:nvSpPr>
        <p:spPr>
          <a:xfrm>
            <a:off x="4681728" y="2926080"/>
            <a:ext cx="4297680" cy="896112"/>
          </a:xfrm>
          <a:prstGeom prst="rect">
            <a:avLst/>
          </a:prstGeom>
          <a:solidFill>
            <a:srgbClr val="162230"/>
          </a:solidFill>
          <a:ln w="12700">
            <a:solidFill>
              <a:srgbClr val="162230"/>
            </a:solidFill>
            <a:prstDash val="solid"/>
          </a:ln>
          <a:effectLst>
            <a:outerShdw sx="100000" sy="100000" kx="0" ky="0" algn="bl" rotWithShape="0" blurRad="101600" dist="38100" dir="8100000">
              <a:srgbClr val="000000">
                <a:alpha val="25000"/>
              </a:srgbClr>
            </a:outerShdw>
          </a:effectLst>
        </p:spPr>
      </p:sp>
      <p:sp>
        <p:nvSpPr>
          <p:cNvPr id="18" name="Shape 16"/>
          <p:cNvSpPr/>
          <p:nvPr/>
        </p:nvSpPr>
        <p:spPr>
          <a:xfrm>
            <a:off x="4681728" y="2926080"/>
            <a:ext cx="45720" cy="896112"/>
          </a:xfrm>
          <a:prstGeom prst="rect">
            <a:avLst/>
          </a:prstGeom>
          <a:solidFill>
            <a:srgbClr val="4FC3F7"/>
          </a:solidFill>
          <a:ln w="12700">
            <a:solidFill>
              <a:srgbClr val="4FC3F7"/>
            </a:solidFill>
            <a:prstDash val="solid"/>
          </a:ln>
        </p:spPr>
      </p:sp>
      <p:sp>
        <p:nvSpPr>
          <p:cNvPr id="19" name="Text 17"/>
          <p:cNvSpPr/>
          <p:nvPr/>
        </p:nvSpPr>
        <p:spPr>
          <a:xfrm>
            <a:off x="4791456" y="2999232"/>
            <a:ext cx="4078224" cy="219456"/>
          </a:xfrm>
          <a:prstGeom prst="rect">
            <a:avLst/>
          </a:prstGeom>
          <a:noFill/>
          <a:ln/>
        </p:spPr>
        <p:txBody>
          <a:bodyPr wrap="square" lIns="0" tIns="0" rIns="0" bIns="0" rtlCol="0" anchor="ctr"/>
          <a:lstStyle/>
          <a:p>
            <a:pPr indent="0" marL="0">
              <a:buNone/>
            </a:pPr>
            <a:r>
              <a:rPr lang="en-US" sz="1300" b="1" dirty="0">
                <a:solidFill>
                  <a:srgbClr val="4FC3F7"/>
                </a:solidFill>
                <a:latin typeface="Calibri" pitchFamily="34" charset="0"/>
                <a:ea typeface="Calibri" pitchFamily="34" charset="-122"/>
                <a:cs typeface="Calibri" pitchFamily="34" charset="-120"/>
              </a:rPr>
              <a:t>IP addresses</a:t>
            </a:r>
            <a:endParaRPr lang="en-US" sz="1300" dirty="0"/>
          </a:p>
        </p:txBody>
      </p:sp>
      <p:sp>
        <p:nvSpPr>
          <p:cNvPr id="20" name="Text 18"/>
          <p:cNvSpPr/>
          <p:nvPr/>
        </p:nvSpPr>
        <p:spPr>
          <a:xfrm>
            <a:off x="4791456" y="3236976"/>
            <a:ext cx="4078224" cy="512064"/>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IPs known to be used by malware C2 servers, botnets, or attack infrastructure. Match against network logs.</a:t>
            </a:r>
            <a:endParaRPr lang="en-US" sz="1100" dirty="0"/>
          </a:p>
        </p:txBody>
      </p:sp>
      <p:sp>
        <p:nvSpPr>
          <p:cNvPr id="21" name="Shape 19"/>
          <p:cNvSpPr/>
          <p:nvPr/>
        </p:nvSpPr>
        <p:spPr>
          <a:xfrm>
            <a:off x="201168" y="3931920"/>
            <a:ext cx="4297680" cy="896112"/>
          </a:xfrm>
          <a:prstGeom prst="rect">
            <a:avLst/>
          </a:prstGeom>
          <a:solidFill>
            <a:srgbClr val="162230"/>
          </a:solidFill>
          <a:ln w="12700">
            <a:solidFill>
              <a:srgbClr val="162230"/>
            </a:solidFill>
            <a:prstDash val="solid"/>
          </a:ln>
          <a:effectLst>
            <a:outerShdw sx="100000" sy="100000" kx="0" ky="0" algn="bl" rotWithShape="0" blurRad="101600" dist="38100" dir="8100000">
              <a:srgbClr val="000000">
                <a:alpha val="25000"/>
              </a:srgbClr>
            </a:outerShdw>
          </a:effectLst>
        </p:spPr>
      </p:sp>
      <p:sp>
        <p:nvSpPr>
          <p:cNvPr id="22" name="Shape 20"/>
          <p:cNvSpPr/>
          <p:nvPr/>
        </p:nvSpPr>
        <p:spPr>
          <a:xfrm>
            <a:off x="201168" y="3931920"/>
            <a:ext cx="45720" cy="896112"/>
          </a:xfrm>
          <a:prstGeom prst="rect">
            <a:avLst/>
          </a:prstGeom>
          <a:solidFill>
            <a:srgbClr val="00C9A7"/>
          </a:solidFill>
          <a:ln w="12700">
            <a:solidFill>
              <a:srgbClr val="00C9A7"/>
            </a:solidFill>
            <a:prstDash val="solid"/>
          </a:ln>
        </p:spPr>
      </p:sp>
      <p:sp>
        <p:nvSpPr>
          <p:cNvPr id="23" name="Text 21"/>
          <p:cNvSpPr/>
          <p:nvPr/>
        </p:nvSpPr>
        <p:spPr>
          <a:xfrm>
            <a:off x="310896" y="4005072"/>
            <a:ext cx="4078224" cy="219456"/>
          </a:xfrm>
          <a:prstGeom prst="rect">
            <a:avLst/>
          </a:prstGeom>
          <a:noFill/>
          <a:ln/>
        </p:spPr>
        <p:txBody>
          <a:bodyPr wrap="square" lIns="0" tIns="0" rIns="0" bIns="0" rtlCol="0" anchor="ctr"/>
          <a:lstStyle/>
          <a:p>
            <a:pPr indent="0" marL="0">
              <a:buNone/>
            </a:pPr>
            <a:r>
              <a:rPr lang="en-US" sz="1300" b="1" dirty="0">
                <a:solidFill>
                  <a:srgbClr val="00C9A7"/>
                </a:solidFill>
                <a:latin typeface="Calibri" pitchFamily="34" charset="0"/>
                <a:ea typeface="Calibri" pitchFamily="34" charset="-122"/>
                <a:cs typeface="Calibri" pitchFamily="34" charset="-120"/>
              </a:rPr>
              <a:t>Domains &amp; URLs</a:t>
            </a:r>
            <a:endParaRPr lang="en-US" sz="1300" dirty="0"/>
          </a:p>
        </p:txBody>
      </p:sp>
      <p:sp>
        <p:nvSpPr>
          <p:cNvPr id="24" name="Text 22"/>
          <p:cNvSpPr/>
          <p:nvPr/>
        </p:nvSpPr>
        <p:spPr>
          <a:xfrm>
            <a:off x="310896" y="4242816"/>
            <a:ext cx="4078224" cy="512064"/>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Domains serving malware, phishing pages, or acting as command-and-control. URLhaus and Abuse.ch publish these.</a:t>
            </a:r>
            <a:endParaRPr lang="en-US" sz="1100" dirty="0"/>
          </a:p>
        </p:txBody>
      </p:sp>
      <p:sp>
        <p:nvSpPr>
          <p:cNvPr id="25" name="Shape 23"/>
          <p:cNvSpPr/>
          <p:nvPr/>
        </p:nvSpPr>
        <p:spPr>
          <a:xfrm>
            <a:off x="4681728" y="3931920"/>
            <a:ext cx="4297680" cy="896112"/>
          </a:xfrm>
          <a:prstGeom prst="rect">
            <a:avLst/>
          </a:prstGeom>
          <a:solidFill>
            <a:srgbClr val="162230"/>
          </a:solidFill>
          <a:ln w="12700">
            <a:solidFill>
              <a:srgbClr val="162230"/>
            </a:solidFill>
            <a:prstDash val="solid"/>
          </a:ln>
          <a:effectLst>
            <a:outerShdw sx="100000" sy="100000" kx="0" ky="0" algn="bl" rotWithShape="0" blurRad="101600" dist="38100" dir="8100000">
              <a:srgbClr val="000000">
                <a:alpha val="25000"/>
              </a:srgbClr>
            </a:outerShdw>
          </a:effectLst>
        </p:spPr>
      </p:sp>
      <p:sp>
        <p:nvSpPr>
          <p:cNvPr id="26" name="Shape 24"/>
          <p:cNvSpPr/>
          <p:nvPr/>
        </p:nvSpPr>
        <p:spPr>
          <a:xfrm>
            <a:off x="4681728" y="3931920"/>
            <a:ext cx="45720" cy="896112"/>
          </a:xfrm>
          <a:prstGeom prst="rect">
            <a:avLst/>
          </a:prstGeom>
          <a:solidFill>
            <a:srgbClr val="4FC3F7"/>
          </a:solidFill>
          <a:ln w="12700">
            <a:solidFill>
              <a:srgbClr val="4FC3F7"/>
            </a:solidFill>
            <a:prstDash val="solid"/>
          </a:ln>
        </p:spPr>
      </p:sp>
      <p:sp>
        <p:nvSpPr>
          <p:cNvPr id="27" name="Text 25"/>
          <p:cNvSpPr/>
          <p:nvPr/>
        </p:nvSpPr>
        <p:spPr>
          <a:xfrm>
            <a:off x="4791456" y="4005072"/>
            <a:ext cx="4078224" cy="219456"/>
          </a:xfrm>
          <a:prstGeom prst="rect">
            <a:avLst/>
          </a:prstGeom>
          <a:noFill/>
          <a:ln/>
        </p:spPr>
        <p:txBody>
          <a:bodyPr wrap="square" lIns="0" tIns="0" rIns="0" bIns="0" rtlCol="0" anchor="ctr"/>
          <a:lstStyle/>
          <a:p>
            <a:pPr indent="0" marL="0">
              <a:buNone/>
            </a:pPr>
            <a:r>
              <a:rPr lang="en-US" sz="1300" b="1" dirty="0">
                <a:solidFill>
                  <a:srgbClr val="4FC3F7"/>
                </a:solidFill>
                <a:latin typeface="Calibri" pitchFamily="34" charset="0"/>
                <a:ea typeface="Calibri" pitchFamily="34" charset="-122"/>
                <a:cs typeface="Calibri" pitchFamily="34" charset="-120"/>
              </a:rPr>
              <a:t>YARA signatures</a:t>
            </a:r>
            <a:endParaRPr lang="en-US" sz="1300" dirty="0"/>
          </a:p>
        </p:txBody>
      </p:sp>
      <p:sp>
        <p:nvSpPr>
          <p:cNvPr id="28" name="Text 26"/>
          <p:cNvSpPr/>
          <p:nvPr/>
        </p:nvSpPr>
        <p:spPr>
          <a:xfrm>
            <a:off x="4791456" y="4242816"/>
            <a:ext cx="4078224" cy="512064"/>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Pattern-based rules that describe malware families by content or structure. Can be run against files or memory.</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923"/>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00C9A7"/>
          </a:solidFill>
          <a:ln w="12700">
            <a:solidFill>
              <a:srgbClr val="00C9A7"/>
            </a:solidFill>
            <a:prstDash val="solid"/>
          </a:ln>
        </p:spPr>
      </p:sp>
      <p:sp>
        <p:nvSpPr>
          <p:cNvPr id="3" name="Text 1"/>
          <p:cNvSpPr/>
          <p:nvPr/>
        </p:nvSpPr>
        <p:spPr>
          <a:xfrm>
            <a:off x="201168" y="256032"/>
            <a:ext cx="8503920" cy="566928"/>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VirusTotal Integration and MITRE ATT&amp;CK</a:t>
            </a:r>
            <a:endParaRPr lang="en-US" sz="2800" dirty="0"/>
          </a:p>
        </p:txBody>
      </p:sp>
      <p:sp>
        <p:nvSpPr>
          <p:cNvPr id="4" name="Text 2"/>
          <p:cNvSpPr/>
          <p:nvPr/>
        </p:nvSpPr>
        <p:spPr>
          <a:xfrm>
            <a:off x="201168" y="786384"/>
            <a:ext cx="8503920" cy="237744"/>
          </a:xfrm>
          <a:prstGeom prst="rect">
            <a:avLst/>
          </a:prstGeom>
          <a:noFill/>
          <a:ln/>
        </p:spPr>
        <p:txBody>
          <a:bodyPr wrap="square" lIns="0" tIns="0" rIns="0" bIns="0" rtlCol="0" anchor="ctr"/>
          <a:lstStyle/>
          <a:p>
            <a:pPr indent="0" marL="0">
              <a:buNone/>
            </a:pPr>
            <a:r>
              <a:rPr lang="en-US" sz="1300" i="1" dirty="0">
                <a:solidFill>
                  <a:srgbClr val="00C9A7"/>
                </a:solidFill>
                <a:latin typeface="Calibri" pitchFamily="34" charset="0"/>
                <a:ea typeface="Calibri" pitchFamily="34" charset="-122"/>
                <a:cs typeface="Calibri" pitchFamily="34" charset="-120"/>
              </a:rPr>
              <a:t>How Wazuh enriches alerts with external data</a:t>
            </a:r>
            <a:endParaRPr lang="en-US" sz="1300" dirty="0"/>
          </a:p>
        </p:txBody>
      </p:sp>
      <p:sp>
        <p:nvSpPr>
          <p:cNvPr id="5" name="Shape 3"/>
          <p:cNvSpPr/>
          <p:nvPr/>
        </p:nvSpPr>
        <p:spPr>
          <a:xfrm>
            <a:off x="0" y="4983480"/>
            <a:ext cx="9144000" cy="160020"/>
          </a:xfrm>
          <a:prstGeom prst="rect">
            <a:avLst/>
          </a:prstGeom>
          <a:solidFill>
            <a:srgbClr val="0A1118"/>
          </a:solidFill>
          <a:ln w="12700">
            <a:solidFill>
              <a:srgbClr val="0A1118"/>
            </a:solidFill>
            <a:prstDash val="solid"/>
          </a:ln>
        </p:spPr>
      </p:sp>
      <p:sp>
        <p:nvSpPr>
          <p:cNvPr id="6" name="Text 4"/>
          <p:cNvSpPr/>
          <p:nvPr/>
        </p:nvSpPr>
        <p:spPr>
          <a:xfrm>
            <a:off x="182880" y="4974336"/>
            <a:ext cx="8778240" cy="164592"/>
          </a:xfrm>
          <a:prstGeom prst="rect">
            <a:avLst/>
          </a:prstGeom>
          <a:noFill/>
          <a:ln/>
        </p:spPr>
        <p:txBody>
          <a:bodyPr wrap="square" lIns="0" tIns="0" rIns="0" bIns="0" rtlCol="0" anchor="ctr"/>
          <a:lstStyle/>
          <a:p>
            <a:pPr indent="0" marL="0">
              <a:buNone/>
            </a:pPr>
            <a:r>
              <a:rPr lang="en-US" sz="900" dirty="0">
                <a:solidFill>
                  <a:srgbClr val="8CA3B5"/>
                </a:solidFill>
                <a:latin typeface="Calibri" pitchFamily="34" charset="0"/>
                <a:ea typeface="Calibri" pitchFamily="34" charset="-122"/>
                <a:cs typeface="Calibri" pitchFamily="34" charset="-120"/>
              </a:rPr>
              <a:t>Cyberster Blue Team  ·  Week 4 Masterclass</a:t>
            </a:r>
            <a:endParaRPr lang="en-US" sz="900" dirty="0"/>
          </a:p>
        </p:txBody>
      </p:sp>
      <p:sp>
        <p:nvSpPr>
          <p:cNvPr id="7" name="Shape 5"/>
          <p:cNvSpPr/>
          <p:nvPr/>
        </p:nvSpPr>
        <p:spPr>
          <a:xfrm>
            <a:off x="201168" y="1042416"/>
            <a:ext cx="1828800" cy="246888"/>
          </a:xfrm>
          <a:prstGeom prst="rect">
            <a:avLst/>
          </a:prstGeom>
          <a:solidFill>
            <a:srgbClr val="00C9A7"/>
          </a:solidFill>
          <a:ln w="12700">
            <a:solidFill>
              <a:srgbClr val="00C9A7"/>
            </a:solidFill>
            <a:prstDash val="solid"/>
          </a:ln>
        </p:spPr>
      </p:sp>
      <p:sp>
        <p:nvSpPr>
          <p:cNvPr id="8" name="Text 6"/>
          <p:cNvSpPr/>
          <p:nvPr/>
        </p:nvSpPr>
        <p:spPr>
          <a:xfrm>
            <a:off x="201168" y="1033272"/>
            <a:ext cx="1828800" cy="256032"/>
          </a:xfrm>
          <a:prstGeom prst="rect">
            <a:avLst/>
          </a:prstGeom>
          <a:noFill/>
          <a:ln/>
        </p:spPr>
        <p:txBody>
          <a:bodyPr wrap="square" lIns="50800" tIns="50800" rIns="50800" bIns="50800" rtlCol="0" anchor="ctr"/>
          <a:lstStyle/>
          <a:p>
            <a:pPr algn="ctr" indent="0" marL="0">
              <a:buNone/>
            </a:pPr>
            <a:r>
              <a:rPr lang="en-US" sz="1000" b="1" dirty="0">
                <a:solidFill>
                  <a:srgbClr val="0A1118"/>
                </a:solidFill>
                <a:latin typeface="Calibri" pitchFamily="34" charset="0"/>
                <a:ea typeface="Calibri" pitchFamily="34" charset="-122"/>
                <a:cs typeface="Calibri" pitchFamily="34" charset="-120"/>
              </a:rPr>
              <a:t>THREAT INTEL  ·  TOOLS</a:t>
            </a:r>
            <a:endParaRPr lang="en-US" sz="1000" dirty="0"/>
          </a:p>
        </p:txBody>
      </p:sp>
      <p:sp>
        <p:nvSpPr>
          <p:cNvPr id="9" name="Shape 7"/>
          <p:cNvSpPr/>
          <p:nvPr/>
        </p:nvSpPr>
        <p:spPr>
          <a:xfrm>
            <a:off x="201168" y="1371600"/>
            <a:ext cx="4251960" cy="3401568"/>
          </a:xfrm>
          <a:prstGeom prst="rect">
            <a:avLst/>
          </a:prstGeom>
          <a:solidFill>
            <a:srgbClr val="162230"/>
          </a:solidFill>
          <a:ln w="12700">
            <a:solidFill>
              <a:srgbClr val="162230"/>
            </a:solidFill>
            <a:prstDash val="solid"/>
          </a:ln>
          <a:effectLst>
            <a:outerShdw sx="100000" sy="100000" kx="0" ky="0" algn="bl" rotWithShape="0" blurRad="101600" dist="38100" dir="8100000">
              <a:srgbClr val="000000">
                <a:alpha val="25000"/>
              </a:srgbClr>
            </a:outerShdw>
          </a:effectLst>
        </p:spPr>
      </p:sp>
      <p:sp>
        <p:nvSpPr>
          <p:cNvPr id="10" name="Shape 8"/>
          <p:cNvSpPr/>
          <p:nvPr/>
        </p:nvSpPr>
        <p:spPr>
          <a:xfrm>
            <a:off x="201168" y="1371600"/>
            <a:ext cx="45720" cy="3401568"/>
          </a:xfrm>
          <a:prstGeom prst="rect">
            <a:avLst/>
          </a:prstGeom>
          <a:solidFill>
            <a:srgbClr val="00C9A7"/>
          </a:solidFill>
          <a:ln w="12700">
            <a:solidFill>
              <a:srgbClr val="00C9A7"/>
            </a:solidFill>
            <a:prstDash val="solid"/>
          </a:ln>
        </p:spPr>
      </p:sp>
      <p:sp>
        <p:nvSpPr>
          <p:cNvPr id="11" name="Text 9"/>
          <p:cNvSpPr/>
          <p:nvPr/>
        </p:nvSpPr>
        <p:spPr>
          <a:xfrm>
            <a:off x="329184" y="1463040"/>
            <a:ext cx="3986784" cy="274320"/>
          </a:xfrm>
          <a:prstGeom prst="rect">
            <a:avLst/>
          </a:prstGeom>
          <a:noFill/>
          <a:ln/>
        </p:spPr>
        <p:txBody>
          <a:bodyPr wrap="square" lIns="0" tIns="0" rIns="0" bIns="0" rtlCol="0" anchor="ctr"/>
          <a:lstStyle/>
          <a:p>
            <a:pPr indent="0" marL="0">
              <a:buNone/>
            </a:pPr>
            <a:r>
              <a:rPr lang="en-US" sz="1400" b="1" dirty="0">
                <a:solidFill>
                  <a:srgbClr val="00C9A7"/>
                </a:solidFill>
                <a:latin typeface="Calibri" pitchFamily="34" charset="0"/>
                <a:ea typeface="Calibri" pitchFamily="34" charset="-122"/>
                <a:cs typeface="Calibri" pitchFamily="34" charset="-120"/>
              </a:rPr>
              <a:t>VirusTotal in Wazuh</a:t>
            </a:r>
            <a:endParaRPr lang="en-US" sz="1400" dirty="0"/>
          </a:p>
        </p:txBody>
      </p:sp>
      <p:sp>
        <p:nvSpPr>
          <p:cNvPr id="12" name="Text 10"/>
          <p:cNvSpPr/>
          <p:nvPr/>
        </p:nvSpPr>
        <p:spPr>
          <a:xfrm>
            <a:off x="329184" y="1792224"/>
            <a:ext cx="3986784" cy="283464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When FIM detects a new or modified file, Wazuh extracts the file hash and submits it to the VirusTotal API automatically. VirusTotal checks the hash against the signatures from over 70 antivirus engines and returns a score.</a:t>
            </a:r>
            <a:endParaRPr lang="en-US" sz="1200" dirty="0"/>
          </a:p>
          <a:p>
            <a:pPr indent="0" marL="0">
              <a:buNone/>
            </a:pP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If the score is above zero, Wazuh generates an alert with the VirusTotal result embedded. An analyst can immediately see: this file has been seen by security vendors, here is how many flagged it, here is what they called it.</a:t>
            </a:r>
            <a:endParaRPr lang="en-US" sz="1200" dirty="0"/>
          </a:p>
          <a:p>
            <a:pPr indent="0" marL="0">
              <a:buNone/>
            </a:pP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This turns a generic file change alert into a confirmed malware detection without the analyst having to do anything.</a:t>
            </a:r>
            <a:endParaRPr lang="en-US" sz="1200" dirty="0"/>
          </a:p>
        </p:txBody>
      </p:sp>
      <p:sp>
        <p:nvSpPr>
          <p:cNvPr id="13" name="Shape 11"/>
          <p:cNvSpPr/>
          <p:nvPr/>
        </p:nvSpPr>
        <p:spPr>
          <a:xfrm>
            <a:off x="4645152" y="1371600"/>
            <a:ext cx="4297680" cy="3401568"/>
          </a:xfrm>
          <a:prstGeom prst="rect">
            <a:avLst/>
          </a:prstGeom>
          <a:solidFill>
            <a:srgbClr val="162230"/>
          </a:solidFill>
          <a:ln w="12700">
            <a:solidFill>
              <a:srgbClr val="162230"/>
            </a:solidFill>
            <a:prstDash val="solid"/>
          </a:ln>
          <a:effectLst>
            <a:outerShdw sx="100000" sy="100000" kx="0" ky="0" algn="bl" rotWithShape="0" blurRad="101600" dist="38100" dir="8100000">
              <a:srgbClr val="000000">
                <a:alpha val="25000"/>
              </a:srgbClr>
            </a:outerShdw>
          </a:effectLst>
        </p:spPr>
      </p:sp>
      <p:sp>
        <p:nvSpPr>
          <p:cNvPr id="14" name="Shape 12"/>
          <p:cNvSpPr/>
          <p:nvPr/>
        </p:nvSpPr>
        <p:spPr>
          <a:xfrm>
            <a:off x="4645152" y="1371600"/>
            <a:ext cx="45720" cy="3401568"/>
          </a:xfrm>
          <a:prstGeom prst="rect">
            <a:avLst/>
          </a:prstGeom>
          <a:solidFill>
            <a:srgbClr val="4FC3F7"/>
          </a:solidFill>
          <a:ln w="12700">
            <a:solidFill>
              <a:srgbClr val="4FC3F7"/>
            </a:solidFill>
            <a:prstDash val="solid"/>
          </a:ln>
        </p:spPr>
      </p:sp>
      <p:sp>
        <p:nvSpPr>
          <p:cNvPr id="15" name="Text 13"/>
          <p:cNvSpPr/>
          <p:nvPr/>
        </p:nvSpPr>
        <p:spPr>
          <a:xfrm>
            <a:off x="4773168" y="1463040"/>
            <a:ext cx="4041648" cy="274320"/>
          </a:xfrm>
          <a:prstGeom prst="rect">
            <a:avLst/>
          </a:prstGeom>
          <a:noFill/>
          <a:ln/>
        </p:spPr>
        <p:txBody>
          <a:bodyPr wrap="square" lIns="0" tIns="0" rIns="0" bIns="0" rtlCol="0" anchor="ctr"/>
          <a:lstStyle/>
          <a:p>
            <a:pPr indent="0" marL="0">
              <a:buNone/>
            </a:pPr>
            <a:r>
              <a:rPr lang="en-US" sz="1400" b="1" dirty="0">
                <a:solidFill>
                  <a:srgbClr val="4FC3F7"/>
                </a:solidFill>
                <a:latin typeface="Calibri" pitchFamily="34" charset="0"/>
                <a:ea typeface="Calibri" pitchFamily="34" charset="-122"/>
                <a:cs typeface="Calibri" pitchFamily="34" charset="-120"/>
              </a:rPr>
              <a:t>MITRE ATT&amp;CK Module</a:t>
            </a:r>
            <a:endParaRPr lang="en-US" sz="1400" dirty="0"/>
          </a:p>
        </p:txBody>
      </p:sp>
      <p:sp>
        <p:nvSpPr>
          <p:cNvPr id="16" name="Text 14"/>
          <p:cNvSpPr/>
          <p:nvPr/>
        </p:nvSpPr>
        <p:spPr>
          <a:xfrm>
            <a:off x="4773168" y="1792224"/>
            <a:ext cx="4041648" cy="237744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MITRE ATT&amp;CK is a framework that categorises adversary behaviour into tactics, techniques, and procedures. Wazuh's default rules include ATT&amp;CK tags.</a:t>
            </a:r>
            <a:endParaRPr lang="en-US" sz="1200" dirty="0"/>
          </a:p>
          <a:p>
            <a:pPr indent="0" marL="0">
              <a:buNone/>
            </a:pP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The ATT&amp;CK module in Wazuh maps your alerts to the matrix. Instead of seeing a list of individual alerts, you see which attack phases and techniques are represented in your data.</a:t>
            </a:r>
            <a:endParaRPr lang="en-US" sz="1200" dirty="0"/>
          </a:p>
          <a:p>
            <a:pPr indent="0" marL="0">
              <a:buNone/>
            </a:pP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This gives you a strategic view. Not just what alert fired, but what kind of attacker behaviour it represents and how it fits into a broader attack chain.</a:t>
            </a:r>
            <a:endParaRPr lang="en-US" sz="1200" dirty="0"/>
          </a:p>
        </p:txBody>
      </p:sp>
      <p:sp>
        <p:nvSpPr>
          <p:cNvPr id="17" name="Text 15"/>
          <p:cNvSpPr/>
          <p:nvPr/>
        </p:nvSpPr>
        <p:spPr>
          <a:xfrm>
            <a:off x="4773168" y="4187952"/>
            <a:ext cx="4041648" cy="201168"/>
          </a:xfrm>
          <a:prstGeom prst="rect">
            <a:avLst/>
          </a:prstGeom>
          <a:noFill/>
          <a:ln/>
        </p:spPr>
        <p:txBody>
          <a:bodyPr wrap="square" lIns="0" tIns="0" rIns="0" bIns="0" rtlCol="0" anchor="ctr"/>
          <a:lstStyle/>
          <a:p>
            <a:pPr indent="0" marL="0">
              <a:buNone/>
            </a:pPr>
            <a:r>
              <a:rPr lang="en-US" sz="1100" b="1" dirty="0">
                <a:solidFill>
                  <a:srgbClr val="4FC3F7"/>
                </a:solidFill>
                <a:latin typeface="Calibri" pitchFamily="34" charset="0"/>
                <a:ea typeface="Calibri" pitchFamily="34" charset="-122"/>
                <a:cs typeface="Calibri" pitchFamily="34" charset="-120"/>
              </a:rPr>
              <a:t>Techniques you already have mapped:</a:t>
            </a:r>
            <a:endParaRPr lang="en-US" sz="1100" dirty="0"/>
          </a:p>
        </p:txBody>
      </p:sp>
      <p:sp>
        <p:nvSpPr>
          <p:cNvPr id="18" name="Text 16"/>
          <p:cNvSpPr/>
          <p:nvPr/>
        </p:nvSpPr>
        <p:spPr>
          <a:xfrm>
            <a:off x="4773168" y="4407408"/>
            <a:ext cx="4041648" cy="292608"/>
          </a:xfrm>
          <a:prstGeom prst="rect">
            <a:avLst/>
          </a:prstGeom>
          <a:noFill/>
          <a:ln/>
        </p:spPr>
        <p:txBody>
          <a:bodyPr wrap="square" lIns="0" tIns="0" rIns="0" bIns="0" rtlCol="0" anchor="ctr"/>
          <a:lstStyle/>
          <a:p>
            <a:pPr indent="0" marL="0">
              <a:buNone/>
            </a:pPr>
            <a:r>
              <a:rPr lang="en-US" sz="1100" dirty="0">
                <a:solidFill>
                  <a:srgbClr val="8CA3B5"/>
                </a:solidFill>
                <a:latin typeface="Courier New" pitchFamily="34" charset="0"/>
                <a:ea typeface="Courier New" pitchFamily="34" charset="-122"/>
                <a:cs typeface="Courier New" pitchFamily="34" charset="-120"/>
              </a:rPr>
              <a:t>T1110 Brute Force  ·  T1046 Network Scan  ·  T1136 Create Account  ·  T1565 Data Manipulation</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923"/>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00C9A7"/>
          </a:solidFill>
          <a:ln w="12700">
            <a:solidFill>
              <a:srgbClr val="00C9A7"/>
            </a:solidFill>
            <a:prstDash val="solid"/>
          </a:ln>
        </p:spPr>
      </p:sp>
      <p:sp>
        <p:nvSpPr>
          <p:cNvPr id="3" name="Text 1"/>
          <p:cNvSpPr/>
          <p:nvPr/>
        </p:nvSpPr>
        <p:spPr>
          <a:xfrm>
            <a:off x="201168" y="256032"/>
            <a:ext cx="8503920" cy="566928"/>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Threat Feeds and CDB Lists</a:t>
            </a:r>
            <a:endParaRPr lang="en-US" sz="2800" dirty="0"/>
          </a:p>
        </p:txBody>
      </p:sp>
      <p:sp>
        <p:nvSpPr>
          <p:cNvPr id="4" name="Text 2"/>
          <p:cNvSpPr/>
          <p:nvPr/>
        </p:nvSpPr>
        <p:spPr>
          <a:xfrm>
            <a:off x="201168" y="786384"/>
            <a:ext cx="8503920" cy="237744"/>
          </a:xfrm>
          <a:prstGeom prst="rect">
            <a:avLst/>
          </a:prstGeom>
          <a:noFill/>
          <a:ln/>
        </p:spPr>
        <p:txBody>
          <a:bodyPr wrap="square" lIns="0" tIns="0" rIns="0" bIns="0" rtlCol="0" anchor="ctr"/>
          <a:lstStyle/>
          <a:p>
            <a:pPr indent="0" marL="0">
              <a:buNone/>
            </a:pPr>
            <a:r>
              <a:rPr lang="en-US" sz="1300" i="1" dirty="0">
                <a:solidFill>
                  <a:srgbClr val="00C9A7"/>
                </a:solidFill>
                <a:latin typeface="Calibri" pitchFamily="34" charset="0"/>
                <a:ea typeface="Calibri" pitchFamily="34" charset="-122"/>
                <a:cs typeface="Calibri" pitchFamily="34" charset="-120"/>
              </a:rPr>
              <a:t>Enriching Wazuh rules with external indicator data</a:t>
            </a:r>
            <a:endParaRPr lang="en-US" sz="1300" dirty="0"/>
          </a:p>
        </p:txBody>
      </p:sp>
      <p:sp>
        <p:nvSpPr>
          <p:cNvPr id="5" name="Shape 3"/>
          <p:cNvSpPr/>
          <p:nvPr/>
        </p:nvSpPr>
        <p:spPr>
          <a:xfrm>
            <a:off x="0" y="4983480"/>
            <a:ext cx="9144000" cy="160020"/>
          </a:xfrm>
          <a:prstGeom prst="rect">
            <a:avLst/>
          </a:prstGeom>
          <a:solidFill>
            <a:srgbClr val="0A1118"/>
          </a:solidFill>
          <a:ln w="12700">
            <a:solidFill>
              <a:srgbClr val="0A1118"/>
            </a:solidFill>
            <a:prstDash val="solid"/>
          </a:ln>
        </p:spPr>
      </p:sp>
      <p:sp>
        <p:nvSpPr>
          <p:cNvPr id="6" name="Text 4"/>
          <p:cNvSpPr/>
          <p:nvPr/>
        </p:nvSpPr>
        <p:spPr>
          <a:xfrm>
            <a:off x="182880" y="4974336"/>
            <a:ext cx="8778240" cy="164592"/>
          </a:xfrm>
          <a:prstGeom prst="rect">
            <a:avLst/>
          </a:prstGeom>
          <a:noFill/>
          <a:ln/>
        </p:spPr>
        <p:txBody>
          <a:bodyPr wrap="square" lIns="0" tIns="0" rIns="0" bIns="0" rtlCol="0" anchor="ctr"/>
          <a:lstStyle/>
          <a:p>
            <a:pPr indent="0" marL="0">
              <a:buNone/>
            </a:pPr>
            <a:r>
              <a:rPr lang="en-US" sz="900" dirty="0">
                <a:solidFill>
                  <a:srgbClr val="8CA3B5"/>
                </a:solidFill>
                <a:latin typeface="Calibri" pitchFamily="34" charset="0"/>
                <a:ea typeface="Calibri" pitchFamily="34" charset="-122"/>
                <a:cs typeface="Calibri" pitchFamily="34" charset="-120"/>
              </a:rPr>
              <a:t>Cyberster Blue Team  ·  Week 4 Masterclass</a:t>
            </a:r>
            <a:endParaRPr lang="en-US" sz="900" dirty="0"/>
          </a:p>
        </p:txBody>
      </p:sp>
      <p:sp>
        <p:nvSpPr>
          <p:cNvPr id="7" name="Shape 5"/>
          <p:cNvSpPr/>
          <p:nvPr/>
        </p:nvSpPr>
        <p:spPr>
          <a:xfrm>
            <a:off x="201168" y="1042416"/>
            <a:ext cx="1828800" cy="246888"/>
          </a:xfrm>
          <a:prstGeom prst="rect">
            <a:avLst/>
          </a:prstGeom>
          <a:solidFill>
            <a:srgbClr val="00C9A7"/>
          </a:solidFill>
          <a:ln w="12700">
            <a:solidFill>
              <a:srgbClr val="00C9A7"/>
            </a:solidFill>
            <a:prstDash val="solid"/>
          </a:ln>
        </p:spPr>
      </p:sp>
      <p:sp>
        <p:nvSpPr>
          <p:cNvPr id="8" name="Text 6"/>
          <p:cNvSpPr/>
          <p:nvPr/>
        </p:nvSpPr>
        <p:spPr>
          <a:xfrm>
            <a:off x="201168" y="1033272"/>
            <a:ext cx="1828800" cy="256032"/>
          </a:xfrm>
          <a:prstGeom prst="rect">
            <a:avLst/>
          </a:prstGeom>
          <a:noFill/>
          <a:ln/>
        </p:spPr>
        <p:txBody>
          <a:bodyPr wrap="square" lIns="50800" tIns="50800" rIns="50800" bIns="50800" rtlCol="0" anchor="ctr"/>
          <a:lstStyle/>
          <a:p>
            <a:pPr algn="ctr" indent="0" marL="0">
              <a:buNone/>
            </a:pPr>
            <a:r>
              <a:rPr lang="en-US" sz="1000" b="1" dirty="0">
                <a:solidFill>
                  <a:srgbClr val="0A1118"/>
                </a:solidFill>
                <a:latin typeface="Calibri" pitchFamily="34" charset="0"/>
                <a:ea typeface="Calibri" pitchFamily="34" charset="-122"/>
                <a:cs typeface="Calibri" pitchFamily="34" charset="-120"/>
              </a:rPr>
              <a:t>THREAT INTEL  ·  WAZUH CONFIG</a:t>
            </a:r>
            <a:endParaRPr lang="en-US" sz="1000" dirty="0"/>
          </a:p>
        </p:txBody>
      </p:sp>
      <p:sp>
        <p:nvSpPr>
          <p:cNvPr id="9" name="Shape 7"/>
          <p:cNvSpPr/>
          <p:nvPr/>
        </p:nvSpPr>
        <p:spPr>
          <a:xfrm>
            <a:off x="201168" y="1371600"/>
            <a:ext cx="4251960" cy="2286000"/>
          </a:xfrm>
          <a:prstGeom prst="rect">
            <a:avLst/>
          </a:prstGeom>
          <a:solidFill>
            <a:srgbClr val="162230"/>
          </a:solidFill>
          <a:ln w="12700">
            <a:solidFill>
              <a:srgbClr val="162230"/>
            </a:solidFill>
            <a:prstDash val="solid"/>
          </a:ln>
          <a:effectLst>
            <a:outerShdw sx="100000" sy="100000" kx="0" ky="0" algn="bl" rotWithShape="0" blurRad="101600" dist="38100" dir="8100000">
              <a:srgbClr val="000000">
                <a:alpha val="25000"/>
              </a:srgbClr>
            </a:outerShdw>
          </a:effectLst>
        </p:spPr>
      </p:sp>
      <p:sp>
        <p:nvSpPr>
          <p:cNvPr id="10" name="Shape 8"/>
          <p:cNvSpPr/>
          <p:nvPr/>
        </p:nvSpPr>
        <p:spPr>
          <a:xfrm>
            <a:off x="201168" y="1371600"/>
            <a:ext cx="45720" cy="2286000"/>
          </a:xfrm>
          <a:prstGeom prst="rect">
            <a:avLst/>
          </a:prstGeom>
          <a:solidFill>
            <a:srgbClr val="00C9A7"/>
          </a:solidFill>
          <a:ln w="12700">
            <a:solidFill>
              <a:srgbClr val="00C9A7"/>
            </a:solidFill>
            <a:prstDash val="solid"/>
          </a:ln>
        </p:spPr>
      </p:sp>
      <p:sp>
        <p:nvSpPr>
          <p:cNvPr id="11" name="Text 9"/>
          <p:cNvSpPr/>
          <p:nvPr/>
        </p:nvSpPr>
        <p:spPr>
          <a:xfrm>
            <a:off x="329184" y="1463040"/>
            <a:ext cx="3986784" cy="256032"/>
          </a:xfrm>
          <a:prstGeom prst="rect">
            <a:avLst/>
          </a:prstGeom>
          <a:noFill/>
          <a:ln/>
        </p:spPr>
        <p:txBody>
          <a:bodyPr wrap="square" lIns="0" tIns="0" rIns="0" bIns="0" rtlCol="0" anchor="ctr"/>
          <a:lstStyle/>
          <a:p>
            <a:pPr indent="0" marL="0">
              <a:buNone/>
            </a:pPr>
            <a:r>
              <a:rPr lang="en-US" sz="1400" b="1" dirty="0">
                <a:solidFill>
                  <a:srgbClr val="00C9A7"/>
                </a:solidFill>
                <a:latin typeface="Calibri" pitchFamily="34" charset="0"/>
                <a:ea typeface="Calibri" pitchFamily="34" charset="-122"/>
                <a:cs typeface="Calibri" pitchFamily="34" charset="-120"/>
              </a:rPr>
              <a:t>What threat feeds are</a:t>
            </a:r>
            <a:endParaRPr lang="en-US" sz="1400" dirty="0"/>
          </a:p>
        </p:txBody>
      </p:sp>
      <p:sp>
        <p:nvSpPr>
          <p:cNvPr id="12" name="Text 10"/>
          <p:cNvSpPr/>
          <p:nvPr/>
        </p:nvSpPr>
        <p:spPr>
          <a:xfrm>
            <a:off x="329184" y="1755648"/>
            <a:ext cx="3986784" cy="1773936"/>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Security researchers and organisations continuously publish lists of malicious indicators: IPs running C2 servers, domains serving malware, URLs hosting exploit kits. These lists are updated daily or hourly as new infrastructure is discovered.</a:t>
            </a:r>
            <a:endParaRPr lang="en-US" sz="1200" dirty="0"/>
          </a:p>
          <a:p>
            <a:pPr indent="0" marL="0">
              <a:buNone/>
            </a:pP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URLhaus publishes malicious URL lists. Abuse.ch publishes feeder data from multiple tracking projects. Both are free.</a:t>
            </a:r>
            <a:endParaRPr lang="en-US" sz="1200" dirty="0"/>
          </a:p>
        </p:txBody>
      </p:sp>
      <p:sp>
        <p:nvSpPr>
          <p:cNvPr id="13" name="Shape 11"/>
          <p:cNvSpPr/>
          <p:nvPr/>
        </p:nvSpPr>
        <p:spPr>
          <a:xfrm>
            <a:off x="4645152" y="1371600"/>
            <a:ext cx="4297680" cy="2286000"/>
          </a:xfrm>
          <a:prstGeom prst="rect">
            <a:avLst/>
          </a:prstGeom>
          <a:solidFill>
            <a:srgbClr val="162230"/>
          </a:solidFill>
          <a:ln w="12700">
            <a:solidFill>
              <a:srgbClr val="162230"/>
            </a:solidFill>
            <a:prstDash val="solid"/>
          </a:ln>
          <a:effectLst>
            <a:outerShdw sx="100000" sy="100000" kx="0" ky="0" algn="bl" rotWithShape="0" blurRad="101600" dist="38100" dir="8100000">
              <a:srgbClr val="000000">
                <a:alpha val="25000"/>
              </a:srgbClr>
            </a:outerShdw>
          </a:effectLst>
        </p:spPr>
      </p:sp>
      <p:sp>
        <p:nvSpPr>
          <p:cNvPr id="14" name="Shape 12"/>
          <p:cNvSpPr/>
          <p:nvPr/>
        </p:nvSpPr>
        <p:spPr>
          <a:xfrm>
            <a:off x="4645152" y="1371600"/>
            <a:ext cx="45720" cy="2286000"/>
          </a:xfrm>
          <a:prstGeom prst="rect">
            <a:avLst/>
          </a:prstGeom>
          <a:solidFill>
            <a:srgbClr val="4FC3F7"/>
          </a:solidFill>
          <a:ln w="12700">
            <a:solidFill>
              <a:srgbClr val="4FC3F7"/>
            </a:solidFill>
            <a:prstDash val="solid"/>
          </a:ln>
        </p:spPr>
      </p:sp>
      <p:sp>
        <p:nvSpPr>
          <p:cNvPr id="15" name="Text 13"/>
          <p:cNvSpPr/>
          <p:nvPr/>
        </p:nvSpPr>
        <p:spPr>
          <a:xfrm>
            <a:off x="4773168" y="1463040"/>
            <a:ext cx="4041648" cy="256032"/>
          </a:xfrm>
          <a:prstGeom prst="rect">
            <a:avLst/>
          </a:prstGeom>
          <a:noFill/>
          <a:ln/>
        </p:spPr>
        <p:txBody>
          <a:bodyPr wrap="square" lIns="0" tIns="0" rIns="0" bIns="0" rtlCol="0" anchor="ctr"/>
          <a:lstStyle/>
          <a:p>
            <a:pPr indent="0" marL="0">
              <a:buNone/>
            </a:pPr>
            <a:r>
              <a:rPr lang="en-US" sz="1400" b="1" dirty="0">
                <a:solidFill>
                  <a:srgbClr val="4FC3F7"/>
                </a:solidFill>
                <a:latin typeface="Calibri" pitchFamily="34" charset="0"/>
                <a:ea typeface="Calibri" pitchFamily="34" charset="-122"/>
                <a:cs typeface="Calibri" pitchFamily="34" charset="-120"/>
              </a:rPr>
              <a:t>How CDB lists work in Wazuh</a:t>
            </a:r>
            <a:endParaRPr lang="en-US" sz="1400" dirty="0"/>
          </a:p>
        </p:txBody>
      </p:sp>
      <p:sp>
        <p:nvSpPr>
          <p:cNvPr id="16" name="Text 14"/>
          <p:cNvSpPr/>
          <p:nvPr/>
        </p:nvSpPr>
        <p:spPr>
          <a:xfrm>
            <a:off x="4773168" y="1755648"/>
            <a:ext cx="4041648" cy="1773936"/>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A CDB list is a binary lookup table the Wazuh Manager keeps in memory. You load a list of IPs, hashes, or domains into it. Then you write a rule that says: if this field in the alert matches something in this CDB list, fire a higher-severity alert.</a:t>
            </a:r>
            <a:endParaRPr lang="en-US" sz="1200" dirty="0"/>
          </a:p>
          <a:p>
            <a:pPr indent="0" marL="0">
              <a:buNone/>
            </a:pP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This is how external threat data becomes part of your internal rule logic. No code changes. Just a list and a rule.</a:t>
            </a:r>
            <a:endParaRPr lang="en-US" sz="1200" dirty="0"/>
          </a:p>
        </p:txBody>
      </p:sp>
      <p:sp>
        <p:nvSpPr>
          <p:cNvPr id="17" name="Shape 15"/>
          <p:cNvSpPr/>
          <p:nvPr/>
        </p:nvSpPr>
        <p:spPr>
          <a:xfrm>
            <a:off x="201168" y="3822192"/>
            <a:ext cx="8741664" cy="960120"/>
          </a:xfrm>
          <a:prstGeom prst="rect">
            <a:avLst/>
          </a:prstGeom>
          <a:solidFill>
            <a:srgbClr val="162230"/>
          </a:solidFill>
          <a:ln w="12700">
            <a:solidFill>
              <a:srgbClr val="162230"/>
            </a:solidFill>
            <a:prstDash val="solid"/>
          </a:ln>
          <a:effectLst>
            <a:outerShdw sx="100000" sy="100000" kx="0" ky="0" algn="bl" rotWithShape="0" blurRad="101600" dist="38100" dir="8100000">
              <a:srgbClr val="000000">
                <a:alpha val="25000"/>
              </a:srgbClr>
            </a:outerShdw>
          </a:effectLst>
        </p:spPr>
      </p:sp>
      <p:sp>
        <p:nvSpPr>
          <p:cNvPr id="18" name="Shape 16"/>
          <p:cNvSpPr/>
          <p:nvPr/>
        </p:nvSpPr>
        <p:spPr>
          <a:xfrm>
            <a:off x="201168" y="3822192"/>
            <a:ext cx="45720" cy="960120"/>
          </a:xfrm>
          <a:prstGeom prst="rect">
            <a:avLst/>
          </a:prstGeom>
          <a:solidFill>
            <a:srgbClr val="8CA3B5"/>
          </a:solidFill>
          <a:ln w="12700">
            <a:solidFill>
              <a:srgbClr val="8CA3B5"/>
            </a:solidFill>
            <a:prstDash val="solid"/>
          </a:ln>
        </p:spPr>
      </p:sp>
      <p:sp>
        <p:nvSpPr>
          <p:cNvPr id="19" name="Text 17"/>
          <p:cNvSpPr/>
          <p:nvPr/>
        </p:nvSpPr>
        <p:spPr>
          <a:xfrm>
            <a:off x="329184" y="3895344"/>
            <a:ext cx="1645920" cy="219456"/>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The enrichment pipeline:</a:t>
            </a:r>
            <a:endParaRPr lang="en-US" sz="1200" dirty="0"/>
          </a:p>
        </p:txBody>
      </p:sp>
      <p:sp>
        <p:nvSpPr>
          <p:cNvPr id="20" name="Shape 18"/>
          <p:cNvSpPr/>
          <p:nvPr/>
        </p:nvSpPr>
        <p:spPr>
          <a:xfrm>
            <a:off x="2103120" y="3895344"/>
            <a:ext cx="1234440" cy="457200"/>
          </a:xfrm>
          <a:prstGeom prst="rect">
            <a:avLst/>
          </a:prstGeom>
          <a:solidFill>
            <a:srgbClr val="0F1923"/>
          </a:solidFill>
          <a:ln w="12700">
            <a:solidFill>
              <a:srgbClr val="162230"/>
            </a:solidFill>
            <a:prstDash val="solid"/>
          </a:ln>
        </p:spPr>
      </p:sp>
      <p:sp>
        <p:nvSpPr>
          <p:cNvPr id="21" name="Text 19"/>
          <p:cNvSpPr/>
          <p:nvPr/>
        </p:nvSpPr>
        <p:spPr>
          <a:xfrm>
            <a:off x="2103120" y="3895344"/>
            <a:ext cx="1234440" cy="457200"/>
          </a:xfrm>
          <a:prstGeom prst="rect">
            <a:avLst/>
          </a:prstGeom>
          <a:noFill/>
          <a:ln/>
        </p:spPr>
        <p:txBody>
          <a:bodyPr wrap="square" lIns="38100" tIns="38100" rIns="38100" bIns="3810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Download feed</a:t>
            </a:r>
            <a:endParaRPr lang="en-US" sz="950" dirty="0"/>
          </a:p>
        </p:txBody>
      </p:sp>
      <p:sp>
        <p:nvSpPr>
          <p:cNvPr id="22" name="Text 20"/>
          <p:cNvSpPr/>
          <p:nvPr/>
        </p:nvSpPr>
        <p:spPr>
          <a:xfrm>
            <a:off x="3355848" y="3986784"/>
            <a:ext cx="109728" cy="274320"/>
          </a:xfrm>
          <a:prstGeom prst="rect">
            <a:avLst/>
          </a:prstGeom>
          <a:noFill/>
          <a:ln/>
        </p:spPr>
        <p:txBody>
          <a:bodyPr wrap="square" lIns="0" tIns="0" rIns="0" bIns="0" rtlCol="0" anchor="ctr"/>
          <a:lstStyle/>
          <a:p>
            <a:pPr indent="0" marL="0">
              <a:buNone/>
            </a:pPr>
            <a:r>
              <a:rPr lang="en-US" sz="1400" dirty="0">
                <a:solidFill>
                  <a:srgbClr val="00C9A7"/>
                </a:solidFill>
                <a:latin typeface="Calibri" pitchFamily="34" charset="0"/>
                <a:ea typeface="Calibri" pitchFamily="34" charset="-122"/>
                <a:cs typeface="Calibri" pitchFamily="34" charset="-120"/>
              </a:rPr>
              <a:t>→</a:t>
            </a:r>
            <a:endParaRPr lang="en-US" sz="1400" dirty="0"/>
          </a:p>
        </p:txBody>
      </p:sp>
      <p:sp>
        <p:nvSpPr>
          <p:cNvPr id="23" name="Shape 21"/>
          <p:cNvSpPr/>
          <p:nvPr/>
        </p:nvSpPr>
        <p:spPr>
          <a:xfrm>
            <a:off x="3474720" y="3895344"/>
            <a:ext cx="1234440" cy="457200"/>
          </a:xfrm>
          <a:prstGeom prst="rect">
            <a:avLst/>
          </a:prstGeom>
          <a:solidFill>
            <a:srgbClr val="0F1923"/>
          </a:solidFill>
          <a:ln w="12700">
            <a:solidFill>
              <a:srgbClr val="162230"/>
            </a:solidFill>
            <a:prstDash val="solid"/>
          </a:ln>
        </p:spPr>
      </p:sp>
      <p:sp>
        <p:nvSpPr>
          <p:cNvPr id="24" name="Text 22"/>
          <p:cNvSpPr/>
          <p:nvPr/>
        </p:nvSpPr>
        <p:spPr>
          <a:xfrm>
            <a:off x="3474720" y="3895344"/>
            <a:ext cx="1234440" cy="457200"/>
          </a:xfrm>
          <a:prstGeom prst="rect">
            <a:avLst/>
          </a:prstGeom>
          <a:noFill/>
          <a:ln/>
        </p:spPr>
        <p:txBody>
          <a:bodyPr wrap="square" lIns="38100" tIns="38100" rIns="38100" bIns="3810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Load into CDB list</a:t>
            </a:r>
            <a:endParaRPr lang="en-US" sz="950" dirty="0"/>
          </a:p>
        </p:txBody>
      </p:sp>
      <p:sp>
        <p:nvSpPr>
          <p:cNvPr id="25" name="Text 23"/>
          <p:cNvSpPr/>
          <p:nvPr/>
        </p:nvSpPr>
        <p:spPr>
          <a:xfrm>
            <a:off x="4727448" y="3986784"/>
            <a:ext cx="109728" cy="274320"/>
          </a:xfrm>
          <a:prstGeom prst="rect">
            <a:avLst/>
          </a:prstGeom>
          <a:noFill/>
          <a:ln/>
        </p:spPr>
        <p:txBody>
          <a:bodyPr wrap="square" lIns="0" tIns="0" rIns="0" bIns="0" rtlCol="0" anchor="ctr"/>
          <a:lstStyle/>
          <a:p>
            <a:pPr indent="0" marL="0">
              <a:buNone/>
            </a:pPr>
            <a:r>
              <a:rPr lang="en-US" sz="1400" dirty="0">
                <a:solidFill>
                  <a:srgbClr val="00C9A7"/>
                </a:solidFill>
                <a:latin typeface="Calibri" pitchFamily="34" charset="0"/>
                <a:ea typeface="Calibri" pitchFamily="34" charset="-122"/>
                <a:cs typeface="Calibri" pitchFamily="34" charset="-120"/>
              </a:rPr>
              <a:t>→</a:t>
            </a:r>
            <a:endParaRPr lang="en-US" sz="1400" dirty="0"/>
          </a:p>
        </p:txBody>
      </p:sp>
      <p:sp>
        <p:nvSpPr>
          <p:cNvPr id="26" name="Shape 24"/>
          <p:cNvSpPr/>
          <p:nvPr/>
        </p:nvSpPr>
        <p:spPr>
          <a:xfrm>
            <a:off x="4846320" y="3895344"/>
            <a:ext cx="1234440" cy="457200"/>
          </a:xfrm>
          <a:prstGeom prst="rect">
            <a:avLst/>
          </a:prstGeom>
          <a:solidFill>
            <a:srgbClr val="0F1923"/>
          </a:solidFill>
          <a:ln w="12700">
            <a:solidFill>
              <a:srgbClr val="162230"/>
            </a:solidFill>
            <a:prstDash val="solid"/>
          </a:ln>
        </p:spPr>
      </p:sp>
      <p:sp>
        <p:nvSpPr>
          <p:cNvPr id="27" name="Text 25"/>
          <p:cNvSpPr/>
          <p:nvPr/>
        </p:nvSpPr>
        <p:spPr>
          <a:xfrm>
            <a:off x="4846320" y="3895344"/>
            <a:ext cx="1234440" cy="457200"/>
          </a:xfrm>
          <a:prstGeom prst="rect">
            <a:avLst/>
          </a:prstGeom>
          <a:noFill/>
          <a:ln/>
        </p:spPr>
        <p:txBody>
          <a:bodyPr wrap="square" lIns="38100" tIns="38100" rIns="38100" bIns="3810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Alert fires with IP or domain field</a:t>
            </a:r>
            <a:endParaRPr lang="en-US" sz="950" dirty="0"/>
          </a:p>
        </p:txBody>
      </p:sp>
      <p:sp>
        <p:nvSpPr>
          <p:cNvPr id="28" name="Text 26"/>
          <p:cNvSpPr/>
          <p:nvPr/>
        </p:nvSpPr>
        <p:spPr>
          <a:xfrm>
            <a:off x="6099048" y="3986784"/>
            <a:ext cx="109728" cy="274320"/>
          </a:xfrm>
          <a:prstGeom prst="rect">
            <a:avLst/>
          </a:prstGeom>
          <a:noFill/>
          <a:ln/>
        </p:spPr>
        <p:txBody>
          <a:bodyPr wrap="square" lIns="0" tIns="0" rIns="0" bIns="0" rtlCol="0" anchor="ctr"/>
          <a:lstStyle/>
          <a:p>
            <a:pPr indent="0" marL="0">
              <a:buNone/>
            </a:pPr>
            <a:r>
              <a:rPr lang="en-US" sz="1400" dirty="0">
                <a:solidFill>
                  <a:srgbClr val="00C9A7"/>
                </a:solidFill>
                <a:latin typeface="Calibri" pitchFamily="34" charset="0"/>
                <a:ea typeface="Calibri" pitchFamily="34" charset="-122"/>
                <a:cs typeface="Calibri" pitchFamily="34" charset="-120"/>
              </a:rPr>
              <a:t>→</a:t>
            </a:r>
            <a:endParaRPr lang="en-US" sz="1400" dirty="0"/>
          </a:p>
        </p:txBody>
      </p:sp>
      <p:sp>
        <p:nvSpPr>
          <p:cNvPr id="29" name="Shape 27"/>
          <p:cNvSpPr/>
          <p:nvPr/>
        </p:nvSpPr>
        <p:spPr>
          <a:xfrm>
            <a:off x="6217920" y="3895344"/>
            <a:ext cx="1234440" cy="457200"/>
          </a:xfrm>
          <a:prstGeom prst="rect">
            <a:avLst/>
          </a:prstGeom>
          <a:solidFill>
            <a:srgbClr val="0F1923"/>
          </a:solidFill>
          <a:ln w="12700">
            <a:solidFill>
              <a:srgbClr val="162230"/>
            </a:solidFill>
            <a:prstDash val="solid"/>
          </a:ln>
        </p:spPr>
      </p:sp>
      <p:sp>
        <p:nvSpPr>
          <p:cNvPr id="30" name="Text 28"/>
          <p:cNvSpPr/>
          <p:nvPr/>
        </p:nvSpPr>
        <p:spPr>
          <a:xfrm>
            <a:off x="6217920" y="3895344"/>
            <a:ext cx="1234440" cy="457200"/>
          </a:xfrm>
          <a:prstGeom prst="rect">
            <a:avLst/>
          </a:prstGeom>
          <a:noFill/>
          <a:ln/>
        </p:spPr>
        <p:txBody>
          <a:bodyPr wrap="square" lIns="38100" tIns="38100" rIns="38100" bIns="3810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Rule checks CDB list</a:t>
            </a:r>
            <a:endParaRPr lang="en-US" sz="950" dirty="0"/>
          </a:p>
        </p:txBody>
      </p:sp>
      <p:sp>
        <p:nvSpPr>
          <p:cNvPr id="31" name="Text 29"/>
          <p:cNvSpPr/>
          <p:nvPr/>
        </p:nvSpPr>
        <p:spPr>
          <a:xfrm>
            <a:off x="7470648" y="3986784"/>
            <a:ext cx="109728" cy="274320"/>
          </a:xfrm>
          <a:prstGeom prst="rect">
            <a:avLst/>
          </a:prstGeom>
          <a:noFill/>
          <a:ln/>
        </p:spPr>
        <p:txBody>
          <a:bodyPr wrap="square" lIns="0" tIns="0" rIns="0" bIns="0" rtlCol="0" anchor="ctr"/>
          <a:lstStyle/>
          <a:p>
            <a:pPr indent="0" marL="0">
              <a:buNone/>
            </a:pPr>
            <a:r>
              <a:rPr lang="en-US" sz="1400" dirty="0">
                <a:solidFill>
                  <a:srgbClr val="00C9A7"/>
                </a:solidFill>
                <a:latin typeface="Calibri" pitchFamily="34" charset="0"/>
                <a:ea typeface="Calibri" pitchFamily="34" charset="-122"/>
                <a:cs typeface="Calibri" pitchFamily="34" charset="-120"/>
              </a:rPr>
              <a:t>→</a:t>
            </a:r>
            <a:endParaRPr lang="en-US" sz="1400" dirty="0"/>
          </a:p>
        </p:txBody>
      </p:sp>
      <p:sp>
        <p:nvSpPr>
          <p:cNvPr id="32" name="Shape 30"/>
          <p:cNvSpPr/>
          <p:nvPr/>
        </p:nvSpPr>
        <p:spPr>
          <a:xfrm>
            <a:off x="7589520" y="3895344"/>
            <a:ext cx="1234440" cy="457200"/>
          </a:xfrm>
          <a:prstGeom prst="rect">
            <a:avLst/>
          </a:prstGeom>
          <a:solidFill>
            <a:srgbClr val="00C9A7"/>
          </a:solidFill>
          <a:ln w="12700">
            <a:solidFill>
              <a:srgbClr val="00C9A7"/>
            </a:solidFill>
            <a:prstDash val="solid"/>
          </a:ln>
        </p:spPr>
      </p:sp>
      <p:sp>
        <p:nvSpPr>
          <p:cNvPr id="33" name="Text 31"/>
          <p:cNvSpPr/>
          <p:nvPr/>
        </p:nvSpPr>
        <p:spPr>
          <a:xfrm>
            <a:off x="7589520" y="3895344"/>
            <a:ext cx="1234440" cy="457200"/>
          </a:xfrm>
          <a:prstGeom prst="rect">
            <a:avLst/>
          </a:prstGeom>
          <a:noFill/>
          <a:ln/>
        </p:spPr>
        <p:txBody>
          <a:bodyPr wrap="square" lIns="38100" tIns="38100" rIns="38100" bIns="38100" rtlCol="0" anchor="ctr"/>
          <a:lstStyle/>
          <a:p>
            <a:pPr algn="ctr" indent="0" marL="0">
              <a:buNone/>
            </a:pPr>
            <a:r>
              <a:rPr lang="en-US" sz="950" dirty="0">
                <a:solidFill>
                  <a:srgbClr val="0A1118"/>
                </a:solidFill>
                <a:latin typeface="Calibri" pitchFamily="34" charset="0"/>
                <a:ea typeface="Calibri" pitchFamily="34" charset="-122"/>
                <a:cs typeface="Calibri" pitchFamily="34" charset="-120"/>
              </a:rPr>
              <a:t>Match found → enriched alert at higher level</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923"/>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00C9A7"/>
          </a:solidFill>
          <a:ln w="12700">
            <a:solidFill>
              <a:srgbClr val="00C9A7"/>
            </a:solidFill>
            <a:prstDash val="solid"/>
          </a:ln>
        </p:spPr>
      </p:sp>
      <p:sp>
        <p:nvSpPr>
          <p:cNvPr id="3" name="Text 1"/>
          <p:cNvSpPr/>
          <p:nvPr/>
        </p:nvSpPr>
        <p:spPr>
          <a:xfrm>
            <a:off x="201168" y="256032"/>
            <a:ext cx="8503920" cy="566928"/>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Detection vs Vulnerability Management</a:t>
            </a:r>
            <a:endParaRPr lang="en-US" sz="2800" dirty="0"/>
          </a:p>
        </p:txBody>
      </p:sp>
      <p:sp>
        <p:nvSpPr>
          <p:cNvPr id="4" name="Text 2"/>
          <p:cNvSpPr/>
          <p:nvPr/>
        </p:nvSpPr>
        <p:spPr>
          <a:xfrm>
            <a:off x="201168" y="786384"/>
            <a:ext cx="8503920" cy="237744"/>
          </a:xfrm>
          <a:prstGeom prst="rect">
            <a:avLst/>
          </a:prstGeom>
          <a:noFill/>
          <a:ln/>
        </p:spPr>
        <p:txBody>
          <a:bodyPr wrap="square" lIns="0" tIns="0" rIns="0" bIns="0" rtlCol="0" anchor="ctr"/>
          <a:lstStyle/>
          <a:p>
            <a:pPr indent="0" marL="0">
              <a:buNone/>
            </a:pPr>
            <a:r>
              <a:rPr lang="en-US" sz="1300" i="1" dirty="0">
                <a:solidFill>
                  <a:srgbClr val="00C9A7"/>
                </a:solidFill>
                <a:latin typeface="Calibri" pitchFamily="34" charset="0"/>
                <a:ea typeface="Calibri" pitchFamily="34" charset="-122"/>
                <a:cs typeface="Calibri" pitchFamily="34" charset="-120"/>
              </a:rPr>
              <a:t>Two disciplines, both necessary</a:t>
            </a:r>
            <a:endParaRPr lang="en-US" sz="1300" dirty="0"/>
          </a:p>
        </p:txBody>
      </p:sp>
      <p:sp>
        <p:nvSpPr>
          <p:cNvPr id="5" name="Shape 3"/>
          <p:cNvSpPr/>
          <p:nvPr/>
        </p:nvSpPr>
        <p:spPr>
          <a:xfrm>
            <a:off x="0" y="4983480"/>
            <a:ext cx="9144000" cy="160020"/>
          </a:xfrm>
          <a:prstGeom prst="rect">
            <a:avLst/>
          </a:prstGeom>
          <a:solidFill>
            <a:srgbClr val="0A1118"/>
          </a:solidFill>
          <a:ln w="12700">
            <a:solidFill>
              <a:srgbClr val="0A1118"/>
            </a:solidFill>
            <a:prstDash val="solid"/>
          </a:ln>
        </p:spPr>
      </p:sp>
      <p:sp>
        <p:nvSpPr>
          <p:cNvPr id="6" name="Text 4"/>
          <p:cNvSpPr/>
          <p:nvPr/>
        </p:nvSpPr>
        <p:spPr>
          <a:xfrm>
            <a:off x="182880" y="4974336"/>
            <a:ext cx="8778240" cy="164592"/>
          </a:xfrm>
          <a:prstGeom prst="rect">
            <a:avLst/>
          </a:prstGeom>
          <a:noFill/>
          <a:ln/>
        </p:spPr>
        <p:txBody>
          <a:bodyPr wrap="square" lIns="0" tIns="0" rIns="0" bIns="0" rtlCol="0" anchor="ctr"/>
          <a:lstStyle/>
          <a:p>
            <a:pPr indent="0" marL="0">
              <a:buNone/>
            </a:pPr>
            <a:r>
              <a:rPr lang="en-US" sz="900" dirty="0">
                <a:solidFill>
                  <a:srgbClr val="8CA3B5"/>
                </a:solidFill>
                <a:latin typeface="Calibri" pitchFamily="34" charset="0"/>
                <a:ea typeface="Calibri" pitchFamily="34" charset="-122"/>
                <a:cs typeface="Calibri" pitchFamily="34" charset="-120"/>
              </a:rPr>
              <a:t>Cyberster Blue Team  ·  Week 4 Masterclass</a:t>
            </a:r>
            <a:endParaRPr lang="en-US" sz="900" dirty="0"/>
          </a:p>
        </p:txBody>
      </p:sp>
      <p:sp>
        <p:nvSpPr>
          <p:cNvPr id="7" name="Shape 5"/>
          <p:cNvSpPr/>
          <p:nvPr/>
        </p:nvSpPr>
        <p:spPr>
          <a:xfrm>
            <a:off x="201168" y="1042416"/>
            <a:ext cx="1828800" cy="246888"/>
          </a:xfrm>
          <a:prstGeom prst="rect">
            <a:avLst/>
          </a:prstGeom>
          <a:solidFill>
            <a:srgbClr val="00C9A7"/>
          </a:solidFill>
          <a:ln w="12700">
            <a:solidFill>
              <a:srgbClr val="00C9A7"/>
            </a:solidFill>
            <a:prstDash val="solid"/>
          </a:ln>
        </p:spPr>
      </p:sp>
      <p:sp>
        <p:nvSpPr>
          <p:cNvPr id="8" name="Text 6"/>
          <p:cNvSpPr/>
          <p:nvPr/>
        </p:nvSpPr>
        <p:spPr>
          <a:xfrm>
            <a:off x="201168" y="1033272"/>
            <a:ext cx="1828800" cy="256032"/>
          </a:xfrm>
          <a:prstGeom prst="rect">
            <a:avLst/>
          </a:prstGeom>
          <a:noFill/>
          <a:ln/>
        </p:spPr>
        <p:txBody>
          <a:bodyPr wrap="square" lIns="50800" tIns="50800" rIns="50800" bIns="50800" rtlCol="0" anchor="ctr"/>
          <a:lstStyle/>
          <a:p>
            <a:pPr algn="ctr" indent="0" marL="0">
              <a:buNone/>
            </a:pPr>
            <a:r>
              <a:rPr lang="en-US" sz="1000" b="1" dirty="0">
                <a:solidFill>
                  <a:srgbClr val="0A1118"/>
                </a:solidFill>
                <a:latin typeface="Calibri" pitchFamily="34" charset="0"/>
                <a:ea typeface="Calibri" pitchFamily="34" charset="-122"/>
                <a:cs typeface="Calibri" pitchFamily="34" charset="-120"/>
              </a:rPr>
              <a:t>CONCEPT  ·  VULN MANAGEMENT</a:t>
            </a:r>
            <a:endParaRPr lang="en-US" sz="1000" dirty="0"/>
          </a:p>
        </p:txBody>
      </p:sp>
      <p:sp>
        <p:nvSpPr>
          <p:cNvPr id="9" name="Shape 7"/>
          <p:cNvSpPr/>
          <p:nvPr/>
        </p:nvSpPr>
        <p:spPr>
          <a:xfrm>
            <a:off x="201168" y="1371600"/>
            <a:ext cx="4251960" cy="2331720"/>
          </a:xfrm>
          <a:prstGeom prst="rect">
            <a:avLst/>
          </a:prstGeom>
          <a:solidFill>
            <a:srgbClr val="162230"/>
          </a:solidFill>
          <a:ln w="12700">
            <a:solidFill>
              <a:srgbClr val="162230"/>
            </a:solidFill>
            <a:prstDash val="solid"/>
          </a:ln>
          <a:effectLst>
            <a:outerShdw sx="100000" sy="100000" kx="0" ky="0" algn="bl" rotWithShape="0" blurRad="101600" dist="38100" dir="8100000">
              <a:srgbClr val="000000">
                <a:alpha val="25000"/>
              </a:srgbClr>
            </a:outerShdw>
          </a:effectLst>
        </p:spPr>
      </p:sp>
      <p:sp>
        <p:nvSpPr>
          <p:cNvPr id="10" name="Shape 8"/>
          <p:cNvSpPr/>
          <p:nvPr/>
        </p:nvSpPr>
        <p:spPr>
          <a:xfrm>
            <a:off x="201168" y="1371600"/>
            <a:ext cx="45720" cy="2331720"/>
          </a:xfrm>
          <a:prstGeom prst="rect">
            <a:avLst/>
          </a:prstGeom>
          <a:solidFill>
            <a:srgbClr val="E05252"/>
          </a:solidFill>
          <a:ln w="12700">
            <a:solidFill>
              <a:srgbClr val="E05252"/>
            </a:solidFill>
            <a:prstDash val="solid"/>
          </a:ln>
        </p:spPr>
      </p:sp>
      <p:sp>
        <p:nvSpPr>
          <p:cNvPr id="11" name="Text 9"/>
          <p:cNvSpPr/>
          <p:nvPr/>
        </p:nvSpPr>
        <p:spPr>
          <a:xfrm>
            <a:off x="329184" y="1463040"/>
            <a:ext cx="3986784" cy="256032"/>
          </a:xfrm>
          <a:prstGeom prst="rect">
            <a:avLst/>
          </a:prstGeom>
          <a:noFill/>
          <a:ln/>
        </p:spPr>
        <p:txBody>
          <a:bodyPr wrap="square" lIns="0" tIns="0" rIns="0" bIns="0" rtlCol="0" anchor="ctr"/>
          <a:lstStyle/>
          <a:p>
            <a:pPr indent="0" marL="0">
              <a:buNone/>
            </a:pPr>
            <a:r>
              <a:rPr lang="en-US" sz="1400" b="1" dirty="0">
                <a:solidFill>
                  <a:srgbClr val="E05252"/>
                </a:solidFill>
                <a:latin typeface="Calibri" pitchFamily="34" charset="0"/>
                <a:ea typeface="Calibri" pitchFamily="34" charset="-122"/>
                <a:cs typeface="Calibri" pitchFamily="34" charset="-120"/>
              </a:rPr>
              <a:t>Detection (reactive)</a:t>
            </a:r>
            <a:endParaRPr lang="en-US" sz="1400" dirty="0"/>
          </a:p>
        </p:txBody>
      </p:sp>
      <p:sp>
        <p:nvSpPr>
          <p:cNvPr id="12" name="Text 10"/>
          <p:cNvSpPr/>
          <p:nvPr/>
        </p:nvSpPr>
        <p:spPr>
          <a:xfrm>
            <a:off x="329184" y="1755648"/>
            <a:ext cx="3986784" cy="182880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Something happens and you alert on it. An attacker runs a scan. Malware modifies a file. A brute force crosses a threshold. Detection captures the event after it occurs. It is essential but it is always responding to something that already happened.</a:t>
            </a:r>
            <a:endParaRPr lang="en-US" sz="1200" dirty="0"/>
          </a:p>
        </p:txBody>
      </p:sp>
      <p:sp>
        <p:nvSpPr>
          <p:cNvPr id="13" name="Shape 11"/>
          <p:cNvSpPr/>
          <p:nvPr/>
        </p:nvSpPr>
        <p:spPr>
          <a:xfrm>
            <a:off x="4645152" y="1371600"/>
            <a:ext cx="4297680" cy="2331720"/>
          </a:xfrm>
          <a:prstGeom prst="rect">
            <a:avLst/>
          </a:prstGeom>
          <a:solidFill>
            <a:srgbClr val="162230"/>
          </a:solidFill>
          <a:ln w="12700">
            <a:solidFill>
              <a:srgbClr val="162230"/>
            </a:solidFill>
            <a:prstDash val="solid"/>
          </a:ln>
          <a:effectLst>
            <a:outerShdw sx="100000" sy="100000" kx="0" ky="0" algn="bl" rotWithShape="0" blurRad="101600" dist="38100" dir="8100000">
              <a:srgbClr val="000000">
                <a:alpha val="25000"/>
              </a:srgbClr>
            </a:outerShdw>
          </a:effectLst>
        </p:spPr>
      </p:sp>
      <p:sp>
        <p:nvSpPr>
          <p:cNvPr id="14" name="Shape 12"/>
          <p:cNvSpPr/>
          <p:nvPr/>
        </p:nvSpPr>
        <p:spPr>
          <a:xfrm>
            <a:off x="4645152" y="1371600"/>
            <a:ext cx="45720" cy="2331720"/>
          </a:xfrm>
          <a:prstGeom prst="rect">
            <a:avLst/>
          </a:prstGeom>
          <a:solidFill>
            <a:srgbClr val="00C9A7"/>
          </a:solidFill>
          <a:ln w="12700">
            <a:solidFill>
              <a:srgbClr val="00C9A7"/>
            </a:solidFill>
            <a:prstDash val="solid"/>
          </a:ln>
        </p:spPr>
      </p:sp>
      <p:sp>
        <p:nvSpPr>
          <p:cNvPr id="15" name="Text 13"/>
          <p:cNvSpPr/>
          <p:nvPr/>
        </p:nvSpPr>
        <p:spPr>
          <a:xfrm>
            <a:off x="4773168" y="1463040"/>
            <a:ext cx="4041648" cy="256032"/>
          </a:xfrm>
          <a:prstGeom prst="rect">
            <a:avLst/>
          </a:prstGeom>
          <a:noFill/>
          <a:ln/>
        </p:spPr>
        <p:txBody>
          <a:bodyPr wrap="square" lIns="0" tIns="0" rIns="0" bIns="0" rtlCol="0" anchor="ctr"/>
          <a:lstStyle/>
          <a:p>
            <a:pPr indent="0" marL="0">
              <a:buNone/>
            </a:pPr>
            <a:r>
              <a:rPr lang="en-US" sz="1400" b="1" dirty="0">
                <a:solidFill>
                  <a:srgbClr val="00C9A7"/>
                </a:solidFill>
                <a:latin typeface="Calibri" pitchFamily="34" charset="0"/>
                <a:ea typeface="Calibri" pitchFamily="34" charset="-122"/>
                <a:cs typeface="Calibri" pitchFamily="34" charset="-120"/>
              </a:rPr>
              <a:t>Vulnerability management (proactive)</a:t>
            </a:r>
            <a:endParaRPr lang="en-US" sz="1400" dirty="0"/>
          </a:p>
        </p:txBody>
      </p:sp>
      <p:sp>
        <p:nvSpPr>
          <p:cNvPr id="16" name="Text 14"/>
          <p:cNvSpPr/>
          <p:nvPr/>
        </p:nvSpPr>
        <p:spPr>
          <a:xfrm>
            <a:off x="4773168" y="1755648"/>
            <a:ext cx="4041648" cy="182880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You look for weaknesses in your systems before an attacker exploits them. What software is installed? What version? Is that version affected by a known vulnerability? Can you patch it before someone uses it against you?</a:t>
            </a:r>
            <a:endParaRPr lang="en-US" sz="1200" dirty="0"/>
          </a:p>
        </p:txBody>
      </p:sp>
      <p:sp>
        <p:nvSpPr>
          <p:cNvPr id="17" name="Shape 15"/>
          <p:cNvSpPr/>
          <p:nvPr/>
        </p:nvSpPr>
        <p:spPr>
          <a:xfrm>
            <a:off x="201168" y="3858768"/>
            <a:ext cx="8741664" cy="960120"/>
          </a:xfrm>
          <a:prstGeom prst="rect">
            <a:avLst/>
          </a:prstGeom>
          <a:solidFill>
            <a:srgbClr val="162230"/>
          </a:solidFill>
          <a:ln w="12700">
            <a:solidFill>
              <a:srgbClr val="162230"/>
            </a:solidFill>
            <a:prstDash val="solid"/>
          </a:ln>
          <a:effectLst>
            <a:outerShdw sx="100000" sy="100000" kx="0" ky="0" algn="bl" rotWithShape="0" blurRad="101600" dist="38100" dir="8100000">
              <a:srgbClr val="000000">
                <a:alpha val="25000"/>
              </a:srgbClr>
            </a:outerShdw>
          </a:effectLst>
        </p:spPr>
      </p:sp>
      <p:sp>
        <p:nvSpPr>
          <p:cNvPr id="18" name="Shape 16"/>
          <p:cNvSpPr/>
          <p:nvPr/>
        </p:nvSpPr>
        <p:spPr>
          <a:xfrm>
            <a:off x="201168" y="3858768"/>
            <a:ext cx="45720" cy="960120"/>
          </a:xfrm>
          <a:prstGeom prst="rect">
            <a:avLst/>
          </a:prstGeom>
          <a:solidFill>
            <a:srgbClr val="4FC3F7"/>
          </a:solidFill>
          <a:ln w="12700">
            <a:solidFill>
              <a:srgbClr val="4FC3F7"/>
            </a:solidFill>
            <a:prstDash val="solid"/>
          </a:ln>
        </p:spPr>
      </p:sp>
      <p:sp>
        <p:nvSpPr>
          <p:cNvPr id="19" name="Text 17"/>
          <p:cNvSpPr/>
          <p:nvPr/>
        </p:nvSpPr>
        <p:spPr>
          <a:xfrm>
            <a:off x="329184" y="3931920"/>
            <a:ext cx="4937760" cy="329184"/>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CVE  =  Common Vulnerabilities and Exposures. A unique identifier for a specific vulnerability in specific software. Every CVE has a CVSS score.</a:t>
            </a:r>
            <a:endParaRPr lang="en-US" sz="1150" dirty="0"/>
          </a:p>
        </p:txBody>
      </p:sp>
      <p:sp>
        <p:nvSpPr>
          <p:cNvPr id="20" name="Text 18"/>
          <p:cNvSpPr/>
          <p:nvPr/>
        </p:nvSpPr>
        <p:spPr>
          <a:xfrm>
            <a:off x="329184" y="4279392"/>
            <a:ext cx="4206240" cy="237744"/>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CVSS  =  Common Vulnerability Scoring System. A 0-10 severity scale.</a:t>
            </a:r>
            <a:endParaRPr lang="en-US" sz="1150" dirty="0"/>
          </a:p>
        </p:txBody>
      </p:sp>
      <p:sp>
        <p:nvSpPr>
          <p:cNvPr id="21" name="Shape 19"/>
          <p:cNvSpPr/>
          <p:nvPr/>
        </p:nvSpPr>
        <p:spPr>
          <a:xfrm>
            <a:off x="5394960" y="3913632"/>
            <a:ext cx="621792" cy="566928"/>
          </a:xfrm>
          <a:prstGeom prst="rect">
            <a:avLst/>
          </a:prstGeom>
          <a:solidFill>
            <a:srgbClr val="BBBBBB"/>
          </a:solidFill>
          <a:ln w="12700">
            <a:solidFill>
              <a:srgbClr val="BBBBBB"/>
            </a:solidFill>
            <a:prstDash val="solid"/>
          </a:ln>
        </p:spPr>
      </p:sp>
      <p:sp>
        <p:nvSpPr>
          <p:cNvPr id="22" name="Text 20"/>
          <p:cNvSpPr/>
          <p:nvPr/>
        </p:nvSpPr>
        <p:spPr>
          <a:xfrm>
            <a:off x="5394960" y="3913632"/>
            <a:ext cx="621792" cy="566928"/>
          </a:xfrm>
          <a:prstGeom prst="rect">
            <a:avLst/>
          </a:prstGeom>
          <a:noFill/>
          <a:ln/>
        </p:spPr>
        <p:txBody>
          <a:bodyPr wrap="square" lIns="25400" tIns="25400" rIns="25400" bIns="25400" rtlCol="0" anchor="ctr"/>
          <a:lstStyle/>
          <a:p>
            <a:pPr algn="ctr" indent="0" marL="0">
              <a:buNone/>
            </a:pPr>
            <a:r>
              <a:rPr lang="en-US" sz="900" dirty="0">
                <a:solidFill>
                  <a:srgbClr val="0A1118"/>
                </a:solidFill>
                <a:latin typeface="Calibri" pitchFamily="34" charset="0"/>
                <a:ea typeface="Calibri" pitchFamily="34" charset="-122"/>
                <a:cs typeface="Calibri" pitchFamily="34" charset="-120"/>
              </a:rPr>
              <a:t>0.0</a:t>
            </a:r>
            <a:endParaRPr lang="en-US" sz="900" dirty="0"/>
          </a:p>
          <a:p>
            <a:pPr algn="ctr" indent="0" marL="0">
              <a:buNone/>
            </a:pPr>
            <a:r>
              <a:rPr lang="en-US" sz="900" dirty="0">
                <a:solidFill>
                  <a:srgbClr val="0A1118"/>
                </a:solidFill>
                <a:latin typeface="Calibri" pitchFamily="34" charset="0"/>
                <a:ea typeface="Calibri" pitchFamily="34" charset="-122"/>
                <a:cs typeface="Calibri" pitchFamily="34" charset="-120"/>
              </a:rPr>
              <a:t>None</a:t>
            </a:r>
            <a:endParaRPr lang="en-US" sz="900" dirty="0"/>
          </a:p>
        </p:txBody>
      </p:sp>
      <p:sp>
        <p:nvSpPr>
          <p:cNvPr id="23" name="Shape 21"/>
          <p:cNvSpPr/>
          <p:nvPr/>
        </p:nvSpPr>
        <p:spPr>
          <a:xfrm>
            <a:off x="6089904" y="3913632"/>
            <a:ext cx="621792" cy="566928"/>
          </a:xfrm>
          <a:prstGeom prst="rect">
            <a:avLst/>
          </a:prstGeom>
          <a:solidFill>
            <a:srgbClr val="77BB55"/>
          </a:solidFill>
          <a:ln w="12700">
            <a:solidFill>
              <a:srgbClr val="77BB55"/>
            </a:solidFill>
            <a:prstDash val="solid"/>
          </a:ln>
        </p:spPr>
      </p:sp>
      <p:sp>
        <p:nvSpPr>
          <p:cNvPr id="24" name="Text 22"/>
          <p:cNvSpPr/>
          <p:nvPr/>
        </p:nvSpPr>
        <p:spPr>
          <a:xfrm>
            <a:off x="6089904" y="3913632"/>
            <a:ext cx="621792" cy="566928"/>
          </a:xfrm>
          <a:prstGeom prst="rect">
            <a:avLst/>
          </a:prstGeom>
          <a:noFill/>
          <a:ln/>
        </p:spPr>
        <p:txBody>
          <a:bodyPr wrap="square" lIns="25400" tIns="25400" rIns="25400" bIns="25400" rtlCol="0" anchor="ctr"/>
          <a:lstStyle/>
          <a:p>
            <a:pPr algn="ctr" indent="0" marL="0">
              <a:buNone/>
            </a:pPr>
            <a:r>
              <a:rPr lang="en-US" sz="900" dirty="0">
                <a:solidFill>
                  <a:srgbClr val="0A1118"/>
                </a:solidFill>
                <a:latin typeface="Calibri" pitchFamily="34" charset="0"/>
                <a:ea typeface="Calibri" pitchFamily="34" charset="-122"/>
                <a:cs typeface="Calibri" pitchFamily="34" charset="-120"/>
              </a:rPr>
              <a:t>0.1</a:t>
            </a:r>
            <a:endParaRPr lang="en-US" sz="900" dirty="0"/>
          </a:p>
          <a:p>
            <a:pPr algn="ctr" indent="0" marL="0">
              <a:buNone/>
            </a:pPr>
            <a:r>
              <a:rPr lang="en-US" sz="900" dirty="0">
                <a:solidFill>
                  <a:srgbClr val="0A1118"/>
                </a:solidFill>
                <a:latin typeface="Calibri" pitchFamily="34" charset="0"/>
                <a:ea typeface="Calibri" pitchFamily="34" charset="-122"/>
                <a:cs typeface="Calibri" pitchFamily="34" charset="-120"/>
              </a:rPr>
              <a:t>Low</a:t>
            </a:r>
            <a:endParaRPr lang="en-US" sz="900" dirty="0"/>
          </a:p>
        </p:txBody>
      </p:sp>
      <p:sp>
        <p:nvSpPr>
          <p:cNvPr id="25" name="Shape 23"/>
          <p:cNvSpPr/>
          <p:nvPr/>
        </p:nvSpPr>
        <p:spPr>
          <a:xfrm>
            <a:off x="6784848" y="3913632"/>
            <a:ext cx="621792" cy="566928"/>
          </a:xfrm>
          <a:prstGeom prst="rect">
            <a:avLst/>
          </a:prstGeom>
          <a:solidFill>
            <a:srgbClr val="EEC900"/>
          </a:solidFill>
          <a:ln w="12700">
            <a:solidFill>
              <a:srgbClr val="EEC900"/>
            </a:solidFill>
            <a:prstDash val="solid"/>
          </a:ln>
        </p:spPr>
      </p:sp>
      <p:sp>
        <p:nvSpPr>
          <p:cNvPr id="26" name="Text 24"/>
          <p:cNvSpPr/>
          <p:nvPr/>
        </p:nvSpPr>
        <p:spPr>
          <a:xfrm>
            <a:off x="6784848" y="3913632"/>
            <a:ext cx="621792" cy="566928"/>
          </a:xfrm>
          <a:prstGeom prst="rect">
            <a:avLst/>
          </a:prstGeom>
          <a:noFill/>
          <a:ln/>
        </p:spPr>
        <p:txBody>
          <a:bodyPr wrap="square" lIns="25400" tIns="25400" rIns="25400" bIns="25400" rtlCol="0" anchor="ctr"/>
          <a:lstStyle/>
          <a:p>
            <a:pPr algn="ctr" indent="0" marL="0">
              <a:buNone/>
            </a:pPr>
            <a:r>
              <a:rPr lang="en-US" sz="900" dirty="0">
                <a:solidFill>
                  <a:srgbClr val="0A1118"/>
                </a:solidFill>
                <a:latin typeface="Calibri" pitchFamily="34" charset="0"/>
                <a:ea typeface="Calibri" pitchFamily="34" charset="-122"/>
                <a:cs typeface="Calibri" pitchFamily="34" charset="-120"/>
              </a:rPr>
              <a:t>4.0</a:t>
            </a:r>
            <a:endParaRPr lang="en-US" sz="900" dirty="0"/>
          </a:p>
          <a:p>
            <a:pPr algn="ctr" indent="0" marL="0">
              <a:buNone/>
            </a:pPr>
            <a:r>
              <a:rPr lang="en-US" sz="900" dirty="0">
                <a:solidFill>
                  <a:srgbClr val="0A1118"/>
                </a:solidFill>
                <a:latin typeface="Calibri" pitchFamily="34" charset="0"/>
                <a:ea typeface="Calibri" pitchFamily="34" charset="-122"/>
                <a:cs typeface="Calibri" pitchFamily="34" charset="-120"/>
              </a:rPr>
              <a:t>Medium</a:t>
            </a:r>
            <a:endParaRPr lang="en-US" sz="900" dirty="0"/>
          </a:p>
        </p:txBody>
      </p:sp>
      <p:sp>
        <p:nvSpPr>
          <p:cNvPr id="27" name="Shape 25"/>
          <p:cNvSpPr/>
          <p:nvPr/>
        </p:nvSpPr>
        <p:spPr>
          <a:xfrm>
            <a:off x="7479792" y="3913632"/>
            <a:ext cx="621792" cy="566928"/>
          </a:xfrm>
          <a:prstGeom prst="rect">
            <a:avLst/>
          </a:prstGeom>
          <a:solidFill>
            <a:srgbClr val="EE7733"/>
          </a:solidFill>
          <a:ln w="12700">
            <a:solidFill>
              <a:srgbClr val="EE7733"/>
            </a:solidFill>
            <a:prstDash val="solid"/>
          </a:ln>
        </p:spPr>
      </p:sp>
      <p:sp>
        <p:nvSpPr>
          <p:cNvPr id="28" name="Text 26"/>
          <p:cNvSpPr/>
          <p:nvPr/>
        </p:nvSpPr>
        <p:spPr>
          <a:xfrm>
            <a:off x="7479792" y="3913632"/>
            <a:ext cx="621792" cy="566928"/>
          </a:xfrm>
          <a:prstGeom prst="rect">
            <a:avLst/>
          </a:prstGeom>
          <a:noFill/>
          <a:ln/>
        </p:spPr>
        <p:txBody>
          <a:bodyPr wrap="square" lIns="25400" tIns="25400" rIns="25400" bIns="25400" rtlCol="0" anchor="ctr"/>
          <a:lstStyle/>
          <a:p>
            <a:pPr algn="ctr" indent="0" marL="0">
              <a:buNone/>
            </a:pPr>
            <a:r>
              <a:rPr lang="en-US" sz="900" dirty="0">
                <a:solidFill>
                  <a:srgbClr val="0A1118"/>
                </a:solidFill>
                <a:latin typeface="Calibri" pitchFamily="34" charset="0"/>
                <a:ea typeface="Calibri" pitchFamily="34" charset="-122"/>
                <a:cs typeface="Calibri" pitchFamily="34" charset="-120"/>
              </a:rPr>
              <a:t>7.0</a:t>
            </a:r>
            <a:endParaRPr lang="en-US" sz="900" dirty="0"/>
          </a:p>
          <a:p>
            <a:pPr algn="ctr" indent="0" marL="0">
              <a:buNone/>
            </a:pPr>
            <a:r>
              <a:rPr lang="en-US" sz="900" dirty="0">
                <a:solidFill>
                  <a:srgbClr val="0A1118"/>
                </a:solidFill>
                <a:latin typeface="Calibri" pitchFamily="34" charset="0"/>
                <a:ea typeface="Calibri" pitchFamily="34" charset="-122"/>
                <a:cs typeface="Calibri" pitchFamily="34" charset="-120"/>
              </a:rPr>
              <a:t>High</a:t>
            </a:r>
            <a:endParaRPr lang="en-US" sz="900" dirty="0"/>
          </a:p>
        </p:txBody>
      </p:sp>
      <p:sp>
        <p:nvSpPr>
          <p:cNvPr id="29" name="Shape 27"/>
          <p:cNvSpPr/>
          <p:nvPr/>
        </p:nvSpPr>
        <p:spPr>
          <a:xfrm>
            <a:off x="8174736" y="3913632"/>
            <a:ext cx="621792" cy="566928"/>
          </a:xfrm>
          <a:prstGeom prst="rect">
            <a:avLst/>
          </a:prstGeom>
          <a:solidFill>
            <a:srgbClr val="CC2222"/>
          </a:solidFill>
          <a:ln w="12700">
            <a:solidFill>
              <a:srgbClr val="CC2222"/>
            </a:solidFill>
            <a:prstDash val="solid"/>
          </a:ln>
        </p:spPr>
      </p:sp>
      <p:sp>
        <p:nvSpPr>
          <p:cNvPr id="30" name="Text 28"/>
          <p:cNvSpPr/>
          <p:nvPr/>
        </p:nvSpPr>
        <p:spPr>
          <a:xfrm>
            <a:off x="8174736" y="3913632"/>
            <a:ext cx="621792" cy="566928"/>
          </a:xfrm>
          <a:prstGeom prst="rect">
            <a:avLst/>
          </a:prstGeom>
          <a:noFill/>
          <a:ln/>
        </p:spPr>
        <p:txBody>
          <a:bodyPr wrap="square" lIns="25400" tIns="25400" rIns="25400" bIns="25400" rtlCol="0" anchor="ctr"/>
          <a:lstStyle/>
          <a:p>
            <a:pPr algn="ctr" indent="0" marL="0">
              <a:buNone/>
            </a:pPr>
            <a:r>
              <a:rPr lang="en-US" sz="900" dirty="0">
                <a:solidFill>
                  <a:srgbClr val="0A1118"/>
                </a:solidFill>
                <a:latin typeface="Calibri" pitchFamily="34" charset="0"/>
                <a:ea typeface="Calibri" pitchFamily="34" charset="-122"/>
                <a:cs typeface="Calibri" pitchFamily="34" charset="-120"/>
              </a:rPr>
              <a:t>9.0</a:t>
            </a:r>
            <a:endParaRPr lang="en-US" sz="900" dirty="0"/>
          </a:p>
          <a:p>
            <a:pPr algn="ctr" indent="0" marL="0">
              <a:buNone/>
            </a:pPr>
            <a:r>
              <a:rPr lang="en-US" sz="900" dirty="0">
                <a:solidFill>
                  <a:srgbClr val="0A1118"/>
                </a:solidFill>
                <a:latin typeface="Calibri" pitchFamily="34" charset="0"/>
                <a:ea typeface="Calibri" pitchFamily="34" charset="-122"/>
                <a:cs typeface="Calibri" pitchFamily="34" charset="-120"/>
              </a:rPr>
              <a:t>Critical</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923"/>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00C9A7"/>
          </a:solidFill>
          <a:ln w="12700">
            <a:solidFill>
              <a:srgbClr val="00C9A7"/>
            </a:solidFill>
            <a:prstDash val="solid"/>
          </a:ln>
        </p:spPr>
      </p:sp>
      <p:sp>
        <p:nvSpPr>
          <p:cNvPr id="3" name="Text 1"/>
          <p:cNvSpPr/>
          <p:nvPr/>
        </p:nvSpPr>
        <p:spPr>
          <a:xfrm>
            <a:off x="201168" y="256032"/>
            <a:ext cx="8503920" cy="566928"/>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How Wazuh Vulnerability Detection Works</a:t>
            </a:r>
            <a:endParaRPr lang="en-US" sz="2800" dirty="0"/>
          </a:p>
        </p:txBody>
      </p:sp>
      <p:sp>
        <p:nvSpPr>
          <p:cNvPr id="4" name="Text 2"/>
          <p:cNvSpPr/>
          <p:nvPr/>
        </p:nvSpPr>
        <p:spPr>
          <a:xfrm>
            <a:off x="201168" y="786384"/>
            <a:ext cx="8503920" cy="237744"/>
          </a:xfrm>
          <a:prstGeom prst="rect">
            <a:avLst/>
          </a:prstGeom>
          <a:noFill/>
          <a:ln/>
        </p:spPr>
        <p:txBody>
          <a:bodyPr wrap="square" lIns="0" tIns="0" rIns="0" bIns="0" rtlCol="0" anchor="ctr"/>
          <a:lstStyle/>
          <a:p>
            <a:pPr indent="0" marL="0">
              <a:buNone/>
            </a:pPr>
            <a:r>
              <a:rPr lang="en-US" sz="1300" i="1" dirty="0">
                <a:solidFill>
                  <a:srgbClr val="00C9A7"/>
                </a:solidFill>
                <a:latin typeface="Calibri" pitchFamily="34" charset="0"/>
                <a:ea typeface="Calibri" pitchFamily="34" charset="-122"/>
                <a:cs typeface="Calibri" pitchFamily="34" charset="-120"/>
              </a:rPr>
              <a:t>From installed package to CVE alert</a:t>
            </a:r>
            <a:endParaRPr lang="en-US" sz="1300" dirty="0"/>
          </a:p>
        </p:txBody>
      </p:sp>
      <p:sp>
        <p:nvSpPr>
          <p:cNvPr id="5" name="Shape 3"/>
          <p:cNvSpPr/>
          <p:nvPr/>
        </p:nvSpPr>
        <p:spPr>
          <a:xfrm>
            <a:off x="0" y="4983480"/>
            <a:ext cx="9144000" cy="160020"/>
          </a:xfrm>
          <a:prstGeom prst="rect">
            <a:avLst/>
          </a:prstGeom>
          <a:solidFill>
            <a:srgbClr val="0A1118"/>
          </a:solidFill>
          <a:ln w="12700">
            <a:solidFill>
              <a:srgbClr val="0A1118"/>
            </a:solidFill>
            <a:prstDash val="solid"/>
          </a:ln>
        </p:spPr>
      </p:sp>
      <p:sp>
        <p:nvSpPr>
          <p:cNvPr id="6" name="Text 4"/>
          <p:cNvSpPr/>
          <p:nvPr/>
        </p:nvSpPr>
        <p:spPr>
          <a:xfrm>
            <a:off x="182880" y="4974336"/>
            <a:ext cx="8778240" cy="164592"/>
          </a:xfrm>
          <a:prstGeom prst="rect">
            <a:avLst/>
          </a:prstGeom>
          <a:noFill/>
          <a:ln/>
        </p:spPr>
        <p:txBody>
          <a:bodyPr wrap="square" lIns="0" tIns="0" rIns="0" bIns="0" rtlCol="0" anchor="ctr"/>
          <a:lstStyle/>
          <a:p>
            <a:pPr indent="0" marL="0">
              <a:buNone/>
            </a:pPr>
            <a:r>
              <a:rPr lang="en-US" sz="900" dirty="0">
                <a:solidFill>
                  <a:srgbClr val="8CA3B5"/>
                </a:solidFill>
                <a:latin typeface="Calibri" pitchFamily="34" charset="0"/>
                <a:ea typeface="Calibri" pitchFamily="34" charset="-122"/>
                <a:cs typeface="Calibri" pitchFamily="34" charset="-120"/>
              </a:rPr>
              <a:t>Cyberster Blue Team  ·  Week 4 Masterclass</a:t>
            </a:r>
            <a:endParaRPr lang="en-US" sz="900" dirty="0"/>
          </a:p>
        </p:txBody>
      </p:sp>
      <p:sp>
        <p:nvSpPr>
          <p:cNvPr id="7" name="Shape 5"/>
          <p:cNvSpPr/>
          <p:nvPr/>
        </p:nvSpPr>
        <p:spPr>
          <a:xfrm>
            <a:off x="201168" y="1042416"/>
            <a:ext cx="1828800" cy="246888"/>
          </a:xfrm>
          <a:prstGeom prst="rect">
            <a:avLst/>
          </a:prstGeom>
          <a:solidFill>
            <a:srgbClr val="00C9A7"/>
          </a:solidFill>
          <a:ln w="12700">
            <a:solidFill>
              <a:srgbClr val="00C9A7"/>
            </a:solidFill>
            <a:prstDash val="solid"/>
          </a:ln>
        </p:spPr>
      </p:sp>
      <p:sp>
        <p:nvSpPr>
          <p:cNvPr id="8" name="Text 6"/>
          <p:cNvSpPr/>
          <p:nvPr/>
        </p:nvSpPr>
        <p:spPr>
          <a:xfrm>
            <a:off x="201168" y="1033272"/>
            <a:ext cx="1828800" cy="256032"/>
          </a:xfrm>
          <a:prstGeom prst="rect">
            <a:avLst/>
          </a:prstGeom>
          <a:noFill/>
          <a:ln/>
        </p:spPr>
        <p:txBody>
          <a:bodyPr wrap="square" lIns="50800" tIns="50800" rIns="50800" bIns="50800" rtlCol="0" anchor="ctr"/>
          <a:lstStyle/>
          <a:p>
            <a:pPr algn="ctr" indent="0" marL="0">
              <a:buNone/>
            </a:pPr>
            <a:r>
              <a:rPr lang="en-US" sz="1000" b="1" dirty="0">
                <a:solidFill>
                  <a:srgbClr val="0A1118"/>
                </a:solidFill>
                <a:latin typeface="Calibri" pitchFamily="34" charset="0"/>
                <a:ea typeface="Calibri" pitchFamily="34" charset="-122"/>
                <a:cs typeface="Calibri" pitchFamily="34" charset="-120"/>
              </a:rPr>
              <a:t>MECHANISM  ·  WAZUH MODULE</a:t>
            </a:r>
            <a:endParaRPr lang="en-US" sz="1000" dirty="0"/>
          </a:p>
        </p:txBody>
      </p:sp>
      <p:sp>
        <p:nvSpPr>
          <p:cNvPr id="9" name="Shape 7"/>
          <p:cNvSpPr/>
          <p:nvPr/>
        </p:nvSpPr>
        <p:spPr>
          <a:xfrm>
            <a:off x="201168" y="1371600"/>
            <a:ext cx="1645920" cy="2194560"/>
          </a:xfrm>
          <a:prstGeom prst="rect">
            <a:avLst/>
          </a:prstGeom>
          <a:solidFill>
            <a:srgbClr val="162230"/>
          </a:solidFill>
          <a:ln w="12700">
            <a:solidFill>
              <a:srgbClr val="162230"/>
            </a:solidFill>
            <a:prstDash val="solid"/>
          </a:ln>
        </p:spPr>
      </p:sp>
      <p:sp>
        <p:nvSpPr>
          <p:cNvPr id="10" name="Shape 8"/>
          <p:cNvSpPr/>
          <p:nvPr/>
        </p:nvSpPr>
        <p:spPr>
          <a:xfrm>
            <a:off x="786384" y="1463040"/>
            <a:ext cx="475488" cy="475488"/>
          </a:xfrm>
          <a:prstGeom prst="ellipse">
            <a:avLst/>
          </a:prstGeom>
          <a:solidFill>
            <a:srgbClr val="00C9A7"/>
          </a:solidFill>
          <a:ln w="12700">
            <a:solidFill>
              <a:srgbClr val="00C9A7"/>
            </a:solidFill>
            <a:prstDash val="solid"/>
          </a:ln>
        </p:spPr>
      </p:sp>
      <p:sp>
        <p:nvSpPr>
          <p:cNvPr id="11" name="Text 9"/>
          <p:cNvSpPr/>
          <p:nvPr/>
        </p:nvSpPr>
        <p:spPr>
          <a:xfrm>
            <a:off x="786384" y="1463040"/>
            <a:ext cx="475488" cy="475488"/>
          </a:xfrm>
          <a:prstGeom prst="rect">
            <a:avLst/>
          </a:prstGeom>
          <a:noFill/>
          <a:ln/>
        </p:spPr>
        <p:txBody>
          <a:bodyPr wrap="square" lIns="0" tIns="0" rIns="0" bIns="0" rtlCol="0" anchor="ctr"/>
          <a:lstStyle/>
          <a:p>
            <a:pPr algn="ctr" indent="0" marL="0">
              <a:buNone/>
            </a:pPr>
            <a:r>
              <a:rPr lang="en-US" sz="1600" b="1" dirty="0">
                <a:solidFill>
                  <a:srgbClr val="0A1118"/>
                </a:solidFill>
                <a:latin typeface="Calibri" pitchFamily="34" charset="0"/>
                <a:ea typeface="Calibri" pitchFamily="34" charset="-122"/>
                <a:cs typeface="Calibri" pitchFamily="34" charset="-120"/>
              </a:rPr>
              <a:t>1</a:t>
            </a:r>
            <a:endParaRPr lang="en-US" sz="1600" dirty="0"/>
          </a:p>
        </p:txBody>
      </p:sp>
      <p:sp>
        <p:nvSpPr>
          <p:cNvPr id="12" name="Text 10"/>
          <p:cNvSpPr/>
          <p:nvPr/>
        </p:nvSpPr>
        <p:spPr>
          <a:xfrm>
            <a:off x="201168" y="2029968"/>
            <a:ext cx="1645920" cy="274320"/>
          </a:xfrm>
          <a:prstGeom prst="rect">
            <a:avLst/>
          </a:prstGeom>
          <a:noFill/>
          <a:ln/>
        </p:spPr>
        <p:txBody>
          <a:bodyPr wrap="square" lIns="0" tIns="0" rIns="0" bIns="0" rtlCol="0" anchor="ctr"/>
          <a:lstStyle/>
          <a:p>
            <a:pPr algn="ctr" indent="0" marL="0">
              <a:buNone/>
            </a:pPr>
            <a:r>
              <a:rPr lang="en-US" sz="1200" b="1" dirty="0">
                <a:solidFill>
                  <a:srgbClr val="4FC3F7"/>
                </a:solidFill>
                <a:latin typeface="Calibri" pitchFamily="34" charset="0"/>
                <a:ea typeface="Calibri" pitchFamily="34" charset="-122"/>
                <a:cs typeface="Calibri" pitchFamily="34" charset="-120"/>
              </a:rPr>
              <a:t>Syscollector</a:t>
            </a:r>
            <a:endParaRPr lang="en-US" sz="1200" dirty="0"/>
          </a:p>
        </p:txBody>
      </p:sp>
      <p:sp>
        <p:nvSpPr>
          <p:cNvPr id="13" name="Text 11"/>
          <p:cNvSpPr/>
          <p:nvPr/>
        </p:nvSpPr>
        <p:spPr>
          <a:xfrm>
            <a:off x="201168" y="2340864"/>
            <a:ext cx="1645920" cy="1152144"/>
          </a:xfrm>
          <a:prstGeom prst="rect">
            <a:avLst/>
          </a:prstGeom>
          <a:noFill/>
          <a:ln/>
        </p:spPr>
        <p:txBody>
          <a:bodyPr wrap="square" lIns="50800" tIns="50800" rIns="50800" bIns="5080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Agent inventories installed packages and OS version. Runs on a schedule.</a:t>
            </a:r>
            <a:endParaRPr lang="en-US" sz="1050" dirty="0"/>
          </a:p>
        </p:txBody>
      </p:sp>
      <p:sp>
        <p:nvSpPr>
          <p:cNvPr id="14" name="Text 12"/>
          <p:cNvSpPr/>
          <p:nvPr/>
        </p:nvSpPr>
        <p:spPr>
          <a:xfrm>
            <a:off x="1865376" y="2084832"/>
            <a:ext cx="91440" cy="274320"/>
          </a:xfrm>
          <a:prstGeom prst="rect">
            <a:avLst/>
          </a:prstGeom>
          <a:noFill/>
          <a:ln/>
        </p:spPr>
        <p:txBody>
          <a:bodyPr wrap="square" lIns="0" tIns="0" rIns="0" bIns="0" rtlCol="0" anchor="ctr"/>
          <a:lstStyle/>
          <a:p>
            <a:pPr algn="ctr" indent="0" marL="0">
              <a:buNone/>
            </a:pPr>
            <a:r>
              <a:rPr lang="en-US" sz="1800" dirty="0">
                <a:solidFill>
                  <a:srgbClr val="00C9A7"/>
                </a:solidFill>
                <a:latin typeface="Calibri" pitchFamily="34" charset="0"/>
                <a:ea typeface="Calibri" pitchFamily="34" charset="-122"/>
                <a:cs typeface="Calibri" pitchFamily="34" charset="-120"/>
              </a:rPr>
              <a:t>→</a:t>
            </a:r>
            <a:endParaRPr lang="en-US" sz="1800" dirty="0"/>
          </a:p>
        </p:txBody>
      </p:sp>
      <p:sp>
        <p:nvSpPr>
          <p:cNvPr id="15" name="Shape 13"/>
          <p:cNvSpPr/>
          <p:nvPr/>
        </p:nvSpPr>
        <p:spPr>
          <a:xfrm>
            <a:off x="1965960" y="1371600"/>
            <a:ext cx="1645920" cy="2194560"/>
          </a:xfrm>
          <a:prstGeom prst="rect">
            <a:avLst/>
          </a:prstGeom>
          <a:solidFill>
            <a:srgbClr val="162230"/>
          </a:solidFill>
          <a:ln w="12700">
            <a:solidFill>
              <a:srgbClr val="162230"/>
            </a:solidFill>
            <a:prstDash val="solid"/>
          </a:ln>
        </p:spPr>
      </p:sp>
      <p:sp>
        <p:nvSpPr>
          <p:cNvPr id="16" name="Shape 14"/>
          <p:cNvSpPr/>
          <p:nvPr/>
        </p:nvSpPr>
        <p:spPr>
          <a:xfrm>
            <a:off x="2551176" y="1463040"/>
            <a:ext cx="475488" cy="475488"/>
          </a:xfrm>
          <a:prstGeom prst="ellipse">
            <a:avLst/>
          </a:prstGeom>
          <a:solidFill>
            <a:srgbClr val="00C9A7"/>
          </a:solidFill>
          <a:ln w="12700">
            <a:solidFill>
              <a:srgbClr val="00C9A7"/>
            </a:solidFill>
            <a:prstDash val="solid"/>
          </a:ln>
        </p:spPr>
      </p:sp>
      <p:sp>
        <p:nvSpPr>
          <p:cNvPr id="17" name="Text 15"/>
          <p:cNvSpPr/>
          <p:nvPr/>
        </p:nvSpPr>
        <p:spPr>
          <a:xfrm>
            <a:off x="2551176" y="1463040"/>
            <a:ext cx="475488" cy="475488"/>
          </a:xfrm>
          <a:prstGeom prst="rect">
            <a:avLst/>
          </a:prstGeom>
          <a:noFill/>
          <a:ln/>
        </p:spPr>
        <p:txBody>
          <a:bodyPr wrap="square" lIns="0" tIns="0" rIns="0" bIns="0" rtlCol="0" anchor="ctr"/>
          <a:lstStyle/>
          <a:p>
            <a:pPr algn="ctr" indent="0" marL="0">
              <a:buNone/>
            </a:pPr>
            <a:r>
              <a:rPr lang="en-US" sz="1600" b="1" dirty="0">
                <a:solidFill>
                  <a:srgbClr val="0A1118"/>
                </a:solidFill>
                <a:latin typeface="Calibri" pitchFamily="34" charset="0"/>
                <a:ea typeface="Calibri" pitchFamily="34" charset="-122"/>
                <a:cs typeface="Calibri" pitchFamily="34" charset="-120"/>
              </a:rPr>
              <a:t>2</a:t>
            </a:r>
            <a:endParaRPr lang="en-US" sz="1600" dirty="0"/>
          </a:p>
        </p:txBody>
      </p:sp>
      <p:sp>
        <p:nvSpPr>
          <p:cNvPr id="18" name="Text 16"/>
          <p:cNvSpPr/>
          <p:nvPr/>
        </p:nvSpPr>
        <p:spPr>
          <a:xfrm>
            <a:off x="1965960" y="2029968"/>
            <a:ext cx="1645920" cy="274320"/>
          </a:xfrm>
          <a:prstGeom prst="rect">
            <a:avLst/>
          </a:prstGeom>
          <a:noFill/>
          <a:ln/>
        </p:spPr>
        <p:txBody>
          <a:bodyPr wrap="square" lIns="0" tIns="0" rIns="0" bIns="0" rtlCol="0" anchor="ctr"/>
          <a:lstStyle/>
          <a:p>
            <a:pPr algn="ctr" indent="0" marL="0">
              <a:buNone/>
            </a:pPr>
            <a:r>
              <a:rPr lang="en-US" sz="1200" b="1" dirty="0">
                <a:solidFill>
                  <a:srgbClr val="4FC3F7"/>
                </a:solidFill>
                <a:latin typeface="Calibri" pitchFamily="34" charset="0"/>
                <a:ea typeface="Calibri" pitchFamily="34" charset="-122"/>
                <a:cs typeface="Calibri" pitchFamily="34" charset="-120"/>
              </a:rPr>
              <a:t>Inventory sent</a:t>
            </a:r>
            <a:endParaRPr lang="en-US" sz="1200" dirty="0"/>
          </a:p>
        </p:txBody>
      </p:sp>
      <p:sp>
        <p:nvSpPr>
          <p:cNvPr id="19" name="Text 17"/>
          <p:cNvSpPr/>
          <p:nvPr/>
        </p:nvSpPr>
        <p:spPr>
          <a:xfrm>
            <a:off x="1965960" y="2340864"/>
            <a:ext cx="1645920" cy="1152144"/>
          </a:xfrm>
          <a:prstGeom prst="rect">
            <a:avLst/>
          </a:prstGeom>
          <a:noFill/>
          <a:ln/>
        </p:spPr>
        <p:txBody>
          <a:bodyPr wrap="square" lIns="50800" tIns="50800" rIns="50800" bIns="5080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Package list travels to Wazuh Manager with name and exact version of each package.</a:t>
            </a:r>
            <a:endParaRPr lang="en-US" sz="1050" dirty="0"/>
          </a:p>
        </p:txBody>
      </p:sp>
      <p:sp>
        <p:nvSpPr>
          <p:cNvPr id="20" name="Text 18"/>
          <p:cNvSpPr/>
          <p:nvPr/>
        </p:nvSpPr>
        <p:spPr>
          <a:xfrm>
            <a:off x="3630168" y="2084832"/>
            <a:ext cx="91440" cy="274320"/>
          </a:xfrm>
          <a:prstGeom prst="rect">
            <a:avLst/>
          </a:prstGeom>
          <a:noFill/>
          <a:ln/>
        </p:spPr>
        <p:txBody>
          <a:bodyPr wrap="square" lIns="0" tIns="0" rIns="0" bIns="0" rtlCol="0" anchor="ctr"/>
          <a:lstStyle/>
          <a:p>
            <a:pPr algn="ctr" indent="0" marL="0">
              <a:buNone/>
            </a:pPr>
            <a:r>
              <a:rPr lang="en-US" sz="1800" dirty="0">
                <a:solidFill>
                  <a:srgbClr val="00C9A7"/>
                </a:solidFill>
                <a:latin typeface="Calibri" pitchFamily="34" charset="0"/>
                <a:ea typeface="Calibri" pitchFamily="34" charset="-122"/>
                <a:cs typeface="Calibri" pitchFamily="34" charset="-120"/>
              </a:rPr>
              <a:t>→</a:t>
            </a:r>
            <a:endParaRPr lang="en-US" sz="1800" dirty="0"/>
          </a:p>
        </p:txBody>
      </p:sp>
      <p:sp>
        <p:nvSpPr>
          <p:cNvPr id="21" name="Shape 19"/>
          <p:cNvSpPr/>
          <p:nvPr/>
        </p:nvSpPr>
        <p:spPr>
          <a:xfrm>
            <a:off x="3730752" y="1371600"/>
            <a:ext cx="1645920" cy="2194560"/>
          </a:xfrm>
          <a:prstGeom prst="rect">
            <a:avLst/>
          </a:prstGeom>
          <a:solidFill>
            <a:srgbClr val="162230"/>
          </a:solidFill>
          <a:ln w="12700">
            <a:solidFill>
              <a:srgbClr val="162230"/>
            </a:solidFill>
            <a:prstDash val="solid"/>
          </a:ln>
        </p:spPr>
      </p:sp>
      <p:sp>
        <p:nvSpPr>
          <p:cNvPr id="22" name="Shape 20"/>
          <p:cNvSpPr/>
          <p:nvPr/>
        </p:nvSpPr>
        <p:spPr>
          <a:xfrm>
            <a:off x="4315968" y="1463040"/>
            <a:ext cx="475488" cy="475488"/>
          </a:xfrm>
          <a:prstGeom prst="ellipse">
            <a:avLst/>
          </a:prstGeom>
          <a:solidFill>
            <a:srgbClr val="00C9A7"/>
          </a:solidFill>
          <a:ln w="12700">
            <a:solidFill>
              <a:srgbClr val="00C9A7"/>
            </a:solidFill>
            <a:prstDash val="solid"/>
          </a:ln>
        </p:spPr>
      </p:sp>
      <p:sp>
        <p:nvSpPr>
          <p:cNvPr id="23" name="Text 21"/>
          <p:cNvSpPr/>
          <p:nvPr/>
        </p:nvSpPr>
        <p:spPr>
          <a:xfrm>
            <a:off x="4315968" y="1463040"/>
            <a:ext cx="475488" cy="475488"/>
          </a:xfrm>
          <a:prstGeom prst="rect">
            <a:avLst/>
          </a:prstGeom>
          <a:noFill/>
          <a:ln/>
        </p:spPr>
        <p:txBody>
          <a:bodyPr wrap="square" lIns="0" tIns="0" rIns="0" bIns="0" rtlCol="0" anchor="ctr"/>
          <a:lstStyle/>
          <a:p>
            <a:pPr algn="ctr" indent="0" marL="0">
              <a:buNone/>
            </a:pPr>
            <a:r>
              <a:rPr lang="en-US" sz="1600" b="1" dirty="0">
                <a:solidFill>
                  <a:srgbClr val="0A1118"/>
                </a:solidFill>
                <a:latin typeface="Calibri" pitchFamily="34" charset="0"/>
                <a:ea typeface="Calibri" pitchFamily="34" charset="-122"/>
                <a:cs typeface="Calibri" pitchFamily="34" charset="-120"/>
              </a:rPr>
              <a:t>3</a:t>
            </a:r>
            <a:endParaRPr lang="en-US" sz="1600" dirty="0"/>
          </a:p>
        </p:txBody>
      </p:sp>
      <p:sp>
        <p:nvSpPr>
          <p:cNvPr id="24" name="Text 22"/>
          <p:cNvSpPr/>
          <p:nvPr/>
        </p:nvSpPr>
        <p:spPr>
          <a:xfrm>
            <a:off x="3730752" y="2029968"/>
            <a:ext cx="1645920" cy="274320"/>
          </a:xfrm>
          <a:prstGeom prst="rect">
            <a:avLst/>
          </a:prstGeom>
          <a:noFill/>
          <a:ln/>
        </p:spPr>
        <p:txBody>
          <a:bodyPr wrap="square" lIns="0" tIns="0" rIns="0" bIns="0" rtlCol="0" anchor="ctr"/>
          <a:lstStyle/>
          <a:p>
            <a:pPr algn="ctr" indent="0" marL="0">
              <a:buNone/>
            </a:pPr>
            <a:r>
              <a:rPr lang="en-US" sz="1200" b="1" dirty="0">
                <a:solidFill>
                  <a:srgbClr val="4FC3F7"/>
                </a:solidFill>
                <a:latin typeface="Calibri" pitchFamily="34" charset="0"/>
                <a:ea typeface="Calibri" pitchFamily="34" charset="-122"/>
                <a:cs typeface="Calibri" pitchFamily="34" charset="-120"/>
              </a:rPr>
              <a:t>NVD lookup</a:t>
            </a:r>
            <a:endParaRPr lang="en-US" sz="1200" dirty="0"/>
          </a:p>
        </p:txBody>
      </p:sp>
      <p:sp>
        <p:nvSpPr>
          <p:cNvPr id="25" name="Text 23"/>
          <p:cNvSpPr/>
          <p:nvPr/>
        </p:nvSpPr>
        <p:spPr>
          <a:xfrm>
            <a:off x="3730752" y="2340864"/>
            <a:ext cx="1645920" cy="1152144"/>
          </a:xfrm>
          <a:prstGeom prst="rect">
            <a:avLst/>
          </a:prstGeom>
          <a:noFill/>
          <a:ln/>
        </p:spPr>
        <p:txBody>
          <a:bodyPr wrap="square" lIns="50800" tIns="50800" rIns="50800" bIns="5080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Manager compares each package version against the National Vulnerability Database.</a:t>
            </a:r>
            <a:endParaRPr lang="en-US" sz="1050" dirty="0"/>
          </a:p>
        </p:txBody>
      </p:sp>
      <p:sp>
        <p:nvSpPr>
          <p:cNvPr id="26" name="Text 24"/>
          <p:cNvSpPr/>
          <p:nvPr/>
        </p:nvSpPr>
        <p:spPr>
          <a:xfrm>
            <a:off x="5394960" y="2084832"/>
            <a:ext cx="91440" cy="274320"/>
          </a:xfrm>
          <a:prstGeom prst="rect">
            <a:avLst/>
          </a:prstGeom>
          <a:noFill/>
          <a:ln/>
        </p:spPr>
        <p:txBody>
          <a:bodyPr wrap="square" lIns="0" tIns="0" rIns="0" bIns="0" rtlCol="0" anchor="ctr"/>
          <a:lstStyle/>
          <a:p>
            <a:pPr algn="ctr" indent="0" marL="0">
              <a:buNone/>
            </a:pPr>
            <a:r>
              <a:rPr lang="en-US" sz="1800" dirty="0">
                <a:solidFill>
                  <a:srgbClr val="00C9A7"/>
                </a:solidFill>
                <a:latin typeface="Calibri" pitchFamily="34" charset="0"/>
                <a:ea typeface="Calibri" pitchFamily="34" charset="-122"/>
                <a:cs typeface="Calibri" pitchFamily="34" charset="-120"/>
              </a:rPr>
              <a:t>→</a:t>
            </a:r>
            <a:endParaRPr lang="en-US" sz="1800" dirty="0"/>
          </a:p>
        </p:txBody>
      </p:sp>
      <p:sp>
        <p:nvSpPr>
          <p:cNvPr id="27" name="Shape 25"/>
          <p:cNvSpPr/>
          <p:nvPr/>
        </p:nvSpPr>
        <p:spPr>
          <a:xfrm>
            <a:off x="5495544" y="1371600"/>
            <a:ext cx="1645920" cy="2194560"/>
          </a:xfrm>
          <a:prstGeom prst="rect">
            <a:avLst/>
          </a:prstGeom>
          <a:solidFill>
            <a:srgbClr val="162230"/>
          </a:solidFill>
          <a:ln w="12700">
            <a:solidFill>
              <a:srgbClr val="162230"/>
            </a:solidFill>
            <a:prstDash val="solid"/>
          </a:ln>
        </p:spPr>
      </p:sp>
      <p:sp>
        <p:nvSpPr>
          <p:cNvPr id="28" name="Shape 26"/>
          <p:cNvSpPr/>
          <p:nvPr/>
        </p:nvSpPr>
        <p:spPr>
          <a:xfrm>
            <a:off x="6080760" y="1463040"/>
            <a:ext cx="475488" cy="475488"/>
          </a:xfrm>
          <a:prstGeom prst="ellipse">
            <a:avLst/>
          </a:prstGeom>
          <a:solidFill>
            <a:srgbClr val="00C9A7"/>
          </a:solidFill>
          <a:ln w="12700">
            <a:solidFill>
              <a:srgbClr val="00C9A7"/>
            </a:solidFill>
            <a:prstDash val="solid"/>
          </a:ln>
        </p:spPr>
      </p:sp>
      <p:sp>
        <p:nvSpPr>
          <p:cNvPr id="29" name="Text 27"/>
          <p:cNvSpPr/>
          <p:nvPr/>
        </p:nvSpPr>
        <p:spPr>
          <a:xfrm>
            <a:off x="6080760" y="1463040"/>
            <a:ext cx="475488" cy="475488"/>
          </a:xfrm>
          <a:prstGeom prst="rect">
            <a:avLst/>
          </a:prstGeom>
          <a:noFill/>
          <a:ln/>
        </p:spPr>
        <p:txBody>
          <a:bodyPr wrap="square" lIns="0" tIns="0" rIns="0" bIns="0" rtlCol="0" anchor="ctr"/>
          <a:lstStyle/>
          <a:p>
            <a:pPr algn="ctr" indent="0" marL="0">
              <a:buNone/>
            </a:pPr>
            <a:r>
              <a:rPr lang="en-US" sz="1600" b="1" dirty="0">
                <a:solidFill>
                  <a:srgbClr val="0A1118"/>
                </a:solidFill>
                <a:latin typeface="Calibri" pitchFamily="34" charset="0"/>
                <a:ea typeface="Calibri" pitchFamily="34" charset="-122"/>
                <a:cs typeface="Calibri" pitchFamily="34" charset="-120"/>
              </a:rPr>
              <a:t>4</a:t>
            </a:r>
            <a:endParaRPr lang="en-US" sz="1600" dirty="0"/>
          </a:p>
        </p:txBody>
      </p:sp>
      <p:sp>
        <p:nvSpPr>
          <p:cNvPr id="30" name="Text 28"/>
          <p:cNvSpPr/>
          <p:nvPr/>
        </p:nvSpPr>
        <p:spPr>
          <a:xfrm>
            <a:off x="5495544" y="2029968"/>
            <a:ext cx="1645920" cy="274320"/>
          </a:xfrm>
          <a:prstGeom prst="rect">
            <a:avLst/>
          </a:prstGeom>
          <a:noFill/>
          <a:ln/>
        </p:spPr>
        <p:txBody>
          <a:bodyPr wrap="square" lIns="0" tIns="0" rIns="0" bIns="0" rtlCol="0" anchor="ctr"/>
          <a:lstStyle/>
          <a:p>
            <a:pPr algn="ctr" indent="0" marL="0">
              <a:buNone/>
            </a:pPr>
            <a:r>
              <a:rPr lang="en-US" sz="1200" b="1" dirty="0">
                <a:solidFill>
                  <a:srgbClr val="4FC3F7"/>
                </a:solidFill>
                <a:latin typeface="Calibri" pitchFamily="34" charset="0"/>
                <a:ea typeface="Calibri" pitchFamily="34" charset="-122"/>
                <a:cs typeface="Calibri" pitchFamily="34" charset="-120"/>
              </a:rPr>
              <a:t>CVE match</a:t>
            </a:r>
            <a:endParaRPr lang="en-US" sz="1200" dirty="0"/>
          </a:p>
        </p:txBody>
      </p:sp>
      <p:sp>
        <p:nvSpPr>
          <p:cNvPr id="31" name="Text 29"/>
          <p:cNvSpPr/>
          <p:nvPr/>
        </p:nvSpPr>
        <p:spPr>
          <a:xfrm>
            <a:off x="5495544" y="2340864"/>
            <a:ext cx="1645920" cy="1152144"/>
          </a:xfrm>
          <a:prstGeom prst="rect">
            <a:avLst/>
          </a:prstGeom>
          <a:noFill/>
          <a:ln/>
        </p:spPr>
        <p:txBody>
          <a:bodyPr wrap="square" lIns="50800" tIns="50800" rIns="50800" bIns="5080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A package version falls within the affected range for a known CVE. Match found.</a:t>
            </a:r>
            <a:endParaRPr lang="en-US" sz="1050" dirty="0"/>
          </a:p>
        </p:txBody>
      </p:sp>
      <p:sp>
        <p:nvSpPr>
          <p:cNvPr id="32" name="Text 30"/>
          <p:cNvSpPr/>
          <p:nvPr/>
        </p:nvSpPr>
        <p:spPr>
          <a:xfrm>
            <a:off x="7159752" y="2084832"/>
            <a:ext cx="91440" cy="274320"/>
          </a:xfrm>
          <a:prstGeom prst="rect">
            <a:avLst/>
          </a:prstGeom>
          <a:noFill/>
          <a:ln/>
        </p:spPr>
        <p:txBody>
          <a:bodyPr wrap="square" lIns="0" tIns="0" rIns="0" bIns="0" rtlCol="0" anchor="ctr"/>
          <a:lstStyle/>
          <a:p>
            <a:pPr algn="ctr" indent="0" marL="0">
              <a:buNone/>
            </a:pPr>
            <a:r>
              <a:rPr lang="en-US" sz="1800" dirty="0">
                <a:solidFill>
                  <a:srgbClr val="00C9A7"/>
                </a:solidFill>
                <a:latin typeface="Calibri" pitchFamily="34" charset="0"/>
                <a:ea typeface="Calibri" pitchFamily="34" charset="-122"/>
                <a:cs typeface="Calibri" pitchFamily="34" charset="-120"/>
              </a:rPr>
              <a:t>→</a:t>
            </a:r>
            <a:endParaRPr lang="en-US" sz="1800" dirty="0"/>
          </a:p>
        </p:txBody>
      </p:sp>
      <p:sp>
        <p:nvSpPr>
          <p:cNvPr id="33" name="Shape 31"/>
          <p:cNvSpPr/>
          <p:nvPr/>
        </p:nvSpPr>
        <p:spPr>
          <a:xfrm>
            <a:off x="7260336" y="1371600"/>
            <a:ext cx="1645920" cy="2194560"/>
          </a:xfrm>
          <a:prstGeom prst="rect">
            <a:avLst/>
          </a:prstGeom>
          <a:solidFill>
            <a:srgbClr val="00C9A7"/>
          </a:solidFill>
          <a:ln w="12700">
            <a:solidFill>
              <a:srgbClr val="00C9A7"/>
            </a:solidFill>
            <a:prstDash val="solid"/>
          </a:ln>
        </p:spPr>
      </p:sp>
      <p:sp>
        <p:nvSpPr>
          <p:cNvPr id="34" name="Shape 32"/>
          <p:cNvSpPr/>
          <p:nvPr/>
        </p:nvSpPr>
        <p:spPr>
          <a:xfrm>
            <a:off x="7845552" y="1463040"/>
            <a:ext cx="475488" cy="475488"/>
          </a:xfrm>
          <a:prstGeom prst="ellipse">
            <a:avLst/>
          </a:prstGeom>
          <a:solidFill>
            <a:srgbClr val="0A1118"/>
          </a:solidFill>
          <a:ln w="12700">
            <a:solidFill>
              <a:srgbClr val="0A1118"/>
            </a:solidFill>
            <a:prstDash val="solid"/>
          </a:ln>
        </p:spPr>
      </p:sp>
      <p:sp>
        <p:nvSpPr>
          <p:cNvPr id="35" name="Text 33"/>
          <p:cNvSpPr/>
          <p:nvPr/>
        </p:nvSpPr>
        <p:spPr>
          <a:xfrm>
            <a:off x="7845552" y="1463040"/>
            <a:ext cx="475488" cy="475488"/>
          </a:xfrm>
          <a:prstGeom prst="rect">
            <a:avLst/>
          </a:prstGeom>
          <a:noFill/>
          <a:ln/>
        </p:spPr>
        <p:txBody>
          <a:bodyPr wrap="square" lIns="0" tIns="0" rIns="0" bIns="0" rtlCol="0" anchor="ctr"/>
          <a:lstStyle/>
          <a:p>
            <a:pPr algn="ctr" indent="0" marL="0">
              <a:buNone/>
            </a:pPr>
            <a:r>
              <a:rPr lang="en-US" sz="1600" b="1" dirty="0">
                <a:solidFill>
                  <a:srgbClr val="00C9A7"/>
                </a:solidFill>
                <a:latin typeface="Calibri" pitchFamily="34" charset="0"/>
                <a:ea typeface="Calibri" pitchFamily="34" charset="-122"/>
                <a:cs typeface="Calibri" pitchFamily="34" charset="-120"/>
              </a:rPr>
              <a:t>5</a:t>
            </a:r>
            <a:endParaRPr lang="en-US" sz="1600" dirty="0"/>
          </a:p>
        </p:txBody>
      </p:sp>
      <p:sp>
        <p:nvSpPr>
          <p:cNvPr id="36" name="Text 34"/>
          <p:cNvSpPr/>
          <p:nvPr/>
        </p:nvSpPr>
        <p:spPr>
          <a:xfrm>
            <a:off x="7260336" y="2029968"/>
            <a:ext cx="1645920" cy="274320"/>
          </a:xfrm>
          <a:prstGeom prst="rect">
            <a:avLst/>
          </a:prstGeom>
          <a:noFill/>
          <a:ln/>
        </p:spPr>
        <p:txBody>
          <a:bodyPr wrap="square" lIns="0" tIns="0" rIns="0" bIns="0" rtlCol="0" anchor="ctr"/>
          <a:lstStyle/>
          <a:p>
            <a:pPr algn="ctr" indent="0" marL="0">
              <a:buNone/>
            </a:pPr>
            <a:r>
              <a:rPr lang="en-US" sz="1200" b="1" dirty="0">
                <a:solidFill>
                  <a:srgbClr val="0A1118"/>
                </a:solidFill>
                <a:latin typeface="Calibri" pitchFamily="34" charset="0"/>
                <a:ea typeface="Calibri" pitchFamily="34" charset="-122"/>
                <a:cs typeface="Calibri" pitchFamily="34" charset="-120"/>
              </a:rPr>
              <a:t>Alert fired</a:t>
            </a:r>
            <a:endParaRPr lang="en-US" sz="1200" dirty="0"/>
          </a:p>
        </p:txBody>
      </p:sp>
      <p:sp>
        <p:nvSpPr>
          <p:cNvPr id="37" name="Text 35"/>
          <p:cNvSpPr/>
          <p:nvPr/>
        </p:nvSpPr>
        <p:spPr>
          <a:xfrm>
            <a:off x="7260336" y="2340864"/>
            <a:ext cx="1645920" cy="1152144"/>
          </a:xfrm>
          <a:prstGeom prst="rect">
            <a:avLst/>
          </a:prstGeom>
          <a:noFill/>
          <a:ln/>
        </p:spPr>
        <p:txBody>
          <a:bodyPr wrap="square" lIns="50800" tIns="50800" rIns="50800" bIns="50800" rtlCol="0" anchor="ctr"/>
          <a:lstStyle/>
          <a:p>
            <a:pPr algn="ctr" indent="0" marL="0">
              <a:buNone/>
            </a:pPr>
            <a:r>
              <a:rPr lang="en-US" sz="1050" dirty="0">
                <a:solidFill>
                  <a:srgbClr val="0A1118"/>
                </a:solidFill>
                <a:latin typeface="Calibri" pitchFamily="34" charset="0"/>
                <a:ea typeface="Calibri" pitchFamily="34" charset="-122"/>
                <a:cs typeface="Calibri" pitchFamily="34" charset="-120"/>
              </a:rPr>
              <a:t>Wazuh generates a vulnerability alert with CVE ID, CVSS score, affected package, and fix version.</a:t>
            </a:r>
            <a:endParaRPr lang="en-US" sz="1050" dirty="0"/>
          </a:p>
        </p:txBody>
      </p:sp>
      <p:sp>
        <p:nvSpPr>
          <p:cNvPr id="38" name="Shape 36"/>
          <p:cNvSpPr/>
          <p:nvPr/>
        </p:nvSpPr>
        <p:spPr>
          <a:xfrm>
            <a:off x="201168" y="3730752"/>
            <a:ext cx="4251960" cy="1051560"/>
          </a:xfrm>
          <a:prstGeom prst="rect">
            <a:avLst/>
          </a:prstGeom>
          <a:solidFill>
            <a:srgbClr val="162230"/>
          </a:solidFill>
          <a:ln w="12700">
            <a:solidFill>
              <a:srgbClr val="162230"/>
            </a:solidFill>
            <a:prstDash val="solid"/>
          </a:ln>
          <a:effectLst>
            <a:outerShdw sx="100000" sy="100000" kx="0" ky="0" algn="bl" rotWithShape="0" blurRad="101600" dist="38100" dir="8100000">
              <a:srgbClr val="000000">
                <a:alpha val="25000"/>
              </a:srgbClr>
            </a:outerShdw>
          </a:effectLst>
        </p:spPr>
      </p:sp>
      <p:sp>
        <p:nvSpPr>
          <p:cNvPr id="39" name="Shape 37"/>
          <p:cNvSpPr/>
          <p:nvPr/>
        </p:nvSpPr>
        <p:spPr>
          <a:xfrm>
            <a:off x="201168" y="3730752"/>
            <a:ext cx="45720" cy="1051560"/>
          </a:xfrm>
          <a:prstGeom prst="rect">
            <a:avLst/>
          </a:prstGeom>
          <a:solidFill>
            <a:srgbClr val="00C9A7"/>
          </a:solidFill>
          <a:ln w="12700">
            <a:solidFill>
              <a:srgbClr val="00C9A7"/>
            </a:solidFill>
            <a:prstDash val="solid"/>
          </a:ln>
        </p:spPr>
      </p:sp>
      <p:sp>
        <p:nvSpPr>
          <p:cNvPr id="40" name="Text 38"/>
          <p:cNvSpPr/>
          <p:nvPr/>
        </p:nvSpPr>
        <p:spPr>
          <a:xfrm>
            <a:off x="329184" y="3803904"/>
            <a:ext cx="3986784" cy="237744"/>
          </a:xfrm>
          <a:prstGeom prst="rect">
            <a:avLst/>
          </a:prstGeom>
          <a:noFill/>
          <a:ln/>
        </p:spPr>
        <p:txBody>
          <a:bodyPr wrap="square" lIns="0" tIns="0" rIns="0" bIns="0" rtlCol="0" anchor="ctr"/>
          <a:lstStyle/>
          <a:p>
            <a:pPr indent="0" marL="0">
              <a:buNone/>
            </a:pPr>
            <a:r>
              <a:rPr lang="en-US" sz="1200" b="1" dirty="0">
                <a:solidFill>
                  <a:srgbClr val="00C9A7"/>
                </a:solidFill>
                <a:latin typeface="Calibri" pitchFamily="34" charset="0"/>
                <a:ea typeface="Calibri" pitchFamily="34" charset="-122"/>
                <a:cs typeface="Calibri" pitchFamily="34" charset="-120"/>
              </a:rPr>
              <a:t>What syscollector collects</a:t>
            </a:r>
            <a:endParaRPr lang="en-US" sz="1200" dirty="0"/>
          </a:p>
        </p:txBody>
      </p:sp>
      <p:sp>
        <p:nvSpPr>
          <p:cNvPr id="41" name="Text 39"/>
          <p:cNvSpPr/>
          <p:nvPr/>
        </p:nvSpPr>
        <p:spPr>
          <a:xfrm>
            <a:off x="329184" y="4059936"/>
            <a:ext cx="3986784" cy="621792"/>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Installed packages and versions  ·  OS name and build  ·  Running processes  ·  Open network ports  ·  Hardware information</a:t>
            </a:r>
            <a:endParaRPr lang="en-US" sz="1100" dirty="0"/>
          </a:p>
        </p:txBody>
      </p:sp>
      <p:sp>
        <p:nvSpPr>
          <p:cNvPr id="42" name="Shape 40"/>
          <p:cNvSpPr/>
          <p:nvPr/>
        </p:nvSpPr>
        <p:spPr>
          <a:xfrm>
            <a:off x="4645152" y="3730752"/>
            <a:ext cx="4297680" cy="1051560"/>
          </a:xfrm>
          <a:prstGeom prst="rect">
            <a:avLst/>
          </a:prstGeom>
          <a:solidFill>
            <a:srgbClr val="162230"/>
          </a:solidFill>
          <a:ln w="12700">
            <a:solidFill>
              <a:srgbClr val="162230"/>
            </a:solidFill>
            <a:prstDash val="solid"/>
          </a:ln>
          <a:effectLst>
            <a:outerShdw sx="100000" sy="100000" kx="0" ky="0" algn="bl" rotWithShape="0" blurRad="101600" dist="38100" dir="8100000">
              <a:srgbClr val="000000">
                <a:alpha val="25000"/>
              </a:srgbClr>
            </a:outerShdw>
          </a:effectLst>
        </p:spPr>
      </p:sp>
      <p:sp>
        <p:nvSpPr>
          <p:cNvPr id="43" name="Shape 41"/>
          <p:cNvSpPr/>
          <p:nvPr/>
        </p:nvSpPr>
        <p:spPr>
          <a:xfrm>
            <a:off x="4645152" y="3730752"/>
            <a:ext cx="45720" cy="1051560"/>
          </a:xfrm>
          <a:prstGeom prst="rect">
            <a:avLst/>
          </a:prstGeom>
          <a:solidFill>
            <a:srgbClr val="4FC3F7"/>
          </a:solidFill>
          <a:ln w="12700">
            <a:solidFill>
              <a:srgbClr val="4FC3F7"/>
            </a:solidFill>
            <a:prstDash val="solid"/>
          </a:ln>
        </p:spPr>
      </p:sp>
      <p:sp>
        <p:nvSpPr>
          <p:cNvPr id="44" name="Text 42"/>
          <p:cNvSpPr/>
          <p:nvPr/>
        </p:nvSpPr>
        <p:spPr>
          <a:xfrm>
            <a:off x="4773168" y="3803904"/>
            <a:ext cx="4041648" cy="237744"/>
          </a:xfrm>
          <a:prstGeom prst="rect">
            <a:avLst/>
          </a:prstGeom>
          <a:noFill/>
          <a:ln/>
        </p:spPr>
        <p:txBody>
          <a:bodyPr wrap="square" lIns="0" tIns="0" rIns="0" bIns="0" rtlCol="0" anchor="ctr"/>
          <a:lstStyle/>
          <a:p>
            <a:pPr indent="0" marL="0">
              <a:buNone/>
            </a:pPr>
            <a:r>
              <a:rPr lang="en-US" sz="1200" b="1" dirty="0">
                <a:solidFill>
                  <a:srgbClr val="4FC3F7"/>
                </a:solidFill>
                <a:latin typeface="Calibri" pitchFamily="34" charset="0"/>
                <a:ea typeface="Calibri" pitchFamily="34" charset="-122"/>
                <a:cs typeface="Calibri" pitchFamily="34" charset="-120"/>
              </a:rPr>
              <a:t>The remediation cycle</a:t>
            </a:r>
            <a:endParaRPr lang="en-US" sz="1200" dirty="0"/>
          </a:p>
        </p:txBody>
      </p:sp>
      <p:sp>
        <p:nvSpPr>
          <p:cNvPr id="45" name="Text 43"/>
          <p:cNvSpPr/>
          <p:nvPr/>
        </p:nvSpPr>
        <p:spPr>
          <a:xfrm>
            <a:off x="4773168" y="4059936"/>
            <a:ext cx="4041648" cy="621792"/>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CVE identified  →  Patch applied  →  Rescan  →  CVE no longer appears. This cycle runs continuously in a real vulnerability management programme.</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923"/>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00C9A7"/>
          </a:solidFill>
          <a:ln w="12700">
            <a:solidFill>
              <a:srgbClr val="00C9A7"/>
            </a:solidFill>
            <a:prstDash val="solid"/>
          </a:ln>
        </p:spPr>
      </p:sp>
      <p:sp>
        <p:nvSpPr>
          <p:cNvPr id="3" name="Text 1"/>
          <p:cNvSpPr/>
          <p:nvPr/>
        </p:nvSpPr>
        <p:spPr>
          <a:xfrm>
            <a:off x="201168" y="256032"/>
            <a:ext cx="8503920" cy="566928"/>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Prioritising What to Fix</a:t>
            </a:r>
            <a:endParaRPr lang="en-US" sz="2800" dirty="0"/>
          </a:p>
        </p:txBody>
      </p:sp>
      <p:sp>
        <p:nvSpPr>
          <p:cNvPr id="4" name="Text 2"/>
          <p:cNvSpPr/>
          <p:nvPr/>
        </p:nvSpPr>
        <p:spPr>
          <a:xfrm>
            <a:off x="201168" y="786384"/>
            <a:ext cx="8503920" cy="237744"/>
          </a:xfrm>
          <a:prstGeom prst="rect">
            <a:avLst/>
          </a:prstGeom>
          <a:noFill/>
          <a:ln/>
        </p:spPr>
        <p:txBody>
          <a:bodyPr wrap="square" lIns="0" tIns="0" rIns="0" bIns="0" rtlCol="0" anchor="ctr"/>
          <a:lstStyle/>
          <a:p>
            <a:pPr indent="0" marL="0">
              <a:buNone/>
            </a:pPr>
            <a:r>
              <a:rPr lang="en-US" sz="1300" i="1" dirty="0">
                <a:solidFill>
                  <a:srgbClr val="00C9A7"/>
                </a:solidFill>
                <a:latin typeface="Calibri" pitchFamily="34" charset="0"/>
                <a:ea typeface="Calibri" pitchFamily="34" charset="-122"/>
                <a:cs typeface="Calibri" pitchFamily="34" charset="-120"/>
              </a:rPr>
              <a:t>CVSS score is the start, not the end</a:t>
            </a:r>
            <a:endParaRPr lang="en-US" sz="1300" dirty="0"/>
          </a:p>
        </p:txBody>
      </p:sp>
      <p:sp>
        <p:nvSpPr>
          <p:cNvPr id="5" name="Shape 3"/>
          <p:cNvSpPr/>
          <p:nvPr/>
        </p:nvSpPr>
        <p:spPr>
          <a:xfrm>
            <a:off x="0" y="4983480"/>
            <a:ext cx="9144000" cy="160020"/>
          </a:xfrm>
          <a:prstGeom prst="rect">
            <a:avLst/>
          </a:prstGeom>
          <a:solidFill>
            <a:srgbClr val="0A1118"/>
          </a:solidFill>
          <a:ln w="12700">
            <a:solidFill>
              <a:srgbClr val="0A1118"/>
            </a:solidFill>
            <a:prstDash val="solid"/>
          </a:ln>
        </p:spPr>
      </p:sp>
      <p:sp>
        <p:nvSpPr>
          <p:cNvPr id="6" name="Text 4"/>
          <p:cNvSpPr/>
          <p:nvPr/>
        </p:nvSpPr>
        <p:spPr>
          <a:xfrm>
            <a:off x="182880" y="4974336"/>
            <a:ext cx="8778240" cy="164592"/>
          </a:xfrm>
          <a:prstGeom prst="rect">
            <a:avLst/>
          </a:prstGeom>
          <a:noFill/>
          <a:ln/>
        </p:spPr>
        <p:txBody>
          <a:bodyPr wrap="square" lIns="0" tIns="0" rIns="0" bIns="0" rtlCol="0" anchor="ctr"/>
          <a:lstStyle/>
          <a:p>
            <a:pPr indent="0" marL="0">
              <a:buNone/>
            </a:pPr>
            <a:r>
              <a:rPr lang="en-US" sz="900" dirty="0">
                <a:solidFill>
                  <a:srgbClr val="8CA3B5"/>
                </a:solidFill>
                <a:latin typeface="Calibri" pitchFamily="34" charset="0"/>
                <a:ea typeface="Calibri" pitchFamily="34" charset="-122"/>
                <a:cs typeface="Calibri" pitchFamily="34" charset="-120"/>
              </a:rPr>
              <a:t>Cyberster Blue Team  ·  Week 4 Masterclass</a:t>
            </a:r>
            <a:endParaRPr lang="en-US" sz="900" dirty="0"/>
          </a:p>
        </p:txBody>
      </p:sp>
      <p:sp>
        <p:nvSpPr>
          <p:cNvPr id="7" name="Shape 5"/>
          <p:cNvSpPr/>
          <p:nvPr/>
        </p:nvSpPr>
        <p:spPr>
          <a:xfrm>
            <a:off x="201168" y="1042416"/>
            <a:ext cx="1828800" cy="246888"/>
          </a:xfrm>
          <a:prstGeom prst="rect">
            <a:avLst/>
          </a:prstGeom>
          <a:solidFill>
            <a:srgbClr val="00C9A7"/>
          </a:solidFill>
          <a:ln w="12700">
            <a:solidFill>
              <a:srgbClr val="00C9A7"/>
            </a:solidFill>
            <a:prstDash val="solid"/>
          </a:ln>
        </p:spPr>
      </p:sp>
      <p:sp>
        <p:nvSpPr>
          <p:cNvPr id="8" name="Text 6"/>
          <p:cNvSpPr/>
          <p:nvPr/>
        </p:nvSpPr>
        <p:spPr>
          <a:xfrm>
            <a:off x="201168" y="1033272"/>
            <a:ext cx="1828800" cy="256032"/>
          </a:xfrm>
          <a:prstGeom prst="rect">
            <a:avLst/>
          </a:prstGeom>
          <a:noFill/>
          <a:ln/>
        </p:spPr>
        <p:txBody>
          <a:bodyPr wrap="square" lIns="50800" tIns="50800" rIns="50800" bIns="50800" rtlCol="0" anchor="ctr"/>
          <a:lstStyle/>
          <a:p>
            <a:pPr algn="ctr" indent="0" marL="0">
              <a:buNone/>
            </a:pPr>
            <a:r>
              <a:rPr lang="en-US" sz="1000" b="1" dirty="0">
                <a:solidFill>
                  <a:srgbClr val="0A1118"/>
                </a:solidFill>
                <a:latin typeface="Calibri" pitchFamily="34" charset="0"/>
                <a:ea typeface="Calibri" pitchFamily="34" charset="-122"/>
                <a:cs typeface="Calibri" pitchFamily="34" charset="-120"/>
              </a:rPr>
              <a:t>VULN MANAGEMENT  ·  ANALYST SKILL</a:t>
            </a:r>
            <a:endParaRPr lang="en-US" sz="1000" dirty="0"/>
          </a:p>
        </p:txBody>
      </p:sp>
      <p:sp>
        <p:nvSpPr>
          <p:cNvPr id="9" name="Shape 7"/>
          <p:cNvSpPr/>
          <p:nvPr/>
        </p:nvSpPr>
        <p:spPr>
          <a:xfrm>
            <a:off x="201168" y="1371600"/>
            <a:ext cx="8741664" cy="1298448"/>
          </a:xfrm>
          <a:prstGeom prst="rect">
            <a:avLst/>
          </a:prstGeom>
          <a:solidFill>
            <a:srgbClr val="162230"/>
          </a:solidFill>
          <a:ln w="12700">
            <a:solidFill>
              <a:srgbClr val="162230"/>
            </a:solidFill>
            <a:prstDash val="solid"/>
          </a:ln>
          <a:effectLst>
            <a:outerShdw sx="100000" sy="100000" kx="0" ky="0" algn="bl" rotWithShape="0" blurRad="101600" dist="38100" dir="8100000">
              <a:srgbClr val="000000">
                <a:alpha val="25000"/>
              </a:srgbClr>
            </a:outerShdw>
          </a:effectLst>
        </p:spPr>
      </p:sp>
      <p:sp>
        <p:nvSpPr>
          <p:cNvPr id="10" name="Shape 8"/>
          <p:cNvSpPr/>
          <p:nvPr/>
        </p:nvSpPr>
        <p:spPr>
          <a:xfrm>
            <a:off x="201168" y="1371600"/>
            <a:ext cx="45720" cy="1298448"/>
          </a:xfrm>
          <a:prstGeom prst="rect">
            <a:avLst/>
          </a:prstGeom>
          <a:solidFill>
            <a:srgbClr val="00C9A7"/>
          </a:solidFill>
          <a:ln w="12700">
            <a:solidFill>
              <a:srgbClr val="00C9A7"/>
            </a:solidFill>
            <a:prstDash val="solid"/>
          </a:ln>
        </p:spPr>
      </p:sp>
      <p:sp>
        <p:nvSpPr>
          <p:cNvPr id="11" name="Text 9"/>
          <p:cNvSpPr/>
          <p:nvPr/>
        </p:nvSpPr>
        <p:spPr>
          <a:xfrm>
            <a:off x="329184" y="1444752"/>
            <a:ext cx="8412480" cy="256032"/>
          </a:xfrm>
          <a:prstGeom prst="rect">
            <a:avLst/>
          </a:prstGeom>
          <a:noFill/>
          <a:ln/>
        </p:spPr>
        <p:txBody>
          <a:bodyPr wrap="square" lIns="0" tIns="0" rIns="0" bIns="0" rtlCol="0" anchor="ctr"/>
          <a:lstStyle/>
          <a:p>
            <a:pPr indent="0" marL="0">
              <a:buNone/>
            </a:pPr>
            <a:r>
              <a:rPr lang="en-US" sz="1400" b="1" dirty="0">
                <a:solidFill>
                  <a:srgbClr val="00C9A7"/>
                </a:solidFill>
                <a:latin typeface="Calibri" pitchFamily="34" charset="0"/>
                <a:ea typeface="Calibri" pitchFamily="34" charset="-122"/>
                <a:cs typeface="Calibri" pitchFamily="34" charset="-120"/>
              </a:rPr>
              <a:t>The problem with CVSS score alone</a:t>
            </a:r>
            <a:endParaRPr lang="en-US" sz="1400" dirty="0"/>
          </a:p>
        </p:txBody>
      </p:sp>
      <p:sp>
        <p:nvSpPr>
          <p:cNvPr id="12" name="Text 10"/>
          <p:cNvSpPr/>
          <p:nvPr/>
        </p:nvSpPr>
        <p:spPr>
          <a:xfrm>
            <a:off x="329184" y="1737360"/>
            <a:ext cx="8412480" cy="804672"/>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A CVSS 9.8 vulnerability in software that is not internet-exposed, running on a machine behind multiple access controls, with no known public exploit, may be less urgent than a CVSS 7.2 in a web server accessible from the internet with an active exploit in the wild. Score tells you potential severity. Context tells you actual risk.</a:t>
            </a:r>
            <a:endParaRPr lang="en-US" sz="1200" dirty="0"/>
          </a:p>
        </p:txBody>
      </p:sp>
      <p:sp>
        <p:nvSpPr>
          <p:cNvPr id="13" name="Shape 11"/>
          <p:cNvSpPr/>
          <p:nvPr/>
        </p:nvSpPr>
        <p:spPr>
          <a:xfrm>
            <a:off x="201168" y="2834640"/>
            <a:ext cx="4297680" cy="914400"/>
          </a:xfrm>
          <a:prstGeom prst="rect">
            <a:avLst/>
          </a:prstGeom>
          <a:solidFill>
            <a:srgbClr val="162230"/>
          </a:solidFill>
          <a:ln w="12700">
            <a:solidFill>
              <a:srgbClr val="162230"/>
            </a:solidFill>
            <a:prstDash val="solid"/>
          </a:ln>
          <a:effectLst>
            <a:outerShdw sx="100000" sy="100000" kx="0" ky="0" algn="bl" rotWithShape="0" blurRad="101600" dist="38100" dir="8100000">
              <a:srgbClr val="000000">
                <a:alpha val="25000"/>
              </a:srgbClr>
            </a:outerShdw>
          </a:effectLst>
        </p:spPr>
      </p:sp>
      <p:sp>
        <p:nvSpPr>
          <p:cNvPr id="14" name="Shape 12"/>
          <p:cNvSpPr/>
          <p:nvPr/>
        </p:nvSpPr>
        <p:spPr>
          <a:xfrm>
            <a:off x="201168" y="2834640"/>
            <a:ext cx="45720" cy="914400"/>
          </a:xfrm>
          <a:prstGeom prst="rect">
            <a:avLst/>
          </a:prstGeom>
          <a:solidFill>
            <a:srgbClr val="E05252"/>
          </a:solidFill>
          <a:ln w="12700">
            <a:solidFill>
              <a:srgbClr val="E05252"/>
            </a:solidFill>
            <a:prstDash val="solid"/>
          </a:ln>
        </p:spPr>
      </p:sp>
      <p:sp>
        <p:nvSpPr>
          <p:cNvPr id="15" name="Text 13"/>
          <p:cNvSpPr/>
          <p:nvPr/>
        </p:nvSpPr>
        <p:spPr>
          <a:xfrm>
            <a:off x="310896" y="2907792"/>
            <a:ext cx="4078224" cy="237744"/>
          </a:xfrm>
          <a:prstGeom prst="rect">
            <a:avLst/>
          </a:prstGeom>
          <a:noFill/>
          <a:ln/>
        </p:spPr>
        <p:txBody>
          <a:bodyPr wrap="square" lIns="0" tIns="0" rIns="0" bIns="0" rtlCol="0" anchor="ctr"/>
          <a:lstStyle/>
          <a:p>
            <a:pPr indent="0" marL="0">
              <a:buNone/>
            </a:pPr>
            <a:r>
              <a:rPr lang="en-US" sz="1300" b="1" dirty="0">
                <a:solidFill>
                  <a:srgbClr val="E05252"/>
                </a:solidFill>
                <a:latin typeface="Calibri" pitchFamily="34" charset="0"/>
                <a:ea typeface="Calibri" pitchFamily="34" charset="-122"/>
                <a:cs typeface="Calibri" pitchFamily="34" charset="-120"/>
              </a:rPr>
              <a:t>Exploitability</a:t>
            </a:r>
            <a:endParaRPr lang="en-US" sz="1300" dirty="0"/>
          </a:p>
        </p:txBody>
      </p:sp>
      <p:sp>
        <p:nvSpPr>
          <p:cNvPr id="16" name="Text 14"/>
          <p:cNvSpPr/>
          <p:nvPr/>
        </p:nvSpPr>
        <p:spPr>
          <a:xfrm>
            <a:off x="310896" y="3163824"/>
            <a:ext cx="4078224" cy="512064"/>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Is there a known public exploit for this CVE? Exploit in the wild means the window to patch is shorter. No known exploit means more time.</a:t>
            </a:r>
            <a:endParaRPr lang="en-US" sz="1100" dirty="0"/>
          </a:p>
        </p:txBody>
      </p:sp>
      <p:sp>
        <p:nvSpPr>
          <p:cNvPr id="17" name="Shape 15"/>
          <p:cNvSpPr/>
          <p:nvPr/>
        </p:nvSpPr>
        <p:spPr>
          <a:xfrm>
            <a:off x="4681728" y="2834640"/>
            <a:ext cx="4297680" cy="914400"/>
          </a:xfrm>
          <a:prstGeom prst="rect">
            <a:avLst/>
          </a:prstGeom>
          <a:solidFill>
            <a:srgbClr val="162230"/>
          </a:solidFill>
          <a:ln w="12700">
            <a:solidFill>
              <a:srgbClr val="162230"/>
            </a:solidFill>
            <a:prstDash val="solid"/>
          </a:ln>
          <a:effectLst>
            <a:outerShdw sx="100000" sy="100000" kx="0" ky="0" algn="bl" rotWithShape="0" blurRad="101600" dist="38100" dir="8100000">
              <a:srgbClr val="000000">
                <a:alpha val="25000"/>
              </a:srgbClr>
            </a:outerShdw>
          </a:effectLst>
        </p:spPr>
      </p:sp>
      <p:sp>
        <p:nvSpPr>
          <p:cNvPr id="18" name="Shape 16"/>
          <p:cNvSpPr/>
          <p:nvPr/>
        </p:nvSpPr>
        <p:spPr>
          <a:xfrm>
            <a:off x="4681728" y="2834640"/>
            <a:ext cx="45720" cy="914400"/>
          </a:xfrm>
          <a:prstGeom prst="rect">
            <a:avLst/>
          </a:prstGeom>
          <a:solidFill>
            <a:srgbClr val="00C9A7"/>
          </a:solidFill>
          <a:ln w="12700">
            <a:solidFill>
              <a:srgbClr val="00C9A7"/>
            </a:solidFill>
            <a:prstDash val="solid"/>
          </a:ln>
        </p:spPr>
      </p:sp>
      <p:sp>
        <p:nvSpPr>
          <p:cNvPr id="19" name="Text 17"/>
          <p:cNvSpPr/>
          <p:nvPr/>
        </p:nvSpPr>
        <p:spPr>
          <a:xfrm>
            <a:off x="4791456" y="2907792"/>
            <a:ext cx="4078224" cy="237744"/>
          </a:xfrm>
          <a:prstGeom prst="rect">
            <a:avLst/>
          </a:prstGeom>
          <a:noFill/>
          <a:ln/>
        </p:spPr>
        <p:txBody>
          <a:bodyPr wrap="square" lIns="0" tIns="0" rIns="0" bIns="0" rtlCol="0" anchor="ctr"/>
          <a:lstStyle/>
          <a:p>
            <a:pPr indent="0" marL="0">
              <a:buNone/>
            </a:pPr>
            <a:r>
              <a:rPr lang="en-US" sz="1300" b="1" dirty="0">
                <a:solidFill>
                  <a:srgbClr val="00C9A7"/>
                </a:solidFill>
                <a:latin typeface="Calibri" pitchFamily="34" charset="0"/>
                <a:ea typeface="Calibri" pitchFamily="34" charset="-122"/>
                <a:cs typeface="Calibri" pitchFamily="34" charset="-120"/>
              </a:rPr>
              <a:t>Exposure</a:t>
            </a:r>
            <a:endParaRPr lang="en-US" sz="1300" dirty="0"/>
          </a:p>
        </p:txBody>
      </p:sp>
      <p:sp>
        <p:nvSpPr>
          <p:cNvPr id="20" name="Text 18"/>
          <p:cNvSpPr/>
          <p:nvPr/>
        </p:nvSpPr>
        <p:spPr>
          <a:xfrm>
            <a:off x="4791456" y="3163824"/>
            <a:ext cx="4078224" cy="512064"/>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Is the vulnerable service exposed to the internet, the internal network, or only localhost? Exposure determines who can reach the vulnerability.</a:t>
            </a:r>
            <a:endParaRPr lang="en-US" sz="1100" dirty="0"/>
          </a:p>
        </p:txBody>
      </p:sp>
      <p:sp>
        <p:nvSpPr>
          <p:cNvPr id="21" name="Shape 19"/>
          <p:cNvSpPr/>
          <p:nvPr/>
        </p:nvSpPr>
        <p:spPr>
          <a:xfrm>
            <a:off x="201168" y="3858768"/>
            <a:ext cx="4297680" cy="914400"/>
          </a:xfrm>
          <a:prstGeom prst="rect">
            <a:avLst/>
          </a:prstGeom>
          <a:solidFill>
            <a:srgbClr val="162230"/>
          </a:solidFill>
          <a:ln w="12700">
            <a:solidFill>
              <a:srgbClr val="162230"/>
            </a:solidFill>
            <a:prstDash val="solid"/>
          </a:ln>
          <a:effectLst>
            <a:outerShdw sx="100000" sy="100000" kx="0" ky="0" algn="bl" rotWithShape="0" blurRad="101600" dist="38100" dir="8100000">
              <a:srgbClr val="000000">
                <a:alpha val="25000"/>
              </a:srgbClr>
            </a:outerShdw>
          </a:effectLst>
        </p:spPr>
      </p:sp>
      <p:sp>
        <p:nvSpPr>
          <p:cNvPr id="22" name="Shape 20"/>
          <p:cNvSpPr/>
          <p:nvPr/>
        </p:nvSpPr>
        <p:spPr>
          <a:xfrm>
            <a:off x="201168" y="3858768"/>
            <a:ext cx="45720" cy="914400"/>
          </a:xfrm>
          <a:prstGeom prst="rect">
            <a:avLst/>
          </a:prstGeom>
          <a:solidFill>
            <a:srgbClr val="4FC3F7"/>
          </a:solidFill>
          <a:ln w="12700">
            <a:solidFill>
              <a:srgbClr val="4FC3F7"/>
            </a:solidFill>
            <a:prstDash val="solid"/>
          </a:ln>
        </p:spPr>
      </p:sp>
      <p:sp>
        <p:nvSpPr>
          <p:cNvPr id="23" name="Text 21"/>
          <p:cNvSpPr/>
          <p:nvPr/>
        </p:nvSpPr>
        <p:spPr>
          <a:xfrm>
            <a:off x="310896" y="3931920"/>
            <a:ext cx="4078224" cy="237744"/>
          </a:xfrm>
          <a:prstGeom prst="rect">
            <a:avLst/>
          </a:prstGeom>
          <a:noFill/>
          <a:ln/>
        </p:spPr>
        <p:txBody>
          <a:bodyPr wrap="square" lIns="0" tIns="0" rIns="0" bIns="0" rtlCol="0" anchor="ctr"/>
          <a:lstStyle/>
          <a:p>
            <a:pPr indent="0" marL="0">
              <a:buNone/>
            </a:pPr>
            <a:r>
              <a:rPr lang="en-US" sz="1300" b="1" dirty="0">
                <a:solidFill>
                  <a:srgbClr val="4FC3F7"/>
                </a:solidFill>
                <a:latin typeface="Calibri" pitchFamily="34" charset="0"/>
                <a:ea typeface="Calibri" pitchFamily="34" charset="-122"/>
                <a:cs typeface="Calibri" pitchFamily="34" charset="-120"/>
              </a:rPr>
              <a:t>Asset criticality</a:t>
            </a:r>
            <a:endParaRPr lang="en-US" sz="1300" dirty="0"/>
          </a:p>
        </p:txBody>
      </p:sp>
      <p:sp>
        <p:nvSpPr>
          <p:cNvPr id="24" name="Text 22"/>
          <p:cNvSpPr/>
          <p:nvPr/>
        </p:nvSpPr>
        <p:spPr>
          <a:xfrm>
            <a:off x="310896" y="4187952"/>
            <a:ext cx="4078224" cy="512064"/>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How important is this machine? A vulnerable package on a development laptop is different from the same package on a production database server.</a:t>
            </a:r>
            <a:endParaRPr lang="en-US" sz="1100" dirty="0"/>
          </a:p>
        </p:txBody>
      </p:sp>
      <p:sp>
        <p:nvSpPr>
          <p:cNvPr id="25" name="Shape 23"/>
          <p:cNvSpPr/>
          <p:nvPr/>
        </p:nvSpPr>
        <p:spPr>
          <a:xfrm>
            <a:off x="4681728" y="3858768"/>
            <a:ext cx="4297680" cy="914400"/>
          </a:xfrm>
          <a:prstGeom prst="rect">
            <a:avLst/>
          </a:prstGeom>
          <a:solidFill>
            <a:srgbClr val="162230"/>
          </a:solidFill>
          <a:ln w="12700">
            <a:solidFill>
              <a:srgbClr val="162230"/>
            </a:solidFill>
            <a:prstDash val="solid"/>
          </a:ln>
          <a:effectLst>
            <a:outerShdw sx="100000" sy="100000" kx="0" ky="0" algn="bl" rotWithShape="0" blurRad="101600" dist="38100" dir="8100000">
              <a:srgbClr val="000000">
                <a:alpha val="25000"/>
              </a:srgbClr>
            </a:outerShdw>
          </a:effectLst>
        </p:spPr>
      </p:sp>
      <p:sp>
        <p:nvSpPr>
          <p:cNvPr id="26" name="Shape 24"/>
          <p:cNvSpPr/>
          <p:nvPr/>
        </p:nvSpPr>
        <p:spPr>
          <a:xfrm>
            <a:off x="4681728" y="3858768"/>
            <a:ext cx="45720" cy="914400"/>
          </a:xfrm>
          <a:prstGeom prst="rect">
            <a:avLst/>
          </a:prstGeom>
          <a:solidFill>
            <a:srgbClr val="00C9A7"/>
          </a:solidFill>
          <a:ln w="12700">
            <a:solidFill>
              <a:srgbClr val="00C9A7"/>
            </a:solidFill>
            <a:prstDash val="solid"/>
          </a:ln>
        </p:spPr>
      </p:sp>
      <p:sp>
        <p:nvSpPr>
          <p:cNvPr id="27" name="Text 25"/>
          <p:cNvSpPr/>
          <p:nvPr/>
        </p:nvSpPr>
        <p:spPr>
          <a:xfrm>
            <a:off x="4791456" y="3931920"/>
            <a:ext cx="4078224" cy="237744"/>
          </a:xfrm>
          <a:prstGeom prst="rect">
            <a:avLst/>
          </a:prstGeom>
          <a:noFill/>
          <a:ln/>
        </p:spPr>
        <p:txBody>
          <a:bodyPr wrap="square" lIns="0" tIns="0" rIns="0" bIns="0" rtlCol="0" anchor="ctr"/>
          <a:lstStyle/>
          <a:p>
            <a:pPr indent="0" marL="0">
              <a:buNone/>
            </a:pPr>
            <a:r>
              <a:rPr lang="en-US" sz="1300" b="1" dirty="0">
                <a:solidFill>
                  <a:srgbClr val="00C9A7"/>
                </a:solidFill>
                <a:latin typeface="Calibri" pitchFamily="34" charset="0"/>
                <a:ea typeface="Calibri" pitchFamily="34" charset="-122"/>
                <a:cs typeface="Calibri" pitchFamily="34" charset="-120"/>
              </a:rPr>
              <a:t>Compensating controls</a:t>
            </a:r>
            <a:endParaRPr lang="en-US" sz="1300" dirty="0"/>
          </a:p>
        </p:txBody>
      </p:sp>
      <p:sp>
        <p:nvSpPr>
          <p:cNvPr id="28" name="Text 26"/>
          <p:cNvSpPr/>
          <p:nvPr/>
        </p:nvSpPr>
        <p:spPr>
          <a:xfrm>
            <a:off x="4791456" y="4187952"/>
            <a:ext cx="4078224" cy="512064"/>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Is there a WAF, network segmentation, or authentication layer that reduces the practical exploitability even if the vulnerability exists?</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923"/>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00C9A7"/>
          </a:solidFill>
          <a:ln w="12700">
            <a:solidFill>
              <a:srgbClr val="00C9A7"/>
            </a:solidFill>
            <a:prstDash val="solid"/>
          </a:ln>
        </p:spPr>
      </p:sp>
      <p:sp>
        <p:nvSpPr>
          <p:cNvPr id="3" name="Text 1"/>
          <p:cNvSpPr/>
          <p:nvPr/>
        </p:nvSpPr>
        <p:spPr>
          <a:xfrm>
            <a:off x="201168" y="256032"/>
            <a:ext cx="8503920" cy="566928"/>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Building a SOC Dashboard That Works</a:t>
            </a:r>
            <a:endParaRPr lang="en-US" sz="2800" dirty="0"/>
          </a:p>
        </p:txBody>
      </p:sp>
      <p:sp>
        <p:nvSpPr>
          <p:cNvPr id="4" name="Text 2"/>
          <p:cNvSpPr/>
          <p:nvPr/>
        </p:nvSpPr>
        <p:spPr>
          <a:xfrm>
            <a:off x="201168" y="786384"/>
            <a:ext cx="8503920" cy="237744"/>
          </a:xfrm>
          <a:prstGeom prst="rect">
            <a:avLst/>
          </a:prstGeom>
          <a:noFill/>
          <a:ln/>
        </p:spPr>
        <p:txBody>
          <a:bodyPr wrap="square" lIns="0" tIns="0" rIns="0" bIns="0" rtlCol="0" anchor="ctr"/>
          <a:lstStyle/>
          <a:p>
            <a:pPr indent="0" marL="0">
              <a:buNone/>
            </a:pPr>
            <a:r>
              <a:rPr lang="en-US" sz="1300" i="1" dirty="0">
                <a:solidFill>
                  <a:srgbClr val="00C9A7"/>
                </a:solidFill>
                <a:latin typeface="Calibri" pitchFamily="34" charset="0"/>
                <a:ea typeface="Calibri" pitchFamily="34" charset="-122"/>
                <a:cs typeface="Calibri" pitchFamily="34" charset="-120"/>
              </a:rPr>
              <a:t>Every panel should answer a specific question</a:t>
            </a:r>
            <a:endParaRPr lang="en-US" sz="1300" dirty="0"/>
          </a:p>
        </p:txBody>
      </p:sp>
      <p:sp>
        <p:nvSpPr>
          <p:cNvPr id="5" name="Shape 3"/>
          <p:cNvSpPr/>
          <p:nvPr/>
        </p:nvSpPr>
        <p:spPr>
          <a:xfrm>
            <a:off x="0" y="4983480"/>
            <a:ext cx="9144000" cy="160020"/>
          </a:xfrm>
          <a:prstGeom prst="rect">
            <a:avLst/>
          </a:prstGeom>
          <a:solidFill>
            <a:srgbClr val="0A1118"/>
          </a:solidFill>
          <a:ln w="12700">
            <a:solidFill>
              <a:srgbClr val="0A1118"/>
            </a:solidFill>
            <a:prstDash val="solid"/>
          </a:ln>
        </p:spPr>
      </p:sp>
      <p:sp>
        <p:nvSpPr>
          <p:cNvPr id="6" name="Text 4"/>
          <p:cNvSpPr/>
          <p:nvPr/>
        </p:nvSpPr>
        <p:spPr>
          <a:xfrm>
            <a:off x="182880" y="4974336"/>
            <a:ext cx="8778240" cy="164592"/>
          </a:xfrm>
          <a:prstGeom prst="rect">
            <a:avLst/>
          </a:prstGeom>
          <a:noFill/>
          <a:ln/>
        </p:spPr>
        <p:txBody>
          <a:bodyPr wrap="square" lIns="0" tIns="0" rIns="0" bIns="0" rtlCol="0" anchor="ctr"/>
          <a:lstStyle/>
          <a:p>
            <a:pPr indent="0" marL="0">
              <a:buNone/>
            </a:pPr>
            <a:r>
              <a:rPr lang="en-US" sz="900" dirty="0">
                <a:solidFill>
                  <a:srgbClr val="8CA3B5"/>
                </a:solidFill>
                <a:latin typeface="Calibri" pitchFamily="34" charset="0"/>
                <a:ea typeface="Calibri" pitchFamily="34" charset="-122"/>
                <a:cs typeface="Calibri" pitchFamily="34" charset="-120"/>
              </a:rPr>
              <a:t>Cyberster Blue Team  ·  Week 4 Masterclass</a:t>
            </a:r>
            <a:endParaRPr lang="en-US" sz="900" dirty="0"/>
          </a:p>
        </p:txBody>
      </p:sp>
      <p:sp>
        <p:nvSpPr>
          <p:cNvPr id="7" name="Shape 5"/>
          <p:cNvSpPr/>
          <p:nvPr/>
        </p:nvSpPr>
        <p:spPr>
          <a:xfrm>
            <a:off x="201168" y="1042416"/>
            <a:ext cx="1828800" cy="246888"/>
          </a:xfrm>
          <a:prstGeom prst="rect">
            <a:avLst/>
          </a:prstGeom>
          <a:solidFill>
            <a:srgbClr val="00C9A7"/>
          </a:solidFill>
          <a:ln w="12700">
            <a:solidFill>
              <a:srgbClr val="00C9A7"/>
            </a:solidFill>
            <a:prstDash val="solid"/>
          </a:ln>
        </p:spPr>
      </p:sp>
      <p:sp>
        <p:nvSpPr>
          <p:cNvPr id="8" name="Text 6"/>
          <p:cNvSpPr/>
          <p:nvPr/>
        </p:nvSpPr>
        <p:spPr>
          <a:xfrm>
            <a:off x="201168" y="1033272"/>
            <a:ext cx="1828800" cy="256032"/>
          </a:xfrm>
          <a:prstGeom prst="rect">
            <a:avLst/>
          </a:prstGeom>
          <a:noFill/>
          <a:ln/>
        </p:spPr>
        <p:txBody>
          <a:bodyPr wrap="square" lIns="50800" tIns="50800" rIns="50800" bIns="50800" rtlCol="0" anchor="ctr"/>
          <a:lstStyle/>
          <a:p>
            <a:pPr algn="ctr" indent="0" marL="0">
              <a:buNone/>
            </a:pPr>
            <a:r>
              <a:rPr lang="en-US" sz="1000" b="1" dirty="0">
                <a:solidFill>
                  <a:srgbClr val="0A1118"/>
                </a:solidFill>
                <a:latin typeface="Calibri" pitchFamily="34" charset="0"/>
                <a:ea typeface="Calibri" pitchFamily="34" charset="-122"/>
                <a:cs typeface="Calibri" pitchFamily="34" charset="-120"/>
              </a:rPr>
              <a:t>SOC OPERATIONS  ·  REPORTING</a:t>
            </a:r>
            <a:endParaRPr lang="en-US" sz="1000" dirty="0"/>
          </a:p>
        </p:txBody>
      </p:sp>
      <p:sp>
        <p:nvSpPr>
          <p:cNvPr id="9" name="Shape 7"/>
          <p:cNvSpPr/>
          <p:nvPr/>
        </p:nvSpPr>
        <p:spPr>
          <a:xfrm>
            <a:off x="201168" y="1371600"/>
            <a:ext cx="8741664" cy="1170432"/>
          </a:xfrm>
          <a:prstGeom prst="rect">
            <a:avLst/>
          </a:prstGeom>
          <a:solidFill>
            <a:srgbClr val="162230"/>
          </a:solidFill>
          <a:ln w="12700">
            <a:solidFill>
              <a:srgbClr val="162230"/>
            </a:solidFill>
            <a:prstDash val="solid"/>
          </a:ln>
          <a:effectLst>
            <a:outerShdw sx="100000" sy="100000" kx="0" ky="0" algn="bl" rotWithShape="0" blurRad="101600" dist="38100" dir="8100000">
              <a:srgbClr val="000000">
                <a:alpha val="25000"/>
              </a:srgbClr>
            </a:outerShdw>
          </a:effectLst>
        </p:spPr>
      </p:sp>
      <p:sp>
        <p:nvSpPr>
          <p:cNvPr id="10" name="Shape 8"/>
          <p:cNvSpPr/>
          <p:nvPr/>
        </p:nvSpPr>
        <p:spPr>
          <a:xfrm>
            <a:off x="201168" y="1371600"/>
            <a:ext cx="45720" cy="1170432"/>
          </a:xfrm>
          <a:prstGeom prst="rect">
            <a:avLst/>
          </a:prstGeom>
          <a:solidFill>
            <a:srgbClr val="00C9A7"/>
          </a:solidFill>
          <a:ln w="12700">
            <a:solidFill>
              <a:srgbClr val="00C9A7"/>
            </a:solidFill>
            <a:prstDash val="solid"/>
          </a:ln>
        </p:spPr>
      </p:sp>
      <p:sp>
        <p:nvSpPr>
          <p:cNvPr id="11" name="Text 9"/>
          <p:cNvSpPr/>
          <p:nvPr/>
        </p:nvSpPr>
        <p:spPr>
          <a:xfrm>
            <a:off x="329184" y="1444752"/>
            <a:ext cx="8412480" cy="256032"/>
          </a:xfrm>
          <a:prstGeom prst="rect">
            <a:avLst/>
          </a:prstGeom>
          <a:noFill/>
          <a:ln/>
        </p:spPr>
        <p:txBody>
          <a:bodyPr wrap="square" lIns="0" tIns="0" rIns="0" bIns="0" rtlCol="0" anchor="ctr"/>
          <a:lstStyle/>
          <a:p>
            <a:pPr indent="0" marL="0">
              <a:buNone/>
            </a:pPr>
            <a:r>
              <a:rPr lang="en-US" sz="1400" b="1" dirty="0">
                <a:solidFill>
                  <a:srgbClr val="00C9A7"/>
                </a:solidFill>
                <a:latin typeface="Calibri" pitchFamily="34" charset="0"/>
                <a:ea typeface="Calibri" pitchFamily="34" charset="-122"/>
                <a:cs typeface="Calibri" pitchFamily="34" charset="-120"/>
              </a:rPr>
              <a:t>A dashboard is not decoration</a:t>
            </a:r>
            <a:endParaRPr lang="en-US" sz="1400" dirty="0"/>
          </a:p>
        </p:txBody>
      </p:sp>
      <p:sp>
        <p:nvSpPr>
          <p:cNvPr id="12" name="Text 10"/>
          <p:cNvSpPr/>
          <p:nvPr/>
        </p:nvSpPr>
        <p:spPr>
          <a:xfrm>
            <a:off x="329184" y="1719072"/>
            <a:ext cx="8412480" cy="713232"/>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Before you add a single panel, decide what questions your dashboard must answer. Every panel you add should answer one question. If you cannot state what question a panel answers, it does not belong in the dashboard. Lots of colourful charts with no clear labels and no stated time ranges tell you nothing.</a:t>
            </a:r>
            <a:endParaRPr lang="en-US" sz="1200" dirty="0"/>
          </a:p>
        </p:txBody>
      </p:sp>
      <p:sp>
        <p:nvSpPr>
          <p:cNvPr id="13" name="Shape 11"/>
          <p:cNvSpPr/>
          <p:nvPr/>
        </p:nvSpPr>
        <p:spPr>
          <a:xfrm>
            <a:off x="201168" y="2706624"/>
            <a:ext cx="3931920" cy="329184"/>
          </a:xfrm>
          <a:prstGeom prst="rect">
            <a:avLst/>
          </a:prstGeom>
          <a:solidFill>
            <a:srgbClr val="162230"/>
          </a:solidFill>
          <a:ln w="12700">
            <a:solidFill>
              <a:srgbClr val="162230"/>
            </a:solidFill>
            <a:prstDash val="solid"/>
          </a:ln>
        </p:spPr>
      </p:sp>
      <p:sp>
        <p:nvSpPr>
          <p:cNvPr id="14" name="Text 12"/>
          <p:cNvSpPr/>
          <p:nvPr/>
        </p:nvSpPr>
        <p:spPr>
          <a:xfrm>
            <a:off x="256032" y="2743200"/>
            <a:ext cx="3822192" cy="256032"/>
          </a:xfrm>
          <a:prstGeom prst="rect">
            <a:avLst/>
          </a:prstGeom>
          <a:noFill/>
          <a:ln/>
        </p:spPr>
        <p:txBody>
          <a:bodyPr wrap="square" lIns="0" tIns="0" rIns="0" bIns="0" rtlCol="0" anchor="ctr"/>
          <a:lstStyle/>
          <a:p>
            <a:pPr indent="0" marL="0">
              <a:buNone/>
            </a:pPr>
            <a:r>
              <a:rPr lang="en-US" sz="1150" i="1" dirty="0">
                <a:solidFill>
                  <a:srgbClr val="8CA3B5"/>
                </a:solidFill>
                <a:latin typeface="Calibri" pitchFamily="34" charset="0"/>
                <a:ea typeface="Calibri" pitchFamily="34" charset="-122"/>
                <a:cs typeface="Calibri" pitchFamily="34" charset="-120"/>
              </a:rPr>
              <a:t>How bad was this period?</a:t>
            </a:r>
            <a:endParaRPr lang="en-US" sz="1150" dirty="0"/>
          </a:p>
        </p:txBody>
      </p:sp>
      <p:sp>
        <p:nvSpPr>
          <p:cNvPr id="15" name="Shape 13"/>
          <p:cNvSpPr/>
          <p:nvPr/>
        </p:nvSpPr>
        <p:spPr>
          <a:xfrm>
            <a:off x="4169664" y="2871216"/>
            <a:ext cx="274320" cy="0"/>
          </a:xfrm>
          <a:prstGeom prst="line">
            <a:avLst/>
          </a:prstGeom>
          <a:noFill/>
          <a:ln w="19050">
            <a:solidFill>
              <a:srgbClr val="00C9A7"/>
            </a:solidFill>
            <a:prstDash val="solid"/>
          </a:ln>
        </p:spPr>
      </p:sp>
      <p:sp>
        <p:nvSpPr>
          <p:cNvPr id="16" name="Shape 14"/>
          <p:cNvSpPr/>
          <p:nvPr/>
        </p:nvSpPr>
        <p:spPr>
          <a:xfrm>
            <a:off x="4480560" y="2706624"/>
            <a:ext cx="4462272" cy="329184"/>
          </a:xfrm>
          <a:prstGeom prst="rect">
            <a:avLst/>
          </a:prstGeom>
          <a:solidFill>
            <a:srgbClr val="162230"/>
          </a:solidFill>
          <a:ln w="12700">
            <a:solidFill>
              <a:srgbClr val="162230"/>
            </a:solidFill>
            <a:prstDash val="solid"/>
          </a:ln>
        </p:spPr>
      </p:sp>
      <p:sp>
        <p:nvSpPr>
          <p:cNvPr id="17" name="Text 15"/>
          <p:cNvSpPr/>
          <p:nvPr/>
        </p:nvSpPr>
        <p:spPr>
          <a:xfrm>
            <a:off x="4535424" y="2743200"/>
            <a:ext cx="4352544" cy="256032"/>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Total alert count by severity level over the last 7 days</a:t>
            </a:r>
            <a:endParaRPr lang="en-US" sz="1150" dirty="0"/>
          </a:p>
        </p:txBody>
      </p:sp>
      <p:sp>
        <p:nvSpPr>
          <p:cNvPr id="18" name="Shape 16"/>
          <p:cNvSpPr/>
          <p:nvPr/>
        </p:nvSpPr>
        <p:spPr>
          <a:xfrm>
            <a:off x="201168" y="3108960"/>
            <a:ext cx="3931920" cy="329184"/>
          </a:xfrm>
          <a:prstGeom prst="rect">
            <a:avLst/>
          </a:prstGeom>
          <a:solidFill>
            <a:srgbClr val="162230"/>
          </a:solidFill>
          <a:ln w="12700">
            <a:solidFill>
              <a:srgbClr val="162230"/>
            </a:solidFill>
            <a:prstDash val="solid"/>
          </a:ln>
        </p:spPr>
      </p:sp>
      <p:sp>
        <p:nvSpPr>
          <p:cNvPr id="19" name="Text 17"/>
          <p:cNvSpPr/>
          <p:nvPr/>
        </p:nvSpPr>
        <p:spPr>
          <a:xfrm>
            <a:off x="256032" y="3145536"/>
            <a:ext cx="3822192" cy="256032"/>
          </a:xfrm>
          <a:prstGeom prst="rect">
            <a:avLst/>
          </a:prstGeom>
          <a:noFill/>
          <a:ln/>
        </p:spPr>
        <p:txBody>
          <a:bodyPr wrap="square" lIns="0" tIns="0" rIns="0" bIns="0" rtlCol="0" anchor="ctr"/>
          <a:lstStyle/>
          <a:p>
            <a:pPr indent="0" marL="0">
              <a:buNone/>
            </a:pPr>
            <a:r>
              <a:rPr lang="en-US" sz="1150" i="1" dirty="0">
                <a:solidFill>
                  <a:srgbClr val="8CA3B5"/>
                </a:solidFill>
                <a:latin typeface="Calibri" pitchFamily="34" charset="0"/>
                <a:ea typeface="Calibri" pitchFamily="34" charset="-122"/>
                <a:cs typeface="Calibri" pitchFamily="34" charset="-120"/>
              </a:rPr>
              <a:t>Are all machines reporting?</a:t>
            </a:r>
            <a:endParaRPr lang="en-US" sz="1150" dirty="0"/>
          </a:p>
        </p:txBody>
      </p:sp>
      <p:sp>
        <p:nvSpPr>
          <p:cNvPr id="20" name="Shape 18"/>
          <p:cNvSpPr/>
          <p:nvPr/>
        </p:nvSpPr>
        <p:spPr>
          <a:xfrm>
            <a:off x="4169664" y="3273552"/>
            <a:ext cx="274320" cy="0"/>
          </a:xfrm>
          <a:prstGeom prst="line">
            <a:avLst/>
          </a:prstGeom>
          <a:noFill/>
          <a:ln w="19050">
            <a:solidFill>
              <a:srgbClr val="4FC3F7"/>
            </a:solidFill>
            <a:prstDash val="solid"/>
          </a:ln>
        </p:spPr>
      </p:sp>
      <p:sp>
        <p:nvSpPr>
          <p:cNvPr id="21" name="Shape 19"/>
          <p:cNvSpPr/>
          <p:nvPr/>
        </p:nvSpPr>
        <p:spPr>
          <a:xfrm>
            <a:off x="4480560" y="3108960"/>
            <a:ext cx="4462272" cy="329184"/>
          </a:xfrm>
          <a:prstGeom prst="rect">
            <a:avLst/>
          </a:prstGeom>
          <a:solidFill>
            <a:srgbClr val="162230"/>
          </a:solidFill>
          <a:ln w="12700">
            <a:solidFill>
              <a:srgbClr val="162230"/>
            </a:solidFill>
            <a:prstDash val="solid"/>
          </a:ln>
        </p:spPr>
      </p:sp>
      <p:sp>
        <p:nvSpPr>
          <p:cNvPr id="22" name="Text 20"/>
          <p:cNvSpPr/>
          <p:nvPr/>
        </p:nvSpPr>
        <p:spPr>
          <a:xfrm>
            <a:off x="4535424" y="3145536"/>
            <a:ext cx="4352544" cy="256032"/>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Agent health status — Active vs Not Reporting, updated every few minutes</a:t>
            </a:r>
            <a:endParaRPr lang="en-US" sz="1150" dirty="0"/>
          </a:p>
        </p:txBody>
      </p:sp>
      <p:sp>
        <p:nvSpPr>
          <p:cNvPr id="23" name="Shape 21"/>
          <p:cNvSpPr/>
          <p:nvPr/>
        </p:nvSpPr>
        <p:spPr>
          <a:xfrm>
            <a:off x="201168" y="3511296"/>
            <a:ext cx="3931920" cy="329184"/>
          </a:xfrm>
          <a:prstGeom prst="rect">
            <a:avLst/>
          </a:prstGeom>
          <a:solidFill>
            <a:srgbClr val="162230"/>
          </a:solidFill>
          <a:ln w="12700">
            <a:solidFill>
              <a:srgbClr val="162230"/>
            </a:solidFill>
            <a:prstDash val="solid"/>
          </a:ln>
        </p:spPr>
      </p:sp>
      <p:sp>
        <p:nvSpPr>
          <p:cNvPr id="24" name="Text 22"/>
          <p:cNvSpPr/>
          <p:nvPr/>
        </p:nvSpPr>
        <p:spPr>
          <a:xfrm>
            <a:off x="256032" y="3547872"/>
            <a:ext cx="3822192" cy="256032"/>
          </a:xfrm>
          <a:prstGeom prst="rect">
            <a:avLst/>
          </a:prstGeom>
          <a:noFill/>
          <a:ln/>
        </p:spPr>
        <p:txBody>
          <a:bodyPr wrap="square" lIns="0" tIns="0" rIns="0" bIns="0" rtlCol="0" anchor="ctr"/>
          <a:lstStyle/>
          <a:p>
            <a:pPr indent="0" marL="0">
              <a:buNone/>
            </a:pPr>
            <a:r>
              <a:rPr lang="en-US" sz="1150" i="1" dirty="0">
                <a:solidFill>
                  <a:srgbClr val="8CA3B5"/>
                </a:solidFill>
                <a:latin typeface="Calibri" pitchFamily="34" charset="0"/>
                <a:ea typeface="Calibri" pitchFamily="34" charset="-122"/>
                <a:cs typeface="Calibri" pitchFamily="34" charset="-120"/>
              </a:rPr>
              <a:t>What is firing the most?</a:t>
            </a:r>
            <a:endParaRPr lang="en-US" sz="1150" dirty="0"/>
          </a:p>
        </p:txBody>
      </p:sp>
      <p:sp>
        <p:nvSpPr>
          <p:cNvPr id="25" name="Shape 23"/>
          <p:cNvSpPr/>
          <p:nvPr/>
        </p:nvSpPr>
        <p:spPr>
          <a:xfrm>
            <a:off x="4169664" y="3675888"/>
            <a:ext cx="274320" cy="0"/>
          </a:xfrm>
          <a:prstGeom prst="line">
            <a:avLst/>
          </a:prstGeom>
          <a:noFill/>
          <a:ln w="19050">
            <a:solidFill>
              <a:srgbClr val="00C9A7"/>
            </a:solidFill>
            <a:prstDash val="solid"/>
          </a:ln>
        </p:spPr>
      </p:sp>
      <p:sp>
        <p:nvSpPr>
          <p:cNvPr id="26" name="Shape 24"/>
          <p:cNvSpPr/>
          <p:nvPr/>
        </p:nvSpPr>
        <p:spPr>
          <a:xfrm>
            <a:off x="4480560" y="3511296"/>
            <a:ext cx="4462272" cy="329184"/>
          </a:xfrm>
          <a:prstGeom prst="rect">
            <a:avLst/>
          </a:prstGeom>
          <a:solidFill>
            <a:srgbClr val="162230"/>
          </a:solidFill>
          <a:ln w="12700">
            <a:solidFill>
              <a:srgbClr val="162230"/>
            </a:solidFill>
            <a:prstDash val="solid"/>
          </a:ln>
        </p:spPr>
      </p:sp>
      <p:sp>
        <p:nvSpPr>
          <p:cNvPr id="27" name="Text 25"/>
          <p:cNvSpPr/>
          <p:nvPr/>
        </p:nvSpPr>
        <p:spPr>
          <a:xfrm>
            <a:off x="4535424" y="3547872"/>
            <a:ext cx="4352544" cy="256032"/>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Top 10 rules by alert count — which detections are loudest</a:t>
            </a:r>
            <a:endParaRPr lang="en-US" sz="1150" dirty="0"/>
          </a:p>
        </p:txBody>
      </p:sp>
      <p:sp>
        <p:nvSpPr>
          <p:cNvPr id="28" name="Shape 26"/>
          <p:cNvSpPr/>
          <p:nvPr/>
        </p:nvSpPr>
        <p:spPr>
          <a:xfrm>
            <a:off x="201168" y="3913632"/>
            <a:ext cx="3931920" cy="329184"/>
          </a:xfrm>
          <a:prstGeom prst="rect">
            <a:avLst/>
          </a:prstGeom>
          <a:solidFill>
            <a:srgbClr val="162230"/>
          </a:solidFill>
          <a:ln w="12700">
            <a:solidFill>
              <a:srgbClr val="162230"/>
            </a:solidFill>
            <a:prstDash val="solid"/>
          </a:ln>
        </p:spPr>
      </p:sp>
      <p:sp>
        <p:nvSpPr>
          <p:cNvPr id="29" name="Text 27"/>
          <p:cNvSpPr/>
          <p:nvPr/>
        </p:nvSpPr>
        <p:spPr>
          <a:xfrm>
            <a:off x="256032" y="3950208"/>
            <a:ext cx="3822192" cy="256032"/>
          </a:xfrm>
          <a:prstGeom prst="rect">
            <a:avLst/>
          </a:prstGeom>
          <a:noFill/>
          <a:ln/>
        </p:spPr>
        <p:txBody>
          <a:bodyPr wrap="square" lIns="0" tIns="0" rIns="0" bIns="0" rtlCol="0" anchor="ctr"/>
          <a:lstStyle/>
          <a:p>
            <a:pPr indent="0" marL="0">
              <a:buNone/>
            </a:pPr>
            <a:r>
              <a:rPr lang="en-US" sz="1150" i="1" dirty="0">
                <a:solidFill>
                  <a:srgbClr val="8CA3B5"/>
                </a:solidFill>
                <a:latin typeface="Calibri" pitchFamily="34" charset="0"/>
                <a:ea typeface="Calibri" pitchFamily="34" charset="-122"/>
                <a:cs typeface="Calibri" pitchFamily="34" charset="-120"/>
              </a:rPr>
              <a:t>Where is the traffic coming from?</a:t>
            </a:r>
            <a:endParaRPr lang="en-US" sz="1150" dirty="0"/>
          </a:p>
        </p:txBody>
      </p:sp>
      <p:sp>
        <p:nvSpPr>
          <p:cNvPr id="30" name="Shape 28"/>
          <p:cNvSpPr/>
          <p:nvPr/>
        </p:nvSpPr>
        <p:spPr>
          <a:xfrm>
            <a:off x="4169664" y="4078224"/>
            <a:ext cx="274320" cy="0"/>
          </a:xfrm>
          <a:prstGeom prst="line">
            <a:avLst/>
          </a:prstGeom>
          <a:noFill/>
          <a:ln w="19050">
            <a:solidFill>
              <a:srgbClr val="4FC3F7"/>
            </a:solidFill>
            <a:prstDash val="solid"/>
          </a:ln>
        </p:spPr>
      </p:sp>
      <p:sp>
        <p:nvSpPr>
          <p:cNvPr id="31" name="Shape 29"/>
          <p:cNvSpPr/>
          <p:nvPr/>
        </p:nvSpPr>
        <p:spPr>
          <a:xfrm>
            <a:off x="4480560" y="3913632"/>
            <a:ext cx="4462272" cy="329184"/>
          </a:xfrm>
          <a:prstGeom prst="rect">
            <a:avLst/>
          </a:prstGeom>
          <a:solidFill>
            <a:srgbClr val="162230"/>
          </a:solidFill>
          <a:ln w="12700">
            <a:solidFill>
              <a:srgbClr val="162230"/>
            </a:solidFill>
            <a:prstDash val="solid"/>
          </a:ln>
        </p:spPr>
      </p:sp>
      <p:sp>
        <p:nvSpPr>
          <p:cNvPr id="32" name="Text 30"/>
          <p:cNvSpPr/>
          <p:nvPr/>
        </p:nvSpPr>
        <p:spPr>
          <a:xfrm>
            <a:off x="4535424" y="3950208"/>
            <a:ext cx="4352544" cy="256032"/>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Top source IP addresses and geolocation map if available</a:t>
            </a:r>
            <a:endParaRPr lang="en-US" sz="1150" dirty="0"/>
          </a:p>
        </p:txBody>
      </p:sp>
      <p:sp>
        <p:nvSpPr>
          <p:cNvPr id="33" name="Shape 31"/>
          <p:cNvSpPr/>
          <p:nvPr/>
        </p:nvSpPr>
        <p:spPr>
          <a:xfrm>
            <a:off x="201168" y="4315968"/>
            <a:ext cx="3931920" cy="329184"/>
          </a:xfrm>
          <a:prstGeom prst="rect">
            <a:avLst/>
          </a:prstGeom>
          <a:solidFill>
            <a:srgbClr val="162230"/>
          </a:solidFill>
          <a:ln w="12700">
            <a:solidFill>
              <a:srgbClr val="162230"/>
            </a:solidFill>
            <a:prstDash val="solid"/>
          </a:ln>
        </p:spPr>
      </p:sp>
      <p:sp>
        <p:nvSpPr>
          <p:cNvPr id="34" name="Text 32"/>
          <p:cNvSpPr/>
          <p:nvPr/>
        </p:nvSpPr>
        <p:spPr>
          <a:xfrm>
            <a:off x="256032" y="4352544"/>
            <a:ext cx="3822192" cy="256032"/>
          </a:xfrm>
          <a:prstGeom prst="rect">
            <a:avLst/>
          </a:prstGeom>
          <a:noFill/>
          <a:ln/>
        </p:spPr>
        <p:txBody>
          <a:bodyPr wrap="square" lIns="0" tIns="0" rIns="0" bIns="0" rtlCol="0" anchor="ctr"/>
          <a:lstStyle/>
          <a:p>
            <a:pPr indent="0" marL="0">
              <a:buNone/>
            </a:pPr>
            <a:r>
              <a:rPr lang="en-US" sz="1150" i="1" dirty="0">
                <a:solidFill>
                  <a:srgbClr val="8CA3B5"/>
                </a:solidFill>
                <a:latin typeface="Calibri" pitchFamily="34" charset="0"/>
                <a:ea typeface="Calibri" pitchFamily="34" charset="-122"/>
                <a:cs typeface="Calibri" pitchFamily="34" charset="-120"/>
              </a:rPr>
              <a:t>What happened over time?</a:t>
            </a:r>
            <a:endParaRPr lang="en-US" sz="1150" dirty="0"/>
          </a:p>
        </p:txBody>
      </p:sp>
      <p:sp>
        <p:nvSpPr>
          <p:cNvPr id="35" name="Shape 33"/>
          <p:cNvSpPr/>
          <p:nvPr/>
        </p:nvSpPr>
        <p:spPr>
          <a:xfrm>
            <a:off x="4169664" y="4480560"/>
            <a:ext cx="274320" cy="0"/>
          </a:xfrm>
          <a:prstGeom prst="line">
            <a:avLst/>
          </a:prstGeom>
          <a:noFill/>
          <a:ln w="19050">
            <a:solidFill>
              <a:srgbClr val="00C9A7"/>
            </a:solidFill>
            <a:prstDash val="solid"/>
          </a:ln>
        </p:spPr>
      </p:sp>
      <p:sp>
        <p:nvSpPr>
          <p:cNvPr id="36" name="Shape 34"/>
          <p:cNvSpPr/>
          <p:nvPr/>
        </p:nvSpPr>
        <p:spPr>
          <a:xfrm>
            <a:off x="4480560" y="4315968"/>
            <a:ext cx="4462272" cy="329184"/>
          </a:xfrm>
          <a:prstGeom prst="rect">
            <a:avLst/>
          </a:prstGeom>
          <a:solidFill>
            <a:srgbClr val="162230"/>
          </a:solidFill>
          <a:ln w="12700">
            <a:solidFill>
              <a:srgbClr val="162230"/>
            </a:solidFill>
            <a:prstDash val="solid"/>
          </a:ln>
        </p:spPr>
      </p:sp>
      <p:sp>
        <p:nvSpPr>
          <p:cNvPr id="37" name="Text 35"/>
          <p:cNvSpPr/>
          <p:nvPr/>
        </p:nvSpPr>
        <p:spPr>
          <a:xfrm>
            <a:off x="4535424" y="4352544"/>
            <a:ext cx="4352544" cy="256032"/>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Alert volume timeline — spikes show when incidents or tests occurred</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923"/>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00C9A7"/>
          </a:solidFill>
          <a:ln w="12700">
            <a:solidFill>
              <a:srgbClr val="00C9A7"/>
            </a:solidFill>
            <a:prstDash val="solid"/>
          </a:ln>
        </p:spPr>
      </p:sp>
      <p:sp>
        <p:nvSpPr>
          <p:cNvPr id="3" name="Text 1"/>
          <p:cNvSpPr/>
          <p:nvPr/>
        </p:nvSpPr>
        <p:spPr>
          <a:xfrm>
            <a:off x="201168" y="256032"/>
            <a:ext cx="8503920" cy="566928"/>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SOC Reporting — Two Audiences, Two Documents</a:t>
            </a:r>
            <a:endParaRPr lang="en-US" sz="2800" dirty="0"/>
          </a:p>
        </p:txBody>
      </p:sp>
      <p:sp>
        <p:nvSpPr>
          <p:cNvPr id="4" name="Text 2"/>
          <p:cNvSpPr/>
          <p:nvPr/>
        </p:nvSpPr>
        <p:spPr>
          <a:xfrm>
            <a:off x="201168" y="786384"/>
            <a:ext cx="8503920" cy="237744"/>
          </a:xfrm>
          <a:prstGeom prst="rect">
            <a:avLst/>
          </a:prstGeom>
          <a:noFill/>
          <a:ln/>
        </p:spPr>
        <p:txBody>
          <a:bodyPr wrap="square" lIns="0" tIns="0" rIns="0" bIns="0" rtlCol="0" anchor="ctr"/>
          <a:lstStyle/>
          <a:p>
            <a:pPr indent="0" marL="0">
              <a:buNone/>
            </a:pPr>
            <a:r>
              <a:rPr lang="en-US" sz="1300" i="1" dirty="0">
                <a:solidFill>
                  <a:srgbClr val="00C9A7"/>
                </a:solidFill>
                <a:latin typeface="Calibri" pitchFamily="34" charset="0"/>
                <a:ea typeface="Calibri" pitchFamily="34" charset="-122"/>
                <a:cs typeface="Calibri" pitchFamily="34" charset="-120"/>
              </a:rPr>
              <a:t>Technical report vs executive summary</a:t>
            </a:r>
            <a:endParaRPr lang="en-US" sz="1300" dirty="0"/>
          </a:p>
        </p:txBody>
      </p:sp>
      <p:sp>
        <p:nvSpPr>
          <p:cNvPr id="5" name="Shape 3"/>
          <p:cNvSpPr/>
          <p:nvPr/>
        </p:nvSpPr>
        <p:spPr>
          <a:xfrm>
            <a:off x="0" y="4983480"/>
            <a:ext cx="9144000" cy="160020"/>
          </a:xfrm>
          <a:prstGeom prst="rect">
            <a:avLst/>
          </a:prstGeom>
          <a:solidFill>
            <a:srgbClr val="0A1118"/>
          </a:solidFill>
          <a:ln w="12700">
            <a:solidFill>
              <a:srgbClr val="0A1118"/>
            </a:solidFill>
            <a:prstDash val="solid"/>
          </a:ln>
        </p:spPr>
      </p:sp>
      <p:sp>
        <p:nvSpPr>
          <p:cNvPr id="6" name="Text 4"/>
          <p:cNvSpPr/>
          <p:nvPr/>
        </p:nvSpPr>
        <p:spPr>
          <a:xfrm>
            <a:off x="182880" y="4974336"/>
            <a:ext cx="8778240" cy="164592"/>
          </a:xfrm>
          <a:prstGeom prst="rect">
            <a:avLst/>
          </a:prstGeom>
          <a:noFill/>
          <a:ln/>
        </p:spPr>
        <p:txBody>
          <a:bodyPr wrap="square" lIns="0" tIns="0" rIns="0" bIns="0" rtlCol="0" anchor="ctr"/>
          <a:lstStyle/>
          <a:p>
            <a:pPr indent="0" marL="0">
              <a:buNone/>
            </a:pPr>
            <a:r>
              <a:rPr lang="en-US" sz="900" dirty="0">
                <a:solidFill>
                  <a:srgbClr val="8CA3B5"/>
                </a:solidFill>
                <a:latin typeface="Calibri" pitchFamily="34" charset="0"/>
                <a:ea typeface="Calibri" pitchFamily="34" charset="-122"/>
                <a:cs typeface="Calibri" pitchFamily="34" charset="-120"/>
              </a:rPr>
              <a:t>Cyberster Blue Team  ·  Week 4 Masterclass</a:t>
            </a:r>
            <a:endParaRPr lang="en-US" sz="900" dirty="0"/>
          </a:p>
        </p:txBody>
      </p:sp>
      <p:sp>
        <p:nvSpPr>
          <p:cNvPr id="7" name="Shape 5"/>
          <p:cNvSpPr/>
          <p:nvPr/>
        </p:nvSpPr>
        <p:spPr>
          <a:xfrm>
            <a:off x="201168" y="1042416"/>
            <a:ext cx="1828800" cy="246888"/>
          </a:xfrm>
          <a:prstGeom prst="rect">
            <a:avLst/>
          </a:prstGeom>
          <a:solidFill>
            <a:srgbClr val="00C9A7"/>
          </a:solidFill>
          <a:ln w="12700">
            <a:solidFill>
              <a:srgbClr val="00C9A7"/>
            </a:solidFill>
            <a:prstDash val="solid"/>
          </a:ln>
        </p:spPr>
      </p:sp>
      <p:sp>
        <p:nvSpPr>
          <p:cNvPr id="8" name="Text 6"/>
          <p:cNvSpPr/>
          <p:nvPr/>
        </p:nvSpPr>
        <p:spPr>
          <a:xfrm>
            <a:off x="201168" y="1033272"/>
            <a:ext cx="1828800" cy="256032"/>
          </a:xfrm>
          <a:prstGeom prst="rect">
            <a:avLst/>
          </a:prstGeom>
          <a:noFill/>
          <a:ln/>
        </p:spPr>
        <p:txBody>
          <a:bodyPr wrap="square" lIns="50800" tIns="50800" rIns="50800" bIns="50800" rtlCol="0" anchor="ctr"/>
          <a:lstStyle/>
          <a:p>
            <a:pPr algn="ctr" indent="0" marL="0">
              <a:buNone/>
            </a:pPr>
            <a:r>
              <a:rPr lang="en-US" sz="1000" b="1" dirty="0">
                <a:solidFill>
                  <a:srgbClr val="0A1118"/>
                </a:solidFill>
                <a:latin typeface="Calibri" pitchFamily="34" charset="0"/>
                <a:ea typeface="Calibri" pitchFamily="34" charset="-122"/>
                <a:cs typeface="Calibri" pitchFamily="34" charset="-120"/>
              </a:rPr>
              <a:t>REPORTING  ·  COMMUNICATION</a:t>
            </a:r>
            <a:endParaRPr lang="en-US" sz="1000" dirty="0"/>
          </a:p>
        </p:txBody>
      </p:sp>
      <p:sp>
        <p:nvSpPr>
          <p:cNvPr id="9" name="Shape 7"/>
          <p:cNvSpPr/>
          <p:nvPr/>
        </p:nvSpPr>
        <p:spPr>
          <a:xfrm>
            <a:off x="201168" y="1371600"/>
            <a:ext cx="4251960" cy="3401568"/>
          </a:xfrm>
          <a:prstGeom prst="rect">
            <a:avLst/>
          </a:prstGeom>
          <a:solidFill>
            <a:srgbClr val="162230"/>
          </a:solidFill>
          <a:ln w="12700">
            <a:solidFill>
              <a:srgbClr val="162230"/>
            </a:solidFill>
            <a:prstDash val="solid"/>
          </a:ln>
          <a:effectLst>
            <a:outerShdw sx="100000" sy="100000" kx="0" ky="0" algn="bl" rotWithShape="0" blurRad="101600" dist="38100" dir="8100000">
              <a:srgbClr val="000000">
                <a:alpha val="25000"/>
              </a:srgbClr>
            </a:outerShdw>
          </a:effectLst>
        </p:spPr>
      </p:sp>
      <p:sp>
        <p:nvSpPr>
          <p:cNvPr id="10" name="Shape 8"/>
          <p:cNvSpPr/>
          <p:nvPr/>
        </p:nvSpPr>
        <p:spPr>
          <a:xfrm>
            <a:off x="201168" y="1371600"/>
            <a:ext cx="45720" cy="3401568"/>
          </a:xfrm>
          <a:prstGeom prst="rect">
            <a:avLst/>
          </a:prstGeom>
          <a:solidFill>
            <a:srgbClr val="00C9A7"/>
          </a:solidFill>
          <a:ln w="12700">
            <a:solidFill>
              <a:srgbClr val="00C9A7"/>
            </a:solidFill>
            <a:prstDash val="solid"/>
          </a:ln>
        </p:spPr>
      </p:sp>
      <p:sp>
        <p:nvSpPr>
          <p:cNvPr id="11" name="Text 9"/>
          <p:cNvSpPr/>
          <p:nvPr/>
        </p:nvSpPr>
        <p:spPr>
          <a:xfrm>
            <a:off x="329184" y="1463040"/>
            <a:ext cx="3986784" cy="256032"/>
          </a:xfrm>
          <a:prstGeom prst="rect">
            <a:avLst/>
          </a:prstGeom>
          <a:noFill/>
          <a:ln/>
        </p:spPr>
        <p:txBody>
          <a:bodyPr wrap="square" lIns="0" tIns="0" rIns="0" bIns="0" rtlCol="0" anchor="ctr"/>
          <a:lstStyle/>
          <a:p>
            <a:pPr indent="0" marL="0">
              <a:buNone/>
            </a:pPr>
            <a:r>
              <a:rPr lang="en-US" sz="1400" b="1" dirty="0">
                <a:solidFill>
                  <a:srgbClr val="00C9A7"/>
                </a:solidFill>
                <a:latin typeface="Calibri" pitchFamily="34" charset="0"/>
                <a:ea typeface="Calibri" pitchFamily="34" charset="-122"/>
                <a:cs typeface="Calibri" pitchFamily="34" charset="-120"/>
              </a:rPr>
              <a:t>Technical SOC Summary</a:t>
            </a:r>
            <a:endParaRPr lang="en-US" sz="1400" dirty="0"/>
          </a:p>
        </p:txBody>
      </p:sp>
      <p:sp>
        <p:nvSpPr>
          <p:cNvPr id="12" name="Text 10"/>
          <p:cNvSpPr/>
          <p:nvPr/>
        </p:nvSpPr>
        <p:spPr>
          <a:xfrm>
            <a:off x="329184" y="1755648"/>
            <a:ext cx="3986784" cy="329184"/>
          </a:xfrm>
          <a:prstGeom prst="rect">
            <a:avLst/>
          </a:prstGeom>
          <a:noFill/>
          <a:ln/>
        </p:spPr>
        <p:txBody>
          <a:bodyPr wrap="square" lIns="0" tIns="0" rIns="0" bIns="0" rtlCol="0" anchor="ctr"/>
          <a:lstStyle/>
          <a:p>
            <a:pPr indent="0" marL="0">
              <a:buNone/>
            </a:pPr>
            <a:r>
              <a:rPr lang="en-US" sz="1100" i="1" dirty="0">
                <a:solidFill>
                  <a:srgbClr val="8CA3B5"/>
                </a:solidFill>
                <a:latin typeface="Calibri" pitchFamily="34" charset="0"/>
                <a:ea typeface="Calibri" pitchFamily="34" charset="-122"/>
                <a:cs typeface="Calibri" pitchFamily="34" charset="-120"/>
              </a:rPr>
              <a:t>Audience: fellow analysts, SIEM engineers, incident responders</a:t>
            </a:r>
            <a:endParaRPr lang="en-US" sz="1100" dirty="0"/>
          </a:p>
        </p:txBody>
      </p:sp>
      <p:sp>
        <p:nvSpPr>
          <p:cNvPr id="13" name="Text 11"/>
          <p:cNvSpPr/>
          <p:nvPr/>
        </p:nvSpPr>
        <p:spPr>
          <a:xfrm>
            <a:off x="329184" y="2121408"/>
            <a:ext cx="3986784" cy="128016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Covers every alert category from the period. Includes counts, most significant individual events, and interpretation of patterns. Technical terminology is fine and expected. The reader needs enough detail to act on findings or reproduce the analysis.</a:t>
            </a:r>
            <a:endParaRPr lang="en-US" sz="1200" dirty="0"/>
          </a:p>
        </p:txBody>
      </p:sp>
      <p:sp>
        <p:nvSpPr>
          <p:cNvPr id="14" name="Text 12"/>
          <p:cNvSpPr/>
          <p:nvPr/>
        </p:nvSpPr>
        <p:spPr>
          <a:xfrm>
            <a:off x="329184" y="3438144"/>
            <a:ext cx="3986784" cy="201168"/>
          </a:xfrm>
          <a:prstGeom prst="rect">
            <a:avLst/>
          </a:prstGeom>
          <a:noFill/>
          <a:ln/>
        </p:spPr>
        <p:txBody>
          <a:bodyPr wrap="square" lIns="0" tIns="0" rIns="0" bIns="0" rtlCol="0" anchor="ctr"/>
          <a:lstStyle/>
          <a:p>
            <a:pPr indent="0" marL="0">
              <a:buNone/>
            </a:pPr>
            <a:r>
              <a:rPr lang="en-US" sz="1200" b="1" dirty="0">
                <a:solidFill>
                  <a:srgbClr val="00C9A7"/>
                </a:solidFill>
                <a:latin typeface="Calibri" pitchFamily="34" charset="0"/>
                <a:ea typeface="Calibri" pitchFamily="34" charset="-122"/>
                <a:cs typeface="Calibri" pitchFamily="34" charset="-120"/>
              </a:rPr>
              <a:t>Include:</a:t>
            </a:r>
            <a:endParaRPr lang="en-US" sz="1200" dirty="0"/>
          </a:p>
        </p:txBody>
      </p:sp>
      <p:sp>
        <p:nvSpPr>
          <p:cNvPr id="15" name="Text 13"/>
          <p:cNvSpPr/>
          <p:nvPr/>
        </p:nvSpPr>
        <p:spPr>
          <a:xfrm>
            <a:off x="329184" y="3657600"/>
            <a:ext cx="3986784" cy="82296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Alert counts by type  ·  Top rules fired  ·  Specific events worth noting  ·  Vulnerability summary  ·  Open items</a:t>
            </a:r>
            <a:endParaRPr lang="en-US" sz="1100" dirty="0"/>
          </a:p>
        </p:txBody>
      </p:sp>
      <p:sp>
        <p:nvSpPr>
          <p:cNvPr id="16" name="Shape 14"/>
          <p:cNvSpPr/>
          <p:nvPr/>
        </p:nvSpPr>
        <p:spPr>
          <a:xfrm>
            <a:off x="4645152" y="1371600"/>
            <a:ext cx="4297680" cy="3401568"/>
          </a:xfrm>
          <a:prstGeom prst="rect">
            <a:avLst/>
          </a:prstGeom>
          <a:solidFill>
            <a:srgbClr val="162230"/>
          </a:solidFill>
          <a:ln w="12700">
            <a:solidFill>
              <a:srgbClr val="162230"/>
            </a:solidFill>
            <a:prstDash val="solid"/>
          </a:ln>
          <a:effectLst>
            <a:outerShdw sx="100000" sy="100000" kx="0" ky="0" algn="bl" rotWithShape="0" blurRad="101600" dist="38100" dir="8100000">
              <a:srgbClr val="000000">
                <a:alpha val="25000"/>
              </a:srgbClr>
            </a:outerShdw>
          </a:effectLst>
        </p:spPr>
      </p:sp>
      <p:sp>
        <p:nvSpPr>
          <p:cNvPr id="17" name="Shape 15"/>
          <p:cNvSpPr/>
          <p:nvPr/>
        </p:nvSpPr>
        <p:spPr>
          <a:xfrm>
            <a:off x="4645152" y="1371600"/>
            <a:ext cx="45720" cy="3401568"/>
          </a:xfrm>
          <a:prstGeom prst="rect">
            <a:avLst/>
          </a:prstGeom>
          <a:solidFill>
            <a:srgbClr val="4FC3F7"/>
          </a:solidFill>
          <a:ln w="12700">
            <a:solidFill>
              <a:srgbClr val="4FC3F7"/>
            </a:solidFill>
            <a:prstDash val="solid"/>
          </a:ln>
        </p:spPr>
      </p:sp>
      <p:sp>
        <p:nvSpPr>
          <p:cNvPr id="18" name="Text 16"/>
          <p:cNvSpPr/>
          <p:nvPr/>
        </p:nvSpPr>
        <p:spPr>
          <a:xfrm>
            <a:off x="4773168" y="1463040"/>
            <a:ext cx="4041648" cy="256032"/>
          </a:xfrm>
          <a:prstGeom prst="rect">
            <a:avLst/>
          </a:prstGeom>
          <a:noFill/>
          <a:ln/>
        </p:spPr>
        <p:txBody>
          <a:bodyPr wrap="square" lIns="0" tIns="0" rIns="0" bIns="0" rtlCol="0" anchor="ctr"/>
          <a:lstStyle/>
          <a:p>
            <a:pPr indent="0" marL="0">
              <a:buNone/>
            </a:pPr>
            <a:r>
              <a:rPr lang="en-US" sz="1400" b="1" dirty="0">
                <a:solidFill>
                  <a:srgbClr val="4FC3F7"/>
                </a:solidFill>
                <a:latin typeface="Calibri" pitchFamily="34" charset="0"/>
                <a:ea typeface="Calibri" pitchFamily="34" charset="-122"/>
                <a:cs typeface="Calibri" pitchFamily="34" charset="-120"/>
              </a:rPr>
              <a:t>Executive Summary</a:t>
            </a:r>
            <a:endParaRPr lang="en-US" sz="1400" dirty="0"/>
          </a:p>
        </p:txBody>
      </p:sp>
      <p:sp>
        <p:nvSpPr>
          <p:cNvPr id="19" name="Text 17"/>
          <p:cNvSpPr/>
          <p:nvPr/>
        </p:nvSpPr>
        <p:spPr>
          <a:xfrm>
            <a:off x="4773168" y="1755648"/>
            <a:ext cx="4041648" cy="329184"/>
          </a:xfrm>
          <a:prstGeom prst="rect">
            <a:avLst/>
          </a:prstGeom>
          <a:noFill/>
          <a:ln/>
        </p:spPr>
        <p:txBody>
          <a:bodyPr wrap="square" lIns="0" tIns="0" rIns="0" bIns="0" rtlCol="0" anchor="ctr"/>
          <a:lstStyle/>
          <a:p>
            <a:pPr indent="0" marL="0">
              <a:buNone/>
            </a:pPr>
            <a:r>
              <a:rPr lang="en-US" sz="1100" i="1" dirty="0">
                <a:solidFill>
                  <a:srgbClr val="8CA3B5"/>
                </a:solidFill>
                <a:latin typeface="Calibri" pitchFamily="34" charset="0"/>
                <a:ea typeface="Calibri" pitchFamily="34" charset="-122"/>
                <a:cs typeface="Calibri" pitchFamily="34" charset="-120"/>
              </a:rPr>
              <a:t>Audience: managers, directors, non-technical stakeholders</a:t>
            </a:r>
            <a:endParaRPr lang="en-US" sz="1100" dirty="0"/>
          </a:p>
        </p:txBody>
      </p:sp>
      <p:sp>
        <p:nvSpPr>
          <p:cNvPr id="20" name="Text 18"/>
          <p:cNvSpPr/>
          <p:nvPr/>
        </p:nvSpPr>
        <p:spPr>
          <a:xfrm>
            <a:off x="4773168" y="2121408"/>
            <a:ext cx="4041648" cy="128016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Maximum one page. Opens with overall risk posture for the period. Two or three key findings in two sentences each. Closes with a clear recommendation. No technical jargon without an immediate plain-language explanation.</a:t>
            </a:r>
            <a:endParaRPr lang="en-US" sz="1200" dirty="0"/>
          </a:p>
        </p:txBody>
      </p:sp>
      <p:sp>
        <p:nvSpPr>
          <p:cNvPr id="21" name="Text 19"/>
          <p:cNvSpPr/>
          <p:nvPr/>
        </p:nvSpPr>
        <p:spPr>
          <a:xfrm>
            <a:off x="4773168" y="3438144"/>
            <a:ext cx="4041648" cy="201168"/>
          </a:xfrm>
          <a:prstGeom prst="rect">
            <a:avLst/>
          </a:prstGeom>
          <a:noFill/>
          <a:ln/>
        </p:spPr>
        <p:txBody>
          <a:bodyPr wrap="square" lIns="0" tIns="0" rIns="0" bIns="0" rtlCol="0" anchor="ctr"/>
          <a:lstStyle/>
          <a:p>
            <a:pPr indent="0" marL="0">
              <a:buNone/>
            </a:pPr>
            <a:r>
              <a:rPr lang="en-US" sz="1200" b="1" dirty="0">
                <a:solidFill>
                  <a:srgbClr val="4FC3F7"/>
                </a:solidFill>
                <a:latin typeface="Calibri" pitchFamily="34" charset="0"/>
                <a:ea typeface="Calibri" pitchFamily="34" charset="-122"/>
                <a:cs typeface="Calibri" pitchFamily="34" charset="-120"/>
              </a:rPr>
              <a:t>Test:</a:t>
            </a:r>
            <a:endParaRPr lang="en-US" sz="1200" dirty="0"/>
          </a:p>
        </p:txBody>
      </p:sp>
      <p:sp>
        <p:nvSpPr>
          <p:cNvPr id="22" name="Text 20"/>
          <p:cNvSpPr/>
          <p:nvPr/>
        </p:nvSpPr>
        <p:spPr>
          <a:xfrm>
            <a:off x="4773168" y="3657600"/>
            <a:ext cx="4041648" cy="82296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Could your manager read this and understand the risk posture without knowing what Wazuh, FIM, Suricata, or CVSS are? If yes, it is an executive summary. If no, it is a technical summary in disguise.</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1923"/>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00C9A7"/>
          </a:solidFill>
          <a:ln w="12700">
            <a:solidFill>
              <a:srgbClr val="00C9A7"/>
            </a:solidFill>
            <a:prstDash val="solid"/>
          </a:ln>
        </p:spPr>
      </p:sp>
      <p:sp>
        <p:nvSpPr>
          <p:cNvPr id="3" name="Text 1"/>
          <p:cNvSpPr/>
          <p:nvPr/>
        </p:nvSpPr>
        <p:spPr>
          <a:xfrm>
            <a:off x="201168" y="256032"/>
            <a:ext cx="8503920" cy="566928"/>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Week 4 at a Glance</a:t>
            </a:r>
            <a:endParaRPr lang="en-US" sz="2800" dirty="0"/>
          </a:p>
        </p:txBody>
      </p:sp>
      <p:sp>
        <p:nvSpPr>
          <p:cNvPr id="4" name="Text 2"/>
          <p:cNvSpPr/>
          <p:nvPr/>
        </p:nvSpPr>
        <p:spPr>
          <a:xfrm>
            <a:off x="201168" y="786384"/>
            <a:ext cx="8503920" cy="237744"/>
          </a:xfrm>
          <a:prstGeom prst="rect">
            <a:avLst/>
          </a:prstGeom>
          <a:noFill/>
          <a:ln/>
        </p:spPr>
        <p:txBody>
          <a:bodyPr wrap="square" lIns="0" tIns="0" rIns="0" bIns="0" rtlCol="0" anchor="ctr"/>
          <a:lstStyle/>
          <a:p>
            <a:pPr indent="0" marL="0">
              <a:buNone/>
            </a:pPr>
            <a:r>
              <a:rPr lang="en-US" sz="1300" i="1" dirty="0">
                <a:solidFill>
                  <a:srgbClr val="00C9A7"/>
                </a:solidFill>
                <a:latin typeface="Calibri" pitchFamily="34" charset="0"/>
                <a:ea typeface="Calibri" pitchFamily="34" charset="-122"/>
                <a:cs typeface="Calibri" pitchFamily="34" charset="-120"/>
              </a:rPr>
              <a:t>What you are building across Days 22 through 28</a:t>
            </a:r>
            <a:endParaRPr lang="en-US" sz="1300" dirty="0"/>
          </a:p>
        </p:txBody>
      </p:sp>
      <p:sp>
        <p:nvSpPr>
          <p:cNvPr id="5" name="Shape 3"/>
          <p:cNvSpPr/>
          <p:nvPr/>
        </p:nvSpPr>
        <p:spPr>
          <a:xfrm>
            <a:off x="0" y="4983480"/>
            <a:ext cx="9144000" cy="160020"/>
          </a:xfrm>
          <a:prstGeom prst="rect">
            <a:avLst/>
          </a:prstGeom>
          <a:solidFill>
            <a:srgbClr val="0A1118"/>
          </a:solidFill>
          <a:ln w="12700">
            <a:solidFill>
              <a:srgbClr val="0A1118"/>
            </a:solidFill>
            <a:prstDash val="solid"/>
          </a:ln>
        </p:spPr>
      </p:sp>
      <p:sp>
        <p:nvSpPr>
          <p:cNvPr id="6" name="Text 4"/>
          <p:cNvSpPr/>
          <p:nvPr/>
        </p:nvSpPr>
        <p:spPr>
          <a:xfrm>
            <a:off x="182880" y="4974336"/>
            <a:ext cx="8778240" cy="164592"/>
          </a:xfrm>
          <a:prstGeom prst="rect">
            <a:avLst/>
          </a:prstGeom>
          <a:noFill/>
          <a:ln/>
        </p:spPr>
        <p:txBody>
          <a:bodyPr wrap="square" lIns="0" tIns="0" rIns="0" bIns="0" rtlCol="0" anchor="ctr"/>
          <a:lstStyle/>
          <a:p>
            <a:pPr indent="0" marL="0">
              <a:buNone/>
            </a:pPr>
            <a:r>
              <a:rPr lang="en-US" sz="900" dirty="0">
                <a:solidFill>
                  <a:srgbClr val="8CA3B5"/>
                </a:solidFill>
                <a:latin typeface="Calibri" pitchFamily="34" charset="0"/>
                <a:ea typeface="Calibri" pitchFamily="34" charset="-122"/>
                <a:cs typeface="Calibri" pitchFamily="34" charset="-120"/>
              </a:rPr>
              <a:t>Cyberster Blue Team  ·  Week 4 Masterclass</a:t>
            </a:r>
            <a:endParaRPr lang="en-US" sz="900" dirty="0"/>
          </a:p>
        </p:txBody>
      </p:sp>
      <p:sp>
        <p:nvSpPr>
          <p:cNvPr id="7" name="Shape 5"/>
          <p:cNvSpPr/>
          <p:nvPr/>
        </p:nvSpPr>
        <p:spPr>
          <a:xfrm>
            <a:off x="201168" y="1042416"/>
            <a:ext cx="1828800" cy="246888"/>
          </a:xfrm>
          <a:prstGeom prst="rect">
            <a:avLst/>
          </a:prstGeom>
          <a:solidFill>
            <a:srgbClr val="00C9A7"/>
          </a:solidFill>
          <a:ln w="12700">
            <a:solidFill>
              <a:srgbClr val="00C9A7"/>
            </a:solidFill>
            <a:prstDash val="solid"/>
          </a:ln>
        </p:spPr>
      </p:sp>
      <p:sp>
        <p:nvSpPr>
          <p:cNvPr id="8" name="Text 6"/>
          <p:cNvSpPr/>
          <p:nvPr/>
        </p:nvSpPr>
        <p:spPr>
          <a:xfrm>
            <a:off x="201168" y="1033272"/>
            <a:ext cx="1828800" cy="256032"/>
          </a:xfrm>
          <a:prstGeom prst="rect">
            <a:avLst/>
          </a:prstGeom>
          <a:noFill/>
          <a:ln/>
        </p:spPr>
        <p:txBody>
          <a:bodyPr wrap="square" lIns="50800" tIns="50800" rIns="50800" bIns="50800" rtlCol="0" anchor="ctr"/>
          <a:lstStyle/>
          <a:p>
            <a:pPr algn="ctr" indent="0" marL="0">
              <a:buNone/>
            </a:pPr>
            <a:r>
              <a:rPr lang="en-US" sz="1000" b="1" dirty="0">
                <a:solidFill>
                  <a:srgbClr val="0A1118"/>
                </a:solidFill>
                <a:latin typeface="Calibri" pitchFamily="34" charset="0"/>
                <a:ea typeface="Calibri" pitchFamily="34" charset="-122"/>
                <a:cs typeface="Calibri" pitchFamily="34" charset="-120"/>
              </a:rPr>
              <a:t>YOUR TASKS</a:t>
            </a:r>
            <a:endParaRPr lang="en-US" sz="1000" dirty="0"/>
          </a:p>
        </p:txBody>
      </p:sp>
      <p:sp>
        <p:nvSpPr>
          <p:cNvPr id="9" name="Shape 7"/>
          <p:cNvSpPr/>
          <p:nvPr/>
        </p:nvSpPr>
        <p:spPr>
          <a:xfrm>
            <a:off x="201168" y="1371600"/>
            <a:ext cx="4297680" cy="1664208"/>
          </a:xfrm>
          <a:prstGeom prst="rect">
            <a:avLst/>
          </a:prstGeom>
          <a:solidFill>
            <a:srgbClr val="162230"/>
          </a:solidFill>
          <a:ln w="12700">
            <a:solidFill>
              <a:srgbClr val="162230"/>
            </a:solidFill>
            <a:prstDash val="solid"/>
          </a:ln>
          <a:effectLst>
            <a:outerShdw sx="100000" sy="100000" kx="0" ky="0" algn="bl" rotWithShape="0" blurRad="101600" dist="38100" dir="8100000">
              <a:srgbClr val="000000">
                <a:alpha val="25000"/>
              </a:srgbClr>
            </a:outerShdw>
          </a:effectLst>
        </p:spPr>
      </p:sp>
      <p:sp>
        <p:nvSpPr>
          <p:cNvPr id="10" name="Shape 8"/>
          <p:cNvSpPr/>
          <p:nvPr/>
        </p:nvSpPr>
        <p:spPr>
          <a:xfrm>
            <a:off x="201168" y="1371600"/>
            <a:ext cx="45720" cy="1664208"/>
          </a:xfrm>
          <a:prstGeom prst="rect">
            <a:avLst/>
          </a:prstGeom>
          <a:solidFill>
            <a:srgbClr val="00C9A7"/>
          </a:solidFill>
          <a:ln w="12700">
            <a:solidFill>
              <a:srgbClr val="00C9A7"/>
            </a:solidFill>
            <a:prstDash val="solid"/>
          </a:ln>
        </p:spPr>
      </p:sp>
      <p:sp>
        <p:nvSpPr>
          <p:cNvPr id="11" name="Text 9"/>
          <p:cNvSpPr/>
          <p:nvPr/>
        </p:nvSpPr>
        <p:spPr>
          <a:xfrm>
            <a:off x="310896" y="1463040"/>
            <a:ext cx="4078224" cy="274320"/>
          </a:xfrm>
          <a:prstGeom prst="rect">
            <a:avLst/>
          </a:prstGeom>
          <a:noFill/>
          <a:ln/>
        </p:spPr>
        <p:txBody>
          <a:bodyPr wrap="square" lIns="0" tIns="0" rIns="0" bIns="0" rtlCol="0" anchor="ctr"/>
          <a:lstStyle/>
          <a:p>
            <a:pPr indent="0" marL="0">
              <a:buNone/>
            </a:pPr>
            <a:r>
              <a:rPr lang="en-US" sz="1300" b="1" dirty="0">
                <a:solidFill>
                  <a:srgbClr val="00C9A7"/>
                </a:solidFill>
                <a:latin typeface="Calibri" pitchFamily="34" charset="0"/>
                <a:ea typeface="Calibri" pitchFamily="34" charset="-122"/>
                <a:cs typeface="Calibri" pitchFamily="34" charset="-120"/>
              </a:rPr>
              <a:t>Days 22–23  ·  pfSense Firewall</a:t>
            </a:r>
            <a:endParaRPr lang="en-US" sz="1300" dirty="0"/>
          </a:p>
        </p:txBody>
      </p:sp>
      <p:sp>
        <p:nvSpPr>
          <p:cNvPr id="12" name="Text 10"/>
          <p:cNvSpPr/>
          <p:nvPr/>
        </p:nvSpPr>
        <p:spPr>
          <a:xfrm>
            <a:off x="310896" y="1792224"/>
            <a:ext cx="4078224" cy="1170432"/>
          </a:xfrm>
          <a:prstGeom prst="rect">
            <a:avLst/>
          </a:prstGeom>
          <a:noFill/>
          <a:ln/>
        </p:spPr>
        <p:txBody>
          <a:bodyPr wrap="square" rtlCol="0" anchor="ctr"/>
          <a:lstStyle/>
          <a:p>
            <a:pPr marL="342900" indent="-342900">
              <a:spcAft>
                <a:spcPts val="300"/>
              </a:spcAft>
              <a:buSzPct val="100000"/>
              <a:buChar char="•"/>
            </a:pPr>
            <a:r>
              <a:rPr lang="en-US" sz="1100" dirty="0">
                <a:solidFill>
                  <a:srgbClr val="FFFFFF"/>
                </a:solidFill>
                <a:latin typeface="Calibri" pitchFamily="34" charset="0"/>
                <a:ea typeface="Calibri" pitchFamily="34" charset="-122"/>
                <a:cs typeface="Calibri" pitchFamily="34" charset="-120"/>
              </a:rPr>
              <a:t>Install pfSense VM with WAN/LAN adapters</a:t>
            </a:r>
            <a:endParaRPr lang="en-US" sz="1100" dirty="0"/>
          </a:p>
          <a:p>
            <a:pPr marL="342900" indent="-342900">
              <a:spcAft>
                <a:spcPts val="300"/>
              </a:spcAft>
              <a:buSzPct val="100000"/>
              <a:buChar char="•"/>
            </a:pPr>
            <a:r>
              <a:rPr lang="en-US" sz="1100" dirty="0">
                <a:solidFill>
                  <a:srgbClr val="FFFFFF"/>
                </a:solidFill>
                <a:latin typeface="Calibri" pitchFamily="34" charset="0"/>
                <a:ea typeface="Calibri" pitchFamily="34" charset="-122"/>
                <a:cs typeface="Calibri" pitchFamily="34" charset="-120"/>
              </a:rPr>
              <a:t>Route all VM traffic through pfSense</a:t>
            </a:r>
            <a:endParaRPr lang="en-US" sz="1100" dirty="0"/>
          </a:p>
          <a:p>
            <a:pPr marL="342900" indent="-342900">
              <a:spcAft>
                <a:spcPts val="300"/>
              </a:spcAft>
              <a:buSzPct val="100000"/>
              <a:buChar char="•"/>
            </a:pPr>
            <a:r>
              <a:rPr lang="en-US" sz="1100" dirty="0">
                <a:solidFill>
                  <a:srgbClr val="FFFFFF"/>
                </a:solidFill>
                <a:latin typeface="Calibri" pitchFamily="34" charset="0"/>
                <a:ea typeface="Calibri" pitchFamily="34" charset="-122"/>
                <a:cs typeface="Calibri" pitchFamily="34" charset="-120"/>
              </a:rPr>
              <a:t>Configure firewall rules with logging</a:t>
            </a:r>
            <a:endParaRPr lang="en-US" sz="1100" dirty="0"/>
          </a:p>
          <a:p>
            <a:pPr marL="342900" indent="-342900">
              <a:spcAft>
                <a:spcPts val="300"/>
              </a:spcAft>
              <a:buSzPct val="100000"/>
              <a:buChar char="•"/>
            </a:pPr>
            <a:r>
              <a:rPr lang="en-US" sz="1100" dirty="0">
                <a:solidFill>
                  <a:srgbClr val="FFFFFF"/>
                </a:solidFill>
                <a:latin typeface="Calibri" pitchFamily="34" charset="0"/>
                <a:ea typeface="Calibri" pitchFamily="34" charset="-122"/>
                <a:cs typeface="Calibri" pitchFamily="34" charset="-120"/>
              </a:rPr>
              <a:t>Forward pfSense syslog to Wazuh</a:t>
            </a:r>
            <a:endParaRPr lang="en-US" sz="1100" dirty="0"/>
          </a:p>
        </p:txBody>
      </p:sp>
      <p:sp>
        <p:nvSpPr>
          <p:cNvPr id="13" name="Shape 11"/>
          <p:cNvSpPr/>
          <p:nvPr/>
        </p:nvSpPr>
        <p:spPr>
          <a:xfrm>
            <a:off x="4681728" y="1371600"/>
            <a:ext cx="4297680" cy="1664208"/>
          </a:xfrm>
          <a:prstGeom prst="rect">
            <a:avLst/>
          </a:prstGeom>
          <a:solidFill>
            <a:srgbClr val="162230"/>
          </a:solidFill>
          <a:ln w="12700">
            <a:solidFill>
              <a:srgbClr val="162230"/>
            </a:solidFill>
            <a:prstDash val="solid"/>
          </a:ln>
          <a:effectLst>
            <a:outerShdw sx="100000" sy="100000" kx="0" ky="0" algn="bl" rotWithShape="0" blurRad="101600" dist="38100" dir="8100000">
              <a:srgbClr val="000000">
                <a:alpha val="25000"/>
              </a:srgbClr>
            </a:outerShdw>
          </a:effectLst>
        </p:spPr>
      </p:sp>
      <p:sp>
        <p:nvSpPr>
          <p:cNvPr id="14" name="Shape 12"/>
          <p:cNvSpPr/>
          <p:nvPr/>
        </p:nvSpPr>
        <p:spPr>
          <a:xfrm>
            <a:off x="4681728" y="1371600"/>
            <a:ext cx="45720" cy="1664208"/>
          </a:xfrm>
          <a:prstGeom prst="rect">
            <a:avLst/>
          </a:prstGeom>
          <a:solidFill>
            <a:srgbClr val="4FC3F7"/>
          </a:solidFill>
          <a:ln w="12700">
            <a:solidFill>
              <a:srgbClr val="4FC3F7"/>
            </a:solidFill>
            <a:prstDash val="solid"/>
          </a:ln>
        </p:spPr>
      </p:sp>
      <p:sp>
        <p:nvSpPr>
          <p:cNvPr id="15" name="Text 13"/>
          <p:cNvSpPr/>
          <p:nvPr/>
        </p:nvSpPr>
        <p:spPr>
          <a:xfrm>
            <a:off x="4791456" y="1463040"/>
            <a:ext cx="4078224" cy="274320"/>
          </a:xfrm>
          <a:prstGeom prst="rect">
            <a:avLst/>
          </a:prstGeom>
          <a:noFill/>
          <a:ln/>
        </p:spPr>
        <p:txBody>
          <a:bodyPr wrap="square" lIns="0" tIns="0" rIns="0" bIns="0" rtlCol="0" anchor="ctr"/>
          <a:lstStyle/>
          <a:p>
            <a:pPr indent="0" marL="0">
              <a:buNone/>
            </a:pPr>
            <a:r>
              <a:rPr lang="en-US" sz="1300" b="1" dirty="0">
                <a:solidFill>
                  <a:srgbClr val="4FC3F7"/>
                </a:solidFill>
                <a:latin typeface="Calibri" pitchFamily="34" charset="0"/>
                <a:ea typeface="Calibri" pitchFamily="34" charset="-122"/>
                <a:cs typeface="Calibri" pitchFamily="34" charset="-120"/>
              </a:rPr>
              <a:t>Days 24–25  ·  Threat Intelligence</a:t>
            </a:r>
            <a:endParaRPr lang="en-US" sz="1300" dirty="0"/>
          </a:p>
        </p:txBody>
      </p:sp>
      <p:sp>
        <p:nvSpPr>
          <p:cNvPr id="16" name="Text 14"/>
          <p:cNvSpPr/>
          <p:nvPr/>
        </p:nvSpPr>
        <p:spPr>
          <a:xfrm>
            <a:off x="4791456" y="1792224"/>
            <a:ext cx="4078224" cy="1170432"/>
          </a:xfrm>
          <a:prstGeom prst="rect">
            <a:avLst/>
          </a:prstGeom>
          <a:noFill/>
          <a:ln/>
        </p:spPr>
        <p:txBody>
          <a:bodyPr wrap="square" rtlCol="0" anchor="ctr"/>
          <a:lstStyle/>
          <a:p>
            <a:pPr marL="342900" indent="-342900">
              <a:spcAft>
                <a:spcPts val="300"/>
              </a:spcAft>
              <a:buSzPct val="100000"/>
              <a:buChar char="•"/>
            </a:pPr>
            <a:r>
              <a:rPr lang="en-US" sz="1100" dirty="0">
                <a:solidFill>
                  <a:srgbClr val="FFFFFF"/>
                </a:solidFill>
                <a:latin typeface="Calibri" pitchFamily="34" charset="0"/>
                <a:ea typeface="Calibri" pitchFamily="34" charset="-122"/>
                <a:cs typeface="Calibri" pitchFamily="34" charset="-120"/>
              </a:rPr>
              <a:t>VirusTotal API integration for file hashes</a:t>
            </a:r>
            <a:endParaRPr lang="en-US" sz="1100" dirty="0"/>
          </a:p>
          <a:p>
            <a:pPr marL="342900" indent="-342900">
              <a:spcAft>
                <a:spcPts val="300"/>
              </a:spcAft>
              <a:buSzPct val="100000"/>
              <a:buChar char="•"/>
            </a:pPr>
            <a:r>
              <a:rPr lang="en-US" sz="1100" dirty="0">
                <a:solidFill>
                  <a:srgbClr val="FFFFFF"/>
                </a:solidFill>
                <a:latin typeface="Calibri" pitchFamily="34" charset="0"/>
                <a:ea typeface="Calibri" pitchFamily="34" charset="-122"/>
                <a:cs typeface="Calibri" pitchFamily="34" charset="-120"/>
              </a:rPr>
              <a:t>Enable and explore MITRE ATT&amp;CK module</a:t>
            </a:r>
            <a:endParaRPr lang="en-US" sz="1100" dirty="0"/>
          </a:p>
          <a:p>
            <a:pPr marL="342900" indent="-342900">
              <a:spcAft>
                <a:spcPts val="300"/>
              </a:spcAft>
              <a:buSzPct val="100000"/>
              <a:buChar char="•"/>
            </a:pPr>
            <a:r>
              <a:rPr lang="en-US" sz="1100" dirty="0">
                <a:solidFill>
                  <a:srgbClr val="FFFFFF"/>
                </a:solidFill>
                <a:latin typeface="Calibri" pitchFamily="34" charset="0"/>
                <a:ea typeface="Calibri" pitchFamily="34" charset="-122"/>
                <a:cs typeface="Calibri" pitchFamily="34" charset="-120"/>
              </a:rPr>
              <a:t>Load URLhaus/Abuse.ch into CDB lists</a:t>
            </a:r>
            <a:endParaRPr lang="en-US" sz="1100" dirty="0"/>
          </a:p>
          <a:p>
            <a:pPr marL="342900" indent="-342900">
              <a:spcAft>
                <a:spcPts val="300"/>
              </a:spcAft>
              <a:buSzPct val="100000"/>
              <a:buChar char="•"/>
            </a:pPr>
            <a:r>
              <a:rPr lang="en-US" sz="1100" dirty="0">
                <a:solidFill>
                  <a:srgbClr val="FFFFFF"/>
                </a:solidFill>
                <a:latin typeface="Calibri" pitchFamily="34" charset="0"/>
                <a:ea typeface="Calibri" pitchFamily="34" charset="-122"/>
                <a:cs typeface="Calibri" pitchFamily="34" charset="-120"/>
              </a:rPr>
              <a:t>Write IOC summary from observed data</a:t>
            </a:r>
            <a:endParaRPr lang="en-US" sz="1100" dirty="0"/>
          </a:p>
        </p:txBody>
      </p:sp>
      <p:sp>
        <p:nvSpPr>
          <p:cNvPr id="17" name="Shape 15"/>
          <p:cNvSpPr/>
          <p:nvPr/>
        </p:nvSpPr>
        <p:spPr>
          <a:xfrm>
            <a:off x="201168" y="3145536"/>
            <a:ext cx="4297680" cy="1664208"/>
          </a:xfrm>
          <a:prstGeom prst="rect">
            <a:avLst/>
          </a:prstGeom>
          <a:solidFill>
            <a:srgbClr val="162230"/>
          </a:solidFill>
          <a:ln w="12700">
            <a:solidFill>
              <a:srgbClr val="162230"/>
            </a:solidFill>
            <a:prstDash val="solid"/>
          </a:ln>
          <a:effectLst>
            <a:outerShdw sx="100000" sy="100000" kx="0" ky="0" algn="bl" rotWithShape="0" blurRad="101600" dist="38100" dir="8100000">
              <a:srgbClr val="000000">
                <a:alpha val="25000"/>
              </a:srgbClr>
            </a:outerShdw>
          </a:effectLst>
        </p:spPr>
      </p:sp>
      <p:sp>
        <p:nvSpPr>
          <p:cNvPr id="18" name="Shape 16"/>
          <p:cNvSpPr/>
          <p:nvPr/>
        </p:nvSpPr>
        <p:spPr>
          <a:xfrm>
            <a:off x="201168" y="3145536"/>
            <a:ext cx="45720" cy="1664208"/>
          </a:xfrm>
          <a:prstGeom prst="rect">
            <a:avLst/>
          </a:prstGeom>
          <a:solidFill>
            <a:srgbClr val="00C9A7"/>
          </a:solidFill>
          <a:ln w="12700">
            <a:solidFill>
              <a:srgbClr val="00C9A7"/>
            </a:solidFill>
            <a:prstDash val="solid"/>
          </a:ln>
        </p:spPr>
      </p:sp>
      <p:sp>
        <p:nvSpPr>
          <p:cNvPr id="19" name="Text 17"/>
          <p:cNvSpPr/>
          <p:nvPr/>
        </p:nvSpPr>
        <p:spPr>
          <a:xfrm>
            <a:off x="310896" y="3236976"/>
            <a:ext cx="4078224" cy="274320"/>
          </a:xfrm>
          <a:prstGeom prst="rect">
            <a:avLst/>
          </a:prstGeom>
          <a:noFill/>
          <a:ln/>
        </p:spPr>
        <p:txBody>
          <a:bodyPr wrap="square" lIns="0" tIns="0" rIns="0" bIns="0" rtlCol="0" anchor="ctr"/>
          <a:lstStyle/>
          <a:p>
            <a:pPr indent="0" marL="0">
              <a:buNone/>
            </a:pPr>
            <a:r>
              <a:rPr lang="en-US" sz="1300" b="1" dirty="0">
                <a:solidFill>
                  <a:srgbClr val="00C9A7"/>
                </a:solidFill>
                <a:latin typeface="Calibri" pitchFamily="34" charset="0"/>
                <a:ea typeface="Calibri" pitchFamily="34" charset="-122"/>
                <a:cs typeface="Calibri" pitchFamily="34" charset="-120"/>
              </a:rPr>
              <a:t>Days 26–27  ·  Vulnerability Assessment</a:t>
            </a:r>
            <a:endParaRPr lang="en-US" sz="1300" dirty="0"/>
          </a:p>
        </p:txBody>
      </p:sp>
      <p:sp>
        <p:nvSpPr>
          <p:cNvPr id="20" name="Text 18"/>
          <p:cNvSpPr/>
          <p:nvPr/>
        </p:nvSpPr>
        <p:spPr>
          <a:xfrm>
            <a:off x="310896" y="3566160"/>
            <a:ext cx="4078224" cy="1170432"/>
          </a:xfrm>
          <a:prstGeom prst="rect">
            <a:avLst/>
          </a:prstGeom>
          <a:noFill/>
          <a:ln/>
        </p:spPr>
        <p:txBody>
          <a:bodyPr wrap="square" rtlCol="0" anchor="ctr"/>
          <a:lstStyle/>
          <a:p>
            <a:pPr marL="342900" indent="-342900">
              <a:spcAft>
                <a:spcPts val="300"/>
              </a:spcAft>
              <a:buSzPct val="100000"/>
              <a:buChar char="•"/>
            </a:pPr>
            <a:r>
              <a:rPr lang="en-US" sz="1100" dirty="0">
                <a:solidFill>
                  <a:srgbClr val="FFFFFF"/>
                </a:solidFill>
                <a:latin typeface="Calibri" pitchFamily="34" charset="0"/>
                <a:ea typeface="Calibri" pitchFamily="34" charset="-122"/>
                <a:cs typeface="Calibri" pitchFamily="34" charset="-120"/>
              </a:rPr>
              <a:t>Enable Wazuh vulnerability detection module</a:t>
            </a:r>
            <a:endParaRPr lang="en-US" sz="1100" dirty="0"/>
          </a:p>
          <a:p>
            <a:pPr marL="342900" indent="-342900">
              <a:spcAft>
                <a:spcPts val="300"/>
              </a:spcAft>
              <a:buSzPct val="100000"/>
              <a:buChar char="•"/>
            </a:pPr>
            <a:r>
              <a:rPr lang="en-US" sz="1100" dirty="0">
                <a:solidFill>
                  <a:srgbClr val="FFFFFF"/>
                </a:solidFill>
                <a:latin typeface="Calibri" pitchFamily="34" charset="0"/>
                <a:ea typeface="Calibri" pitchFamily="34" charset="-122"/>
                <a:cs typeface="Calibri" pitchFamily="34" charset="-120"/>
              </a:rPr>
              <a:t>Review CVEs on Linux and Windows agents</a:t>
            </a:r>
            <a:endParaRPr lang="en-US" sz="1100" dirty="0"/>
          </a:p>
          <a:p>
            <a:pPr marL="342900" indent="-342900">
              <a:spcAft>
                <a:spcPts val="300"/>
              </a:spcAft>
              <a:buSzPct val="100000"/>
              <a:buChar char="•"/>
            </a:pPr>
            <a:r>
              <a:rPr lang="en-US" sz="1100" dirty="0">
                <a:solidFill>
                  <a:srgbClr val="FFFFFF"/>
                </a:solidFill>
                <a:latin typeface="Calibri" pitchFamily="34" charset="0"/>
                <a:ea typeface="Calibri" pitchFamily="34" charset="-122"/>
                <a:cs typeface="Calibri" pitchFamily="34" charset="-120"/>
              </a:rPr>
              <a:t>Prioritise by CVSS and context factors</a:t>
            </a:r>
            <a:endParaRPr lang="en-US" sz="1100" dirty="0"/>
          </a:p>
          <a:p>
            <a:pPr marL="342900" indent="-342900">
              <a:spcAft>
                <a:spcPts val="300"/>
              </a:spcAft>
              <a:buSzPct val="100000"/>
              <a:buChar char="•"/>
            </a:pPr>
            <a:r>
              <a:rPr lang="en-US" sz="1100" dirty="0">
                <a:solidFill>
                  <a:srgbClr val="FFFFFF"/>
                </a:solidFill>
                <a:latin typeface="Calibri" pitchFamily="34" charset="0"/>
                <a:ea typeface="Calibri" pitchFamily="34" charset="-122"/>
                <a:cs typeface="Calibri" pitchFamily="34" charset="-120"/>
              </a:rPr>
              <a:t>Patch one package, verify rescan result</a:t>
            </a:r>
            <a:endParaRPr lang="en-US" sz="1100" dirty="0"/>
          </a:p>
        </p:txBody>
      </p:sp>
      <p:sp>
        <p:nvSpPr>
          <p:cNvPr id="21" name="Shape 19"/>
          <p:cNvSpPr/>
          <p:nvPr/>
        </p:nvSpPr>
        <p:spPr>
          <a:xfrm>
            <a:off x="4681728" y="3145536"/>
            <a:ext cx="4297680" cy="1664208"/>
          </a:xfrm>
          <a:prstGeom prst="rect">
            <a:avLst/>
          </a:prstGeom>
          <a:solidFill>
            <a:srgbClr val="162230"/>
          </a:solidFill>
          <a:ln w="12700">
            <a:solidFill>
              <a:srgbClr val="162230"/>
            </a:solidFill>
            <a:prstDash val="solid"/>
          </a:ln>
          <a:effectLst>
            <a:outerShdw sx="100000" sy="100000" kx="0" ky="0" algn="bl" rotWithShape="0" blurRad="101600" dist="38100" dir="8100000">
              <a:srgbClr val="000000">
                <a:alpha val="25000"/>
              </a:srgbClr>
            </a:outerShdw>
          </a:effectLst>
        </p:spPr>
      </p:sp>
      <p:sp>
        <p:nvSpPr>
          <p:cNvPr id="22" name="Shape 20"/>
          <p:cNvSpPr/>
          <p:nvPr/>
        </p:nvSpPr>
        <p:spPr>
          <a:xfrm>
            <a:off x="4681728" y="3145536"/>
            <a:ext cx="45720" cy="1664208"/>
          </a:xfrm>
          <a:prstGeom prst="rect">
            <a:avLst/>
          </a:prstGeom>
          <a:solidFill>
            <a:srgbClr val="4FC3F7"/>
          </a:solidFill>
          <a:ln w="12700">
            <a:solidFill>
              <a:srgbClr val="4FC3F7"/>
            </a:solidFill>
            <a:prstDash val="solid"/>
          </a:ln>
        </p:spPr>
      </p:sp>
      <p:sp>
        <p:nvSpPr>
          <p:cNvPr id="23" name="Text 21"/>
          <p:cNvSpPr/>
          <p:nvPr/>
        </p:nvSpPr>
        <p:spPr>
          <a:xfrm>
            <a:off x="4791456" y="3236976"/>
            <a:ext cx="4078224" cy="274320"/>
          </a:xfrm>
          <a:prstGeom prst="rect">
            <a:avLst/>
          </a:prstGeom>
          <a:noFill/>
          <a:ln/>
        </p:spPr>
        <p:txBody>
          <a:bodyPr wrap="square" lIns="0" tIns="0" rIns="0" bIns="0" rtlCol="0" anchor="ctr"/>
          <a:lstStyle/>
          <a:p>
            <a:pPr indent="0" marL="0">
              <a:buNone/>
            </a:pPr>
            <a:r>
              <a:rPr lang="en-US" sz="1300" b="1" dirty="0">
                <a:solidFill>
                  <a:srgbClr val="4FC3F7"/>
                </a:solidFill>
                <a:latin typeface="Calibri" pitchFamily="34" charset="0"/>
                <a:ea typeface="Calibri" pitchFamily="34" charset="-122"/>
                <a:cs typeface="Calibri" pitchFamily="34" charset="-120"/>
              </a:rPr>
              <a:t>Day 28  ·  Dashboards and Reporting</a:t>
            </a:r>
            <a:endParaRPr lang="en-US" sz="1300" dirty="0"/>
          </a:p>
        </p:txBody>
      </p:sp>
      <p:sp>
        <p:nvSpPr>
          <p:cNvPr id="24" name="Text 22"/>
          <p:cNvSpPr/>
          <p:nvPr/>
        </p:nvSpPr>
        <p:spPr>
          <a:xfrm>
            <a:off x="4791456" y="3566160"/>
            <a:ext cx="4078224" cy="1170432"/>
          </a:xfrm>
          <a:prstGeom prst="rect">
            <a:avLst/>
          </a:prstGeom>
          <a:noFill/>
          <a:ln/>
        </p:spPr>
        <p:txBody>
          <a:bodyPr wrap="square" rtlCol="0" anchor="ctr"/>
          <a:lstStyle/>
          <a:p>
            <a:pPr marL="342900" indent="-342900">
              <a:spcAft>
                <a:spcPts val="300"/>
              </a:spcAft>
              <a:buSzPct val="100000"/>
              <a:buChar char="•"/>
            </a:pPr>
            <a:r>
              <a:rPr lang="en-US" sz="1100" dirty="0">
                <a:solidFill>
                  <a:srgbClr val="FFFFFF"/>
                </a:solidFill>
                <a:latin typeface="Calibri" pitchFamily="34" charset="0"/>
                <a:ea typeface="Calibri" pitchFamily="34" charset="-122"/>
                <a:cs typeface="Calibri" pitchFamily="34" charset="-120"/>
              </a:rPr>
              <a:t>Build custom dashboard with 5 required panels</a:t>
            </a:r>
            <a:endParaRPr lang="en-US" sz="1100" dirty="0"/>
          </a:p>
          <a:p>
            <a:pPr marL="342900" indent="-342900">
              <a:spcAft>
                <a:spcPts val="300"/>
              </a:spcAft>
              <a:buSzPct val="100000"/>
              <a:buChar char="•"/>
            </a:pPr>
            <a:r>
              <a:rPr lang="en-US" sz="1100" dirty="0">
                <a:solidFill>
                  <a:srgbClr val="FFFFFF"/>
                </a:solidFill>
                <a:latin typeface="Calibri" pitchFamily="34" charset="0"/>
                <a:ea typeface="Calibri" pitchFamily="34" charset="-122"/>
                <a:cs typeface="Calibri" pitchFamily="34" charset="-120"/>
              </a:rPr>
              <a:t>Write technical SOC summary report</a:t>
            </a:r>
            <a:endParaRPr lang="en-US" sz="1100" dirty="0"/>
          </a:p>
          <a:p>
            <a:pPr marL="342900" indent="-342900">
              <a:spcAft>
                <a:spcPts val="300"/>
              </a:spcAft>
              <a:buSzPct val="100000"/>
              <a:buChar char="•"/>
            </a:pPr>
            <a:r>
              <a:rPr lang="en-US" sz="1100" dirty="0">
                <a:solidFill>
                  <a:srgbClr val="FFFFFF"/>
                </a:solidFill>
                <a:latin typeface="Calibri" pitchFamily="34" charset="0"/>
                <a:ea typeface="Calibri" pitchFamily="34" charset="-122"/>
                <a:cs typeface="Calibri" pitchFamily="34" charset="-120"/>
              </a:rPr>
              <a:t>Write one-page executive summary</a:t>
            </a:r>
            <a:endParaRPr lang="en-US" sz="1100" dirty="0"/>
          </a:p>
          <a:p>
            <a:pPr marL="342900" indent="-342900">
              <a:spcAft>
                <a:spcPts val="300"/>
              </a:spcAft>
              <a:buSzPct val="100000"/>
              <a:buChar char="•"/>
            </a:pPr>
            <a:r>
              <a:rPr lang="en-US" sz="1100" dirty="0">
                <a:solidFill>
                  <a:srgbClr val="FFFFFF"/>
                </a:solidFill>
                <a:latin typeface="Calibri" pitchFamily="34" charset="0"/>
                <a:ea typeface="Calibri" pitchFamily="34" charset="-122"/>
                <a:cs typeface="Calibri" pitchFamily="34" charset="-120"/>
              </a:rPr>
              <a:t>Review both documents critically before submitting</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1923"/>
        </a:solidFill>
      </p:bgPr>
    </p:bg>
    <p:spTree>
      <p:nvGrpSpPr>
        <p:cNvPr id="1" name=""/>
        <p:cNvGrpSpPr/>
        <p:nvPr/>
      </p:nvGrpSpPr>
      <p:grpSpPr>
        <a:xfrm>
          <a:off x="0" y="0"/>
          <a:ext cx="0" cy="0"/>
          <a:chOff x="0" y="0"/>
          <a:chExt cx="0" cy="0"/>
        </a:xfrm>
      </p:grpSpPr>
      <p:sp>
        <p:nvSpPr>
          <p:cNvPr id="2" name="Shape 0"/>
          <p:cNvSpPr/>
          <p:nvPr/>
        </p:nvSpPr>
        <p:spPr>
          <a:xfrm>
            <a:off x="0" y="0"/>
            <a:ext cx="9144000" cy="1645920"/>
          </a:xfrm>
          <a:prstGeom prst="rect">
            <a:avLst/>
          </a:prstGeom>
          <a:solidFill>
            <a:srgbClr val="0A1118"/>
          </a:solidFill>
          <a:ln w="12700">
            <a:solidFill>
              <a:srgbClr val="0A1118"/>
            </a:solidFill>
            <a:prstDash val="solid"/>
          </a:ln>
        </p:spPr>
      </p:sp>
      <p:sp>
        <p:nvSpPr>
          <p:cNvPr id="3" name="Shape 1"/>
          <p:cNvSpPr/>
          <p:nvPr/>
        </p:nvSpPr>
        <p:spPr>
          <a:xfrm>
            <a:off x="0" y="1609344"/>
            <a:ext cx="9144000" cy="54864"/>
          </a:xfrm>
          <a:prstGeom prst="rect">
            <a:avLst/>
          </a:prstGeom>
          <a:solidFill>
            <a:srgbClr val="00C9A7"/>
          </a:solidFill>
          <a:ln w="12700">
            <a:solidFill>
              <a:srgbClr val="00C9A7"/>
            </a:solidFill>
            <a:prstDash val="solid"/>
          </a:ln>
        </p:spPr>
      </p:sp>
      <p:sp>
        <p:nvSpPr>
          <p:cNvPr id="4" name="Text 2"/>
          <p:cNvSpPr/>
          <p:nvPr/>
        </p:nvSpPr>
        <p:spPr>
          <a:xfrm>
            <a:off x="457200" y="256032"/>
            <a:ext cx="8229600" cy="1188720"/>
          </a:xfrm>
          <a:prstGeom prst="rect">
            <a:avLst/>
          </a:prstGeom>
          <a:noFill/>
          <a:ln/>
        </p:spPr>
        <p:txBody>
          <a:bodyPr wrap="square" lIns="0" tIns="0" rIns="0" bIns="0" rtlCol="0" anchor="ctr"/>
          <a:lstStyle/>
          <a:p>
            <a:pPr indent="0" marL="0">
              <a:buNone/>
            </a:pPr>
            <a:r>
              <a:rPr lang="en-US" sz="4600" b="1" dirty="0">
                <a:solidFill>
                  <a:srgbClr val="FFFFFF"/>
                </a:solidFill>
                <a:latin typeface="Calibri" pitchFamily="34" charset="0"/>
                <a:ea typeface="Calibri" pitchFamily="34" charset="-122"/>
                <a:cs typeface="Calibri" pitchFamily="34" charset="-120"/>
              </a:rPr>
              <a:t>Let's get to work.</a:t>
            </a:r>
            <a:endParaRPr lang="en-US" sz="4600" dirty="0"/>
          </a:p>
        </p:txBody>
      </p:sp>
      <p:sp>
        <p:nvSpPr>
          <p:cNvPr id="5" name="Text 3"/>
          <p:cNvSpPr/>
          <p:nvPr/>
        </p:nvSpPr>
        <p:spPr>
          <a:xfrm>
            <a:off x="457200" y="1920240"/>
            <a:ext cx="8229600" cy="2560320"/>
          </a:xfrm>
          <a:prstGeom prst="rect">
            <a:avLst/>
          </a:prstGeom>
          <a:noFill/>
          <a:ln/>
        </p:spPr>
        <p:txBody>
          <a:bodyPr wrap="square" rtlCol="0" anchor="ctr"/>
          <a:lstStyle/>
          <a:p>
            <a:pPr marL="342900" indent="-342900">
              <a:spcAft>
                <a:spcPts val="1200"/>
              </a:spcAft>
              <a:buSzPct val="100000"/>
              <a:buChar char="•"/>
            </a:pPr>
            <a:r>
              <a:rPr lang="en-US" sz="1600" dirty="0">
                <a:solidFill>
                  <a:srgbClr val="4FC3F7"/>
                </a:solidFill>
                <a:latin typeface="Calibri" pitchFamily="34" charset="0"/>
                <a:ea typeface="Calibri" pitchFamily="34" charset="-122"/>
                <a:cs typeface="Calibri" pitchFamily="34" charset="-120"/>
              </a:rPr>
              <a:t>Task brief for Week 4 is already in the group.</a:t>
            </a:r>
            <a:endParaRPr lang="en-US" sz="1600" dirty="0"/>
          </a:p>
          <a:p>
            <a:pPr marL="342900" indent="-342900">
              <a:spcAft>
                <a:spcPts val="1200"/>
              </a:spcAft>
              <a:buSzPct val="100000"/>
              <a:buChar char="•"/>
            </a:pPr>
            <a:r>
              <a:rPr lang="en-US" sz="1600" dirty="0">
                <a:solidFill>
                  <a:srgbClr val="FFFFFF"/>
                </a:solidFill>
                <a:latin typeface="Calibri" pitchFamily="34" charset="0"/>
                <a:ea typeface="Calibri" pitchFamily="34" charset="-122"/>
                <a:cs typeface="Calibri" pitchFamily="34" charset="-120"/>
              </a:rPr>
              <a:t>pfSense goes in first. Do not start Days 24+ until your network is routing cleanly through it.</a:t>
            </a:r>
            <a:endParaRPr lang="en-US" sz="1600" dirty="0"/>
          </a:p>
          <a:p>
            <a:pPr marL="342900" indent="-342900">
              <a:spcAft>
                <a:spcPts val="1200"/>
              </a:spcAft>
              <a:buSzPct val="100000"/>
              <a:buChar char="•"/>
            </a:pPr>
            <a:r>
              <a:rPr lang="en-US" sz="1600" dirty="0">
                <a:solidFill>
                  <a:srgbClr val="FFFFFF"/>
                </a:solidFill>
                <a:latin typeface="Calibri" pitchFamily="34" charset="0"/>
                <a:ea typeface="Calibri" pitchFamily="34" charset="-122"/>
                <a:cs typeface="Calibri" pitchFamily="34" charset="-120"/>
              </a:rPr>
              <a:t>The executive summary on Day 28 is harder to write than it looks. Start early.</a:t>
            </a:r>
            <a:endParaRPr lang="en-US" sz="1600" dirty="0"/>
          </a:p>
          <a:p>
            <a:pPr marL="342900" indent="-342900">
              <a:spcAft>
                <a:spcPts val="1200"/>
              </a:spcAft>
              <a:buSzPct val="100000"/>
              <a:buChar char="•"/>
            </a:pPr>
            <a:r>
              <a:rPr lang="en-US" sz="1600" dirty="0">
                <a:solidFill>
                  <a:srgbClr val="FFFFFF"/>
                </a:solidFill>
                <a:latin typeface="Calibri" pitchFamily="34" charset="0"/>
                <a:ea typeface="Calibri" pitchFamily="34" charset="-122"/>
                <a:cs typeface="Calibri" pitchFamily="34" charset="-120"/>
              </a:rPr>
              <a:t>Questions in the group chat. Include your network topology when asking about pfSense issues.</a:t>
            </a:r>
            <a:endParaRPr lang="en-US" sz="1600" dirty="0"/>
          </a:p>
        </p:txBody>
      </p:sp>
      <p:sp>
        <p:nvSpPr>
          <p:cNvPr id="6" name="Text 4"/>
          <p:cNvSpPr/>
          <p:nvPr/>
        </p:nvSpPr>
        <p:spPr>
          <a:xfrm>
            <a:off x="457200" y="4754880"/>
            <a:ext cx="8229600" cy="201168"/>
          </a:xfrm>
          <a:prstGeom prst="rect">
            <a:avLst/>
          </a:prstGeom>
          <a:noFill/>
          <a:ln/>
        </p:spPr>
        <p:txBody>
          <a:bodyPr wrap="square" lIns="0" tIns="0" rIns="0" bIns="0" rtlCol="0" anchor="ctr"/>
          <a:lstStyle/>
          <a:p>
            <a:pPr algn="ctr" indent="0" marL="0">
              <a:buNone/>
            </a:pPr>
            <a:r>
              <a:rPr lang="en-US" sz="1100" i="1" dirty="0">
                <a:solidFill>
                  <a:srgbClr val="8CA3B5"/>
                </a:solidFill>
                <a:latin typeface="Calibri" pitchFamily="34" charset="0"/>
                <a:ea typeface="Calibri" pitchFamily="34" charset="-122"/>
                <a:cs typeface="Calibri" pitchFamily="34" charset="-120"/>
              </a:rPr>
              <a:t>Cyberster Blue Team  ·  Week 4 Masterclass</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Cyberster Blue Team – Week 4 Masterclass</dc:title>
  <dc:subject>PptxGenJS Presentation</dc:subject>
  <dc:creator>Abdullah Zia</dc:creator>
  <cp:lastModifiedBy>Abdullah Zia</cp:lastModifiedBy>
  <cp:revision>1</cp:revision>
  <dcterms:created xsi:type="dcterms:W3CDTF">2026-03-24T08:21:04Z</dcterms:created>
  <dcterms:modified xsi:type="dcterms:W3CDTF">2026-03-24T08:21:04Z</dcterms:modified>
</cp:coreProperties>
</file>