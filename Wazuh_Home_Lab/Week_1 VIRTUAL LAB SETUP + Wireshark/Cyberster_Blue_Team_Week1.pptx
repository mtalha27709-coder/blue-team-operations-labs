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0" r:id="rId14"/>
    <p:sldId id="268" r:id="rId15"/>
    <p:sldId id="269"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4045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2884149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0"/>
            <a:ext cx="3474720" cy="5143500"/>
          </a:xfrm>
          <a:prstGeom prst="rect">
            <a:avLst/>
          </a:prstGeom>
          <a:solidFill>
            <a:srgbClr val="0A0A0A"/>
          </a:solidFill>
          <a:ln w="12700">
            <a:solidFill>
              <a:srgbClr val="0A0A0A"/>
            </a:solidFill>
            <a:prstDash val="solid"/>
          </a:ln>
        </p:spPr>
      </p:sp>
      <p:sp>
        <p:nvSpPr>
          <p:cNvPr id="3" name="Shape 1"/>
          <p:cNvSpPr/>
          <p:nvPr/>
        </p:nvSpPr>
        <p:spPr>
          <a:xfrm>
            <a:off x="3447288" y="274320"/>
            <a:ext cx="27432" cy="4572000"/>
          </a:xfrm>
          <a:prstGeom prst="rect">
            <a:avLst/>
          </a:prstGeom>
          <a:solidFill>
            <a:srgbClr val="00B4CC"/>
          </a:solidFill>
          <a:ln w="12700">
            <a:solidFill>
              <a:srgbClr val="00B4CC"/>
            </a:solidFill>
            <a:prstDash val="solid"/>
          </a:ln>
        </p:spPr>
      </p:sp>
      <p:pic>
        <p:nvPicPr>
          <p:cNvPr id="4" name="Image 0" descr="preencoded.png"/>
          <p:cNvPicPr>
            <a:picLocks noChangeAspect="1"/>
          </p:cNvPicPr>
          <p:nvPr/>
        </p:nvPicPr>
        <p:blipFill>
          <a:blip r:embed="rId3"/>
          <a:stretch>
            <a:fillRect/>
          </a:stretch>
        </p:blipFill>
        <p:spPr>
          <a:xfrm>
            <a:off x="594360" y="320040"/>
            <a:ext cx="2194560" cy="2194560"/>
          </a:xfrm>
          <a:prstGeom prst="rect">
            <a:avLst/>
          </a:prstGeom>
        </p:spPr>
      </p:pic>
      <p:sp>
        <p:nvSpPr>
          <p:cNvPr id="5" name="Text 2"/>
          <p:cNvSpPr/>
          <p:nvPr/>
        </p:nvSpPr>
        <p:spPr>
          <a:xfrm>
            <a:off x="182880" y="2606040"/>
            <a:ext cx="3108960" cy="502920"/>
          </a:xfrm>
          <a:prstGeom prst="rect">
            <a:avLst/>
          </a:prstGeom>
          <a:noFill/>
          <a:ln/>
        </p:spPr>
        <p:txBody>
          <a:bodyPr wrap="square" lIns="0" tIns="0" rIns="0" bIns="0" rtlCol="0" anchor="ctr"/>
          <a:lstStyle/>
          <a:p>
            <a:pPr marL="0" indent="0" algn="ctr">
              <a:buNone/>
            </a:pPr>
            <a:r>
              <a:rPr lang="en-US" sz="2200" b="1" kern="0" spc="500" dirty="0">
                <a:solidFill>
                  <a:srgbClr val="FFFFFF"/>
                </a:solidFill>
                <a:latin typeface="Arial Black" pitchFamily="34" charset="0"/>
                <a:ea typeface="Arial Black" pitchFamily="34" charset="-122"/>
                <a:cs typeface="Arial Black" pitchFamily="34" charset="-120"/>
              </a:rPr>
              <a:t>CYBERSTER</a:t>
            </a:r>
            <a:endParaRPr lang="en-US" sz="2200" dirty="0"/>
          </a:p>
        </p:txBody>
      </p:sp>
      <p:sp>
        <p:nvSpPr>
          <p:cNvPr id="6" name="Text 3"/>
          <p:cNvSpPr/>
          <p:nvPr/>
        </p:nvSpPr>
        <p:spPr>
          <a:xfrm>
            <a:off x="182880" y="3090672"/>
            <a:ext cx="3108960" cy="320040"/>
          </a:xfrm>
          <a:prstGeom prst="rect">
            <a:avLst/>
          </a:prstGeom>
          <a:noFill/>
          <a:ln/>
        </p:spPr>
        <p:txBody>
          <a:bodyPr wrap="square" lIns="0" tIns="0" rIns="0" bIns="0" rtlCol="0" anchor="ctr"/>
          <a:lstStyle/>
          <a:p>
            <a:pPr marL="0" indent="0" algn="ctr">
              <a:buNone/>
            </a:pPr>
            <a:r>
              <a:rPr lang="en-US" sz="1200" b="1" kern="0" spc="400" dirty="0">
                <a:solidFill>
                  <a:srgbClr val="00E5FF"/>
                </a:solidFill>
                <a:latin typeface="Arial" pitchFamily="34" charset="0"/>
                <a:ea typeface="Arial" pitchFamily="34" charset="-122"/>
                <a:cs typeface="Arial" pitchFamily="34" charset="-120"/>
              </a:rPr>
              <a:t>BLUE TEAM</a:t>
            </a:r>
            <a:endParaRPr lang="en-US" sz="1200" dirty="0"/>
          </a:p>
        </p:txBody>
      </p:sp>
      <p:sp>
        <p:nvSpPr>
          <p:cNvPr id="7" name="Text 4"/>
          <p:cNvSpPr/>
          <p:nvPr/>
        </p:nvSpPr>
        <p:spPr>
          <a:xfrm>
            <a:off x="182880" y="3401568"/>
            <a:ext cx="3108960" cy="256032"/>
          </a:xfrm>
          <a:prstGeom prst="rect">
            <a:avLst/>
          </a:prstGeom>
          <a:noFill/>
          <a:ln/>
        </p:spPr>
        <p:txBody>
          <a:bodyPr wrap="square" lIns="0" tIns="0" rIns="0" bIns="0" rtlCol="0" anchor="ctr"/>
          <a:lstStyle/>
          <a:p>
            <a:pPr marL="0" indent="0" algn="ctr">
              <a:buNone/>
            </a:pPr>
            <a:r>
              <a:rPr lang="en-US" sz="900" dirty="0">
                <a:solidFill>
                  <a:srgbClr val="AAAAAA"/>
                </a:solidFill>
                <a:latin typeface="Arial" pitchFamily="34" charset="0"/>
                <a:ea typeface="Arial" pitchFamily="34" charset="-122"/>
                <a:cs typeface="Arial" pitchFamily="34" charset="-120"/>
              </a:rPr>
              <a:t>Internship Program Batch # 02</a:t>
            </a:r>
            <a:endParaRPr lang="en-US" sz="900" dirty="0"/>
          </a:p>
        </p:txBody>
      </p:sp>
      <p:sp>
        <p:nvSpPr>
          <p:cNvPr id="8" name="Text 5"/>
          <p:cNvSpPr/>
          <p:nvPr/>
        </p:nvSpPr>
        <p:spPr>
          <a:xfrm>
            <a:off x="182880" y="4709160"/>
            <a:ext cx="3108960" cy="228600"/>
          </a:xfrm>
          <a:prstGeom prst="rect">
            <a:avLst/>
          </a:prstGeom>
          <a:noFill/>
          <a:ln/>
        </p:spPr>
        <p:txBody>
          <a:bodyPr wrap="square" lIns="0" tIns="0" rIns="0" bIns="0" rtlCol="0" anchor="ctr"/>
          <a:lstStyle/>
          <a:p>
            <a:pPr marL="0" indent="0" algn="ctr">
              <a:buNone/>
            </a:pPr>
            <a:r>
              <a:rPr lang="en-US" sz="800" dirty="0">
                <a:solidFill>
                  <a:srgbClr val="00B4CC"/>
                </a:solidFill>
                <a:latin typeface="Arial" pitchFamily="34" charset="0"/>
                <a:ea typeface="Arial" pitchFamily="34" charset="-122"/>
                <a:cs typeface="Arial" pitchFamily="34" charset="-120"/>
              </a:rPr>
              <a:t>cyberster.site</a:t>
            </a:r>
            <a:endParaRPr lang="en-US" sz="800" dirty="0"/>
          </a:p>
        </p:txBody>
      </p:sp>
      <p:sp>
        <p:nvSpPr>
          <p:cNvPr id="9" name="Text 6"/>
          <p:cNvSpPr/>
          <p:nvPr/>
        </p:nvSpPr>
        <p:spPr>
          <a:xfrm>
            <a:off x="3749040" y="457200"/>
            <a:ext cx="5120640" cy="320040"/>
          </a:xfrm>
          <a:prstGeom prst="rect">
            <a:avLst/>
          </a:prstGeom>
          <a:noFill/>
          <a:ln/>
        </p:spPr>
        <p:txBody>
          <a:bodyPr wrap="square" lIns="0" tIns="0" rIns="0" bIns="0" rtlCol="0" anchor="ctr"/>
          <a:lstStyle/>
          <a:p>
            <a:pPr marL="0" indent="0">
              <a:buNone/>
            </a:pPr>
            <a:r>
              <a:rPr lang="en-US" sz="1100" i="1" dirty="0">
                <a:solidFill>
                  <a:srgbClr val="00E5FF"/>
                </a:solidFill>
                <a:latin typeface="Arial" pitchFamily="34" charset="0"/>
                <a:ea typeface="Arial" pitchFamily="34" charset="-122"/>
                <a:cs typeface="Arial" pitchFamily="34" charset="-120"/>
              </a:rPr>
              <a:t>Introductory</a:t>
            </a:r>
            <a:endParaRPr lang="en-US" sz="1100" dirty="0"/>
          </a:p>
        </p:txBody>
      </p:sp>
      <p:sp>
        <p:nvSpPr>
          <p:cNvPr id="10" name="Text 7"/>
          <p:cNvSpPr/>
          <p:nvPr/>
        </p:nvSpPr>
        <p:spPr>
          <a:xfrm>
            <a:off x="3749040" y="822960"/>
            <a:ext cx="5120640" cy="914400"/>
          </a:xfrm>
          <a:prstGeom prst="rect">
            <a:avLst/>
          </a:prstGeom>
          <a:noFill/>
          <a:ln/>
        </p:spPr>
        <p:txBody>
          <a:bodyPr wrap="square" lIns="0" tIns="0" rIns="0" bIns="0" rtlCol="0" anchor="ctr"/>
          <a:lstStyle/>
          <a:p>
            <a:pPr marL="0" indent="0">
              <a:buNone/>
            </a:pPr>
            <a:r>
              <a:rPr lang="en-US" sz="4800" b="1" dirty="0">
                <a:solidFill>
                  <a:srgbClr val="FFFFFF"/>
                </a:solidFill>
                <a:latin typeface="Arial Black" pitchFamily="34" charset="0"/>
                <a:ea typeface="Arial Black" pitchFamily="34" charset="-122"/>
                <a:cs typeface="Arial Black" pitchFamily="34" charset="-120"/>
              </a:rPr>
              <a:t>MASTERCLASS</a:t>
            </a:r>
            <a:endParaRPr lang="en-US" sz="4800" dirty="0"/>
          </a:p>
        </p:txBody>
      </p:sp>
      <p:sp>
        <p:nvSpPr>
          <p:cNvPr id="11" name="Text 8"/>
          <p:cNvSpPr/>
          <p:nvPr/>
        </p:nvSpPr>
        <p:spPr>
          <a:xfrm>
            <a:off x="3749040" y="1783080"/>
            <a:ext cx="5120640" cy="347472"/>
          </a:xfrm>
          <a:prstGeom prst="rect">
            <a:avLst/>
          </a:prstGeom>
          <a:noFill/>
          <a:ln/>
        </p:spPr>
        <p:txBody>
          <a:bodyPr wrap="square" lIns="0" tIns="0" rIns="0" bIns="0" rtlCol="0" anchor="ctr"/>
          <a:lstStyle/>
          <a:p>
            <a:pPr marL="0" indent="0">
              <a:buNone/>
            </a:pPr>
            <a:r>
              <a:rPr lang="en-US" sz="1400" dirty="0">
                <a:solidFill>
                  <a:srgbClr val="AAAAAA"/>
                </a:solidFill>
                <a:latin typeface="Arial" pitchFamily="34" charset="0"/>
                <a:ea typeface="Arial" pitchFamily="34" charset="-122"/>
                <a:cs typeface="Arial" pitchFamily="34" charset="-120"/>
              </a:rPr>
              <a:t>Week 1 Session</a:t>
            </a:r>
            <a:endParaRPr lang="en-US" sz="1400" dirty="0"/>
          </a:p>
        </p:txBody>
      </p:sp>
      <p:sp>
        <p:nvSpPr>
          <p:cNvPr id="12" name="Shape 9"/>
          <p:cNvSpPr/>
          <p:nvPr/>
        </p:nvSpPr>
        <p:spPr>
          <a:xfrm>
            <a:off x="3749040" y="2240280"/>
            <a:ext cx="4937760" cy="0"/>
          </a:xfrm>
          <a:prstGeom prst="line">
            <a:avLst/>
          </a:prstGeom>
          <a:noFill/>
          <a:ln w="12700">
            <a:solidFill>
              <a:srgbClr val="333333"/>
            </a:solidFill>
            <a:prstDash val="solid"/>
          </a:ln>
        </p:spPr>
      </p:sp>
      <p:sp>
        <p:nvSpPr>
          <p:cNvPr id="13" name="Text 10"/>
          <p:cNvSpPr/>
          <p:nvPr/>
        </p:nvSpPr>
        <p:spPr>
          <a:xfrm>
            <a:off x="3749040" y="2377440"/>
            <a:ext cx="5120640" cy="2743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Presented by: Abdullah Zia</a:t>
            </a:r>
            <a:endParaRPr lang="en-US" sz="1100" dirty="0"/>
          </a:p>
        </p:txBody>
      </p:sp>
      <p:sp>
        <p:nvSpPr>
          <p:cNvPr id="14" name="Text 11"/>
          <p:cNvSpPr/>
          <p:nvPr/>
        </p:nvSpPr>
        <p:spPr>
          <a:xfrm>
            <a:off x="3749040" y="2651760"/>
            <a:ext cx="5120640" cy="256032"/>
          </a:xfrm>
          <a:prstGeom prst="rect">
            <a:avLst/>
          </a:prstGeom>
          <a:noFill/>
          <a:ln/>
        </p:spPr>
        <p:txBody>
          <a:bodyPr wrap="square" lIns="0" tIns="0" rIns="0" bIns="0" rtlCol="0" anchor="ctr"/>
          <a:lstStyle/>
          <a:p>
            <a:pPr marL="0" indent="0">
              <a:buNone/>
            </a:pPr>
            <a:r>
              <a:rPr lang="en-US" sz="1000" dirty="0">
                <a:solidFill>
                  <a:srgbClr val="00E5FF"/>
                </a:solidFill>
                <a:latin typeface="Arial" pitchFamily="34" charset="0"/>
                <a:ea typeface="Arial" pitchFamily="34" charset="-122"/>
                <a:cs typeface="Arial" pitchFamily="34" charset="-120"/>
              </a:rPr>
              <a:t>Blue Team Lead</a:t>
            </a:r>
            <a:endParaRPr lang="en-US" sz="1000" dirty="0"/>
          </a:p>
        </p:txBody>
      </p:sp>
      <p:sp>
        <p:nvSpPr>
          <p:cNvPr id="15" name="Text 12"/>
          <p:cNvSpPr/>
          <p:nvPr/>
        </p:nvSpPr>
        <p:spPr>
          <a:xfrm>
            <a:off x="3749040" y="2944368"/>
            <a:ext cx="5120640" cy="256032"/>
          </a:xfrm>
          <a:prstGeom prst="rect">
            <a:avLst/>
          </a:prstGeom>
          <a:noFill/>
          <a:ln/>
        </p:spPr>
        <p:txBody>
          <a:bodyPr wrap="square" lIns="0" tIns="0" rIns="0" bIns="0" rtlCol="0" anchor="ctr"/>
          <a:lstStyle/>
          <a:p>
            <a:pPr marL="0" indent="0">
              <a:buNone/>
            </a:pPr>
            <a:r>
              <a:rPr lang="en-US" sz="900" dirty="0">
                <a:solidFill>
                  <a:srgbClr val="AAAAAA"/>
                </a:solidFill>
                <a:latin typeface="Arial" pitchFamily="34" charset="0"/>
                <a:ea typeface="Arial" pitchFamily="34" charset="-122"/>
                <a:cs typeface="Arial" pitchFamily="34" charset="-120"/>
              </a:rPr>
              <a:t>21 June 2026</a:t>
            </a:r>
            <a:endParaRPr lang="en-US" sz="900" dirty="0"/>
          </a:p>
        </p:txBody>
      </p:sp>
      <p:sp>
        <p:nvSpPr>
          <p:cNvPr id="16" name="Shape 13"/>
          <p:cNvSpPr/>
          <p:nvPr/>
        </p:nvSpPr>
        <p:spPr>
          <a:xfrm>
            <a:off x="3749040" y="3756072"/>
            <a:ext cx="1600200" cy="365760"/>
          </a:xfrm>
          <a:prstGeom prst="roundRect">
            <a:avLst>
              <a:gd name="adj" fmla="val 20000"/>
            </a:avLst>
          </a:prstGeom>
          <a:solidFill>
            <a:srgbClr val="111111"/>
          </a:solidFill>
          <a:ln w="6350">
            <a:solidFill>
              <a:srgbClr val="00B4CC"/>
            </a:solidFill>
            <a:prstDash val="solid"/>
          </a:ln>
          <a:effectLst>
            <a:outerShdw blurRad="101600" dist="38100" dir="2700000" algn="bl" rotWithShape="0">
              <a:srgbClr val="000000">
                <a:alpha val="40000"/>
              </a:srgbClr>
            </a:outerShdw>
          </a:effectLst>
        </p:spPr>
      </p:sp>
      <p:sp>
        <p:nvSpPr>
          <p:cNvPr id="17" name="Text 14"/>
          <p:cNvSpPr/>
          <p:nvPr/>
        </p:nvSpPr>
        <p:spPr>
          <a:xfrm>
            <a:off x="3822192" y="3783504"/>
            <a:ext cx="1463040" cy="310896"/>
          </a:xfrm>
          <a:prstGeom prst="rect">
            <a:avLst/>
          </a:prstGeom>
          <a:noFill/>
          <a:ln/>
        </p:spPr>
        <p:txBody>
          <a:bodyPr wrap="square" lIns="0" tIns="0" rIns="0" bIns="0" rtlCol="0" anchor="ctr"/>
          <a:lstStyle/>
          <a:p>
            <a:pPr marL="0" indent="0" algn="ctr">
              <a:buNone/>
            </a:pPr>
            <a:r>
              <a:rPr lang="en-US" sz="800" dirty="0">
                <a:solidFill>
                  <a:srgbClr val="00E5FF"/>
                </a:solidFill>
                <a:latin typeface="Arial" pitchFamily="34" charset="0"/>
                <a:ea typeface="Arial" pitchFamily="34" charset="-122"/>
                <a:cs typeface="Arial" pitchFamily="34" charset="-120"/>
              </a:rPr>
              <a:t>SOC Operations</a:t>
            </a:r>
            <a:endParaRPr lang="en-US" sz="800" dirty="0"/>
          </a:p>
        </p:txBody>
      </p:sp>
      <p:sp>
        <p:nvSpPr>
          <p:cNvPr id="18" name="Shape 15"/>
          <p:cNvSpPr/>
          <p:nvPr/>
        </p:nvSpPr>
        <p:spPr>
          <a:xfrm>
            <a:off x="5486400" y="3756072"/>
            <a:ext cx="1600200" cy="365760"/>
          </a:xfrm>
          <a:prstGeom prst="roundRect">
            <a:avLst>
              <a:gd name="adj" fmla="val 20000"/>
            </a:avLst>
          </a:prstGeom>
          <a:solidFill>
            <a:srgbClr val="111111"/>
          </a:solidFill>
          <a:ln w="6350">
            <a:solidFill>
              <a:srgbClr val="00B4CC"/>
            </a:solidFill>
            <a:prstDash val="solid"/>
          </a:ln>
          <a:effectLst>
            <a:outerShdw blurRad="101600" dist="38100" dir="2700000" algn="bl" rotWithShape="0">
              <a:srgbClr val="000000">
                <a:alpha val="40000"/>
              </a:srgbClr>
            </a:outerShdw>
          </a:effectLst>
        </p:spPr>
      </p:sp>
      <p:sp>
        <p:nvSpPr>
          <p:cNvPr id="19" name="Text 16"/>
          <p:cNvSpPr/>
          <p:nvPr/>
        </p:nvSpPr>
        <p:spPr>
          <a:xfrm>
            <a:off x="5559552" y="3783504"/>
            <a:ext cx="1463040" cy="310896"/>
          </a:xfrm>
          <a:prstGeom prst="rect">
            <a:avLst/>
          </a:prstGeom>
          <a:noFill/>
          <a:ln/>
        </p:spPr>
        <p:txBody>
          <a:bodyPr wrap="square" lIns="0" tIns="0" rIns="0" bIns="0" rtlCol="0" anchor="ctr"/>
          <a:lstStyle/>
          <a:p>
            <a:pPr marL="0" indent="0" algn="ctr">
              <a:buNone/>
            </a:pPr>
            <a:r>
              <a:rPr lang="en-US" sz="800" dirty="0">
                <a:solidFill>
                  <a:srgbClr val="00E5FF"/>
                </a:solidFill>
                <a:latin typeface="Arial" pitchFamily="34" charset="0"/>
                <a:ea typeface="Arial" pitchFamily="34" charset="-122"/>
                <a:cs typeface="Arial" pitchFamily="34" charset="-120"/>
              </a:rPr>
              <a:t>Digital Forensics</a:t>
            </a:r>
            <a:endParaRPr lang="en-US" sz="800" dirty="0"/>
          </a:p>
        </p:txBody>
      </p:sp>
      <p:sp>
        <p:nvSpPr>
          <p:cNvPr id="20" name="Shape 17"/>
          <p:cNvSpPr/>
          <p:nvPr/>
        </p:nvSpPr>
        <p:spPr>
          <a:xfrm>
            <a:off x="7223760" y="3756072"/>
            <a:ext cx="1600200" cy="365760"/>
          </a:xfrm>
          <a:prstGeom prst="roundRect">
            <a:avLst>
              <a:gd name="adj" fmla="val 20000"/>
            </a:avLst>
          </a:prstGeom>
          <a:solidFill>
            <a:srgbClr val="111111"/>
          </a:solidFill>
          <a:ln w="6350">
            <a:solidFill>
              <a:srgbClr val="00B4CC"/>
            </a:solidFill>
            <a:prstDash val="solid"/>
          </a:ln>
          <a:effectLst>
            <a:outerShdw blurRad="101600" dist="38100" dir="2700000" algn="bl" rotWithShape="0">
              <a:srgbClr val="000000">
                <a:alpha val="40000"/>
              </a:srgbClr>
            </a:outerShdw>
          </a:effectLst>
        </p:spPr>
      </p:sp>
      <p:sp>
        <p:nvSpPr>
          <p:cNvPr id="21" name="Text 18"/>
          <p:cNvSpPr/>
          <p:nvPr/>
        </p:nvSpPr>
        <p:spPr>
          <a:xfrm>
            <a:off x="7296912" y="3783504"/>
            <a:ext cx="1463040" cy="310896"/>
          </a:xfrm>
          <a:prstGeom prst="rect">
            <a:avLst/>
          </a:prstGeom>
          <a:noFill/>
          <a:ln/>
        </p:spPr>
        <p:txBody>
          <a:bodyPr wrap="square" lIns="0" tIns="0" rIns="0" bIns="0" rtlCol="0" anchor="ctr"/>
          <a:lstStyle/>
          <a:p>
            <a:pPr marL="0" indent="0" algn="ctr">
              <a:buNone/>
            </a:pPr>
            <a:r>
              <a:rPr lang="en-US" sz="800" dirty="0">
                <a:solidFill>
                  <a:srgbClr val="00E5FF"/>
                </a:solidFill>
                <a:latin typeface="Arial" pitchFamily="34" charset="0"/>
                <a:ea typeface="Arial" pitchFamily="34" charset="-122"/>
                <a:cs typeface="Arial" pitchFamily="34" charset="-120"/>
              </a:rPr>
              <a:t>Hands-on Labs</a:t>
            </a:r>
            <a:endParaRPr lang="en-US" sz="800" dirty="0"/>
          </a:p>
        </p:txBody>
      </p:sp>
      <p:pic>
        <p:nvPicPr>
          <p:cNvPr id="23" name="Picture 22">
            <a:extLst>
              <a:ext uri="{FF2B5EF4-FFF2-40B4-BE49-F238E27FC236}">
                <a16:creationId xmlns:a16="http://schemas.microsoft.com/office/drawing/2014/main" id="{BAEC6FCC-A27D-8ECD-58EF-2670516A7219}"/>
              </a:ext>
            </a:extLst>
          </p:cNvPr>
          <p:cNvPicPr>
            <a:picLocks noChangeAspect="1"/>
          </p:cNvPicPr>
          <p:nvPr/>
        </p:nvPicPr>
        <p:blipFill>
          <a:blip r:embed="rId4"/>
          <a:stretch>
            <a:fillRect/>
          </a:stretch>
        </p:blipFill>
        <p:spPr>
          <a:xfrm>
            <a:off x="742656" y="617220"/>
            <a:ext cx="1989407" cy="19894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Text 0"/>
          <p:cNvSpPr/>
          <p:nvPr/>
        </p:nvSpPr>
        <p:spPr>
          <a:xfrm>
            <a:off x="822960" y="109728"/>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Welcome to the Blue Team</a:t>
            </a:r>
            <a:endParaRPr lang="en-US" sz="2200" dirty="0"/>
          </a:p>
        </p:txBody>
      </p:sp>
      <p:sp>
        <p:nvSpPr>
          <p:cNvPr id="4" name="Shape 1"/>
          <p:cNvSpPr/>
          <p:nvPr/>
        </p:nvSpPr>
        <p:spPr>
          <a:xfrm>
            <a:off x="228600" y="658368"/>
            <a:ext cx="8686800" cy="0"/>
          </a:xfrm>
          <a:prstGeom prst="line">
            <a:avLst/>
          </a:prstGeom>
          <a:noFill/>
          <a:ln w="9525">
            <a:solidFill>
              <a:srgbClr val="222222"/>
            </a:solidFill>
            <a:prstDash val="solid"/>
          </a:ln>
        </p:spPr>
      </p:sp>
      <p:sp>
        <p:nvSpPr>
          <p:cNvPr id="5" name="Text 2"/>
          <p:cNvSpPr/>
          <p:nvPr/>
        </p:nvSpPr>
        <p:spPr>
          <a:xfrm>
            <a:off x="274320" y="731520"/>
            <a:ext cx="8595360" cy="685800"/>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Welcome aboard. Being selected for this program means something. Over the next few months you will go from setting up your first security lab all the way to investigating real forensic cases. It will take effort, but everything worth building does. We are here with you the whole way.</a:t>
            </a:r>
            <a:endParaRPr lang="en-US" sz="1000" dirty="0"/>
          </a:p>
        </p:txBody>
      </p:sp>
      <p:sp>
        <p:nvSpPr>
          <p:cNvPr id="6" name="Shape 3"/>
          <p:cNvSpPr/>
          <p:nvPr/>
        </p:nvSpPr>
        <p:spPr>
          <a:xfrm>
            <a:off x="228600" y="1508760"/>
            <a:ext cx="2788920" cy="3200400"/>
          </a:xfrm>
          <a:prstGeom prst="roundRect">
            <a:avLst>
              <a:gd name="adj" fmla="val 2623"/>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7" name="Shape 4"/>
          <p:cNvSpPr/>
          <p:nvPr/>
        </p:nvSpPr>
        <p:spPr>
          <a:xfrm>
            <a:off x="1234440" y="1691640"/>
            <a:ext cx="777240" cy="777240"/>
          </a:xfrm>
          <a:prstGeom prst="ellipse">
            <a:avLst/>
          </a:prstGeom>
          <a:solidFill>
            <a:srgbClr val="001F2D"/>
          </a:solidFill>
          <a:ln w="12700">
            <a:solidFill>
              <a:srgbClr val="00E5FF"/>
            </a:solidFill>
            <a:prstDash val="solid"/>
          </a:ln>
        </p:spPr>
      </p:sp>
      <p:sp>
        <p:nvSpPr>
          <p:cNvPr id="8" name="Text 5"/>
          <p:cNvSpPr/>
          <p:nvPr/>
        </p:nvSpPr>
        <p:spPr>
          <a:xfrm>
            <a:off x="1234440" y="1709928"/>
            <a:ext cx="777240" cy="74980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9" name="Text 6"/>
          <p:cNvSpPr/>
          <p:nvPr/>
        </p:nvSpPr>
        <p:spPr>
          <a:xfrm>
            <a:off x="365760" y="2587752"/>
            <a:ext cx="25146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Real Skills</a:t>
            </a:r>
            <a:endParaRPr lang="en-US" sz="1300" dirty="0"/>
          </a:p>
        </p:txBody>
      </p:sp>
      <p:sp>
        <p:nvSpPr>
          <p:cNvPr id="10" name="Text 7"/>
          <p:cNvSpPr/>
          <p:nvPr/>
        </p:nvSpPr>
        <p:spPr>
          <a:xfrm>
            <a:off x="365760" y="2999232"/>
            <a:ext cx="2514600" cy="1554480"/>
          </a:xfrm>
          <a:prstGeom prst="rect">
            <a:avLst/>
          </a:prstGeom>
          <a:noFill/>
          <a:ln/>
        </p:spPr>
        <p:txBody>
          <a:bodyPr wrap="square" lIns="0" tIns="0" rIns="0" bIns="0" rtlCol="0" anchor="t"/>
          <a:lstStyle/>
          <a:p>
            <a:pPr marL="0" indent="0" algn="ctr">
              <a:buNone/>
            </a:pPr>
            <a:r>
              <a:rPr lang="en-US" sz="1100" dirty="0">
                <a:solidFill>
                  <a:srgbClr val="AAAAAA"/>
                </a:solidFill>
                <a:latin typeface="Arial" pitchFamily="34" charset="0"/>
                <a:ea typeface="Arial" pitchFamily="34" charset="-122"/>
                <a:cs typeface="Arial" pitchFamily="34" charset="-120"/>
              </a:rPr>
              <a:t>You will spend most of your time in the lab, not reading slides. Expect to get your hands dirty with real tools used by professionals in the field.</a:t>
            </a:r>
            <a:endParaRPr lang="en-US" sz="1100" dirty="0"/>
          </a:p>
        </p:txBody>
      </p:sp>
      <p:sp>
        <p:nvSpPr>
          <p:cNvPr id="11" name="Shape 8"/>
          <p:cNvSpPr/>
          <p:nvPr/>
        </p:nvSpPr>
        <p:spPr>
          <a:xfrm>
            <a:off x="3200400" y="1508760"/>
            <a:ext cx="2788920" cy="3200400"/>
          </a:xfrm>
          <a:prstGeom prst="roundRect">
            <a:avLst>
              <a:gd name="adj" fmla="val 2623"/>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2" name="Shape 9"/>
          <p:cNvSpPr/>
          <p:nvPr/>
        </p:nvSpPr>
        <p:spPr>
          <a:xfrm>
            <a:off x="4206240" y="1691640"/>
            <a:ext cx="777240" cy="777240"/>
          </a:xfrm>
          <a:prstGeom prst="ellipse">
            <a:avLst/>
          </a:prstGeom>
          <a:solidFill>
            <a:srgbClr val="001F2D"/>
          </a:solidFill>
          <a:ln w="12700">
            <a:solidFill>
              <a:srgbClr val="00E5FF"/>
            </a:solidFill>
            <a:prstDash val="solid"/>
          </a:ln>
        </p:spPr>
      </p:sp>
      <p:sp>
        <p:nvSpPr>
          <p:cNvPr id="13" name="Text 10"/>
          <p:cNvSpPr/>
          <p:nvPr/>
        </p:nvSpPr>
        <p:spPr>
          <a:xfrm>
            <a:off x="4206240" y="1709928"/>
            <a:ext cx="777240" cy="74980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Text 11"/>
          <p:cNvSpPr/>
          <p:nvPr/>
        </p:nvSpPr>
        <p:spPr>
          <a:xfrm>
            <a:off x="3337560" y="2587752"/>
            <a:ext cx="25146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Guided Learning</a:t>
            </a:r>
            <a:endParaRPr lang="en-US" sz="1300" dirty="0"/>
          </a:p>
        </p:txBody>
      </p:sp>
      <p:sp>
        <p:nvSpPr>
          <p:cNvPr id="15" name="Text 12"/>
          <p:cNvSpPr/>
          <p:nvPr/>
        </p:nvSpPr>
        <p:spPr>
          <a:xfrm>
            <a:off x="3337560" y="2999232"/>
            <a:ext cx="2514600" cy="1554480"/>
          </a:xfrm>
          <a:prstGeom prst="rect">
            <a:avLst/>
          </a:prstGeom>
          <a:noFill/>
          <a:ln/>
        </p:spPr>
        <p:txBody>
          <a:bodyPr wrap="square" lIns="0" tIns="0" rIns="0" bIns="0" rtlCol="0" anchor="t"/>
          <a:lstStyle/>
          <a:p>
            <a:pPr marL="0" indent="0" algn="ctr">
              <a:buNone/>
            </a:pPr>
            <a:r>
              <a:rPr lang="en-US" sz="1100" dirty="0">
                <a:solidFill>
                  <a:srgbClr val="AAAAAA"/>
                </a:solidFill>
                <a:latin typeface="Arial" pitchFamily="34" charset="0"/>
                <a:ea typeface="Arial" pitchFamily="34" charset="-122"/>
                <a:cs typeface="Arial" pitchFamily="34" charset="-120"/>
              </a:rPr>
              <a:t>You are not doing this alone. Your mentors will be with you every step, answering questions and reviewing your work throughout the program.</a:t>
            </a:r>
            <a:endParaRPr lang="en-US" sz="1100" dirty="0"/>
          </a:p>
        </p:txBody>
      </p:sp>
      <p:sp>
        <p:nvSpPr>
          <p:cNvPr id="16" name="Shape 13"/>
          <p:cNvSpPr/>
          <p:nvPr/>
        </p:nvSpPr>
        <p:spPr>
          <a:xfrm>
            <a:off x="6172200" y="1508760"/>
            <a:ext cx="2788920" cy="3200400"/>
          </a:xfrm>
          <a:prstGeom prst="roundRect">
            <a:avLst>
              <a:gd name="adj" fmla="val 2623"/>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7" name="Shape 14"/>
          <p:cNvSpPr/>
          <p:nvPr/>
        </p:nvSpPr>
        <p:spPr>
          <a:xfrm>
            <a:off x="7178040" y="1691640"/>
            <a:ext cx="777240" cy="777240"/>
          </a:xfrm>
          <a:prstGeom prst="ellipse">
            <a:avLst/>
          </a:prstGeom>
          <a:solidFill>
            <a:srgbClr val="001F2D"/>
          </a:solidFill>
          <a:ln w="12700">
            <a:solidFill>
              <a:srgbClr val="00E5FF"/>
            </a:solidFill>
            <a:prstDash val="solid"/>
          </a:ln>
        </p:spPr>
      </p:sp>
      <p:sp>
        <p:nvSpPr>
          <p:cNvPr id="18" name="Text 15"/>
          <p:cNvSpPr/>
          <p:nvPr/>
        </p:nvSpPr>
        <p:spPr>
          <a:xfrm>
            <a:off x="7178040" y="1709928"/>
            <a:ext cx="777240" cy="749808"/>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9" name="Text 16"/>
          <p:cNvSpPr/>
          <p:nvPr/>
        </p:nvSpPr>
        <p:spPr>
          <a:xfrm>
            <a:off x="6309360" y="2587752"/>
            <a:ext cx="25146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Career Proof</a:t>
            </a:r>
            <a:endParaRPr lang="en-US" sz="1300" dirty="0"/>
          </a:p>
        </p:txBody>
      </p:sp>
      <p:sp>
        <p:nvSpPr>
          <p:cNvPr id="20" name="Text 17"/>
          <p:cNvSpPr/>
          <p:nvPr/>
        </p:nvSpPr>
        <p:spPr>
          <a:xfrm>
            <a:off x="6309360" y="2999232"/>
            <a:ext cx="2514600" cy="1554480"/>
          </a:xfrm>
          <a:prstGeom prst="rect">
            <a:avLst/>
          </a:prstGeom>
          <a:noFill/>
          <a:ln/>
        </p:spPr>
        <p:txBody>
          <a:bodyPr wrap="square" lIns="0" tIns="0" rIns="0" bIns="0" rtlCol="0" anchor="t"/>
          <a:lstStyle/>
          <a:p>
            <a:pPr marL="0" indent="0" algn="ctr">
              <a:buNone/>
            </a:pPr>
            <a:r>
              <a:rPr lang="en-US" sz="1100" dirty="0">
                <a:solidFill>
                  <a:srgbClr val="AAAAAA"/>
                </a:solidFill>
                <a:latin typeface="Arial" pitchFamily="34" charset="0"/>
                <a:ea typeface="Arial" pitchFamily="34" charset="-122"/>
                <a:cs typeface="Arial" pitchFamily="34" charset="-120"/>
              </a:rPr>
              <a:t>Everything you build and submit becomes part of your portfolio. You leave with solid, demonstrable evidence of what you can do for real employers.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Text 0"/>
          <p:cNvSpPr/>
          <p:nvPr/>
        </p:nvSpPr>
        <p:spPr>
          <a:xfrm>
            <a:off x="822960" y="109728"/>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Meet Your Lead</a:t>
            </a:r>
            <a:endParaRPr lang="en-US" sz="2200" dirty="0"/>
          </a:p>
        </p:txBody>
      </p:sp>
      <p:sp>
        <p:nvSpPr>
          <p:cNvPr id="4" name="Shape 1"/>
          <p:cNvSpPr/>
          <p:nvPr/>
        </p:nvSpPr>
        <p:spPr>
          <a:xfrm>
            <a:off x="228600" y="658368"/>
            <a:ext cx="8686800" cy="0"/>
          </a:xfrm>
          <a:prstGeom prst="line">
            <a:avLst/>
          </a:prstGeom>
          <a:noFill/>
          <a:ln w="9525">
            <a:solidFill>
              <a:srgbClr val="222222"/>
            </a:solidFill>
            <a:prstDash val="solid"/>
          </a:ln>
        </p:spPr>
      </p:sp>
      <p:sp>
        <p:nvSpPr>
          <p:cNvPr id="5" name="Shape 2"/>
          <p:cNvSpPr/>
          <p:nvPr/>
        </p:nvSpPr>
        <p:spPr>
          <a:xfrm>
            <a:off x="228600" y="777240"/>
            <a:ext cx="2560320" cy="4023360"/>
          </a:xfrm>
          <a:prstGeom prst="roundRect">
            <a:avLst>
              <a:gd name="adj" fmla="val 2857"/>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6" name="Shape 3"/>
          <p:cNvSpPr/>
          <p:nvPr/>
        </p:nvSpPr>
        <p:spPr>
          <a:xfrm>
            <a:off x="640080" y="960120"/>
            <a:ext cx="1737360" cy="1737360"/>
          </a:xfrm>
          <a:prstGeom prst="ellipse">
            <a:avLst/>
          </a:prstGeom>
          <a:solidFill>
            <a:srgbClr val="111111"/>
          </a:solidFill>
          <a:ln w="19050">
            <a:solidFill>
              <a:srgbClr val="00E5FF"/>
            </a:solidFill>
            <a:prstDash val="solid"/>
          </a:ln>
        </p:spPr>
      </p:sp>
      <p:sp>
        <p:nvSpPr>
          <p:cNvPr id="8" name="Text 5"/>
          <p:cNvSpPr/>
          <p:nvPr/>
        </p:nvSpPr>
        <p:spPr>
          <a:xfrm>
            <a:off x="274320" y="2834640"/>
            <a:ext cx="2468880" cy="384048"/>
          </a:xfrm>
          <a:prstGeom prst="rect">
            <a:avLst/>
          </a:prstGeom>
          <a:noFill/>
          <a:ln/>
        </p:spPr>
        <p:txBody>
          <a:bodyPr wrap="square" lIns="0" tIns="0" rIns="0" bIns="0" rtlCol="0" anchor="ctr"/>
          <a:lstStyle/>
          <a:p>
            <a:pPr marL="0" indent="0" algn="ctr">
              <a:buNone/>
            </a:pPr>
            <a:r>
              <a:rPr lang="en-US" sz="1600" b="1" dirty="0">
                <a:solidFill>
                  <a:srgbClr val="FFFFFF"/>
                </a:solidFill>
                <a:latin typeface="Arial" pitchFamily="34" charset="0"/>
                <a:ea typeface="Arial" pitchFamily="34" charset="-122"/>
                <a:cs typeface="Arial" pitchFamily="34" charset="-120"/>
              </a:rPr>
              <a:t>Abdullah Zia</a:t>
            </a:r>
            <a:endParaRPr lang="en-US" sz="1600" dirty="0"/>
          </a:p>
        </p:txBody>
      </p:sp>
      <p:sp>
        <p:nvSpPr>
          <p:cNvPr id="9" name="Text 6"/>
          <p:cNvSpPr/>
          <p:nvPr/>
        </p:nvSpPr>
        <p:spPr>
          <a:xfrm>
            <a:off x="274320" y="3218688"/>
            <a:ext cx="2468880" cy="274320"/>
          </a:xfrm>
          <a:prstGeom prst="rect">
            <a:avLst/>
          </a:prstGeom>
          <a:noFill/>
          <a:ln/>
        </p:spPr>
        <p:txBody>
          <a:bodyPr wrap="square" lIns="0" tIns="0" rIns="0" bIns="0" rtlCol="0" anchor="ctr"/>
          <a:lstStyle/>
          <a:p>
            <a:pPr marL="0" indent="0" algn="ctr">
              <a:buNone/>
            </a:pPr>
            <a:r>
              <a:rPr lang="en-US" sz="1000" b="1" dirty="0">
                <a:solidFill>
                  <a:srgbClr val="00E5FF"/>
                </a:solidFill>
                <a:latin typeface="Arial" pitchFamily="34" charset="0"/>
                <a:ea typeface="Arial" pitchFamily="34" charset="-122"/>
                <a:cs typeface="Arial" pitchFamily="34" charset="-120"/>
              </a:rPr>
              <a:t>Blue Team Lead</a:t>
            </a:r>
            <a:endParaRPr lang="en-US" sz="1000" dirty="0"/>
          </a:p>
        </p:txBody>
      </p:sp>
      <p:sp>
        <p:nvSpPr>
          <p:cNvPr id="10" name="Text 7"/>
          <p:cNvSpPr/>
          <p:nvPr/>
        </p:nvSpPr>
        <p:spPr>
          <a:xfrm>
            <a:off x="274320" y="3493008"/>
            <a:ext cx="2468880" cy="274320"/>
          </a:xfrm>
          <a:prstGeom prst="rect">
            <a:avLst/>
          </a:prstGeom>
          <a:noFill/>
          <a:ln/>
        </p:spPr>
        <p:txBody>
          <a:bodyPr wrap="square" lIns="0" tIns="0" rIns="0" bIns="0" rtlCol="0" anchor="ctr"/>
          <a:lstStyle/>
          <a:p>
            <a:pPr marL="0" indent="0" algn="ctr">
              <a:buNone/>
            </a:pPr>
            <a:r>
              <a:rPr lang="en-US" sz="800" dirty="0">
                <a:solidFill>
                  <a:srgbClr val="AAAAAA"/>
                </a:solidFill>
                <a:latin typeface="Arial" pitchFamily="34" charset="0"/>
                <a:ea typeface="Arial" pitchFamily="34" charset="-122"/>
                <a:cs typeface="Arial" pitchFamily="34" charset="-120"/>
              </a:rPr>
              <a:t>Cyberster Internship Program</a:t>
            </a:r>
            <a:endParaRPr lang="en-US" sz="800" dirty="0"/>
          </a:p>
        </p:txBody>
      </p:sp>
      <p:sp>
        <p:nvSpPr>
          <p:cNvPr id="11" name="Shape 8"/>
          <p:cNvSpPr/>
          <p:nvPr/>
        </p:nvSpPr>
        <p:spPr>
          <a:xfrm>
            <a:off x="3017520" y="804672"/>
            <a:ext cx="5852160" cy="868680"/>
          </a:xfrm>
          <a:prstGeom prst="roundRect">
            <a:avLst>
              <a:gd name="adj" fmla="val 842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2" name="Shape 9"/>
          <p:cNvSpPr/>
          <p:nvPr/>
        </p:nvSpPr>
        <p:spPr>
          <a:xfrm>
            <a:off x="3182112" y="1078992"/>
            <a:ext cx="164592" cy="164592"/>
          </a:xfrm>
          <a:prstGeom prst="ellipse">
            <a:avLst/>
          </a:prstGeom>
          <a:solidFill>
            <a:srgbClr val="00E5FF"/>
          </a:solidFill>
          <a:ln w="12700">
            <a:solidFill>
              <a:srgbClr val="00E5FF"/>
            </a:solidFill>
            <a:prstDash val="solid"/>
          </a:ln>
        </p:spPr>
      </p:sp>
      <p:sp>
        <p:nvSpPr>
          <p:cNvPr id="13" name="Text 10"/>
          <p:cNvSpPr/>
          <p:nvPr/>
        </p:nvSpPr>
        <p:spPr>
          <a:xfrm>
            <a:off x="3474720" y="877824"/>
            <a:ext cx="521208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Defensive Security</a:t>
            </a:r>
            <a:endParaRPr lang="en-US" sz="1100" dirty="0"/>
          </a:p>
        </p:txBody>
      </p:sp>
      <p:sp>
        <p:nvSpPr>
          <p:cNvPr id="14" name="Text 11"/>
          <p:cNvSpPr/>
          <p:nvPr/>
        </p:nvSpPr>
        <p:spPr>
          <a:xfrm>
            <a:off x="3474720" y="1170432"/>
            <a:ext cx="5212080" cy="438912"/>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Focus is entirely on the defensive side of cybersecurity, SOC work, and protecting systems from real threats.</a:t>
            </a:r>
            <a:endParaRPr lang="en-US" sz="1050" dirty="0"/>
          </a:p>
        </p:txBody>
      </p:sp>
      <p:sp>
        <p:nvSpPr>
          <p:cNvPr id="15" name="Shape 12"/>
          <p:cNvSpPr/>
          <p:nvPr/>
        </p:nvSpPr>
        <p:spPr>
          <a:xfrm>
            <a:off x="3017520" y="1792224"/>
            <a:ext cx="5852160" cy="868680"/>
          </a:xfrm>
          <a:prstGeom prst="roundRect">
            <a:avLst>
              <a:gd name="adj" fmla="val 842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6" name="Shape 13"/>
          <p:cNvSpPr/>
          <p:nvPr/>
        </p:nvSpPr>
        <p:spPr>
          <a:xfrm>
            <a:off x="3182112" y="2066544"/>
            <a:ext cx="164592" cy="164592"/>
          </a:xfrm>
          <a:prstGeom prst="ellipse">
            <a:avLst/>
          </a:prstGeom>
          <a:solidFill>
            <a:srgbClr val="00E5FF"/>
          </a:solidFill>
          <a:ln w="12700">
            <a:solidFill>
              <a:srgbClr val="00E5FF"/>
            </a:solidFill>
            <a:prstDash val="solid"/>
          </a:ln>
        </p:spPr>
      </p:sp>
      <p:sp>
        <p:nvSpPr>
          <p:cNvPr id="17" name="Text 14"/>
          <p:cNvSpPr/>
          <p:nvPr/>
        </p:nvSpPr>
        <p:spPr>
          <a:xfrm>
            <a:off x="3474720" y="1865376"/>
            <a:ext cx="521208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SOC and Threat Detection</a:t>
            </a:r>
            <a:endParaRPr lang="en-US" sz="1100" dirty="0"/>
          </a:p>
        </p:txBody>
      </p:sp>
      <p:sp>
        <p:nvSpPr>
          <p:cNvPr id="18" name="Text 15"/>
          <p:cNvSpPr/>
          <p:nvPr/>
        </p:nvSpPr>
        <p:spPr>
          <a:xfrm>
            <a:off x="3474720" y="2157984"/>
            <a:ext cx="5212080" cy="438912"/>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Practical background in building monitoring environments and catching real threats before they cause damage.</a:t>
            </a:r>
            <a:endParaRPr lang="en-US" sz="1050" dirty="0"/>
          </a:p>
        </p:txBody>
      </p:sp>
      <p:sp>
        <p:nvSpPr>
          <p:cNvPr id="19" name="Shape 16"/>
          <p:cNvSpPr/>
          <p:nvPr/>
        </p:nvSpPr>
        <p:spPr>
          <a:xfrm>
            <a:off x="3017520" y="2779776"/>
            <a:ext cx="5852160" cy="868680"/>
          </a:xfrm>
          <a:prstGeom prst="roundRect">
            <a:avLst>
              <a:gd name="adj" fmla="val 842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0" name="Shape 17"/>
          <p:cNvSpPr/>
          <p:nvPr/>
        </p:nvSpPr>
        <p:spPr>
          <a:xfrm>
            <a:off x="3182112" y="3054096"/>
            <a:ext cx="164592" cy="164592"/>
          </a:xfrm>
          <a:prstGeom prst="ellipse">
            <a:avLst/>
          </a:prstGeom>
          <a:solidFill>
            <a:srgbClr val="00E5FF"/>
          </a:solidFill>
          <a:ln w="12700">
            <a:solidFill>
              <a:srgbClr val="00E5FF"/>
            </a:solidFill>
            <a:prstDash val="solid"/>
          </a:ln>
        </p:spPr>
      </p:sp>
      <p:sp>
        <p:nvSpPr>
          <p:cNvPr id="21" name="Text 18"/>
          <p:cNvSpPr/>
          <p:nvPr/>
        </p:nvSpPr>
        <p:spPr>
          <a:xfrm>
            <a:off x="3474720" y="2852928"/>
            <a:ext cx="521208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Digital Forensics</a:t>
            </a:r>
            <a:endParaRPr lang="en-US" sz="1100" dirty="0"/>
          </a:p>
        </p:txBody>
      </p:sp>
      <p:sp>
        <p:nvSpPr>
          <p:cNvPr id="22" name="Text 19"/>
          <p:cNvSpPr/>
          <p:nvPr/>
        </p:nvSpPr>
        <p:spPr>
          <a:xfrm>
            <a:off x="3474720" y="3145536"/>
            <a:ext cx="5212080" cy="438912"/>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Experience investigating incidents and pulling together evidence from disk, memory, and logs.</a:t>
            </a:r>
            <a:endParaRPr lang="en-US" sz="1050" dirty="0"/>
          </a:p>
        </p:txBody>
      </p:sp>
      <p:sp>
        <p:nvSpPr>
          <p:cNvPr id="23" name="Shape 20"/>
          <p:cNvSpPr/>
          <p:nvPr/>
        </p:nvSpPr>
        <p:spPr>
          <a:xfrm>
            <a:off x="3017520" y="3767328"/>
            <a:ext cx="5852160" cy="868680"/>
          </a:xfrm>
          <a:prstGeom prst="roundRect">
            <a:avLst>
              <a:gd name="adj" fmla="val 842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4" name="Shape 21"/>
          <p:cNvSpPr/>
          <p:nvPr/>
        </p:nvSpPr>
        <p:spPr>
          <a:xfrm>
            <a:off x="3182112" y="4041648"/>
            <a:ext cx="164592" cy="164592"/>
          </a:xfrm>
          <a:prstGeom prst="ellipse">
            <a:avLst/>
          </a:prstGeom>
          <a:solidFill>
            <a:srgbClr val="00E5FF"/>
          </a:solidFill>
          <a:ln w="12700">
            <a:solidFill>
              <a:srgbClr val="00E5FF"/>
            </a:solidFill>
            <a:prstDash val="solid"/>
          </a:ln>
        </p:spPr>
      </p:sp>
      <p:sp>
        <p:nvSpPr>
          <p:cNvPr id="25" name="Text 22"/>
          <p:cNvSpPr/>
          <p:nvPr/>
        </p:nvSpPr>
        <p:spPr>
          <a:xfrm>
            <a:off x="3474720" y="3840480"/>
            <a:ext cx="521208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Teaching Approach</a:t>
            </a:r>
            <a:endParaRPr lang="en-US" sz="1100" dirty="0"/>
          </a:p>
        </p:txBody>
      </p:sp>
      <p:sp>
        <p:nvSpPr>
          <p:cNvPr id="26" name="Text 23"/>
          <p:cNvSpPr/>
          <p:nvPr/>
        </p:nvSpPr>
        <p:spPr>
          <a:xfrm>
            <a:off x="3474720" y="4133088"/>
            <a:ext cx="5212080" cy="438912"/>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The goal is to make sure you understand, not just follow steps. Questions are always welcome.</a:t>
            </a:r>
            <a:endParaRPr lang="en-US" sz="1050" dirty="0"/>
          </a:p>
        </p:txBody>
      </p:sp>
      <p:pic>
        <p:nvPicPr>
          <p:cNvPr id="28" name="Picture 27">
            <a:extLst>
              <a:ext uri="{FF2B5EF4-FFF2-40B4-BE49-F238E27FC236}">
                <a16:creationId xmlns:a16="http://schemas.microsoft.com/office/drawing/2014/main" id="{4F830318-99A0-3410-0B3B-FE69D0628977}"/>
              </a:ext>
            </a:extLst>
          </p:cNvPr>
          <p:cNvPicPr>
            <a:picLocks noChangeAspect="1"/>
          </p:cNvPicPr>
          <p:nvPr/>
        </p:nvPicPr>
        <p:blipFill>
          <a:blip r:embed="rId4"/>
          <a:stretch>
            <a:fillRect/>
          </a:stretch>
        </p:blipFill>
        <p:spPr>
          <a:xfrm>
            <a:off x="790604" y="955196"/>
            <a:ext cx="1436311" cy="143631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Text 0"/>
          <p:cNvSpPr/>
          <p:nvPr/>
        </p:nvSpPr>
        <p:spPr>
          <a:xfrm>
            <a:off x="822960" y="109728"/>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About Cyberster</a:t>
            </a:r>
            <a:endParaRPr lang="en-US" sz="2200" dirty="0"/>
          </a:p>
        </p:txBody>
      </p:sp>
      <p:sp>
        <p:nvSpPr>
          <p:cNvPr id="4" name="Shape 1"/>
          <p:cNvSpPr/>
          <p:nvPr/>
        </p:nvSpPr>
        <p:spPr>
          <a:xfrm>
            <a:off x="228600" y="658368"/>
            <a:ext cx="8686800" cy="0"/>
          </a:xfrm>
          <a:prstGeom prst="line">
            <a:avLst/>
          </a:prstGeom>
          <a:noFill/>
          <a:ln w="9525">
            <a:solidFill>
              <a:srgbClr val="222222"/>
            </a:solidFill>
            <a:prstDash val="solid"/>
          </a:ln>
        </p:spPr>
      </p:sp>
      <p:sp>
        <p:nvSpPr>
          <p:cNvPr id="5" name="Shape 2"/>
          <p:cNvSpPr/>
          <p:nvPr/>
        </p:nvSpPr>
        <p:spPr>
          <a:xfrm>
            <a:off x="228600" y="777240"/>
            <a:ext cx="4114800" cy="1463040"/>
          </a:xfrm>
          <a:prstGeom prst="roundRect">
            <a:avLst>
              <a:gd name="adj" fmla="val 5000"/>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6" name="Text 3"/>
          <p:cNvSpPr/>
          <p:nvPr/>
        </p:nvSpPr>
        <p:spPr>
          <a:xfrm>
            <a:off x="411480" y="841248"/>
            <a:ext cx="3749040" cy="292608"/>
          </a:xfrm>
          <a:prstGeom prst="rect">
            <a:avLst/>
          </a:prstGeom>
          <a:noFill/>
          <a:ln/>
        </p:spPr>
        <p:txBody>
          <a:bodyPr wrap="square" lIns="0" tIns="0" rIns="0" bIns="0" rtlCol="0" anchor="ctr"/>
          <a:lstStyle/>
          <a:p>
            <a:pPr marL="0" indent="0">
              <a:buNone/>
            </a:pPr>
            <a:r>
              <a:rPr lang="en-US" sz="1100" b="1" dirty="0">
                <a:solidFill>
                  <a:srgbClr val="00E5FF"/>
                </a:solidFill>
                <a:latin typeface="Arial" pitchFamily="34" charset="0"/>
                <a:ea typeface="Arial" pitchFamily="34" charset="-122"/>
                <a:cs typeface="Arial" pitchFamily="34" charset="-120"/>
              </a:rPr>
              <a:t>Who We Are</a:t>
            </a:r>
            <a:endParaRPr lang="en-US" sz="1100" dirty="0"/>
          </a:p>
        </p:txBody>
      </p:sp>
      <p:sp>
        <p:nvSpPr>
          <p:cNvPr id="7" name="Text 4"/>
          <p:cNvSpPr/>
          <p:nvPr/>
        </p:nvSpPr>
        <p:spPr>
          <a:xfrm>
            <a:off x="411480" y="1078990"/>
            <a:ext cx="3749040" cy="960120"/>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Cyberster is a community built around practical cybersecurity education. The internship runs across four tracks. Each track is independent, focused, and designed to give you real skills in your chosen area. The Blue Team track is where defense, monitoring and investigation happen.</a:t>
            </a:r>
            <a:endParaRPr lang="en-US" sz="1050" dirty="0"/>
          </a:p>
        </p:txBody>
      </p:sp>
      <p:sp>
        <p:nvSpPr>
          <p:cNvPr id="8" name="Shape 5"/>
          <p:cNvSpPr/>
          <p:nvPr/>
        </p:nvSpPr>
        <p:spPr>
          <a:xfrm>
            <a:off x="4526280" y="777240"/>
            <a:ext cx="1463040" cy="1463040"/>
          </a:xfrm>
          <a:prstGeom prst="roundRect">
            <a:avLst>
              <a:gd name="adj" fmla="val 5000"/>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9" name="Shape 6"/>
          <p:cNvSpPr/>
          <p:nvPr/>
        </p:nvSpPr>
        <p:spPr>
          <a:xfrm>
            <a:off x="5029200" y="896112"/>
            <a:ext cx="457200" cy="457200"/>
          </a:xfrm>
          <a:prstGeom prst="ellipse">
            <a:avLst/>
          </a:prstGeom>
          <a:solidFill>
            <a:srgbClr val="111111"/>
          </a:solidFill>
          <a:ln w="12700">
            <a:solidFill>
              <a:srgbClr val="FF3333"/>
            </a:solidFill>
            <a:prstDash val="solid"/>
          </a:ln>
        </p:spPr>
        <p:txBody>
          <a:bodyPr/>
          <a:lstStyle/>
          <a:p>
            <a:endParaRPr lang="en-PK" dirty="0"/>
          </a:p>
        </p:txBody>
      </p:sp>
      <p:sp>
        <p:nvSpPr>
          <p:cNvPr id="10" name="Text 7"/>
          <p:cNvSpPr/>
          <p:nvPr/>
        </p:nvSpPr>
        <p:spPr>
          <a:xfrm>
            <a:off x="5029200" y="896112"/>
            <a:ext cx="457200" cy="457200"/>
          </a:xfrm>
          <a:prstGeom prst="rect">
            <a:avLst/>
          </a:prstGeom>
          <a:noFill/>
          <a:ln/>
        </p:spPr>
        <p:txBody>
          <a:bodyPr wrap="square" lIns="0" tIns="0" rIns="0" bIns="0" rtlCol="0" anchor="ctr"/>
          <a:lstStyle/>
          <a:p>
            <a:pPr marL="0" indent="0" algn="ctr">
              <a:buNone/>
            </a:pPr>
            <a:r>
              <a:rPr lang="en-US" sz="1400" dirty="0">
                <a:solidFill>
                  <a:srgbClr val="FF0000"/>
                </a:solidFill>
              </a:rPr>
              <a:t>⚔</a:t>
            </a:r>
          </a:p>
        </p:txBody>
      </p:sp>
      <p:sp>
        <p:nvSpPr>
          <p:cNvPr id="11" name="Text 8"/>
          <p:cNvSpPr/>
          <p:nvPr/>
        </p:nvSpPr>
        <p:spPr>
          <a:xfrm>
            <a:off x="4590288" y="1426464"/>
            <a:ext cx="1335024"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Red Team</a:t>
            </a:r>
            <a:endParaRPr lang="en-US" sz="900" dirty="0"/>
          </a:p>
        </p:txBody>
      </p:sp>
      <p:sp>
        <p:nvSpPr>
          <p:cNvPr id="12" name="Text 9"/>
          <p:cNvSpPr/>
          <p:nvPr/>
        </p:nvSpPr>
        <p:spPr>
          <a:xfrm>
            <a:off x="4590288" y="1709928"/>
            <a:ext cx="1335024" cy="411480"/>
          </a:xfrm>
          <a:prstGeom prst="rect">
            <a:avLst/>
          </a:prstGeom>
          <a:noFill/>
          <a:ln/>
        </p:spPr>
        <p:txBody>
          <a:bodyPr wrap="square" lIns="0" tIns="0" rIns="0" bIns="0" rtlCol="0" anchor="ctr"/>
          <a:lstStyle/>
          <a:p>
            <a:pPr marL="0" indent="0" algn="ctr">
              <a:buNone/>
            </a:pPr>
            <a:r>
              <a:rPr lang="en-US" sz="750" dirty="0">
                <a:solidFill>
                  <a:srgbClr val="AAAAAA"/>
                </a:solidFill>
                <a:latin typeface="Arial" pitchFamily="34" charset="0"/>
                <a:ea typeface="Arial" pitchFamily="34" charset="-122"/>
                <a:cs typeface="Arial" pitchFamily="34" charset="-120"/>
              </a:rPr>
              <a:t>Offensive security and attack simulation</a:t>
            </a:r>
            <a:endParaRPr lang="en-US" sz="750" dirty="0"/>
          </a:p>
        </p:txBody>
      </p:sp>
      <p:sp>
        <p:nvSpPr>
          <p:cNvPr id="13" name="Shape 10"/>
          <p:cNvSpPr/>
          <p:nvPr/>
        </p:nvSpPr>
        <p:spPr>
          <a:xfrm>
            <a:off x="6099048" y="777240"/>
            <a:ext cx="1463040" cy="1463040"/>
          </a:xfrm>
          <a:prstGeom prst="roundRect">
            <a:avLst>
              <a:gd name="adj" fmla="val 5000"/>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4" name="Shape 11"/>
          <p:cNvSpPr/>
          <p:nvPr/>
        </p:nvSpPr>
        <p:spPr>
          <a:xfrm>
            <a:off x="6601968" y="896112"/>
            <a:ext cx="457200" cy="457200"/>
          </a:xfrm>
          <a:prstGeom prst="ellipse">
            <a:avLst/>
          </a:prstGeom>
          <a:solidFill>
            <a:srgbClr val="111111"/>
          </a:solidFill>
          <a:ln w="12700">
            <a:solidFill>
              <a:srgbClr val="00E5FF"/>
            </a:solidFill>
            <a:prstDash val="solid"/>
          </a:ln>
        </p:spPr>
      </p:sp>
      <p:sp>
        <p:nvSpPr>
          <p:cNvPr id="15" name="Text 12"/>
          <p:cNvSpPr/>
          <p:nvPr/>
        </p:nvSpPr>
        <p:spPr>
          <a:xfrm>
            <a:off x="6601968" y="896112"/>
            <a:ext cx="457200" cy="457200"/>
          </a:xfrm>
          <a:prstGeom prst="rect">
            <a:avLst/>
          </a:prstGeom>
          <a:noFill/>
          <a:ln/>
        </p:spPr>
        <p:txBody>
          <a:bodyPr wrap="square" lIns="0" tIns="0" rIns="0" bIns="0" rtlCol="0" anchor="ctr"/>
          <a:lstStyle/>
          <a:p>
            <a:pPr marL="0" indent="0" algn="ctr">
              <a:buNone/>
            </a:pPr>
            <a:r>
              <a:rPr lang="en-US" sz="1400" dirty="0">
                <a:solidFill>
                  <a:schemeClr val="accent1">
                    <a:lumMod val="40000"/>
                    <a:lumOff val="60000"/>
                  </a:schemeClr>
                </a:solidFill>
              </a:rPr>
              <a:t>🛡</a:t>
            </a:r>
          </a:p>
        </p:txBody>
      </p:sp>
      <p:sp>
        <p:nvSpPr>
          <p:cNvPr id="16" name="Text 13"/>
          <p:cNvSpPr/>
          <p:nvPr/>
        </p:nvSpPr>
        <p:spPr>
          <a:xfrm>
            <a:off x="6163056" y="1426464"/>
            <a:ext cx="1335024"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Blue Team</a:t>
            </a:r>
            <a:endParaRPr lang="en-US" sz="900" dirty="0"/>
          </a:p>
        </p:txBody>
      </p:sp>
      <p:sp>
        <p:nvSpPr>
          <p:cNvPr id="17" name="Text 14"/>
          <p:cNvSpPr/>
          <p:nvPr/>
        </p:nvSpPr>
        <p:spPr>
          <a:xfrm>
            <a:off x="6163056" y="1709928"/>
            <a:ext cx="1335024" cy="411480"/>
          </a:xfrm>
          <a:prstGeom prst="rect">
            <a:avLst/>
          </a:prstGeom>
          <a:noFill/>
          <a:ln/>
        </p:spPr>
        <p:txBody>
          <a:bodyPr wrap="square" lIns="0" tIns="0" rIns="0" bIns="0" rtlCol="0" anchor="ctr"/>
          <a:lstStyle/>
          <a:p>
            <a:pPr marL="0" indent="0" algn="ctr">
              <a:buNone/>
            </a:pPr>
            <a:r>
              <a:rPr lang="en-US" sz="750" dirty="0">
                <a:solidFill>
                  <a:srgbClr val="AAAAAA"/>
                </a:solidFill>
                <a:latin typeface="Arial" pitchFamily="34" charset="0"/>
                <a:ea typeface="Arial" pitchFamily="34" charset="-122"/>
                <a:cs typeface="Arial" pitchFamily="34" charset="-120"/>
              </a:rPr>
              <a:t>Defense, monitoring and incident response</a:t>
            </a:r>
            <a:endParaRPr lang="en-US" sz="750" dirty="0"/>
          </a:p>
        </p:txBody>
      </p:sp>
      <p:sp>
        <p:nvSpPr>
          <p:cNvPr id="18" name="Shape 15"/>
          <p:cNvSpPr/>
          <p:nvPr/>
        </p:nvSpPr>
        <p:spPr>
          <a:xfrm>
            <a:off x="7671816" y="777240"/>
            <a:ext cx="1463040" cy="1463040"/>
          </a:xfrm>
          <a:prstGeom prst="roundRect">
            <a:avLst>
              <a:gd name="adj" fmla="val 5000"/>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9" name="Shape 16"/>
          <p:cNvSpPr/>
          <p:nvPr/>
        </p:nvSpPr>
        <p:spPr>
          <a:xfrm>
            <a:off x="8174736" y="896112"/>
            <a:ext cx="457200" cy="457200"/>
          </a:xfrm>
          <a:prstGeom prst="ellipse">
            <a:avLst/>
          </a:prstGeom>
          <a:solidFill>
            <a:srgbClr val="111111"/>
          </a:solidFill>
          <a:ln w="12700">
            <a:solidFill>
              <a:srgbClr val="AA44FF"/>
            </a:solidFill>
            <a:prstDash val="solid"/>
          </a:ln>
        </p:spPr>
      </p:sp>
      <p:sp>
        <p:nvSpPr>
          <p:cNvPr id="20" name="Text 17"/>
          <p:cNvSpPr/>
          <p:nvPr/>
        </p:nvSpPr>
        <p:spPr>
          <a:xfrm>
            <a:off x="8174736" y="896112"/>
            <a:ext cx="457200" cy="457200"/>
          </a:xfrm>
          <a:prstGeom prst="rect">
            <a:avLst/>
          </a:prstGeom>
          <a:noFill/>
          <a:ln/>
        </p:spPr>
        <p:txBody>
          <a:bodyPr wrap="square" lIns="0" tIns="0" rIns="0" bIns="0" rtlCol="0" anchor="ctr"/>
          <a:lstStyle/>
          <a:p>
            <a:pPr marL="0" indent="0" algn="ctr">
              <a:buNone/>
            </a:pPr>
            <a:r>
              <a:rPr lang="en-US" sz="1400" dirty="0">
                <a:solidFill>
                  <a:srgbClr val="000000"/>
                </a:solidFill>
              </a:rPr>
              <a:t>🔄</a:t>
            </a:r>
            <a:endParaRPr lang="en-US" sz="1400" dirty="0"/>
          </a:p>
        </p:txBody>
      </p:sp>
      <p:sp>
        <p:nvSpPr>
          <p:cNvPr id="21" name="Text 18"/>
          <p:cNvSpPr/>
          <p:nvPr/>
        </p:nvSpPr>
        <p:spPr>
          <a:xfrm>
            <a:off x="7735824" y="1426464"/>
            <a:ext cx="1335024"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Purple Team</a:t>
            </a:r>
            <a:endParaRPr lang="en-US" sz="900" dirty="0"/>
          </a:p>
        </p:txBody>
      </p:sp>
      <p:sp>
        <p:nvSpPr>
          <p:cNvPr id="22" name="Text 19"/>
          <p:cNvSpPr/>
          <p:nvPr/>
        </p:nvSpPr>
        <p:spPr>
          <a:xfrm>
            <a:off x="7735824" y="1709928"/>
            <a:ext cx="1335024" cy="411480"/>
          </a:xfrm>
          <a:prstGeom prst="rect">
            <a:avLst/>
          </a:prstGeom>
          <a:noFill/>
          <a:ln/>
        </p:spPr>
        <p:txBody>
          <a:bodyPr wrap="square" lIns="0" tIns="0" rIns="0" bIns="0" rtlCol="0" anchor="ctr"/>
          <a:lstStyle/>
          <a:p>
            <a:pPr marL="0" indent="0" algn="ctr">
              <a:buNone/>
            </a:pPr>
            <a:r>
              <a:rPr lang="en-US" sz="750" dirty="0">
                <a:solidFill>
                  <a:srgbClr val="AAAAAA"/>
                </a:solidFill>
                <a:latin typeface="Arial" pitchFamily="34" charset="0"/>
                <a:ea typeface="Arial" pitchFamily="34" charset="-122"/>
                <a:cs typeface="Arial" pitchFamily="34" charset="-120"/>
              </a:rPr>
              <a:t>Bridging attack and defense together</a:t>
            </a:r>
            <a:endParaRPr lang="en-US" sz="750" dirty="0"/>
          </a:p>
        </p:txBody>
      </p:sp>
      <p:sp>
        <p:nvSpPr>
          <p:cNvPr id="23" name="Text 20"/>
          <p:cNvSpPr/>
          <p:nvPr/>
        </p:nvSpPr>
        <p:spPr>
          <a:xfrm>
            <a:off x="411480" y="2377440"/>
            <a:ext cx="3657600" cy="320040"/>
          </a:xfrm>
          <a:prstGeom prst="rect">
            <a:avLst/>
          </a:prstGeom>
          <a:noFill/>
          <a:ln/>
        </p:spPr>
        <p:txBody>
          <a:bodyPr wrap="square" lIns="0" tIns="0" rIns="0" bIns="0" rtlCol="0" anchor="ctr"/>
          <a:lstStyle/>
          <a:p>
            <a:pPr marL="0" indent="0">
              <a:buNone/>
            </a:pPr>
            <a:r>
              <a:rPr lang="en-US" sz="1100" b="1" dirty="0">
                <a:solidFill>
                  <a:srgbClr val="00E5FF"/>
                </a:solidFill>
                <a:latin typeface="Arial" pitchFamily="34" charset="0"/>
                <a:ea typeface="Arial" pitchFamily="34" charset="-122"/>
                <a:cs typeface="Arial" pitchFamily="34" charset="-120"/>
              </a:rPr>
              <a:t>What We Stand For</a:t>
            </a:r>
            <a:endParaRPr lang="en-US" sz="1100" dirty="0"/>
          </a:p>
        </p:txBody>
      </p:sp>
      <p:sp>
        <p:nvSpPr>
          <p:cNvPr id="24" name="Shape 21"/>
          <p:cNvSpPr/>
          <p:nvPr/>
        </p:nvSpPr>
        <p:spPr>
          <a:xfrm>
            <a:off x="228600" y="2788920"/>
            <a:ext cx="2011680" cy="868680"/>
          </a:xfrm>
          <a:prstGeom prst="roundRect">
            <a:avLst>
              <a:gd name="adj" fmla="val 842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5" name="Text 22"/>
          <p:cNvSpPr/>
          <p:nvPr/>
        </p:nvSpPr>
        <p:spPr>
          <a:xfrm>
            <a:off x="338328" y="2880360"/>
            <a:ext cx="1792224"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Ethics</a:t>
            </a:r>
            <a:endParaRPr lang="en-US" sz="1000" dirty="0"/>
          </a:p>
        </p:txBody>
      </p:sp>
      <p:sp>
        <p:nvSpPr>
          <p:cNvPr id="26" name="Text 23"/>
          <p:cNvSpPr/>
          <p:nvPr/>
        </p:nvSpPr>
        <p:spPr>
          <a:xfrm>
            <a:off x="338328" y="3172968"/>
            <a:ext cx="1792224" cy="411480"/>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The way you work matters as much as the work itself.</a:t>
            </a:r>
            <a:endParaRPr lang="en-US" sz="1050" dirty="0"/>
          </a:p>
        </p:txBody>
      </p:sp>
      <p:sp>
        <p:nvSpPr>
          <p:cNvPr id="27" name="Shape 24"/>
          <p:cNvSpPr/>
          <p:nvPr/>
        </p:nvSpPr>
        <p:spPr>
          <a:xfrm>
            <a:off x="2423160" y="2788920"/>
            <a:ext cx="2011680" cy="868680"/>
          </a:xfrm>
          <a:prstGeom prst="roundRect">
            <a:avLst>
              <a:gd name="adj" fmla="val 842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8" name="Text 25"/>
          <p:cNvSpPr/>
          <p:nvPr/>
        </p:nvSpPr>
        <p:spPr>
          <a:xfrm>
            <a:off x="2532888" y="2880360"/>
            <a:ext cx="1792224"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Trust</a:t>
            </a:r>
            <a:endParaRPr lang="en-US" sz="1000" dirty="0"/>
          </a:p>
        </p:txBody>
      </p:sp>
      <p:sp>
        <p:nvSpPr>
          <p:cNvPr id="29" name="Text 26"/>
          <p:cNvSpPr/>
          <p:nvPr/>
        </p:nvSpPr>
        <p:spPr>
          <a:xfrm>
            <a:off x="2532888" y="3172968"/>
            <a:ext cx="1792224" cy="411480"/>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What is shared inside stays inside. Always.</a:t>
            </a:r>
            <a:endParaRPr lang="en-US" sz="1050" dirty="0"/>
          </a:p>
        </p:txBody>
      </p:sp>
      <p:sp>
        <p:nvSpPr>
          <p:cNvPr id="30" name="Shape 27"/>
          <p:cNvSpPr/>
          <p:nvPr/>
        </p:nvSpPr>
        <p:spPr>
          <a:xfrm>
            <a:off x="228600" y="3794760"/>
            <a:ext cx="2011680" cy="868680"/>
          </a:xfrm>
          <a:prstGeom prst="roundRect">
            <a:avLst>
              <a:gd name="adj" fmla="val 842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31" name="Text 28"/>
          <p:cNvSpPr/>
          <p:nvPr/>
        </p:nvSpPr>
        <p:spPr>
          <a:xfrm>
            <a:off x="338328" y="3886200"/>
            <a:ext cx="1792224"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Discipline</a:t>
            </a:r>
            <a:endParaRPr lang="en-US" sz="1000" dirty="0"/>
          </a:p>
        </p:txBody>
      </p:sp>
      <p:sp>
        <p:nvSpPr>
          <p:cNvPr id="32" name="Text 29"/>
          <p:cNvSpPr/>
          <p:nvPr/>
        </p:nvSpPr>
        <p:spPr>
          <a:xfrm>
            <a:off x="338328" y="4178808"/>
            <a:ext cx="1792224" cy="411480"/>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Consistent effort separates learning from just attending.</a:t>
            </a:r>
            <a:endParaRPr lang="en-US" sz="1050" dirty="0"/>
          </a:p>
        </p:txBody>
      </p:sp>
      <p:sp>
        <p:nvSpPr>
          <p:cNvPr id="33" name="Shape 30"/>
          <p:cNvSpPr/>
          <p:nvPr/>
        </p:nvSpPr>
        <p:spPr>
          <a:xfrm>
            <a:off x="2423160" y="3794760"/>
            <a:ext cx="2011680" cy="868680"/>
          </a:xfrm>
          <a:prstGeom prst="roundRect">
            <a:avLst>
              <a:gd name="adj" fmla="val 842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34" name="Text 31"/>
          <p:cNvSpPr/>
          <p:nvPr/>
        </p:nvSpPr>
        <p:spPr>
          <a:xfrm>
            <a:off x="2532888" y="3886200"/>
            <a:ext cx="1792224"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Integrity</a:t>
            </a:r>
            <a:endParaRPr lang="en-US" sz="1000" dirty="0"/>
          </a:p>
        </p:txBody>
      </p:sp>
      <p:sp>
        <p:nvSpPr>
          <p:cNvPr id="35" name="Text 32"/>
          <p:cNvSpPr/>
          <p:nvPr/>
        </p:nvSpPr>
        <p:spPr>
          <a:xfrm>
            <a:off x="2532888" y="4178808"/>
            <a:ext cx="1792224" cy="411480"/>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Your work should always be your own. No shortcuts.</a:t>
            </a:r>
            <a:endParaRPr lang="en-US" sz="1050" dirty="0"/>
          </a:p>
        </p:txBody>
      </p:sp>
      <p:sp>
        <p:nvSpPr>
          <p:cNvPr id="36" name="Shape 33"/>
          <p:cNvSpPr/>
          <p:nvPr/>
        </p:nvSpPr>
        <p:spPr>
          <a:xfrm>
            <a:off x="4526280" y="2331720"/>
            <a:ext cx="4389120" cy="2468880"/>
          </a:xfrm>
          <a:prstGeom prst="roundRect">
            <a:avLst>
              <a:gd name="adj" fmla="val 2963"/>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37" name="Text 34"/>
          <p:cNvSpPr/>
          <p:nvPr/>
        </p:nvSpPr>
        <p:spPr>
          <a:xfrm>
            <a:off x="4663440" y="2450592"/>
            <a:ext cx="4114800" cy="292608"/>
          </a:xfrm>
          <a:prstGeom prst="rect">
            <a:avLst/>
          </a:prstGeom>
          <a:noFill/>
          <a:ln/>
        </p:spPr>
        <p:txBody>
          <a:bodyPr wrap="square" lIns="0" tIns="0" rIns="0" bIns="0" rtlCol="0" anchor="ctr"/>
          <a:lstStyle/>
          <a:p>
            <a:pPr marL="0" indent="0">
              <a:buNone/>
            </a:pPr>
            <a:r>
              <a:rPr lang="en-US" sz="1100" b="1" dirty="0">
                <a:solidFill>
                  <a:srgbClr val="00E5FF"/>
                </a:solidFill>
                <a:latin typeface="Arial" pitchFamily="34" charset="0"/>
                <a:ea typeface="Arial" pitchFamily="34" charset="-122"/>
                <a:cs typeface="Arial" pitchFamily="34" charset="-120"/>
              </a:rPr>
              <a:t>Our Core Principles</a:t>
            </a:r>
            <a:endParaRPr lang="en-US" sz="1100" dirty="0"/>
          </a:p>
        </p:txBody>
      </p:sp>
      <p:sp>
        <p:nvSpPr>
          <p:cNvPr id="38" name="Text 35"/>
          <p:cNvSpPr/>
          <p:nvPr/>
        </p:nvSpPr>
        <p:spPr>
          <a:xfrm>
            <a:off x="4663440" y="2834640"/>
            <a:ext cx="4114800" cy="384048"/>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  Ethics — How you work matters as much as what you produce.</a:t>
            </a:r>
            <a:endParaRPr lang="en-US" sz="900" dirty="0"/>
          </a:p>
        </p:txBody>
      </p:sp>
      <p:sp>
        <p:nvSpPr>
          <p:cNvPr id="39" name="Text 36"/>
          <p:cNvSpPr/>
          <p:nvPr/>
        </p:nvSpPr>
        <p:spPr>
          <a:xfrm>
            <a:off x="4663440" y="3291840"/>
            <a:ext cx="4114800" cy="384048"/>
          </a:xfrm>
          <a:prstGeom prst="rect">
            <a:avLst/>
          </a:prstGeom>
          <a:noFill/>
          <a:ln/>
        </p:spPr>
        <p:txBody>
          <a:bodyPr wrap="square" lIns="0" tIns="0" rIns="0" bIns="0" rtlCol="0" anchor="ctr"/>
          <a:lstStyle/>
          <a:p>
            <a:pPr marL="0" indent="0">
              <a:buNone/>
            </a:pPr>
            <a:r>
              <a:rPr lang="en-US" sz="900" dirty="0">
                <a:solidFill>
                  <a:srgbClr val="AAAAAA"/>
                </a:solidFill>
                <a:latin typeface="Arial" pitchFamily="34" charset="0"/>
                <a:ea typeface="Arial" pitchFamily="34" charset="-122"/>
                <a:cs typeface="Arial" pitchFamily="34" charset="-120"/>
              </a:rPr>
              <a:t>🤝  Trust — Confidentiality is the foundation of this community.</a:t>
            </a:r>
            <a:endParaRPr lang="en-US" sz="900" dirty="0"/>
          </a:p>
        </p:txBody>
      </p:sp>
      <p:sp>
        <p:nvSpPr>
          <p:cNvPr id="40" name="Text 37"/>
          <p:cNvSpPr/>
          <p:nvPr/>
        </p:nvSpPr>
        <p:spPr>
          <a:xfrm>
            <a:off x="4663440" y="3749040"/>
            <a:ext cx="4114800" cy="384048"/>
          </a:xfrm>
          <a:prstGeom prst="rect">
            <a:avLst/>
          </a:prstGeom>
          <a:noFill/>
          <a:ln/>
        </p:spPr>
        <p:txBody>
          <a:bodyPr wrap="square" lIns="0" tIns="0" rIns="0" bIns="0" rtlCol="0" anchor="ctr"/>
          <a:lstStyle/>
          <a:p>
            <a:pPr marL="0" indent="0">
              <a:buNone/>
            </a:pPr>
            <a:r>
              <a:rPr lang="en-US" sz="900" dirty="0">
                <a:solidFill>
                  <a:srgbClr val="AAAAAA"/>
                </a:solidFill>
                <a:latin typeface="Arial" pitchFamily="34" charset="0"/>
                <a:ea typeface="Arial" pitchFamily="34" charset="-122"/>
                <a:cs typeface="Arial" pitchFamily="34" charset="-120"/>
              </a:rPr>
              <a:t>🎯  Discipline — Consistency separates real learning from attendance.</a:t>
            </a:r>
            <a:endParaRPr lang="en-US" sz="900" dirty="0"/>
          </a:p>
        </p:txBody>
      </p:sp>
      <p:sp>
        <p:nvSpPr>
          <p:cNvPr id="41" name="Text 38"/>
          <p:cNvSpPr/>
          <p:nvPr/>
        </p:nvSpPr>
        <p:spPr>
          <a:xfrm>
            <a:off x="4663440" y="4206240"/>
            <a:ext cx="4114800" cy="384048"/>
          </a:xfrm>
          <a:prstGeom prst="rect">
            <a:avLst/>
          </a:prstGeom>
          <a:noFill/>
          <a:ln/>
        </p:spPr>
        <p:txBody>
          <a:bodyPr wrap="square" lIns="0" tIns="0" rIns="0" bIns="0" rtlCol="0" anchor="ctr"/>
          <a:lstStyle/>
          <a:p>
            <a:pPr marL="0" indent="0">
              <a:buNone/>
            </a:pPr>
            <a:r>
              <a:rPr lang="en-US" sz="900" dirty="0">
                <a:solidFill>
                  <a:srgbClr val="AAAAAA"/>
                </a:solidFill>
                <a:latin typeface="Arial" pitchFamily="34" charset="0"/>
                <a:ea typeface="Arial" pitchFamily="34" charset="-122"/>
                <a:cs typeface="Arial" pitchFamily="34" charset="-120"/>
              </a:rPr>
              <a:t>✅  Integrity — Your report, your work, your name on it. Always.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Text 0"/>
          <p:cNvSpPr/>
          <p:nvPr/>
        </p:nvSpPr>
        <p:spPr>
          <a:xfrm>
            <a:off x="822960" y="109728"/>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Program Overview</a:t>
            </a:r>
            <a:endParaRPr lang="en-US" sz="2200" dirty="0"/>
          </a:p>
        </p:txBody>
      </p:sp>
      <p:sp>
        <p:nvSpPr>
          <p:cNvPr id="4" name="Shape 1"/>
          <p:cNvSpPr/>
          <p:nvPr/>
        </p:nvSpPr>
        <p:spPr>
          <a:xfrm>
            <a:off x="228600" y="658368"/>
            <a:ext cx="8686800" cy="0"/>
          </a:xfrm>
          <a:prstGeom prst="line">
            <a:avLst/>
          </a:prstGeom>
          <a:noFill/>
          <a:ln w="9525">
            <a:solidFill>
              <a:srgbClr val="222222"/>
            </a:solidFill>
            <a:prstDash val="solid"/>
          </a:ln>
        </p:spPr>
      </p:sp>
      <p:sp>
        <p:nvSpPr>
          <p:cNvPr id="5" name="Shape 2"/>
          <p:cNvSpPr/>
          <p:nvPr/>
        </p:nvSpPr>
        <p:spPr>
          <a:xfrm>
            <a:off x="228600" y="804672"/>
            <a:ext cx="8686800" cy="475488"/>
          </a:xfrm>
          <a:prstGeom prst="roundRect">
            <a:avLst>
              <a:gd name="adj" fmla="val 15385"/>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6" name="Text 3"/>
          <p:cNvSpPr/>
          <p:nvPr/>
        </p:nvSpPr>
        <p:spPr>
          <a:xfrm>
            <a:off x="411480" y="896112"/>
            <a:ext cx="2011680" cy="292608"/>
          </a:xfrm>
          <a:prstGeom prst="rect">
            <a:avLst/>
          </a:prstGeom>
          <a:noFill/>
          <a:ln/>
        </p:spPr>
        <p:txBody>
          <a:bodyPr wrap="square" lIns="0" tIns="0" rIns="0" bIns="0" rtlCol="0" anchor="ctr"/>
          <a:lstStyle/>
          <a:p>
            <a:pPr marL="0" indent="0">
              <a:buNone/>
            </a:pPr>
            <a:r>
              <a:rPr lang="en-US" sz="1000" b="1" dirty="0">
                <a:solidFill>
                  <a:srgbClr val="00E5FF"/>
                </a:solidFill>
                <a:latin typeface="Arial" pitchFamily="34" charset="0"/>
                <a:ea typeface="Arial" pitchFamily="34" charset="-122"/>
                <a:cs typeface="Arial" pitchFamily="34" charset="-120"/>
              </a:rPr>
              <a:t>Program</a:t>
            </a:r>
            <a:endParaRPr lang="en-US" sz="1000" dirty="0"/>
          </a:p>
        </p:txBody>
      </p:sp>
      <p:sp>
        <p:nvSpPr>
          <p:cNvPr id="7" name="Shape 4"/>
          <p:cNvSpPr/>
          <p:nvPr/>
        </p:nvSpPr>
        <p:spPr>
          <a:xfrm>
            <a:off x="2514600" y="850392"/>
            <a:ext cx="0" cy="384048"/>
          </a:xfrm>
          <a:prstGeom prst="line">
            <a:avLst/>
          </a:prstGeom>
          <a:noFill/>
          <a:ln w="9525">
            <a:solidFill>
              <a:srgbClr val="333333"/>
            </a:solidFill>
            <a:prstDash val="solid"/>
          </a:ln>
        </p:spPr>
      </p:sp>
      <p:sp>
        <p:nvSpPr>
          <p:cNvPr id="8" name="Text 5"/>
          <p:cNvSpPr/>
          <p:nvPr/>
        </p:nvSpPr>
        <p:spPr>
          <a:xfrm>
            <a:off x="2697480" y="896112"/>
            <a:ext cx="6035040" cy="292608"/>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Cyberster Blue Team Internship</a:t>
            </a:r>
            <a:endParaRPr lang="en-US" sz="1000" dirty="0"/>
          </a:p>
        </p:txBody>
      </p:sp>
      <p:sp>
        <p:nvSpPr>
          <p:cNvPr id="9" name="Shape 6"/>
          <p:cNvSpPr/>
          <p:nvPr/>
        </p:nvSpPr>
        <p:spPr>
          <a:xfrm>
            <a:off x="228600" y="1335024"/>
            <a:ext cx="8686800" cy="475488"/>
          </a:xfrm>
          <a:prstGeom prst="roundRect">
            <a:avLst>
              <a:gd name="adj" fmla="val 15385"/>
            </a:avLst>
          </a:prstGeom>
          <a:solidFill>
            <a:srgbClr val="111111"/>
          </a:solidFill>
          <a:ln w="6350">
            <a:solidFill>
              <a:srgbClr val="00B4CC"/>
            </a:solidFill>
            <a:prstDash val="solid"/>
          </a:ln>
          <a:effectLst>
            <a:outerShdw blurRad="101600" dist="38100" dir="2700000" algn="bl" rotWithShape="0">
              <a:srgbClr val="000000">
                <a:alpha val="40000"/>
              </a:srgbClr>
            </a:outerShdw>
          </a:effectLst>
        </p:spPr>
      </p:sp>
      <p:sp>
        <p:nvSpPr>
          <p:cNvPr id="10" name="Text 7"/>
          <p:cNvSpPr/>
          <p:nvPr/>
        </p:nvSpPr>
        <p:spPr>
          <a:xfrm>
            <a:off x="411480" y="1426464"/>
            <a:ext cx="2011680" cy="292608"/>
          </a:xfrm>
          <a:prstGeom prst="rect">
            <a:avLst/>
          </a:prstGeom>
          <a:noFill/>
          <a:ln/>
        </p:spPr>
        <p:txBody>
          <a:bodyPr wrap="square" lIns="0" tIns="0" rIns="0" bIns="0" rtlCol="0" anchor="ctr"/>
          <a:lstStyle/>
          <a:p>
            <a:pPr marL="0" indent="0">
              <a:buNone/>
            </a:pPr>
            <a:r>
              <a:rPr lang="en-US" sz="1000" b="1" dirty="0">
                <a:solidFill>
                  <a:srgbClr val="00E5FF"/>
                </a:solidFill>
                <a:latin typeface="Arial" pitchFamily="34" charset="0"/>
                <a:ea typeface="Arial" pitchFamily="34" charset="-122"/>
                <a:cs typeface="Arial" pitchFamily="34" charset="-120"/>
              </a:rPr>
              <a:t>Duration</a:t>
            </a:r>
            <a:endParaRPr lang="en-US" sz="1000" dirty="0"/>
          </a:p>
        </p:txBody>
      </p:sp>
      <p:sp>
        <p:nvSpPr>
          <p:cNvPr id="11" name="Shape 8"/>
          <p:cNvSpPr/>
          <p:nvPr/>
        </p:nvSpPr>
        <p:spPr>
          <a:xfrm>
            <a:off x="2514600" y="1380744"/>
            <a:ext cx="0" cy="384048"/>
          </a:xfrm>
          <a:prstGeom prst="line">
            <a:avLst/>
          </a:prstGeom>
          <a:noFill/>
          <a:ln w="9525">
            <a:solidFill>
              <a:srgbClr val="333333"/>
            </a:solidFill>
            <a:prstDash val="solid"/>
          </a:ln>
        </p:spPr>
      </p:sp>
      <p:sp>
        <p:nvSpPr>
          <p:cNvPr id="12" name="Text 9"/>
          <p:cNvSpPr/>
          <p:nvPr/>
        </p:nvSpPr>
        <p:spPr>
          <a:xfrm>
            <a:off x="2697480" y="1426464"/>
            <a:ext cx="6035040" cy="292608"/>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Three months, running across two back-to-back phases</a:t>
            </a:r>
            <a:endParaRPr lang="en-US" sz="1000" dirty="0"/>
          </a:p>
        </p:txBody>
      </p:sp>
      <p:sp>
        <p:nvSpPr>
          <p:cNvPr id="13" name="Shape 10"/>
          <p:cNvSpPr/>
          <p:nvPr/>
        </p:nvSpPr>
        <p:spPr>
          <a:xfrm>
            <a:off x="228600" y="1865376"/>
            <a:ext cx="8686800" cy="475488"/>
          </a:xfrm>
          <a:prstGeom prst="roundRect">
            <a:avLst>
              <a:gd name="adj" fmla="val 15385"/>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4" name="Text 11"/>
          <p:cNvSpPr/>
          <p:nvPr/>
        </p:nvSpPr>
        <p:spPr>
          <a:xfrm>
            <a:off x="411480" y="1956816"/>
            <a:ext cx="2011680" cy="292608"/>
          </a:xfrm>
          <a:prstGeom prst="rect">
            <a:avLst/>
          </a:prstGeom>
          <a:noFill/>
          <a:ln/>
        </p:spPr>
        <p:txBody>
          <a:bodyPr wrap="square" lIns="0" tIns="0" rIns="0" bIns="0" rtlCol="0" anchor="ctr"/>
          <a:lstStyle/>
          <a:p>
            <a:pPr marL="0" indent="0">
              <a:buNone/>
            </a:pPr>
            <a:r>
              <a:rPr lang="en-US" sz="1000" b="1" dirty="0">
                <a:solidFill>
                  <a:srgbClr val="00E5FF"/>
                </a:solidFill>
                <a:latin typeface="Arial" pitchFamily="34" charset="0"/>
                <a:ea typeface="Arial" pitchFamily="34" charset="-122"/>
                <a:cs typeface="Arial" pitchFamily="34" charset="-120"/>
              </a:rPr>
              <a:t>Phase One</a:t>
            </a:r>
            <a:endParaRPr lang="en-US" sz="1000" dirty="0"/>
          </a:p>
        </p:txBody>
      </p:sp>
      <p:sp>
        <p:nvSpPr>
          <p:cNvPr id="15" name="Shape 12"/>
          <p:cNvSpPr/>
          <p:nvPr/>
        </p:nvSpPr>
        <p:spPr>
          <a:xfrm>
            <a:off x="2514600" y="1911096"/>
            <a:ext cx="0" cy="384048"/>
          </a:xfrm>
          <a:prstGeom prst="line">
            <a:avLst/>
          </a:prstGeom>
          <a:noFill/>
          <a:ln w="9525">
            <a:solidFill>
              <a:srgbClr val="333333"/>
            </a:solidFill>
            <a:prstDash val="solid"/>
          </a:ln>
        </p:spPr>
      </p:sp>
      <p:sp>
        <p:nvSpPr>
          <p:cNvPr id="16" name="Text 13"/>
          <p:cNvSpPr/>
          <p:nvPr/>
        </p:nvSpPr>
        <p:spPr>
          <a:xfrm>
            <a:off x="2697480" y="1956816"/>
            <a:ext cx="6035040" cy="292608"/>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SOC Operations and SIEM work, focused on Wazuh</a:t>
            </a:r>
            <a:endParaRPr lang="en-US" sz="1000" dirty="0"/>
          </a:p>
        </p:txBody>
      </p:sp>
      <p:sp>
        <p:nvSpPr>
          <p:cNvPr id="17" name="Shape 14"/>
          <p:cNvSpPr/>
          <p:nvPr/>
        </p:nvSpPr>
        <p:spPr>
          <a:xfrm>
            <a:off x="228600" y="2395728"/>
            <a:ext cx="8686800" cy="475488"/>
          </a:xfrm>
          <a:prstGeom prst="roundRect">
            <a:avLst>
              <a:gd name="adj" fmla="val 15385"/>
            </a:avLst>
          </a:prstGeom>
          <a:solidFill>
            <a:srgbClr val="111111"/>
          </a:solidFill>
          <a:ln w="6350">
            <a:solidFill>
              <a:srgbClr val="00B4CC"/>
            </a:solidFill>
            <a:prstDash val="solid"/>
          </a:ln>
          <a:effectLst>
            <a:outerShdw blurRad="101600" dist="38100" dir="2700000" algn="bl" rotWithShape="0">
              <a:srgbClr val="000000">
                <a:alpha val="40000"/>
              </a:srgbClr>
            </a:outerShdw>
          </a:effectLst>
        </p:spPr>
      </p:sp>
      <p:sp>
        <p:nvSpPr>
          <p:cNvPr id="18" name="Text 15"/>
          <p:cNvSpPr/>
          <p:nvPr/>
        </p:nvSpPr>
        <p:spPr>
          <a:xfrm>
            <a:off x="411480" y="2487168"/>
            <a:ext cx="2011680" cy="292608"/>
          </a:xfrm>
          <a:prstGeom prst="rect">
            <a:avLst/>
          </a:prstGeom>
          <a:noFill/>
          <a:ln/>
        </p:spPr>
        <p:txBody>
          <a:bodyPr wrap="square" lIns="0" tIns="0" rIns="0" bIns="0" rtlCol="0" anchor="ctr"/>
          <a:lstStyle/>
          <a:p>
            <a:pPr marL="0" indent="0">
              <a:buNone/>
            </a:pPr>
            <a:r>
              <a:rPr lang="en-US" sz="1000" b="1" dirty="0">
                <a:solidFill>
                  <a:srgbClr val="00E5FF"/>
                </a:solidFill>
                <a:latin typeface="Arial" pitchFamily="34" charset="0"/>
                <a:ea typeface="Arial" pitchFamily="34" charset="-122"/>
                <a:cs typeface="Arial" pitchFamily="34" charset="-120"/>
              </a:rPr>
              <a:t>Phase Two</a:t>
            </a:r>
            <a:endParaRPr lang="en-US" sz="1000" dirty="0"/>
          </a:p>
        </p:txBody>
      </p:sp>
      <p:sp>
        <p:nvSpPr>
          <p:cNvPr id="19" name="Shape 16"/>
          <p:cNvSpPr/>
          <p:nvPr/>
        </p:nvSpPr>
        <p:spPr>
          <a:xfrm>
            <a:off x="2514600" y="2441448"/>
            <a:ext cx="0" cy="384048"/>
          </a:xfrm>
          <a:prstGeom prst="line">
            <a:avLst/>
          </a:prstGeom>
          <a:noFill/>
          <a:ln w="9525">
            <a:solidFill>
              <a:srgbClr val="333333"/>
            </a:solidFill>
            <a:prstDash val="solid"/>
          </a:ln>
        </p:spPr>
      </p:sp>
      <p:sp>
        <p:nvSpPr>
          <p:cNvPr id="20" name="Text 17"/>
          <p:cNvSpPr/>
          <p:nvPr/>
        </p:nvSpPr>
        <p:spPr>
          <a:xfrm>
            <a:off x="2697480" y="2487168"/>
            <a:ext cx="6035040" cy="292608"/>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Digital Forensics and Incident Response</a:t>
            </a:r>
            <a:endParaRPr lang="en-US" sz="1000" dirty="0"/>
          </a:p>
        </p:txBody>
      </p:sp>
      <p:sp>
        <p:nvSpPr>
          <p:cNvPr id="21" name="Shape 18"/>
          <p:cNvSpPr/>
          <p:nvPr/>
        </p:nvSpPr>
        <p:spPr>
          <a:xfrm>
            <a:off x="228600" y="2926080"/>
            <a:ext cx="8686800" cy="475488"/>
          </a:xfrm>
          <a:prstGeom prst="roundRect">
            <a:avLst>
              <a:gd name="adj" fmla="val 15385"/>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2" name="Text 19"/>
          <p:cNvSpPr/>
          <p:nvPr/>
        </p:nvSpPr>
        <p:spPr>
          <a:xfrm>
            <a:off x="411480" y="3017520"/>
            <a:ext cx="2011680" cy="292608"/>
          </a:xfrm>
          <a:prstGeom prst="rect">
            <a:avLst/>
          </a:prstGeom>
          <a:noFill/>
          <a:ln/>
        </p:spPr>
        <p:txBody>
          <a:bodyPr wrap="square" lIns="0" tIns="0" rIns="0" bIns="0" rtlCol="0" anchor="ctr"/>
          <a:lstStyle/>
          <a:p>
            <a:pPr marL="0" indent="0">
              <a:buNone/>
            </a:pPr>
            <a:r>
              <a:rPr lang="en-US" sz="1000" b="1" dirty="0">
                <a:solidFill>
                  <a:srgbClr val="00E5FF"/>
                </a:solidFill>
                <a:latin typeface="Arial" pitchFamily="34" charset="0"/>
                <a:ea typeface="Arial" pitchFamily="34" charset="-122"/>
                <a:cs typeface="Arial" pitchFamily="34" charset="-120"/>
              </a:rPr>
              <a:t>Main SIEM Tool</a:t>
            </a:r>
            <a:endParaRPr lang="en-US" sz="1000" dirty="0"/>
          </a:p>
        </p:txBody>
      </p:sp>
      <p:sp>
        <p:nvSpPr>
          <p:cNvPr id="23" name="Shape 20"/>
          <p:cNvSpPr/>
          <p:nvPr/>
        </p:nvSpPr>
        <p:spPr>
          <a:xfrm>
            <a:off x="2514600" y="2971800"/>
            <a:ext cx="0" cy="384048"/>
          </a:xfrm>
          <a:prstGeom prst="line">
            <a:avLst/>
          </a:prstGeom>
          <a:noFill/>
          <a:ln w="9525">
            <a:solidFill>
              <a:srgbClr val="333333"/>
            </a:solidFill>
            <a:prstDash val="solid"/>
          </a:ln>
        </p:spPr>
      </p:sp>
      <p:sp>
        <p:nvSpPr>
          <p:cNvPr id="24" name="Text 21"/>
          <p:cNvSpPr/>
          <p:nvPr/>
        </p:nvSpPr>
        <p:spPr>
          <a:xfrm>
            <a:off x="2697480" y="3017520"/>
            <a:ext cx="6035040" cy="292608"/>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Wazuh, with Suricata for network intrusion detection</a:t>
            </a:r>
            <a:endParaRPr lang="en-US" sz="1000" dirty="0"/>
          </a:p>
        </p:txBody>
      </p:sp>
      <p:sp>
        <p:nvSpPr>
          <p:cNvPr id="25" name="Shape 22"/>
          <p:cNvSpPr/>
          <p:nvPr/>
        </p:nvSpPr>
        <p:spPr>
          <a:xfrm>
            <a:off x="228600" y="3456432"/>
            <a:ext cx="8686800" cy="475488"/>
          </a:xfrm>
          <a:prstGeom prst="roundRect">
            <a:avLst>
              <a:gd name="adj" fmla="val 15385"/>
            </a:avLst>
          </a:prstGeom>
          <a:solidFill>
            <a:srgbClr val="111111"/>
          </a:solidFill>
          <a:ln w="6350">
            <a:solidFill>
              <a:srgbClr val="00B4CC"/>
            </a:solidFill>
            <a:prstDash val="solid"/>
          </a:ln>
          <a:effectLst>
            <a:outerShdw blurRad="101600" dist="38100" dir="2700000" algn="bl" rotWithShape="0">
              <a:srgbClr val="000000">
                <a:alpha val="40000"/>
              </a:srgbClr>
            </a:outerShdw>
          </a:effectLst>
        </p:spPr>
      </p:sp>
      <p:sp>
        <p:nvSpPr>
          <p:cNvPr id="26" name="Text 23"/>
          <p:cNvSpPr/>
          <p:nvPr/>
        </p:nvSpPr>
        <p:spPr>
          <a:xfrm>
            <a:off x="411480" y="3547872"/>
            <a:ext cx="2011680" cy="292608"/>
          </a:xfrm>
          <a:prstGeom prst="rect">
            <a:avLst/>
          </a:prstGeom>
          <a:noFill/>
          <a:ln/>
        </p:spPr>
        <p:txBody>
          <a:bodyPr wrap="square" lIns="0" tIns="0" rIns="0" bIns="0" rtlCol="0" anchor="ctr"/>
          <a:lstStyle/>
          <a:p>
            <a:pPr marL="0" indent="0">
              <a:buNone/>
            </a:pPr>
            <a:r>
              <a:rPr lang="en-US" sz="1000" b="1" dirty="0">
                <a:solidFill>
                  <a:srgbClr val="00E5FF"/>
                </a:solidFill>
                <a:latin typeface="Arial" pitchFamily="34" charset="0"/>
                <a:ea typeface="Arial" pitchFamily="34" charset="-122"/>
                <a:cs typeface="Arial" pitchFamily="34" charset="-120"/>
              </a:rPr>
              <a:t>Forensics Tools</a:t>
            </a:r>
            <a:endParaRPr lang="en-US" sz="1000" dirty="0"/>
          </a:p>
        </p:txBody>
      </p:sp>
      <p:sp>
        <p:nvSpPr>
          <p:cNvPr id="27" name="Shape 24"/>
          <p:cNvSpPr/>
          <p:nvPr/>
        </p:nvSpPr>
        <p:spPr>
          <a:xfrm>
            <a:off x="2514600" y="3502152"/>
            <a:ext cx="0" cy="384048"/>
          </a:xfrm>
          <a:prstGeom prst="line">
            <a:avLst/>
          </a:prstGeom>
          <a:noFill/>
          <a:ln w="9525">
            <a:solidFill>
              <a:srgbClr val="333333"/>
            </a:solidFill>
            <a:prstDash val="solid"/>
          </a:ln>
        </p:spPr>
      </p:sp>
      <p:sp>
        <p:nvSpPr>
          <p:cNvPr id="28" name="Text 25"/>
          <p:cNvSpPr/>
          <p:nvPr/>
        </p:nvSpPr>
        <p:spPr>
          <a:xfrm>
            <a:off x="2697480" y="3547872"/>
            <a:ext cx="6035040" cy="292608"/>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Autopsy, FTK Imager, EZ Tools, log2timeline</a:t>
            </a:r>
            <a:endParaRPr lang="en-US" sz="1000" dirty="0"/>
          </a:p>
        </p:txBody>
      </p:sp>
      <p:sp>
        <p:nvSpPr>
          <p:cNvPr id="29" name="Shape 26"/>
          <p:cNvSpPr/>
          <p:nvPr/>
        </p:nvSpPr>
        <p:spPr>
          <a:xfrm>
            <a:off x="228600" y="3986784"/>
            <a:ext cx="8686800" cy="475488"/>
          </a:xfrm>
          <a:prstGeom prst="roundRect">
            <a:avLst>
              <a:gd name="adj" fmla="val 15385"/>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30" name="Text 27"/>
          <p:cNvSpPr/>
          <p:nvPr/>
        </p:nvSpPr>
        <p:spPr>
          <a:xfrm>
            <a:off x="411480" y="4078224"/>
            <a:ext cx="2011680" cy="292608"/>
          </a:xfrm>
          <a:prstGeom prst="rect">
            <a:avLst/>
          </a:prstGeom>
          <a:noFill/>
          <a:ln/>
        </p:spPr>
        <p:txBody>
          <a:bodyPr wrap="square" lIns="0" tIns="0" rIns="0" bIns="0" rtlCol="0" anchor="ctr"/>
          <a:lstStyle/>
          <a:p>
            <a:pPr marL="0" indent="0">
              <a:buNone/>
            </a:pPr>
            <a:r>
              <a:rPr lang="en-US" sz="1000" b="1" dirty="0">
                <a:solidFill>
                  <a:srgbClr val="00E5FF"/>
                </a:solidFill>
                <a:latin typeface="Arial" pitchFamily="34" charset="0"/>
                <a:ea typeface="Arial" pitchFamily="34" charset="-122"/>
                <a:cs typeface="Arial" pitchFamily="34" charset="-120"/>
              </a:rPr>
              <a:t>Lab Setup</a:t>
            </a:r>
            <a:endParaRPr lang="en-US" sz="1000" dirty="0"/>
          </a:p>
        </p:txBody>
      </p:sp>
      <p:sp>
        <p:nvSpPr>
          <p:cNvPr id="31" name="Shape 28"/>
          <p:cNvSpPr/>
          <p:nvPr/>
        </p:nvSpPr>
        <p:spPr>
          <a:xfrm>
            <a:off x="2514600" y="4032504"/>
            <a:ext cx="0" cy="384048"/>
          </a:xfrm>
          <a:prstGeom prst="line">
            <a:avLst/>
          </a:prstGeom>
          <a:noFill/>
          <a:ln w="9525">
            <a:solidFill>
              <a:srgbClr val="333333"/>
            </a:solidFill>
            <a:prstDash val="solid"/>
          </a:ln>
        </p:spPr>
      </p:sp>
      <p:sp>
        <p:nvSpPr>
          <p:cNvPr id="32" name="Text 29"/>
          <p:cNvSpPr/>
          <p:nvPr/>
        </p:nvSpPr>
        <p:spPr>
          <a:xfrm>
            <a:off x="2697480" y="4078224"/>
            <a:ext cx="6035040" cy="292608"/>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VirtualBox or VMware running Kali Linux, Ubuntu and Windows VMs</a:t>
            </a:r>
            <a:endParaRPr lang="en-US" sz="1000" dirty="0"/>
          </a:p>
        </p:txBody>
      </p:sp>
      <p:sp>
        <p:nvSpPr>
          <p:cNvPr id="33" name="Shape 30"/>
          <p:cNvSpPr/>
          <p:nvPr/>
        </p:nvSpPr>
        <p:spPr>
          <a:xfrm>
            <a:off x="228600" y="4517136"/>
            <a:ext cx="8686800" cy="475488"/>
          </a:xfrm>
          <a:prstGeom prst="roundRect">
            <a:avLst>
              <a:gd name="adj" fmla="val 15385"/>
            </a:avLst>
          </a:prstGeom>
          <a:solidFill>
            <a:srgbClr val="111111"/>
          </a:solidFill>
          <a:ln w="6350">
            <a:solidFill>
              <a:srgbClr val="00B4CC"/>
            </a:solidFill>
            <a:prstDash val="solid"/>
          </a:ln>
          <a:effectLst>
            <a:outerShdw blurRad="101600" dist="38100" dir="2700000" algn="bl" rotWithShape="0">
              <a:srgbClr val="000000">
                <a:alpha val="40000"/>
              </a:srgbClr>
            </a:outerShdw>
          </a:effectLst>
        </p:spPr>
      </p:sp>
      <p:sp>
        <p:nvSpPr>
          <p:cNvPr id="34" name="Text 31"/>
          <p:cNvSpPr/>
          <p:nvPr/>
        </p:nvSpPr>
        <p:spPr>
          <a:xfrm>
            <a:off x="411480" y="4608576"/>
            <a:ext cx="2011680" cy="292608"/>
          </a:xfrm>
          <a:prstGeom prst="rect">
            <a:avLst/>
          </a:prstGeom>
          <a:noFill/>
          <a:ln/>
        </p:spPr>
        <p:txBody>
          <a:bodyPr wrap="square" lIns="0" tIns="0" rIns="0" bIns="0" rtlCol="0" anchor="ctr"/>
          <a:lstStyle/>
          <a:p>
            <a:pPr marL="0" indent="0">
              <a:buNone/>
            </a:pPr>
            <a:r>
              <a:rPr lang="en-US" sz="1000" b="1" dirty="0">
                <a:solidFill>
                  <a:srgbClr val="00E5FF"/>
                </a:solidFill>
                <a:latin typeface="Arial" pitchFamily="34" charset="0"/>
                <a:ea typeface="Arial" pitchFamily="34" charset="-122"/>
                <a:cs typeface="Arial" pitchFamily="34" charset="-120"/>
              </a:rPr>
              <a:t>Format</a:t>
            </a:r>
            <a:endParaRPr lang="en-US" sz="1000" dirty="0"/>
          </a:p>
        </p:txBody>
      </p:sp>
      <p:sp>
        <p:nvSpPr>
          <p:cNvPr id="35" name="Shape 32"/>
          <p:cNvSpPr/>
          <p:nvPr/>
        </p:nvSpPr>
        <p:spPr>
          <a:xfrm>
            <a:off x="2514600" y="4562856"/>
            <a:ext cx="0" cy="384048"/>
          </a:xfrm>
          <a:prstGeom prst="line">
            <a:avLst/>
          </a:prstGeom>
          <a:noFill/>
          <a:ln w="9525">
            <a:solidFill>
              <a:srgbClr val="333333"/>
            </a:solidFill>
            <a:prstDash val="solid"/>
          </a:ln>
        </p:spPr>
      </p:sp>
      <p:sp>
        <p:nvSpPr>
          <p:cNvPr id="36" name="Text 33"/>
          <p:cNvSpPr/>
          <p:nvPr/>
        </p:nvSpPr>
        <p:spPr>
          <a:xfrm>
            <a:off x="2697480" y="4608576"/>
            <a:ext cx="6035040" cy="292608"/>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Self-paced tasks with live sessions at key points in the program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Shape 0"/>
          <p:cNvSpPr/>
          <p:nvPr/>
        </p:nvSpPr>
        <p:spPr>
          <a:xfrm>
            <a:off x="822960" y="109728"/>
            <a:ext cx="1188720" cy="256032"/>
          </a:xfrm>
          <a:prstGeom prst="roundRect">
            <a:avLst>
              <a:gd name="adj" fmla="val 17857"/>
            </a:avLst>
          </a:prstGeom>
          <a:solidFill>
            <a:srgbClr val="00B4CC">
              <a:alpha val="80000"/>
            </a:srgbClr>
          </a:solidFill>
          <a:ln w="6350">
            <a:solidFill>
              <a:srgbClr val="00E5FF"/>
            </a:solidFill>
            <a:prstDash val="solid"/>
          </a:ln>
        </p:spPr>
      </p:sp>
      <p:sp>
        <p:nvSpPr>
          <p:cNvPr id="4" name="Text 1"/>
          <p:cNvSpPr/>
          <p:nvPr/>
        </p:nvSpPr>
        <p:spPr>
          <a:xfrm>
            <a:off x="868680" y="128016"/>
            <a:ext cx="1097280" cy="219456"/>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PHASE ONE</a:t>
            </a:r>
            <a:endParaRPr lang="en-US" sz="900" dirty="0"/>
          </a:p>
        </p:txBody>
      </p:sp>
      <p:sp>
        <p:nvSpPr>
          <p:cNvPr id="5" name="Text 2"/>
          <p:cNvSpPr/>
          <p:nvPr/>
        </p:nvSpPr>
        <p:spPr>
          <a:xfrm>
            <a:off x="2286000" y="128016"/>
            <a:ext cx="1828800" cy="256032"/>
          </a:xfrm>
          <a:prstGeom prst="rect">
            <a:avLst/>
          </a:prstGeom>
          <a:noFill/>
          <a:ln/>
        </p:spPr>
        <p:txBody>
          <a:bodyPr wrap="square" lIns="0" tIns="0" rIns="0" bIns="0" rtlCol="0" anchor="ctr"/>
          <a:lstStyle/>
          <a:p>
            <a:pPr marL="0" indent="0">
              <a:buNone/>
            </a:pPr>
            <a:r>
              <a:rPr lang="en-US" sz="900" dirty="0">
                <a:solidFill>
                  <a:srgbClr val="AAAAAA"/>
                </a:solidFill>
                <a:latin typeface="Arial" pitchFamily="34" charset="0"/>
                <a:ea typeface="Arial" pitchFamily="34" charset="-122"/>
                <a:cs typeface="Arial" pitchFamily="34" charset="-120"/>
              </a:rPr>
              <a:t>Weeks 1 to 6</a:t>
            </a:r>
            <a:endParaRPr lang="en-US" sz="900" dirty="0"/>
          </a:p>
        </p:txBody>
      </p:sp>
      <p:sp>
        <p:nvSpPr>
          <p:cNvPr id="6" name="Text 3"/>
          <p:cNvSpPr/>
          <p:nvPr/>
        </p:nvSpPr>
        <p:spPr>
          <a:xfrm>
            <a:off x="822960" y="411480"/>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SOC Operations and SIEM with Wazuh</a:t>
            </a:r>
            <a:endParaRPr lang="en-US" sz="2200" dirty="0"/>
          </a:p>
        </p:txBody>
      </p:sp>
      <p:sp>
        <p:nvSpPr>
          <p:cNvPr id="7" name="Shape 4"/>
          <p:cNvSpPr/>
          <p:nvPr/>
        </p:nvSpPr>
        <p:spPr>
          <a:xfrm>
            <a:off x="228600" y="713232"/>
            <a:ext cx="8686800" cy="0"/>
          </a:xfrm>
          <a:prstGeom prst="line">
            <a:avLst/>
          </a:prstGeom>
          <a:noFill/>
          <a:ln w="9525">
            <a:solidFill>
              <a:srgbClr val="222222"/>
            </a:solidFill>
            <a:prstDash val="solid"/>
          </a:ln>
        </p:spPr>
      </p:sp>
      <p:sp>
        <p:nvSpPr>
          <p:cNvPr id="8" name="Shape 5"/>
          <p:cNvSpPr/>
          <p:nvPr/>
        </p:nvSpPr>
        <p:spPr>
          <a:xfrm>
            <a:off x="228600" y="850392"/>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9" name="Shape 6"/>
          <p:cNvSpPr/>
          <p:nvPr/>
        </p:nvSpPr>
        <p:spPr>
          <a:xfrm>
            <a:off x="1234440" y="987552"/>
            <a:ext cx="731520" cy="731520"/>
          </a:xfrm>
          <a:prstGeom prst="ellipse">
            <a:avLst/>
          </a:prstGeom>
          <a:solidFill>
            <a:srgbClr val="001A22"/>
          </a:solidFill>
          <a:ln w="12700">
            <a:solidFill>
              <a:srgbClr val="00E5FF"/>
            </a:solidFill>
            <a:prstDash val="solid"/>
          </a:ln>
        </p:spPr>
      </p:sp>
      <p:sp>
        <p:nvSpPr>
          <p:cNvPr id="10" name="Text 7"/>
          <p:cNvSpPr/>
          <p:nvPr/>
        </p:nvSpPr>
        <p:spPr>
          <a:xfrm>
            <a:off x="1234440" y="987552"/>
            <a:ext cx="731520" cy="731520"/>
          </a:xfrm>
          <a:prstGeom prst="rect">
            <a:avLst/>
          </a:prstGeom>
          <a:noFill/>
          <a:ln/>
        </p:spPr>
        <p:txBody>
          <a:bodyPr wrap="square" lIns="0" tIns="0" rIns="0" bIns="0" rtlCol="0" anchor="ctr"/>
          <a:lstStyle/>
          <a:p>
            <a:pPr marL="0" indent="0" algn="ctr">
              <a:buNone/>
            </a:pPr>
            <a:r>
              <a:rPr lang="en-US" sz="2000" dirty="0">
                <a:solidFill>
                  <a:schemeClr val="accent1">
                    <a:lumMod val="40000"/>
                    <a:lumOff val="60000"/>
                  </a:schemeClr>
                </a:solidFill>
              </a:rPr>
              <a:t>🖥</a:t>
            </a:r>
          </a:p>
        </p:txBody>
      </p:sp>
      <p:sp>
        <p:nvSpPr>
          <p:cNvPr id="11" name="Text 8"/>
          <p:cNvSpPr/>
          <p:nvPr/>
        </p:nvSpPr>
        <p:spPr>
          <a:xfrm>
            <a:off x="338328" y="1810512"/>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Lab Setup</a:t>
            </a:r>
            <a:endParaRPr lang="en-US" sz="1100" dirty="0"/>
          </a:p>
        </p:txBody>
      </p:sp>
      <p:sp>
        <p:nvSpPr>
          <p:cNvPr id="12" name="Text 9"/>
          <p:cNvSpPr/>
          <p:nvPr/>
        </p:nvSpPr>
        <p:spPr>
          <a:xfrm>
            <a:off x="338328" y="2130552"/>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Build a virtual lab with Kali, Ubuntu, and Windows. Set up the network so all three machines talk to each other.</a:t>
            </a:r>
            <a:endParaRPr lang="en-US" sz="1050" dirty="0"/>
          </a:p>
        </p:txBody>
      </p:sp>
      <p:sp>
        <p:nvSpPr>
          <p:cNvPr id="13" name="Shape 10"/>
          <p:cNvSpPr/>
          <p:nvPr/>
        </p:nvSpPr>
        <p:spPr>
          <a:xfrm>
            <a:off x="3200400" y="850392"/>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4" name="Shape 11"/>
          <p:cNvSpPr/>
          <p:nvPr/>
        </p:nvSpPr>
        <p:spPr>
          <a:xfrm>
            <a:off x="4206240" y="987552"/>
            <a:ext cx="731520" cy="731520"/>
          </a:xfrm>
          <a:prstGeom prst="ellipse">
            <a:avLst/>
          </a:prstGeom>
          <a:solidFill>
            <a:srgbClr val="001A22"/>
          </a:solidFill>
          <a:ln w="12700">
            <a:solidFill>
              <a:srgbClr val="00E5FF"/>
            </a:solidFill>
            <a:prstDash val="solid"/>
          </a:ln>
        </p:spPr>
      </p:sp>
      <p:sp>
        <p:nvSpPr>
          <p:cNvPr id="15" name="Text 12"/>
          <p:cNvSpPr/>
          <p:nvPr/>
        </p:nvSpPr>
        <p:spPr>
          <a:xfrm>
            <a:off x="4206240" y="987552"/>
            <a:ext cx="731520" cy="731520"/>
          </a:xfrm>
          <a:prstGeom prst="rect">
            <a:avLst/>
          </a:prstGeom>
          <a:noFill/>
          <a:ln/>
        </p:spPr>
        <p:txBody>
          <a:bodyPr wrap="square" lIns="0" tIns="0" rIns="0" bIns="0" rtlCol="0" anchor="ctr"/>
          <a:lstStyle/>
          <a:p>
            <a:pPr marL="0" indent="0" algn="ctr">
              <a:buNone/>
            </a:pPr>
            <a:r>
              <a:rPr lang="en-US" sz="2000" dirty="0">
                <a:solidFill>
                  <a:schemeClr val="accent1">
                    <a:lumMod val="40000"/>
                    <a:lumOff val="60000"/>
                  </a:schemeClr>
                </a:solidFill>
              </a:rPr>
              <a:t>👁</a:t>
            </a:r>
          </a:p>
        </p:txBody>
      </p:sp>
      <p:sp>
        <p:nvSpPr>
          <p:cNvPr id="16" name="Text 13"/>
          <p:cNvSpPr/>
          <p:nvPr/>
        </p:nvSpPr>
        <p:spPr>
          <a:xfrm>
            <a:off x="3310128" y="1810512"/>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Wazuh SIEM</a:t>
            </a:r>
            <a:endParaRPr lang="en-US" sz="1100" dirty="0"/>
          </a:p>
        </p:txBody>
      </p:sp>
      <p:sp>
        <p:nvSpPr>
          <p:cNvPr id="17" name="Text 14"/>
          <p:cNvSpPr/>
          <p:nvPr/>
        </p:nvSpPr>
        <p:spPr>
          <a:xfrm>
            <a:off x="3310128" y="2130552"/>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Install Wazuh from the ground up and connect your VMs to it as agents. Start reading and triaging alerts.</a:t>
            </a:r>
            <a:endParaRPr lang="en-US" sz="1050" dirty="0"/>
          </a:p>
        </p:txBody>
      </p:sp>
      <p:sp>
        <p:nvSpPr>
          <p:cNvPr id="18" name="Shape 15"/>
          <p:cNvSpPr/>
          <p:nvPr/>
        </p:nvSpPr>
        <p:spPr>
          <a:xfrm>
            <a:off x="6172200" y="850392"/>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9" name="Shape 16"/>
          <p:cNvSpPr/>
          <p:nvPr/>
        </p:nvSpPr>
        <p:spPr>
          <a:xfrm>
            <a:off x="7178040" y="987552"/>
            <a:ext cx="731520" cy="731520"/>
          </a:xfrm>
          <a:prstGeom prst="ellipse">
            <a:avLst/>
          </a:prstGeom>
          <a:solidFill>
            <a:srgbClr val="001A22"/>
          </a:solidFill>
          <a:ln w="12700">
            <a:solidFill>
              <a:srgbClr val="00E5FF"/>
            </a:solidFill>
            <a:prstDash val="solid"/>
          </a:ln>
        </p:spPr>
      </p:sp>
      <p:sp>
        <p:nvSpPr>
          <p:cNvPr id="20" name="Text 17"/>
          <p:cNvSpPr/>
          <p:nvPr/>
        </p:nvSpPr>
        <p:spPr>
          <a:xfrm>
            <a:off x="7178040" y="987552"/>
            <a:ext cx="731520" cy="7315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1" name="Text 18"/>
          <p:cNvSpPr/>
          <p:nvPr/>
        </p:nvSpPr>
        <p:spPr>
          <a:xfrm>
            <a:off x="6281928" y="1810512"/>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File Integrity</a:t>
            </a:r>
            <a:endParaRPr lang="en-US" sz="1100" dirty="0"/>
          </a:p>
        </p:txBody>
      </p:sp>
      <p:sp>
        <p:nvSpPr>
          <p:cNvPr id="22" name="Text 19"/>
          <p:cNvSpPr/>
          <p:nvPr/>
        </p:nvSpPr>
        <p:spPr>
          <a:xfrm>
            <a:off x="6281928" y="2130552"/>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Monitor key directories for changes in real time. Write custom detection rules and tune out false alarms.</a:t>
            </a:r>
            <a:endParaRPr lang="en-US" sz="1050" dirty="0"/>
          </a:p>
        </p:txBody>
      </p:sp>
      <p:sp>
        <p:nvSpPr>
          <p:cNvPr id="23" name="Shape 20"/>
          <p:cNvSpPr/>
          <p:nvPr/>
        </p:nvSpPr>
        <p:spPr>
          <a:xfrm>
            <a:off x="228600" y="2935224"/>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4" name="Shape 21"/>
          <p:cNvSpPr/>
          <p:nvPr/>
        </p:nvSpPr>
        <p:spPr>
          <a:xfrm>
            <a:off x="1234440" y="3072384"/>
            <a:ext cx="731520" cy="731520"/>
          </a:xfrm>
          <a:prstGeom prst="ellipse">
            <a:avLst/>
          </a:prstGeom>
          <a:solidFill>
            <a:srgbClr val="001A22"/>
          </a:solidFill>
          <a:ln w="12700">
            <a:solidFill>
              <a:srgbClr val="00E5FF"/>
            </a:solidFill>
            <a:prstDash val="solid"/>
          </a:ln>
        </p:spPr>
      </p:sp>
      <p:sp>
        <p:nvSpPr>
          <p:cNvPr id="25" name="Text 22"/>
          <p:cNvSpPr/>
          <p:nvPr/>
        </p:nvSpPr>
        <p:spPr>
          <a:xfrm>
            <a:off x="1234440" y="3072384"/>
            <a:ext cx="731520" cy="7315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6" name="Text 23"/>
          <p:cNvSpPr/>
          <p:nvPr/>
        </p:nvSpPr>
        <p:spPr>
          <a:xfrm>
            <a:off x="338328" y="3895344"/>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Suricata IDS</a:t>
            </a:r>
            <a:endParaRPr lang="en-US" sz="1100" dirty="0"/>
          </a:p>
        </p:txBody>
      </p:sp>
      <p:sp>
        <p:nvSpPr>
          <p:cNvPr id="27" name="Text 24"/>
          <p:cNvSpPr/>
          <p:nvPr/>
        </p:nvSpPr>
        <p:spPr>
          <a:xfrm>
            <a:off x="338328" y="4215384"/>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Set up Suricata alongside Wazuh so network-level threats show up in the same dashboard as host events.</a:t>
            </a:r>
            <a:endParaRPr lang="en-US" sz="1050" dirty="0"/>
          </a:p>
        </p:txBody>
      </p:sp>
      <p:sp>
        <p:nvSpPr>
          <p:cNvPr id="28" name="Shape 25"/>
          <p:cNvSpPr/>
          <p:nvPr/>
        </p:nvSpPr>
        <p:spPr>
          <a:xfrm>
            <a:off x="3200400" y="2935224"/>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9" name="Shape 26"/>
          <p:cNvSpPr/>
          <p:nvPr/>
        </p:nvSpPr>
        <p:spPr>
          <a:xfrm>
            <a:off x="4206240" y="3072384"/>
            <a:ext cx="731520" cy="731520"/>
          </a:xfrm>
          <a:prstGeom prst="ellipse">
            <a:avLst/>
          </a:prstGeom>
          <a:solidFill>
            <a:srgbClr val="001A22"/>
          </a:solidFill>
          <a:ln w="12700">
            <a:solidFill>
              <a:srgbClr val="00E5FF"/>
            </a:solidFill>
            <a:prstDash val="solid"/>
          </a:ln>
        </p:spPr>
      </p:sp>
      <p:sp>
        <p:nvSpPr>
          <p:cNvPr id="30" name="Text 27"/>
          <p:cNvSpPr/>
          <p:nvPr/>
        </p:nvSpPr>
        <p:spPr>
          <a:xfrm>
            <a:off x="4206240" y="3072384"/>
            <a:ext cx="731520" cy="7315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1" name="Text 28"/>
          <p:cNvSpPr/>
          <p:nvPr/>
        </p:nvSpPr>
        <p:spPr>
          <a:xfrm>
            <a:off x="3310128" y="3895344"/>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Threat Intelligence</a:t>
            </a:r>
            <a:endParaRPr lang="en-US" sz="1100" dirty="0"/>
          </a:p>
        </p:txBody>
      </p:sp>
      <p:sp>
        <p:nvSpPr>
          <p:cNvPr id="32" name="Text 29"/>
          <p:cNvSpPr/>
          <p:nvPr/>
        </p:nvSpPr>
        <p:spPr>
          <a:xfrm>
            <a:off x="3310128" y="4215384"/>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Pull in threat feeds from VirusTotal and Abuse.ch. Learn how to find and prioritize real vulnerabilities.</a:t>
            </a:r>
            <a:endParaRPr lang="en-US" sz="1050" dirty="0"/>
          </a:p>
        </p:txBody>
      </p:sp>
      <p:sp>
        <p:nvSpPr>
          <p:cNvPr id="33" name="Shape 30"/>
          <p:cNvSpPr/>
          <p:nvPr/>
        </p:nvSpPr>
        <p:spPr>
          <a:xfrm>
            <a:off x="6172200" y="2935224"/>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34" name="Shape 31"/>
          <p:cNvSpPr/>
          <p:nvPr/>
        </p:nvSpPr>
        <p:spPr>
          <a:xfrm>
            <a:off x="7178040" y="3072384"/>
            <a:ext cx="731520" cy="731520"/>
          </a:xfrm>
          <a:prstGeom prst="ellipse">
            <a:avLst/>
          </a:prstGeom>
          <a:solidFill>
            <a:srgbClr val="001A22"/>
          </a:solidFill>
          <a:ln w="12700">
            <a:solidFill>
              <a:srgbClr val="00E5FF"/>
            </a:solidFill>
            <a:prstDash val="solid"/>
          </a:ln>
        </p:spPr>
      </p:sp>
      <p:sp>
        <p:nvSpPr>
          <p:cNvPr id="35" name="Text 32"/>
          <p:cNvSpPr/>
          <p:nvPr/>
        </p:nvSpPr>
        <p:spPr>
          <a:xfrm>
            <a:off x="7178040" y="3072384"/>
            <a:ext cx="731520" cy="7315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6" name="Text 33"/>
          <p:cNvSpPr/>
          <p:nvPr/>
        </p:nvSpPr>
        <p:spPr>
          <a:xfrm>
            <a:off x="6281928" y="3895344"/>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Malware Analysis</a:t>
            </a:r>
            <a:endParaRPr lang="en-US" sz="1100" dirty="0"/>
          </a:p>
        </p:txBody>
      </p:sp>
      <p:sp>
        <p:nvSpPr>
          <p:cNvPr id="37" name="Text 34"/>
          <p:cNvSpPr/>
          <p:nvPr/>
        </p:nvSpPr>
        <p:spPr>
          <a:xfrm>
            <a:off x="6281928" y="4215384"/>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Analyse malware samples using static and dynamic methods. Write an incident response plan from scratch.</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Shape 0"/>
          <p:cNvSpPr/>
          <p:nvPr/>
        </p:nvSpPr>
        <p:spPr>
          <a:xfrm>
            <a:off x="822960" y="109728"/>
            <a:ext cx="1188720" cy="256032"/>
          </a:xfrm>
          <a:prstGeom prst="roundRect">
            <a:avLst>
              <a:gd name="adj" fmla="val 17857"/>
            </a:avLst>
          </a:prstGeom>
          <a:solidFill>
            <a:srgbClr val="00B4CC">
              <a:alpha val="80000"/>
            </a:srgbClr>
          </a:solidFill>
          <a:ln w="6350">
            <a:solidFill>
              <a:srgbClr val="00E5FF"/>
            </a:solidFill>
            <a:prstDash val="solid"/>
          </a:ln>
        </p:spPr>
      </p:sp>
      <p:sp>
        <p:nvSpPr>
          <p:cNvPr id="4" name="Text 1"/>
          <p:cNvSpPr/>
          <p:nvPr/>
        </p:nvSpPr>
        <p:spPr>
          <a:xfrm>
            <a:off x="868680" y="128016"/>
            <a:ext cx="1097280" cy="219456"/>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PHASE TWO</a:t>
            </a:r>
            <a:endParaRPr lang="en-US" sz="900" dirty="0"/>
          </a:p>
        </p:txBody>
      </p:sp>
      <p:sp>
        <p:nvSpPr>
          <p:cNvPr id="5" name="Text 2"/>
          <p:cNvSpPr/>
          <p:nvPr/>
        </p:nvSpPr>
        <p:spPr>
          <a:xfrm>
            <a:off x="2377440" y="109728"/>
            <a:ext cx="1828800" cy="256032"/>
          </a:xfrm>
          <a:prstGeom prst="rect">
            <a:avLst/>
          </a:prstGeom>
          <a:noFill/>
          <a:ln/>
        </p:spPr>
        <p:txBody>
          <a:bodyPr wrap="square" lIns="0" tIns="0" rIns="0" bIns="0" rtlCol="0" anchor="ctr"/>
          <a:lstStyle/>
          <a:p>
            <a:pPr marL="0" indent="0">
              <a:buNone/>
            </a:pPr>
            <a:r>
              <a:rPr lang="en-US" sz="900" dirty="0">
                <a:solidFill>
                  <a:srgbClr val="AAAAAA"/>
                </a:solidFill>
                <a:latin typeface="Arial" pitchFamily="34" charset="0"/>
                <a:ea typeface="Arial" pitchFamily="34" charset="-122"/>
                <a:cs typeface="Arial" pitchFamily="34" charset="-120"/>
              </a:rPr>
              <a:t>Weeks 7 to 12</a:t>
            </a:r>
            <a:endParaRPr lang="en-US" sz="900" dirty="0"/>
          </a:p>
        </p:txBody>
      </p:sp>
      <p:sp>
        <p:nvSpPr>
          <p:cNvPr id="6" name="Text 3"/>
          <p:cNvSpPr/>
          <p:nvPr/>
        </p:nvSpPr>
        <p:spPr>
          <a:xfrm>
            <a:off x="822960" y="411480"/>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Digital Forensics and Incident Response</a:t>
            </a:r>
            <a:endParaRPr lang="en-US" sz="2200" dirty="0"/>
          </a:p>
        </p:txBody>
      </p:sp>
      <p:sp>
        <p:nvSpPr>
          <p:cNvPr id="7" name="Shape 4"/>
          <p:cNvSpPr/>
          <p:nvPr/>
        </p:nvSpPr>
        <p:spPr>
          <a:xfrm>
            <a:off x="228600" y="713232"/>
            <a:ext cx="8686800" cy="0"/>
          </a:xfrm>
          <a:prstGeom prst="line">
            <a:avLst/>
          </a:prstGeom>
          <a:noFill/>
          <a:ln w="9525">
            <a:solidFill>
              <a:srgbClr val="222222"/>
            </a:solidFill>
            <a:prstDash val="solid"/>
          </a:ln>
        </p:spPr>
      </p:sp>
      <p:sp>
        <p:nvSpPr>
          <p:cNvPr id="8" name="Shape 5"/>
          <p:cNvSpPr/>
          <p:nvPr/>
        </p:nvSpPr>
        <p:spPr>
          <a:xfrm>
            <a:off x="228600" y="850392"/>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9" name="Shape 6"/>
          <p:cNvSpPr/>
          <p:nvPr/>
        </p:nvSpPr>
        <p:spPr>
          <a:xfrm>
            <a:off x="1234440" y="987552"/>
            <a:ext cx="731520" cy="731520"/>
          </a:xfrm>
          <a:prstGeom prst="ellipse">
            <a:avLst/>
          </a:prstGeom>
          <a:solidFill>
            <a:srgbClr val="001A22"/>
          </a:solidFill>
          <a:ln w="12700">
            <a:solidFill>
              <a:srgbClr val="00E5FF"/>
            </a:solidFill>
            <a:prstDash val="solid"/>
          </a:ln>
        </p:spPr>
      </p:sp>
      <p:sp>
        <p:nvSpPr>
          <p:cNvPr id="10" name="Text 7"/>
          <p:cNvSpPr/>
          <p:nvPr/>
        </p:nvSpPr>
        <p:spPr>
          <a:xfrm>
            <a:off x="1234440" y="987552"/>
            <a:ext cx="731520" cy="7315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1" name="Text 8"/>
          <p:cNvSpPr/>
          <p:nvPr/>
        </p:nvSpPr>
        <p:spPr>
          <a:xfrm>
            <a:off x="338328" y="1810512"/>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Disk Imaging</a:t>
            </a:r>
            <a:endParaRPr lang="en-US" sz="1100" dirty="0"/>
          </a:p>
        </p:txBody>
      </p:sp>
      <p:sp>
        <p:nvSpPr>
          <p:cNvPr id="12" name="Text 9"/>
          <p:cNvSpPr/>
          <p:nvPr/>
        </p:nvSpPr>
        <p:spPr>
          <a:xfrm>
            <a:off x="338328" y="2130552"/>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Create proper forensic images, verify their integrity with hashes and document the chain of custody.</a:t>
            </a:r>
            <a:endParaRPr lang="en-US" sz="1050" dirty="0"/>
          </a:p>
        </p:txBody>
      </p:sp>
      <p:sp>
        <p:nvSpPr>
          <p:cNvPr id="13" name="Shape 10"/>
          <p:cNvSpPr/>
          <p:nvPr/>
        </p:nvSpPr>
        <p:spPr>
          <a:xfrm>
            <a:off x="3200400" y="850392"/>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4" name="Shape 11"/>
          <p:cNvSpPr/>
          <p:nvPr/>
        </p:nvSpPr>
        <p:spPr>
          <a:xfrm>
            <a:off x="4206240" y="987552"/>
            <a:ext cx="731520" cy="731520"/>
          </a:xfrm>
          <a:prstGeom prst="ellipse">
            <a:avLst/>
          </a:prstGeom>
          <a:solidFill>
            <a:srgbClr val="001A22"/>
          </a:solidFill>
          <a:ln w="12700">
            <a:solidFill>
              <a:srgbClr val="00E5FF"/>
            </a:solidFill>
            <a:prstDash val="solid"/>
          </a:ln>
        </p:spPr>
      </p:sp>
      <p:sp>
        <p:nvSpPr>
          <p:cNvPr id="15" name="Text 12"/>
          <p:cNvSpPr/>
          <p:nvPr/>
        </p:nvSpPr>
        <p:spPr>
          <a:xfrm>
            <a:off x="4206240" y="987552"/>
            <a:ext cx="731520" cy="7315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6" name="Text 13"/>
          <p:cNvSpPr/>
          <p:nvPr/>
        </p:nvSpPr>
        <p:spPr>
          <a:xfrm>
            <a:off x="3310128" y="1810512"/>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Windows Artifacts</a:t>
            </a:r>
            <a:endParaRPr lang="en-US" sz="1100" dirty="0"/>
          </a:p>
        </p:txBody>
      </p:sp>
      <p:sp>
        <p:nvSpPr>
          <p:cNvPr id="17" name="Text 14"/>
          <p:cNvSpPr/>
          <p:nvPr/>
        </p:nvSpPr>
        <p:spPr>
          <a:xfrm>
            <a:off x="3310128" y="2130552"/>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Dig into Event Logs, Prefetch files and execution history to understand what happened on a machine.</a:t>
            </a:r>
            <a:endParaRPr lang="en-US" sz="1050" dirty="0"/>
          </a:p>
        </p:txBody>
      </p:sp>
      <p:sp>
        <p:nvSpPr>
          <p:cNvPr id="18" name="Shape 15"/>
          <p:cNvSpPr/>
          <p:nvPr/>
        </p:nvSpPr>
        <p:spPr>
          <a:xfrm>
            <a:off x="6172200" y="850392"/>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9" name="Shape 16"/>
          <p:cNvSpPr/>
          <p:nvPr/>
        </p:nvSpPr>
        <p:spPr>
          <a:xfrm>
            <a:off x="7178040" y="987552"/>
            <a:ext cx="731520" cy="731520"/>
          </a:xfrm>
          <a:prstGeom prst="ellipse">
            <a:avLst/>
          </a:prstGeom>
          <a:solidFill>
            <a:srgbClr val="001A22"/>
          </a:solidFill>
          <a:ln w="12700">
            <a:solidFill>
              <a:srgbClr val="00E5FF"/>
            </a:solidFill>
            <a:prstDash val="solid"/>
          </a:ln>
        </p:spPr>
      </p:sp>
      <p:sp>
        <p:nvSpPr>
          <p:cNvPr id="20" name="Text 17"/>
          <p:cNvSpPr/>
          <p:nvPr/>
        </p:nvSpPr>
        <p:spPr>
          <a:xfrm>
            <a:off x="7178040" y="987552"/>
            <a:ext cx="731520" cy="7315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1" name="Text 18"/>
          <p:cNvSpPr/>
          <p:nvPr/>
        </p:nvSpPr>
        <p:spPr>
          <a:xfrm>
            <a:off x="6281928" y="1810512"/>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Browser Forensics</a:t>
            </a:r>
            <a:endParaRPr lang="en-US" sz="1100" dirty="0"/>
          </a:p>
        </p:txBody>
      </p:sp>
      <p:sp>
        <p:nvSpPr>
          <p:cNvPr id="22" name="Text 19"/>
          <p:cNvSpPr/>
          <p:nvPr/>
        </p:nvSpPr>
        <p:spPr>
          <a:xfrm>
            <a:off x="6281928" y="2130552"/>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Pull browsing history, downloads, cookies and cached data from Chrome, Firefox and Edge.</a:t>
            </a:r>
            <a:endParaRPr lang="en-US" sz="1050" dirty="0"/>
          </a:p>
        </p:txBody>
      </p:sp>
      <p:sp>
        <p:nvSpPr>
          <p:cNvPr id="23" name="Shape 20"/>
          <p:cNvSpPr/>
          <p:nvPr/>
        </p:nvSpPr>
        <p:spPr>
          <a:xfrm>
            <a:off x="228600" y="2935224"/>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4" name="Shape 21"/>
          <p:cNvSpPr/>
          <p:nvPr/>
        </p:nvSpPr>
        <p:spPr>
          <a:xfrm>
            <a:off x="1234440" y="3072384"/>
            <a:ext cx="731520" cy="731520"/>
          </a:xfrm>
          <a:prstGeom prst="ellipse">
            <a:avLst/>
          </a:prstGeom>
          <a:solidFill>
            <a:srgbClr val="001A22"/>
          </a:solidFill>
          <a:ln w="12700">
            <a:solidFill>
              <a:srgbClr val="00E5FF"/>
            </a:solidFill>
            <a:prstDash val="solid"/>
          </a:ln>
        </p:spPr>
      </p:sp>
      <p:sp>
        <p:nvSpPr>
          <p:cNvPr id="25" name="Text 22"/>
          <p:cNvSpPr/>
          <p:nvPr/>
        </p:nvSpPr>
        <p:spPr>
          <a:xfrm>
            <a:off x="1234440" y="3072384"/>
            <a:ext cx="731520" cy="73152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6" name="Text 23"/>
          <p:cNvSpPr/>
          <p:nvPr/>
        </p:nvSpPr>
        <p:spPr>
          <a:xfrm>
            <a:off x="338328" y="3895344"/>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LNK Files</a:t>
            </a:r>
            <a:endParaRPr lang="en-US" sz="1100" dirty="0"/>
          </a:p>
        </p:txBody>
      </p:sp>
      <p:sp>
        <p:nvSpPr>
          <p:cNvPr id="27" name="Text 24"/>
          <p:cNvSpPr/>
          <p:nvPr/>
        </p:nvSpPr>
        <p:spPr>
          <a:xfrm>
            <a:off x="338328" y="4215384"/>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Analyse shortcut files and jump lists to trace which files were opened and which USB drives were plugged in.</a:t>
            </a:r>
            <a:endParaRPr lang="en-US" sz="1050" dirty="0"/>
          </a:p>
        </p:txBody>
      </p:sp>
      <p:sp>
        <p:nvSpPr>
          <p:cNvPr id="28" name="Shape 25"/>
          <p:cNvSpPr/>
          <p:nvPr/>
        </p:nvSpPr>
        <p:spPr>
          <a:xfrm>
            <a:off x="3200400" y="2935224"/>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9" name="Shape 26"/>
          <p:cNvSpPr/>
          <p:nvPr/>
        </p:nvSpPr>
        <p:spPr>
          <a:xfrm>
            <a:off x="4206240" y="3072384"/>
            <a:ext cx="731520" cy="731520"/>
          </a:xfrm>
          <a:prstGeom prst="ellipse">
            <a:avLst/>
          </a:prstGeom>
          <a:solidFill>
            <a:srgbClr val="001A22"/>
          </a:solidFill>
          <a:ln w="12700">
            <a:solidFill>
              <a:srgbClr val="00E5FF"/>
            </a:solidFill>
            <a:prstDash val="solid"/>
          </a:ln>
        </p:spPr>
      </p:sp>
      <p:sp>
        <p:nvSpPr>
          <p:cNvPr id="30" name="Text 27"/>
          <p:cNvSpPr/>
          <p:nvPr/>
        </p:nvSpPr>
        <p:spPr>
          <a:xfrm>
            <a:off x="4206240" y="3072384"/>
            <a:ext cx="731520" cy="731520"/>
          </a:xfrm>
          <a:prstGeom prst="rect">
            <a:avLst/>
          </a:prstGeom>
          <a:noFill/>
          <a:ln/>
        </p:spPr>
        <p:txBody>
          <a:bodyPr wrap="square" lIns="0" tIns="0" rIns="0" bIns="0" rtlCol="0" anchor="ctr"/>
          <a:lstStyle/>
          <a:p>
            <a:pPr marL="0" indent="0" algn="ctr">
              <a:buNone/>
            </a:pPr>
            <a:r>
              <a:rPr lang="en-US" sz="2000" dirty="0">
                <a:solidFill>
                  <a:schemeClr val="accent4">
                    <a:lumMod val="60000"/>
                    <a:lumOff val="40000"/>
                  </a:schemeClr>
                </a:solidFill>
              </a:rPr>
              <a:t>🗂</a:t>
            </a:r>
          </a:p>
        </p:txBody>
      </p:sp>
      <p:sp>
        <p:nvSpPr>
          <p:cNvPr id="31" name="Text 28"/>
          <p:cNvSpPr/>
          <p:nvPr/>
        </p:nvSpPr>
        <p:spPr>
          <a:xfrm>
            <a:off x="3310128" y="3895344"/>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Registry Forensics</a:t>
            </a:r>
            <a:endParaRPr lang="en-US" sz="1100" dirty="0"/>
          </a:p>
        </p:txBody>
      </p:sp>
      <p:sp>
        <p:nvSpPr>
          <p:cNvPr id="32" name="Text 29"/>
          <p:cNvSpPr/>
          <p:nvPr/>
        </p:nvSpPr>
        <p:spPr>
          <a:xfrm>
            <a:off x="3310128" y="4215384"/>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Read the Windows Registry to find user activity, installed software, USB device history and persistence.</a:t>
            </a:r>
            <a:endParaRPr lang="en-US" sz="1050" dirty="0"/>
          </a:p>
        </p:txBody>
      </p:sp>
      <p:sp>
        <p:nvSpPr>
          <p:cNvPr id="33" name="Shape 30"/>
          <p:cNvSpPr/>
          <p:nvPr/>
        </p:nvSpPr>
        <p:spPr>
          <a:xfrm>
            <a:off x="6172200" y="2935224"/>
            <a:ext cx="2816352" cy="1938528"/>
          </a:xfrm>
          <a:prstGeom prst="roundRect">
            <a:avLst>
              <a:gd name="adj" fmla="val 377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34" name="Shape 31"/>
          <p:cNvSpPr/>
          <p:nvPr/>
        </p:nvSpPr>
        <p:spPr>
          <a:xfrm>
            <a:off x="7178040" y="3072384"/>
            <a:ext cx="731520" cy="731520"/>
          </a:xfrm>
          <a:prstGeom prst="ellipse">
            <a:avLst/>
          </a:prstGeom>
          <a:solidFill>
            <a:srgbClr val="001A22"/>
          </a:solidFill>
          <a:ln w="12700">
            <a:solidFill>
              <a:srgbClr val="00E5FF"/>
            </a:solidFill>
            <a:prstDash val="solid"/>
          </a:ln>
        </p:spPr>
      </p:sp>
      <p:sp>
        <p:nvSpPr>
          <p:cNvPr id="35" name="Text 32"/>
          <p:cNvSpPr/>
          <p:nvPr/>
        </p:nvSpPr>
        <p:spPr>
          <a:xfrm>
            <a:off x="7178040" y="3072384"/>
            <a:ext cx="731520" cy="731520"/>
          </a:xfrm>
          <a:prstGeom prst="rect">
            <a:avLst/>
          </a:prstGeom>
          <a:noFill/>
          <a:ln/>
        </p:spPr>
        <p:txBody>
          <a:bodyPr wrap="square" lIns="0" tIns="0" rIns="0" bIns="0" rtlCol="0" anchor="ctr"/>
          <a:lstStyle/>
          <a:p>
            <a:pPr marL="0" indent="0" algn="ctr">
              <a:buNone/>
            </a:pPr>
            <a:r>
              <a:rPr lang="en-US" sz="2000" dirty="0">
                <a:solidFill>
                  <a:schemeClr val="accent6">
                    <a:lumMod val="40000"/>
                    <a:lumOff val="60000"/>
                  </a:schemeClr>
                </a:solidFill>
              </a:rPr>
              <a:t>⚖</a:t>
            </a:r>
          </a:p>
        </p:txBody>
      </p:sp>
      <p:sp>
        <p:nvSpPr>
          <p:cNvPr id="36" name="Text 33"/>
          <p:cNvSpPr/>
          <p:nvPr/>
        </p:nvSpPr>
        <p:spPr>
          <a:xfrm>
            <a:off x="6281928" y="3895344"/>
            <a:ext cx="26060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M57 Capstone</a:t>
            </a:r>
            <a:endParaRPr lang="en-US" sz="1100" dirty="0"/>
          </a:p>
        </p:txBody>
      </p:sp>
      <p:sp>
        <p:nvSpPr>
          <p:cNvPr id="37" name="Text 34"/>
          <p:cNvSpPr/>
          <p:nvPr/>
        </p:nvSpPr>
        <p:spPr>
          <a:xfrm>
            <a:off x="6281928" y="4215384"/>
            <a:ext cx="2606040" cy="594360"/>
          </a:xfrm>
          <a:prstGeom prst="rect">
            <a:avLst/>
          </a:prstGeom>
          <a:noFill/>
          <a:ln/>
        </p:spPr>
        <p:txBody>
          <a:bodyPr wrap="square" lIns="0" tIns="0" rIns="0" bIns="0" rtlCol="0" anchor="ctr"/>
          <a:lstStyle/>
          <a:p>
            <a:pPr marL="0" indent="0" algn="ctr">
              <a:buNone/>
            </a:pPr>
            <a:r>
              <a:rPr lang="en-US" sz="1050" dirty="0">
                <a:solidFill>
                  <a:srgbClr val="AAAAAA"/>
                </a:solidFill>
                <a:latin typeface="Arial" pitchFamily="34" charset="0"/>
                <a:ea typeface="Arial" pitchFamily="34" charset="-122"/>
                <a:cs typeface="Arial" pitchFamily="34" charset="-120"/>
              </a:rPr>
              <a:t>Your final investigation. A real-world style case involving IP theft where you produce a report ready for court.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Text 0"/>
          <p:cNvSpPr/>
          <p:nvPr/>
        </p:nvSpPr>
        <p:spPr>
          <a:xfrm>
            <a:off x="822960" y="109728"/>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Tools You Will Work With</a:t>
            </a:r>
            <a:endParaRPr lang="en-US" sz="2200" dirty="0"/>
          </a:p>
        </p:txBody>
      </p:sp>
      <p:sp>
        <p:nvSpPr>
          <p:cNvPr id="4" name="Shape 1"/>
          <p:cNvSpPr/>
          <p:nvPr/>
        </p:nvSpPr>
        <p:spPr>
          <a:xfrm>
            <a:off x="228600" y="658368"/>
            <a:ext cx="8686800" cy="0"/>
          </a:xfrm>
          <a:prstGeom prst="line">
            <a:avLst/>
          </a:prstGeom>
          <a:noFill/>
          <a:ln w="9525">
            <a:solidFill>
              <a:srgbClr val="222222"/>
            </a:solidFill>
            <a:prstDash val="solid"/>
          </a:ln>
        </p:spPr>
      </p:sp>
      <p:sp>
        <p:nvSpPr>
          <p:cNvPr id="5" name="Shape 2"/>
          <p:cNvSpPr/>
          <p:nvPr/>
        </p:nvSpPr>
        <p:spPr>
          <a:xfrm>
            <a:off x="228600" y="777240"/>
            <a:ext cx="4206240" cy="4023360"/>
          </a:xfrm>
          <a:prstGeom prst="roundRect">
            <a:avLst>
              <a:gd name="adj" fmla="val 1818"/>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6" name="Text 3"/>
          <p:cNvSpPr/>
          <p:nvPr/>
        </p:nvSpPr>
        <p:spPr>
          <a:xfrm>
            <a:off x="411480" y="868680"/>
            <a:ext cx="3840480" cy="320040"/>
          </a:xfrm>
          <a:prstGeom prst="rect">
            <a:avLst/>
          </a:prstGeom>
          <a:noFill/>
          <a:ln/>
        </p:spPr>
        <p:txBody>
          <a:bodyPr wrap="square" lIns="0" tIns="0" rIns="0" bIns="0" rtlCol="0" anchor="ctr"/>
          <a:lstStyle/>
          <a:p>
            <a:pPr marL="0" indent="0">
              <a:buNone/>
            </a:pPr>
            <a:r>
              <a:rPr lang="en-US" sz="1200" b="1" dirty="0">
                <a:solidFill>
                  <a:srgbClr val="00E5FF"/>
                </a:solidFill>
                <a:latin typeface="Arial" pitchFamily="34" charset="0"/>
                <a:ea typeface="Arial" pitchFamily="34" charset="-122"/>
                <a:cs typeface="Arial" pitchFamily="34" charset="-120"/>
              </a:rPr>
              <a:t>Phase One: SOC Tools</a:t>
            </a:r>
            <a:endParaRPr lang="en-US" sz="1200" dirty="0"/>
          </a:p>
        </p:txBody>
      </p:sp>
      <p:sp>
        <p:nvSpPr>
          <p:cNvPr id="7" name="Shape 4"/>
          <p:cNvSpPr/>
          <p:nvPr/>
        </p:nvSpPr>
        <p:spPr>
          <a:xfrm>
            <a:off x="502920" y="1298448"/>
            <a:ext cx="164592" cy="164592"/>
          </a:xfrm>
          <a:prstGeom prst="ellipse">
            <a:avLst/>
          </a:prstGeom>
          <a:solidFill>
            <a:srgbClr val="00E5FF"/>
          </a:solidFill>
          <a:ln w="12700">
            <a:solidFill>
              <a:srgbClr val="00E5FF"/>
            </a:solidFill>
            <a:prstDash val="solid"/>
          </a:ln>
        </p:spPr>
      </p:sp>
      <p:sp>
        <p:nvSpPr>
          <p:cNvPr id="8" name="Text 5"/>
          <p:cNvSpPr/>
          <p:nvPr/>
        </p:nvSpPr>
        <p:spPr>
          <a:xfrm>
            <a:off x="804672" y="1280160"/>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Wazuh SIEM</a:t>
            </a:r>
            <a:endParaRPr lang="en-US" sz="1000" dirty="0"/>
          </a:p>
        </p:txBody>
      </p:sp>
      <p:sp>
        <p:nvSpPr>
          <p:cNvPr id="9" name="Shape 6"/>
          <p:cNvSpPr/>
          <p:nvPr/>
        </p:nvSpPr>
        <p:spPr>
          <a:xfrm>
            <a:off x="502920" y="1700784"/>
            <a:ext cx="164592" cy="164592"/>
          </a:xfrm>
          <a:prstGeom prst="ellipse">
            <a:avLst/>
          </a:prstGeom>
          <a:solidFill>
            <a:srgbClr val="00E5FF"/>
          </a:solidFill>
          <a:ln w="12700">
            <a:solidFill>
              <a:srgbClr val="00E5FF"/>
            </a:solidFill>
            <a:prstDash val="solid"/>
          </a:ln>
        </p:spPr>
      </p:sp>
      <p:sp>
        <p:nvSpPr>
          <p:cNvPr id="10" name="Text 7"/>
          <p:cNvSpPr/>
          <p:nvPr/>
        </p:nvSpPr>
        <p:spPr>
          <a:xfrm>
            <a:off x="804672" y="1682496"/>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Suricata IDS</a:t>
            </a:r>
            <a:endParaRPr lang="en-US" sz="1000" dirty="0"/>
          </a:p>
        </p:txBody>
      </p:sp>
      <p:sp>
        <p:nvSpPr>
          <p:cNvPr id="11" name="Shape 8"/>
          <p:cNvSpPr/>
          <p:nvPr/>
        </p:nvSpPr>
        <p:spPr>
          <a:xfrm>
            <a:off x="502920" y="2103120"/>
            <a:ext cx="164592" cy="164592"/>
          </a:xfrm>
          <a:prstGeom prst="ellipse">
            <a:avLst/>
          </a:prstGeom>
          <a:solidFill>
            <a:srgbClr val="00E5FF"/>
          </a:solidFill>
          <a:ln w="12700">
            <a:solidFill>
              <a:srgbClr val="00E5FF"/>
            </a:solidFill>
            <a:prstDash val="solid"/>
          </a:ln>
        </p:spPr>
      </p:sp>
      <p:sp>
        <p:nvSpPr>
          <p:cNvPr id="12" name="Text 9"/>
          <p:cNvSpPr/>
          <p:nvPr/>
        </p:nvSpPr>
        <p:spPr>
          <a:xfrm>
            <a:off x="804672" y="2084832"/>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Wireshark</a:t>
            </a:r>
            <a:endParaRPr lang="en-US" sz="1000" dirty="0"/>
          </a:p>
        </p:txBody>
      </p:sp>
      <p:sp>
        <p:nvSpPr>
          <p:cNvPr id="13" name="Shape 10"/>
          <p:cNvSpPr/>
          <p:nvPr/>
        </p:nvSpPr>
        <p:spPr>
          <a:xfrm>
            <a:off x="502920" y="2505456"/>
            <a:ext cx="164592" cy="164592"/>
          </a:xfrm>
          <a:prstGeom prst="ellipse">
            <a:avLst/>
          </a:prstGeom>
          <a:solidFill>
            <a:srgbClr val="00E5FF"/>
          </a:solidFill>
          <a:ln w="12700">
            <a:solidFill>
              <a:srgbClr val="00E5FF"/>
            </a:solidFill>
            <a:prstDash val="solid"/>
          </a:ln>
        </p:spPr>
      </p:sp>
      <p:sp>
        <p:nvSpPr>
          <p:cNvPr id="14" name="Text 11"/>
          <p:cNvSpPr/>
          <p:nvPr/>
        </p:nvSpPr>
        <p:spPr>
          <a:xfrm>
            <a:off x="804672" y="2487168"/>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tcpdump</a:t>
            </a:r>
            <a:endParaRPr lang="en-US" sz="1000" dirty="0"/>
          </a:p>
        </p:txBody>
      </p:sp>
      <p:sp>
        <p:nvSpPr>
          <p:cNvPr id="15" name="Shape 12"/>
          <p:cNvSpPr/>
          <p:nvPr/>
        </p:nvSpPr>
        <p:spPr>
          <a:xfrm>
            <a:off x="502920" y="2907792"/>
            <a:ext cx="164592" cy="164592"/>
          </a:xfrm>
          <a:prstGeom prst="ellipse">
            <a:avLst/>
          </a:prstGeom>
          <a:solidFill>
            <a:srgbClr val="00E5FF"/>
          </a:solidFill>
          <a:ln w="12700">
            <a:solidFill>
              <a:srgbClr val="00E5FF"/>
            </a:solidFill>
            <a:prstDash val="solid"/>
          </a:ln>
        </p:spPr>
      </p:sp>
      <p:sp>
        <p:nvSpPr>
          <p:cNvPr id="16" name="Text 13"/>
          <p:cNvSpPr/>
          <p:nvPr/>
        </p:nvSpPr>
        <p:spPr>
          <a:xfrm>
            <a:off x="804672" y="2889504"/>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pfSense Firewall</a:t>
            </a:r>
            <a:endParaRPr lang="en-US" sz="1000" dirty="0"/>
          </a:p>
        </p:txBody>
      </p:sp>
      <p:sp>
        <p:nvSpPr>
          <p:cNvPr id="17" name="Shape 14"/>
          <p:cNvSpPr/>
          <p:nvPr/>
        </p:nvSpPr>
        <p:spPr>
          <a:xfrm>
            <a:off x="502920" y="3310128"/>
            <a:ext cx="164592" cy="164592"/>
          </a:xfrm>
          <a:prstGeom prst="ellipse">
            <a:avLst/>
          </a:prstGeom>
          <a:solidFill>
            <a:srgbClr val="00E5FF"/>
          </a:solidFill>
          <a:ln w="12700">
            <a:solidFill>
              <a:srgbClr val="00E5FF"/>
            </a:solidFill>
            <a:prstDash val="solid"/>
          </a:ln>
        </p:spPr>
      </p:sp>
      <p:sp>
        <p:nvSpPr>
          <p:cNvPr id="18" name="Text 15"/>
          <p:cNvSpPr/>
          <p:nvPr/>
        </p:nvSpPr>
        <p:spPr>
          <a:xfrm>
            <a:off x="804672" y="3291840"/>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ANY.RUN Sandbox</a:t>
            </a:r>
            <a:endParaRPr lang="en-US" sz="1000" dirty="0"/>
          </a:p>
        </p:txBody>
      </p:sp>
      <p:sp>
        <p:nvSpPr>
          <p:cNvPr id="19" name="Shape 16"/>
          <p:cNvSpPr/>
          <p:nvPr/>
        </p:nvSpPr>
        <p:spPr>
          <a:xfrm>
            <a:off x="502920" y="3712464"/>
            <a:ext cx="164592" cy="164592"/>
          </a:xfrm>
          <a:prstGeom prst="ellipse">
            <a:avLst/>
          </a:prstGeom>
          <a:solidFill>
            <a:srgbClr val="00E5FF"/>
          </a:solidFill>
          <a:ln w="12700">
            <a:solidFill>
              <a:srgbClr val="00E5FF"/>
            </a:solidFill>
            <a:prstDash val="solid"/>
          </a:ln>
        </p:spPr>
      </p:sp>
      <p:sp>
        <p:nvSpPr>
          <p:cNvPr id="20" name="Text 17"/>
          <p:cNvSpPr/>
          <p:nvPr/>
        </p:nvSpPr>
        <p:spPr>
          <a:xfrm>
            <a:off x="804672" y="3694176"/>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VirusTotal</a:t>
            </a:r>
            <a:endParaRPr lang="en-US" sz="1000" dirty="0"/>
          </a:p>
        </p:txBody>
      </p:sp>
      <p:sp>
        <p:nvSpPr>
          <p:cNvPr id="21" name="Shape 18"/>
          <p:cNvSpPr/>
          <p:nvPr/>
        </p:nvSpPr>
        <p:spPr>
          <a:xfrm>
            <a:off x="502920" y="4114800"/>
            <a:ext cx="164592" cy="164592"/>
          </a:xfrm>
          <a:prstGeom prst="ellipse">
            <a:avLst/>
          </a:prstGeom>
          <a:solidFill>
            <a:srgbClr val="00E5FF"/>
          </a:solidFill>
          <a:ln w="12700">
            <a:solidFill>
              <a:srgbClr val="00E5FF"/>
            </a:solidFill>
            <a:prstDash val="solid"/>
          </a:ln>
        </p:spPr>
      </p:sp>
      <p:sp>
        <p:nvSpPr>
          <p:cNvPr id="22" name="Text 19"/>
          <p:cNvSpPr/>
          <p:nvPr/>
        </p:nvSpPr>
        <p:spPr>
          <a:xfrm>
            <a:off x="804672" y="4096512"/>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URLhaus and Abuse.ch</a:t>
            </a:r>
            <a:endParaRPr lang="en-US" sz="1000" dirty="0"/>
          </a:p>
        </p:txBody>
      </p:sp>
      <p:sp>
        <p:nvSpPr>
          <p:cNvPr id="23" name="Shape 20"/>
          <p:cNvSpPr/>
          <p:nvPr/>
        </p:nvSpPr>
        <p:spPr>
          <a:xfrm>
            <a:off x="4709160" y="777240"/>
            <a:ext cx="4206240" cy="4023360"/>
          </a:xfrm>
          <a:prstGeom prst="roundRect">
            <a:avLst>
              <a:gd name="adj" fmla="val 1818"/>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4" name="Text 21"/>
          <p:cNvSpPr/>
          <p:nvPr/>
        </p:nvSpPr>
        <p:spPr>
          <a:xfrm>
            <a:off x="4892040" y="868680"/>
            <a:ext cx="3840480" cy="320040"/>
          </a:xfrm>
          <a:prstGeom prst="rect">
            <a:avLst/>
          </a:prstGeom>
          <a:noFill/>
          <a:ln/>
        </p:spPr>
        <p:txBody>
          <a:bodyPr wrap="square" lIns="0" tIns="0" rIns="0" bIns="0" rtlCol="0" anchor="ctr"/>
          <a:lstStyle/>
          <a:p>
            <a:pPr marL="0" indent="0">
              <a:buNone/>
            </a:pPr>
            <a:r>
              <a:rPr lang="en-US" sz="1200" b="1" dirty="0">
                <a:solidFill>
                  <a:srgbClr val="00E5FF"/>
                </a:solidFill>
                <a:latin typeface="Arial" pitchFamily="34" charset="0"/>
                <a:ea typeface="Arial" pitchFamily="34" charset="-122"/>
                <a:cs typeface="Arial" pitchFamily="34" charset="-120"/>
              </a:rPr>
              <a:t>Phase Two: DFIR Tools</a:t>
            </a:r>
            <a:endParaRPr lang="en-US" sz="1200" dirty="0"/>
          </a:p>
        </p:txBody>
      </p:sp>
      <p:sp>
        <p:nvSpPr>
          <p:cNvPr id="25" name="Shape 22"/>
          <p:cNvSpPr/>
          <p:nvPr/>
        </p:nvSpPr>
        <p:spPr>
          <a:xfrm>
            <a:off x="4983480" y="1298448"/>
            <a:ext cx="164592" cy="164592"/>
          </a:xfrm>
          <a:prstGeom prst="ellipse">
            <a:avLst/>
          </a:prstGeom>
          <a:solidFill>
            <a:srgbClr val="00E5FF"/>
          </a:solidFill>
          <a:ln w="12700">
            <a:solidFill>
              <a:srgbClr val="00E5FF"/>
            </a:solidFill>
            <a:prstDash val="solid"/>
          </a:ln>
        </p:spPr>
      </p:sp>
      <p:sp>
        <p:nvSpPr>
          <p:cNvPr id="26" name="Text 23"/>
          <p:cNvSpPr/>
          <p:nvPr/>
        </p:nvSpPr>
        <p:spPr>
          <a:xfrm>
            <a:off x="5285232" y="1280160"/>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FTK Imager</a:t>
            </a:r>
            <a:endParaRPr lang="en-US" sz="1000" dirty="0"/>
          </a:p>
        </p:txBody>
      </p:sp>
      <p:sp>
        <p:nvSpPr>
          <p:cNvPr id="27" name="Shape 24"/>
          <p:cNvSpPr/>
          <p:nvPr/>
        </p:nvSpPr>
        <p:spPr>
          <a:xfrm>
            <a:off x="4983480" y="1700784"/>
            <a:ext cx="164592" cy="164592"/>
          </a:xfrm>
          <a:prstGeom prst="ellipse">
            <a:avLst/>
          </a:prstGeom>
          <a:solidFill>
            <a:srgbClr val="00E5FF"/>
          </a:solidFill>
          <a:ln w="12700">
            <a:solidFill>
              <a:srgbClr val="00E5FF"/>
            </a:solidFill>
            <a:prstDash val="solid"/>
          </a:ln>
        </p:spPr>
      </p:sp>
      <p:sp>
        <p:nvSpPr>
          <p:cNvPr id="28" name="Text 25"/>
          <p:cNvSpPr/>
          <p:nvPr/>
        </p:nvSpPr>
        <p:spPr>
          <a:xfrm>
            <a:off x="5285232" y="1682496"/>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Autopsy</a:t>
            </a:r>
            <a:endParaRPr lang="en-US" sz="1000" dirty="0"/>
          </a:p>
        </p:txBody>
      </p:sp>
      <p:sp>
        <p:nvSpPr>
          <p:cNvPr id="29" name="Shape 26"/>
          <p:cNvSpPr/>
          <p:nvPr/>
        </p:nvSpPr>
        <p:spPr>
          <a:xfrm>
            <a:off x="4983480" y="2103120"/>
            <a:ext cx="164592" cy="164592"/>
          </a:xfrm>
          <a:prstGeom prst="ellipse">
            <a:avLst/>
          </a:prstGeom>
          <a:solidFill>
            <a:srgbClr val="00E5FF"/>
          </a:solidFill>
          <a:ln w="12700">
            <a:solidFill>
              <a:srgbClr val="00E5FF"/>
            </a:solidFill>
            <a:prstDash val="solid"/>
          </a:ln>
        </p:spPr>
      </p:sp>
      <p:sp>
        <p:nvSpPr>
          <p:cNvPr id="30" name="Text 27"/>
          <p:cNvSpPr/>
          <p:nvPr/>
        </p:nvSpPr>
        <p:spPr>
          <a:xfrm>
            <a:off x="5285232" y="2084832"/>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EZ Tools Suite (PECmd, LECmd, RECmd...)</a:t>
            </a:r>
            <a:endParaRPr lang="en-US" sz="1000" dirty="0"/>
          </a:p>
        </p:txBody>
      </p:sp>
      <p:sp>
        <p:nvSpPr>
          <p:cNvPr id="31" name="Shape 28"/>
          <p:cNvSpPr/>
          <p:nvPr/>
        </p:nvSpPr>
        <p:spPr>
          <a:xfrm>
            <a:off x="4983480" y="2505456"/>
            <a:ext cx="164592" cy="164592"/>
          </a:xfrm>
          <a:prstGeom prst="ellipse">
            <a:avLst/>
          </a:prstGeom>
          <a:solidFill>
            <a:srgbClr val="00E5FF"/>
          </a:solidFill>
          <a:ln w="12700">
            <a:solidFill>
              <a:srgbClr val="00E5FF"/>
            </a:solidFill>
            <a:prstDash val="solid"/>
          </a:ln>
        </p:spPr>
      </p:sp>
      <p:sp>
        <p:nvSpPr>
          <p:cNvPr id="32" name="Text 29"/>
          <p:cNvSpPr/>
          <p:nvPr/>
        </p:nvSpPr>
        <p:spPr>
          <a:xfrm>
            <a:off x="5285232" y="2487168"/>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Registry Explorer</a:t>
            </a:r>
            <a:endParaRPr lang="en-US" sz="1000" dirty="0"/>
          </a:p>
        </p:txBody>
      </p:sp>
      <p:sp>
        <p:nvSpPr>
          <p:cNvPr id="33" name="Shape 30"/>
          <p:cNvSpPr/>
          <p:nvPr/>
        </p:nvSpPr>
        <p:spPr>
          <a:xfrm>
            <a:off x="4983480" y="2907792"/>
            <a:ext cx="164592" cy="164592"/>
          </a:xfrm>
          <a:prstGeom prst="ellipse">
            <a:avLst/>
          </a:prstGeom>
          <a:solidFill>
            <a:srgbClr val="00E5FF"/>
          </a:solidFill>
          <a:ln w="12700">
            <a:solidFill>
              <a:srgbClr val="00E5FF"/>
            </a:solidFill>
            <a:prstDash val="solid"/>
          </a:ln>
        </p:spPr>
      </p:sp>
      <p:sp>
        <p:nvSpPr>
          <p:cNvPr id="34" name="Text 31"/>
          <p:cNvSpPr/>
          <p:nvPr/>
        </p:nvSpPr>
        <p:spPr>
          <a:xfrm>
            <a:off x="5285232" y="2889504"/>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log2timeline and plaso</a:t>
            </a:r>
            <a:endParaRPr lang="en-US" sz="1000" dirty="0"/>
          </a:p>
        </p:txBody>
      </p:sp>
      <p:sp>
        <p:nvSpPr>
          <p:cNvPr id="35" name="Shape 32"/>
          <p:cNvSpPr/>
          <p:nvPr/>
        </p:nvSpPr>
        <p:spPr>
          <a:xfrm>
            <a:off x="4983480" y="3310128"/>
            <a:ext cx="164592" cy="164592"/>
          </a:xfrm>
          <a:prstGeom prst="ellipse">
            <a:avLst/>
          </a:prstGeom>
          <a:solidFill>
            <a:srgbClr val="00E5FF"/>
          </a:solidFill>
          <a:ln w="12700">
            <a:solidFill>
              <a:srgbClr val="00E5FF"/>
            </a:solidFill>
            <a:prstDash val="solid"/>
          </a:ln>
        </p:spPr>
      </p:sp>
      <p:sp>
        <p:nvSpPr>
          <p:cNvPr id="36" name="Text 33"/>
          <p:cNvSpPr/>
          <p:nvPr/>
        </p:nvSpPr>
        <p:spPr>
          <a:xfrm>
            <a:off x="5285232" y="3291840"/>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ChromeHistoryView</a:t>
            </a:r>
            <a:endParaRPr lang="en-US" sz="1000" dirty="0"/>
          </a:p>
        </p:txBody>
      </p:sp>
      <p:sp>
        <p:nvSpPr>
          <p:cNvPr id="37" name="Shape 34"/>
          <p:cNvSpPr/>
          <p:nvPr/>
        </p:nvSpPr>
        <p:spPr>
          <a:xfrm>
            <a:off x="4983480" y="3712464"/>
            <a:ext cx="164592" cy="164592"/>
          </a:xfrm>
          <a:prstGeom prst="ellipse">
            <a:avLst/>
          </a:prstGeom>
          <a:solidFill>
            <a:srgbClr val="00E5FF"/>
          </a:solidFill>
          <a:ln w="12700">
            <a:solidFill>
              <a:srgbClr val="00E5FF"/>
            </a:solidFill>
            <a:prstDash val="solid"/>
          </a:ln>
        </p:spPr>
      </p:sp>
      <p:sp>
        <p:nvSpPr>
          <p:cNvPr id="38" name="Text 35"/>
          <p:cNvSpPr/>
          <p:nvPr/>
        </p:nvSpPr>
        <p:spPr>
          <a:xfrm>
            <a:off x="5285232" y="3694176"/>
            <a:ext cx="34747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Thumbcache Viewer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Text 0"/>
          <p:cNvSpPr/>
          <p:nvPr/>
        </p:nvSpPr>
        <p:spPr>
          <a:xfrm>
            <a:off x="822960" y="109728"/>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How to Submit Your Weekly Work</a:t>
            </a:r>
            <a:endParaRPr lang="en-US" sz="2200" dirty="0"/>
          </a:p>
        </p:txBody>
      </p:sp>
      <p:sp>
        <p:nvSpPr>
          <p:cNvPr id="4" name="Shape 1"/>
          <p:cNvSpPr/>
          <p:nvPr/>
        </p:nvSpPr>
        <p:spPr>
          <a:xfrm>
            <a:off x="228600" y="658368"/>
            <a:ext cx="8686800" cy="0"/>
          </a:xfrm>
          <a:prstGeom prst="line">
            <a:avLst/>
          </a:prstGeom>
          <a:noFill/>
          <a:ln w="9525">
            <a:solidFill>
              <a:srgbClr val="222222"/>
            </a:solidFill>
            <a:prstDash val="solid"/>
          </a:ln>
        </p:spPr>
      </p:sp>
      <p:sp>
        <p:nvSpPr>
          <p:cNvPr id="5" name="Shape 2"/>
          <p:cNvSpPr/>
          <p:nvPr/>
        </p:nvSpPr>
        <p:spPr>
          <a:xfrm>
            <a:off x="6949440" y="137160"/>
            <a:ext cx="1920240" cy="411480"/>
          </a:xfrm>
          <a:prstGeom prst="roundRect">
            <a:avLst>
              <a:gd name="adj" fmla="val 17778"/>
            </a:avLst>
          </a:prstGeom>
          <a:solidFill>
            <a:srgbClr val="0077B5"/>
          </a:solidFill>
          <a:ln w="6350">
            <a:solidFill>
              <a:srgbClr val="00B4CC"/>
            </a:solidFill>
            <a:prstDash val="solid"/>
          </a:ln>
          <a:effectLst>
            <a:outerShdw blurRad="101600" dist="38100" dir="2700000" algn="bl" rotWithShape="0">
              <a:srgbClr val="000000">
                <a:alpha val="40000"/>
              </a:srgbClr>
            </a:outerShdw>
          </a:effectLst>
        </p:spPr>
      </p:sp>
      <p:sp>
        <p:nvSpPr>
          <p:cNvPr id="6" name="Text 3"/>
          <p:cNvSpPr/>
          <p:nvPr/>
        </p:nvSpPr>
        <p:spPr>
          <a:xfrm>
            <a:off x="6995160" y="173736"/>
            <a:ext cx="182880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via LinkedIn</a:t>
            </a:r>
            <a:endParaRPr lang="en-US" sz="1100" dirty="0"/>
          </a:p>
        </p:txBody>
      </p:sp>
      <p:sp>
        <p:nvSpPr>
          <p:cNvPr id="7" name="Shape 4"/>
          <p:cNvSpPr/>
          <p:nvPr/>
        </p:nvSpPr>
        <p:spPr>
          <a:xfrm>
            <a:off x="228600" y="822960"/>
            <a:ext cx="4206240" cy="1280160"/>
          </a:xfrm>
          <a:prstGeom prst="roundRect">
            <a:avLst>
              <a:gd name="adj" fmla="val 571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8" name="Shape 5"/>
          <p:cNvSpPr/>
          <p:nvPr/>
        </p:nvSpPr>
        <p:spPr>
          <a:xfrm>
            <a:off x="365760" y="1207008"/>
            <a:ext cx="530352" cy="530352"/>
          </a:xfrm>
          <a:prstGeom prst="ellipse">
            <a:avLst/>
          </a:prstGeom>
          <a:solidFill>
            <a:srgbClr val="0077B5"/>
          </a:solidFill>
          <a:ln w="12700">
            <a:solidFill>
              <a:srgbClr val="0099DD"/>
            </a:solidFill>
            <a:prstDash val="solid"/>
          </a:ln>
        </p:spPr>
      </p:sp>
      <p:sp>
        <p:nvSpPr>
          <p:cNvPr id="9" name="Text 6"/>
          <p:cNvSpPr/>
          <p:nvPr/>
        </p:nvSpPr>
        <p:spPr>
          <a:xfrm>
            <a:off x="365760" y="1207008"/>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01</a:t>
            </a:r>
            <a:endParaRPr lang="en-US" sz="1100" dirty="0"/>
          </a:p>
        </p:txBody>
      </p:sp>
      <p:sp>
        <p:nvSpPr>
          <p:cNvPr id="10" name="Text 7"/>
          <p:cNvSpPr/>
          <p:nvPr/>
        </p:nvSpPr>
        <p:spPr>
          <a:xfrm>
            <a:off x="1033272" y="914400"/>
            <a:ext cx="3246120"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Compile a Weekly Report Post</a:t>
            </a:r>
            <a:endParaRPr lang="en-US" sz="1100" dirty="0"/>
          </a:p>
        </p:txBody>
      </p:sp>
      <p:sp>
        <p:nvSpPr>
          <p:cNvPr id="11" name="Text 8"/>
          <p:cNvSpPr/>
          <p:nvPr/>
        </p:nvSpPr>
        <p:spPr>
          <a:xfrm>
            <a:off x="1033272" y="1261872"/>
            <a:ext cx="3246120" cy="749808"/>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Gather all your work for the week into a single LinkedIn post. Include all written reports and key screenshots proving actual work was done not just theory.</a:t>
            </a:r>
            <a:endParaRPr lang="en-US" sz="1050" dirty="0"/>
          </a:p>
        </p:txBody>
      </p:sp>
      <p:sp>
        <p:nvSpPr>
          <p:cNvPr id="12" name="Shape 9"/>
          <p:cNvSpPr/>
          <p:nvPr/>
        </p:nvSpPr>
        <p:spPr>
          <a:xfrm>
            <a:off x="4663440" y="822960"/>
            <a:ext cx="4206240" cy="1280160"/>
          </a:xfrm>
          <a:prstGeom prst="roundRect">
            <a:avLst>
              <a:gd name="adj" fmla="val 571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3" name="Shape 10"/>
          <p:cNvSpPr/>
          <p:nvPr/>
        </p:nvSpPr>
        <p:spPr>
          <a:xfrm>
            <a:off x="4800600" y="1207008"/>
            <a:ext cx="530352" cy="530352"/>
          </a:xfrm>
          <a:prstGeom prst="ellipse">
            <a:avLst/>
          </a:prstGeom>
          <a:solidFill>
            <a:srgbClr val="0077B5"/>
          </a:solidFill>
          <a:ln w="12700">
            <a:solidFill>
              <a:srgbClr val="0099DD"/>
            </a:solidFill>
            <a:prstDash val="solid"/>
          </a:ln>
        </p:spPr>
      </p:sp>
      <p:sp>
        <p:nvSpPr>
          <p:cNvPr id="14" name="Text 11"/>
          <p:cNvSpPr/>
          <p:nvPr/>
        </p:nvSpPr>
        <p:spPr>
          <a:xfrm>
            <a:off x="4800600" y="1207008"/>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02</a:t>
            </a:r>
            <a:endParaRPr lang="en-US" sz="1100" dirty="0"/>
          </a:p>
        </p:txBody>
      </p:sp>
      <p:sp>
        <p:nvSpPr>
          <p:cNvPr id="15" name="Text 12"/>
          <p:cNvSpPr/>
          <p:nvPr/>
        </p:nvSpPr>
        <p:spPr>
          <a:xfrm>
            <a:off x="5468112" y="914400"/>
            <a:ext cx="3246120"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Tag Cyberster and Your Instructor</a:t>
            </a:r>
            <a:endParaRPr lang="en-US" sz="1100" dirty="0"/>
          </a:p>
        </p:txBody>
      </p:sp>
      <p:sp>
        <p:nvSpPr>
          <p:cNvPr id="16" name="Text 13"/>
          <p:cNvSpPr/>
          <p:nvPr/>
        </p:nvSpPr>
        <p:spPr>
          <a:xfrm>
            <a:off x="5468112" y="1261872"/>
            <a:ext cx="3246120" cy="749808"/>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Tag @Cyberster and your assigned instructor in the post. Add a short description of what the week covered and what you learned.</a:t>
            </a:r>
            <a:endParaRPr lang="en-US" sz="1050" dirty="0"/>
          </a:p>
        </p:txBody>
      </p:sp>
      <p:sp>
        <p:nvSpPr>
          <p:cNvPr id="17" name="Shape 14"/>
          <p:cNvSpPr/>
          <p:nvPr/>
        </p:nvSpPr>
        <p:spPr>
          <a:xfrm>
            <a:off x="228600" y="2240280"/>
            <a:ext cx="4206240" cy="1280160"/>
          </a:xfrm>
          <a:prstGeom prst="roundRect">
            <a:avLst>
              <a:gd name="adj" fmla="val 571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8" name="Shape 15"/>
          <p:cNvSpPr/>
          <p:nvPr/>
        </p:nvSpPr>
        <p:spPr>
          <a:xfrm>
            <a:off x="365760" y="2624328"/>
            <a:ext cx="530352" cy="530352"/>
          </a:xfrm>
          <a:prstGeom prst="ellipse">
            <a:avLst/>
          </a:prstGeom>
          <a:solidFill>
            <a:srgbClr val="0077B5"/>
          </a:solidFill>
          <a:ln w="12700">
            <a:solidFill>
              <a:srgbClr val="0099DD"/>
            </a:solidFill>
            <a:prstDash val="solid"/>
          </a:ln>
        </p:spPr>
      </p:sp>
      <p:sp>
        <p:nvSpPr>
          <p:cNvPr id="19" name="Text 16"/>
          <p:cNvSpPr/>
          <p:nvPr/>
        </p:nvSpPr>
        <p:spPr>
          <a:xfrm>
            <a:off x="365760" y="2624328"/>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03</a:t>
            </a:r>
            <a:endParaRPr lang="en-US" sz="1100" dirty="0"/>
          </a:p>
        </p:txBody>
      </p:sp>
      <p:sp>
        <p:nvSpPr>
          <p:cNvPr id="20" name="Text 17"/>
          <p:cNvSpPr/>
          <p:nvPr/>
        </p:nvSpPr>
        <p:spPr>
          <a:xfrm>
            <a:off x="1033272" y="2331720"/>
            <a:ext cx="3246120"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Share the Link in the Group</a:t>
            </a:r>
            <a:endParaRPr lang="en-US" sz="1100" dirty="0"/>
          </a:p>
        </p:txBody>
      </p:sp>
      <p:sp>
        <p:nvSpPr>
          <p:cNvPr id="21" name="Text 18"/>
          <p:cNvSpPr/>
          <p:nvPr/>
        </p:nvSpPr>
        <p:spPr>
          <a:xfrm>
            <a:off x="1033272" y="2679192"/>
            <a:ext cx="3246120" cy="749808"/>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Once published, share the LinkedIn post link in your discussion group so mentors can find and review your submission.</a:t>
            </a:r>
            <a:endParaRPr lang="en-US" sz="1050" dirty="0"/>
          </a:p>
        </p:txBody>
      </p:sp>
      <p:sp>
        <p:nvSpPr>
          <p:cNvPr id="22" name="Shape 19"/>
          <p:cNvSpPr/>
          <p:nvPr/>
        </p:nvSpPr>
        <p:spPr>
          <a:xfrm>
            <a:off x="4663440" y="2240280"/>
            <a:ext cx="4206240" cy="1280160"/>
          </a:xfrm>
          <a:prstGeom prst="roundRect">
            <a:avLst>
              <a:gd name="adj" fmla="val 5714"/>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3" name="Shape 20"/>
          <p:cNvSpPr/>
          <p:nvPr/>
        </p:nvSpPr>
        <p:spPr>
          <a:xfrm>
            <a:off x="4800600" y="2624328"/>
            <a:ext cx="530352" cy="530352"/>
          </a:xfrm>
          <a:prstGeom prst="ellipse">
            <a:avLst/>
          </a:prstGeom>
          <a:solidFill>
            <a:srgbClr val="0077B5"/>
          </a:solidFill>
          <a:ln w="12700">
            <a:solidFill>
              <a:srgbClr val="0099DD"/>
            </a:solidFill>
            <a:prstDash val="solid"/>
          </a:ln>
        </p:spPr>
      </p:sp>
      <p:sp>
        <p:nvSpPr>
          <p:cNvPr id="24" name="Text 21"/>
          <p:cNvSpPr/>
          <p:nvPr/>
        </p:nvSpPr>
        <p:spPr>
          <a:xfrm>
            <a:off x="4800600" y="2624328"/>
            <a:ext cx="530352" cy="530352"/>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04</a:t>
            </a:r>
            <a:endParaRPr lang="en-US" sz="1100" dirty="0"/>
          </a:p>
        </p:txBody>
      </p:sp>
      <p:sp>
        <p:nvSpPr>
          <p:cNvPr id="25" name="Text 22"/>
          <p:cNvSpPr/>
          <p:nvPr/>
        </p:nvSpPr>
        <p:spPr>
          <a:xfrm>
            <a:off x="5468112" y="2331720"/>
            <a:ext cx="3246120"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Show Real Work in Reports</a:t>
            </a:r>
            <a:endParaRPr lang="en-US" sz="1100" dirty="0"/>
          </a:p>
        </p:txBody>
      </p:sp>
      <p:sp>
        <p:nvSpPr>
          <p:cNvPr id="26" name="Text 23"/>
          <p:cNvSpPr/>
          <p:nvPr/>
        </p:nvSpPr>
        <p:spPr>
          <a:xfrm>
            <a:off x="5468112" y="2679192"/>
            <a:ext cx="3246120" cy="749808"/>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Reports must include screenshots that prove steps were performed. Reviewers must be able to see through your report that real hands-on work was completed.</a:t>
            </a:r>
            <a:endParaRPr lang="en-US" sz="1050" dirty="0"/>
          </a:p>
        </p:txBody>
      </p:sp>
      <p:sp>
        <p:nvSpPr>
          <p:cNvPr id="27" name="Shape 24"/>
          <p:cNvSpPr/>
          <p:nvPr/>
        </p:nvSpPr>
        <p:spPr>
          <a:xfrm>
            <a:off x="228600" y="3703320"/>
            <a:ext cx="8686800" cy="685800"/>
          </a:xfrm>
          <a:prstGeom prst="roundRect">
            <a:avLst>
              <a:gd name="adj" fmla="val 10667"/>
            </a:avLst>
          </a:prstGeom>
          <a:solidFill>
            <a:srgbClr val="1A0000"/>
          </a:solidFill>
          <a:ln w="6350">
            <a:solidFill>
              <a:srgbClr val="00B4CC"/>
            </a:solidFill>
            <a:prstDash val="solid"/>
          </a:ln>
          <a:effectLst>
            <a:outerShdw blurRad="101600" dist="38100" dir="2700000" algn="bl" rotWithShape="0">
              <a:srgbClr val="000000">
                <a:alpha val="40000"/>
              </a:srgbClr>
            </a:outerShdw>
          </a:effectLst>
        </p:spPr>
      </p:sp>
      <p:sp>
        <p:nvSpPr>
          <p:cNvPr id="28" name="Shape 25"/>
          <p:cNvSpPr/>
          <p:nvPr/>
        </p:nvSpPr>
        <p:spPr>
          <a:xfrm>
            <a:off x="228600" y="3703320"/>
            <a:ext cx="256032" cy="685800"/>
          </a:xfrm>
          <a:prstGeom prst="rect">
            <a:avLst/>
          </a:prstGeom>
          <a:solidFill>
            <a:srgbClr val="FF4444"/>
          </a:solidFill>
          <a:ln w="12700">
            <a:solidFill>
              <a:srgbClr val="FF4444"/>
            </a:solidFill>
            <a:prstDash val="solid"/>
          </a:ln>
        </p:spPr>
      </p:sp>
      <p:sp>
        <p:nvSpPr>
          <p:cNvPr id="29" name="Text 26"/>
          <p:cNvSpPr/>
          <p:nvPr/>
        </p:nvSpPr>
        <p:spPr>
          <a:xfrm>
            <a:off x="594360" y="3749040"/>
            <a:ext cx="8138160" cy="594360"/>
          </a:xfrm>
          <a:prstGeom prst="rect">
            <a:avLst/>
          </a:prstGeom>
          <a:noFill/>
          <a:ln/>
        </p:spPr>
        <p:txBody>
          <a:bodyPr wrap="square" lIns="0" tIns="0" rIns="0" bIns="0" rtlCol="0" anchor="ctr"/>
          <a:lstStyle/>
          <a:p>
            <a:pPr marL="0" indent="0">
              <a:buNone/>
            </a:pPr>
            <a:r>
              <a:rPr lang="en-US" sz="950" dirty="0">
                <a:solidFill>
                  <a:srgbClr val="FF8888"/>
                </a:solidFill>
                <a:latin typeface="Arial" pitchFamily="34" charset="0"/>
                <a:ea typeface="Arial" pitchFamily="34" charset="-122"/>
                <a:cs typeface="Arial" pitchFamily="34" charset="-120"/>
              </a:rPr>
              <a:t>⚠  Do NOT copy anyone's report. Our review team actively checks for plagiarism. Copied submissions may result in termination from the internship. Write your own original work every week.</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Text 0"/>
          <p:cNvSpPr/>
          <p:nvPr/>
        </p:nvSpPr>
        <p:spPr>
          <a:xfrm>
            <a:off x="822960" y="109728"/>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System Requirements</a:t>
            </a:r>
            <a:endParaRPr lang="en-US" sz="2200" dirty="0"/>
          </a:p>
        </p:txBody>
      </p:sp>
      <p:sp>
        <p:nvSpPr>
          <p:cNvPr id="4" name="Shape 1"/>
          <p:cNvSpPr/>
          <p:nvPr/>
        </p:nvSpPr>
        <p:spPr>
          <a:xfrm>
            <a:off x="228600" y="658368"/>
            <a:ext cx="8686800" cy="0"/>
          </a:xfrm>
          <a:prstGeom prst="line">
            <a:avLst/>
          </a:prstGeom>
          <a:noFill/>
          <a:ln w="9525">
            <a:solidFill>
              <a:srgbClr val="222222"/>
            </a:solidFill>
            <a:prstDash val="solid"/>
          </a:ln>
        </p:spPr>
      </p:sp>
      <p:sp>
        <p:nvSpPr>
          <p:cNvPr id="5" name="Shape 2"/>
          <p:cNvSpPr/>
          <p:nvPr/>
        </p:nvSpPr>
        <p:spPr>
          <a:xfrm>
            <a:off x="228600" y="777240"/>
            <a:ext cx="8686800" cy="384048"/>
          </a:xfrm>
          <a:prstGeom prst="roundRect">
            <a:avLst>
              <a:gd name="adj" fmla="val 19048"/>
            </a:avLst>
          </a:prstGeom>
          <a:solidFill>
            <a:srgbClr val="111111"/>
          </a:solidFill>
          <a:ln w="6350">
            <a:solidFill>
              <a:srgbClr val="00B4CC"/>
            </a:solidFill>
            <a:prstDash val="solid"/>
          </a:ln>
          <a:effectLst>
            <a:outerShdw blurRad="101600" dist="38100" dir="2700000" algn="bl" rotWithShape="0">
              <a:srgbClr val="000000">
                <a:alpha val="40000"/>
              </a:srgbClr>
            </a:outerShdw>
          </a:effectLst>
        </p:spPr>
      </p:sp>
      <p:sp>
        <p:nvSpPr>
          <p:cNvPr id="6" name="Text 3"/>
          <p:cNvSpPr/>
          <p:nvPr/>
        </p:nvSpPr>
        <p:spPr>
          <a:xfrm>
            <a:off x="411480" y="832104"/>
            <a:ext cx="2286000" cy="274320"/>
          </a:xfrm>
          <a:prstGeom prst="rect">
            <a:avLst/>
          </a:prstGeom>
          <a:noFill/>
          <a:ln/>
        </p:spPr>
        <p:txBody>
          <a:bodyPr wrap="square" lIns="0" tIns="0" rIns="0" bIns="0" rtlCol="0" anchor="ctr"/>
          <a:lstStyle/>
          <a:p>
            <a:pPr marL="0" indent="0">
              <a:buNone/>
            </a:pPr>
            <a:r>
              <a:rPr lang="en-US" sz="1000" b="1" dirty="0">
                <a:solidFill>
                  <a:srgbClr val="00E5FF"/>
                </a:solidFill>
                <a:latin typeface="Arial" pitchFamily="34" charset="0"/>
                <a:ea typeface="Arial" pitchFamily="34" charset="-122"/>
                <a:cs typeface="Arial" pitchFamily="34" charset="-120"/>
              </a:rPr>
              <a:t>Component</a:t>
            </a:r>
            <a:endParaRPr lang="en-US" sz="1000" dirty="0"/>
          </a:p>
        </p:txBody>
      </p:sp>
      <p:sp>
        <p:nvSpPr>
          <p:cNvPr id="7" name="Text 4"/>
          <p:cNvSpPr/>
          <p:nvPr/>
        </p:nvSpPr>
        <p:spPr>
          <a:xfrm>
            <a:off x="2834640" y="832104"/>
            <a:ext cx="2743200" cy="274320"/>
          </a:xfrm>
          <a:prstGeom prst="rect">
            <a:avLst/>
          </a:prstGeom>
          <a:noFill/>
          <a:ln/>
        </p:spPr>
        <p:txBody>
          <a:bodyPr wrap="square" lIns="0" tIns="0" rIns="0" bIns="0" rtlCol="0" anchor="ctr"/>
          <a:lstStyle/>
          <a:p>
            <a:pPr marL="0" indent="0">
              <a:buNone/>
            </a:pPr>
            <a:r>
              <a:rPr lang="en-US" sz="1000" b="1" dirty="0">
                <a:solidFill>
                  <a:srgbClr val="00E5FF"/>
                </a:solidFill>
                <a:latin typeface="Arial" pitchFamily="34" charset="0"/>
                <a:ea typeface="Arial" pitchFamily="34" charset="-122"/>
                <a:cs typeface="Arial" pitchFamily="34" charset="-120"/>
              </a:rPr>
              <a:t>Minimum</a:t>
            </a:r>
            <a:endParaRPr lang="en-US" sz="1000" dirty="0"/>
          </a:p>
        </p:txBody>
      </p:sp>
      <p:sp>
        <p:nvSpPr>
          <p:cNvPr id="8" name="Text 5"/>
          <p:cNvSpPr/>
          <p:nvPr/>
        </p:nvSpPr>
        <p:spPr>
          <a:xfrm>
            <a:off x="5760720" y="832104"/>
            <a:ext cx="2926080" cy="274320"/>
          </a:xfrm>
          <a:prstGeom prst="rect">
            <a:avLst/>
          </a:prstGeom>
          <a:noFill/>
          <a:ln/>
        </p:spPr>
        <p:txBody>
          <a:bodyPr wrap="square" lIns="0" tIns="0" rIns="0" bIns="0" rtlCol="0" anchor="ctr"/>
          <a:lstStyle/>
          <a:p>
            <a:pPr marL="0" indent="0">
              <a:buNone/>
            </a:pPr>
            <a:r>
              <a:rPr lang="en-US" sz="1000" b="1" dirty="0">
                <a:solidFill>
                  <a:srgbClr val="00E5FF"/>
                </a:solidFill>
                <a:latin typeface="Arial" pitchFamily="34" charset="0"/>
                <a:ea typeface="Arial" pitchFamily="34" charset="-122"/>
                <a:cs typeface="Arial" pitchFamily="34" charset="-120"/>
              </a:rPr>
              <a:t>What We Recommend</a:t>
            </a:r>
            <a:endParaRPr lang="en-US" sz="1000" dirty="0"/>
          </a:p>
        </p:txBody>
      </p:sp>
      <p:sp>
        <p:nvSpPr>
          <p:cNvPr id="9" name="Shape 6"/>
          <p:cNvSpPr/>
          <p:nvPr/>
        </p:nvSpPr>
        <p:spPr>
          <a:xfrm>
            <a:off x="228600" y="1216152"/>
            <a:ext cx="8686800" cy="438912"/>
          </a:xfrm>
          <a:prstGeom prst="roundRect">
            <a:avLst>
              <a:gd name="adj" fmla="val 16667"/>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0" name="Text 7"/>
          <p:cNvSpPr/>
          <p:nvPr/>
        </p:nvSpPr>
        <p:spPr>
          <a:xfrm>
            <a:off x="411480" y="1298448"/>
            <a:ext cx="228600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Processor</a:t>
            </a:r>
            <a:endParaRPr lang="en-US" sz="1000" dirty="0"/>
          </a:p>
        </p:txBody>
      </p:sp>
      <p:sp>
        <p:nvSpPr>
          <p:cNvPr id="11" name="Shape 8"/>
          <p:cNvSpPr/>
          <p:nvPr/>
        </p:nvSpPr>
        <p:spPr>
          <a:xfrm>
            <a:off x="2743200" y="1252728"/>
            <a:ext cx="0" cy="365760"/>
          </a:xfrm>
          <a:prstGeom prst="line">
            <a:avLst/>
          </a:prstGeom>
          <a:noFill/>
          <a:ln w="9525">
            <a:solidFill>
              <a:srgbClr val="333333"/>
            </a:solidFill>
            <a:prstDash val="solid"/>
          </a:ln>
        </p:spPr>
      </p:sp>
      <p:sp>
        <p:nvSpPr>
          <p:cNvPr id="12" name="Text 9"/>
          <p:cNvSpPr/>
          <p:nvPr/>
        </p:nvSpPr>
        <p:spPr>
          <a:xfrm>
            <a:off x="2834640" y="1298448"/>
            <a:ext cx="2743200" cy="274320"/>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Intel Core i5 6th Gen or AMD Ryzen 5</a:t>
            </a:r>
            <a:endParaRPr lang="en-US" sz="1000" dirty="0"/>
          </a:p>
        </p:txBody>
      </p:sp>
      <p:sp>
        <p:nvSpPr>
          <p:cNvPr id="13" name="Shape 10"/>
          <p:cNvSpPr/>
          <p:nvPr/>
        </p:nvSpPr>
        <p:spPr>
          <a:xfrm>
            <a:off x="5669280" y="1252728"/>
            <a:ext cx="0" cy="365760"/>
          </a:xfrm>
          <a:prstGeom prst="line">
            <a:avLst/>
          </a:prstGeom>
          <a:noFill/>
          <a:ln w="9525">
            <a:solidFill>
              <a:srgbClr val="333333"/>
            </a:solidFill>
            <a:prstDash val="solid"/>
          </a:ln>
        </p:spPr>
      </p:sp>
      <p:sp>
        <p:nvSpPr>
          <p:cNvPr id="14" name="Text 11"/>
          <p:cNvSpPr/>
          <p:nvPr/>
        </p:nvSpPr>
        <p:spPr>
          <a:xfrm>
            <a:off x="5760720" y="1298448"/>
            <a:ext cx="292608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Intel Core i7 or AMD Ryzen 7</a:t>
            </a:r>
            <a:endParaRPr lang="en-US" sz="1000" dirty="0"/>
          </a:p>
        </p:txBody>
      </p:sp>
      <p:sp>
        <p:nvSpPr>
          <p:cNvPr id="15" name="Shape 12"/>
          <p:cNvSpPr/>
          <p:nvPr/>
        </p:nvSpPr>
        <p:spPr>
          <a:xfrm>
            <a:off x="228600" y="1719072"/>
            <a:ext cx="8686800" cy="438912"/>
          </a:xfrm>
          <a:prstGeom prst="roundRect">
            <a:avLst>
              <a:gd name="adj" fmla="val 16667"/>
            </a:avLst>
          </a:prstGeom>
          <a:solidFill>
            <a:srgbClr val="111111"/>
          </a:solidFill>
          <a:ln w="6350">
            <a:solidFill>
              <a:srgbClr val="00B4CC"/>
            </a:solidFill>
            <a:prstDash val="solid"/>
          </a:ln>
          <a:effectLst>
            <a:outerShdw blurRad="101600" dist="38100" dir="2700000" algn="bl" rotWithShape="0">
              <a:srgbClr val="000000">
                <a:alpha val="40000"/>
              </a:srgbClr>
            </a:outerShdw>
          </a:effectLst>
        </p:spPr>
      </p:sp>
      <p:sp>
        <p:nvSpPr>
          <p:cNvPr id="16" name="Text 13"/>
          <p:cNvSpPr/>
          <p:nvPr/>
        </p:nvSpPr>
        <p:spPr>
          <a:xfrm>
            <a:off x="411480" y="1801368"/>
            <a:ext cx="228600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Memory</a:t>
            </a:r>
            <a:endParaRPr lang="en-US" sz="1000" dirty="0"/>
          </a:p>
        </p:txBody>
      </p:sp>
      <p:sp>
        <p:nvSpPr>
          <p:cNvPr id="17" name="Shape 14"/>
          <p:cNvSpPr/>
          <p:nvPr/>
        </p:nvSpPr>
        <p:spPr>
          <a:xfrm>
            <a:off x="2743200" y="1755648"/>
            <a:ext cx="0" cy="365760"/>
          </a:xfrm>
          <a:prstGeom prst="line">
            <a:avLst/>
          </a:prstGeom>
          <a:noFill/>
          <a:ln w="9525">
            <a:solidFill>
              <a:srgbClr val="333333"/>
            </a:solidFill>
            <a:prstDash val="solid"/>
          </a:ln>
        </p:spPr>
      </p:sp>
      <p:sp>
        <p:nvSpPr>
          <p:cNvPr id="18" name="Text 15"/>
          <p:cNvSpPr/>
          <p:nvPr/>
        </p:nvSpPr>
        <p:spPr>
          <a:xfrm>
            <a:off x="2834640" y="1801368"/>
            <a:ext cx="2743200" cy="274320"/>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8 GB RAM</a:t>
            </a:r>
            <a:endParaRPr lang="en-US" sz="1000" dirty="0"/>
          </a:p>
        </p:txBody>
      </p:sp>
      <p:sp>
        <p:nvSpPr>
          <p:cNvPr id="19" name="Shape 16"/>
          <p:cNvSpPr/>
          <p:nvPr/>
        </p:nvSpPr>
        <p:spPr>
          <a:xfrm>
            <a:off x="5669280" y="1755648"/>
            <a:ext cx="0" cy="365760"/>
          </a:xfrm>
          <a:prstGeom prst="line">
            <a:avLst/>
          </a:prstGeom>
          <a:noFill/>
          <a:ln w="9525">
            <a:solidFill>
              <a:srgbClr val="333333"/>
            </a:solidFill>
            <a:prstDash val="solid"/>
          </a:ln>
        </p:spPr>
      </p:sp>
      <p:sp>
        <p:nvSpPr>
          <p:cNvPr id="20" name="Text 17"/>
          <p:cNvSpPr/>
          <p:nvPr/>
        </p:nvSpPr>
        <p:spPr>
          <a:xfrm>
            <a:off x="5760720" y="1801368"/>
            <a:ext cx="292608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16 GB RAM</a:t>
            </a:r>
            <a:endParaRPr lang="en-US" sz="1000" dirty="0"/>
          </a:p>
        </p:txBody>
      </p:sp>
      <p:sp>
        <p:nvSpPr>
          <p:cNvPr id="21" name="Shape 18"/>
          <p:cNvSpPr/>
          <p:nvPr/>
        </p:nvSpPr>
        <p:spPr>
          <a:xfrm>
            <a:off x="228600" y="2221992"/>
            <a:ext cx="8686800" cy="438912"/>
          </a:xfrm>
          <a:prstGeom prst="roundRect">
            <a:avLst>
              <a:gd name="adj" fmla="val 16667"/>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2" name="Text 19"/>
          <p:cNvSpPr/>
          <p:nvPr/>
        </p:nvSpPr>
        <p:spPr>
          <a:xfrm>
            <a:off x="411480" y="2304288"/>
            <a:ext cx="228600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Storage</a:t>
            </a:r>
            <a:endParaRPr lang="en-US" sz="1000" dirty="0"/>
          </a:p>
        </p:txBody>
      </p:sp>
      <p:sp>
        <p:nvSpPr>
          <p:cNvPr id="23" name="Shape 20"/>
          <p:cNvSpPr/>
          <p:nvPr/>
        </p:nvSpPr>
        <p:spPr>
          <a:xfrm>
            <a:off x="2743200" y="2258568"/>
            <a:ext cx="0" cy="365760"/>
          </a:xfrm>
          <a:prstGeom prst="line">
            <a:avLst/>
          </a:prstGeom>
          <a:noFill/>
          <a:ln w="9525">
            <a:solidFill>
              <a:srgbClr val="333333"/>
            </a:solidFill>
            <a:prstDash val="solid"/>
          </a:ln>
        </p:spPr>
      </p:sp>
      <p:sp>
        <p:nvSpPr>
          <p:cNvPr id="24" name="Text 21"/>
          <p:cNvSpPr/>
          <p:nvPr/>
        </p:nvSpPr>
        <p:spPr>
          <a:xfrm>
            <a:off x="2834640" y="2304288"/>
            <a:ext cx="2743200" cy="274320"/>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256 GB SSD</a:t>
            </a:r>
            <a:endParaRPr lang="en-US" sz="1000" dirty="0"/>
          </a:p>
        </p:txBody>
      </p:sp>
      <p:sp>
        <p:nvSpPr>
          <p:cNvPr id="25" name="Shape 22"/>
          <p:cNvSpPr/>
          <p:nvPr/>
        </p:nvSpPr>
        <p:spPr>
          <a:xfrm>
            <a:off x="5669280" y="2258568"/>
            <a:ext cx="0" cy="365760"/>
          </a:xfrm>
          <a:prstGeom prst="line">
            <a:avLst/>
          </a:prstGeom>
          <a:noFill/>
          <a:ln w="9525">
            <a:solidFill>
              <a:srgbClr val="333333"/>
            </a:solidFill>
            <a:prstDash val="solid"/>
          </a:ln>
        </p:spPr>
      </p:sp>
      <p:sp>
        <p:nvSpPr>
          <p:cNvPr id="26" name="Text 23"/>
          <p:cNvSpPr/>
          <p:nvPr/>
        </p:nvSpPr>
        <p:spPr>
          <a:xfrm>
            <a:off x="5760720" y="2304288"/>
            <a:ext cx="292608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512 GB SSD</a:t>
            </a:r>
            <a:endParaRPr lang="en-US" sz="1000" dirty="0"/>
          </a:p>
        </p:txBody>
      </p:sp>
      <p:sp>
        <p:nvSpPr>
          <p:cNvPr id="27" name="Shape 24"/>
          <p:cNvSpPr/>
          <p:nvPr/>
        </p:nvSpPr>
        <p:spPr>
          <a:xfrm>
            <a:off x="228600" y="2724912"/>
            <a:ext cx="8686800" cy="438912"/>
          </a:xfrm>
          <a:prstGeom prst="roundRect">
            <a:avLst>
              <a:gd name="adj" fmla="val 16667"/>
            </a:avLst>
          </a:prstGeom>
          <a:solidFill>
            <a:srgbClr val="111111"/>
          </a:solidFill>
          <a:ln w="6350">
            <a:solidFill>
              <a:srgbClr val="00B4CC"/>
            </a:solidFill>
            <a:prstDash val="solid"/>
          </a:ln>
          <a:effectLst>
            <a:outerShdw blurRad="101600" dist="38100" dir="2700000" algn="bl" rotWithShape="0">
              <a:srgbClr val="000000">
                <a:alpha val="40000"/>
              </a:srgbClr>
            </a:outerShdw>
          </a:effectLst>
        </p:spPr>
      </p:sp>
      <p:sp>
        <p:nvSpPr>
          <p:cNvPr id="28" name="Text 25"/>
          <p:cNvSpPr/>
          <p:nvPr/>
        </p:nvSpPr>
        <p:spPr>
          <a:xfrm>
            <a:off x="411480" y="2807208"/>
            <a:ext cx="228600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Operating System</a:t>
            </a:r>
            <a:endParaRPr lang="en-US" sz="1000" dirty="0"/>
          </a:p>
        </p:txBody>
      </p:sp>
      <p:sp>
        <p:nvSpPr>
          <p:cNvPr id="29" name="Shape 26"/>
          <p:cNvSpPr/>
          <p:nvPr/>
        </p:nvSpPr>
        <p:spPr>
          <a:xfrm>
            <a:off x="2743200" y="2761488"/>
            <a:ext cx="0" cy="365760"/>
          </a:xfrm>
          <a:prstGeom prst="line">
            <a:avLst/>
          </a:prstGeom>
          <a:noFill/>
          <a:ln w="9525">
            <a:solidFill>
              <a:srgbClr val="333333"/>
            </a:solidFill>
            <a:prstDash val="solid"/>
          </a:ln>
        </p:spPr>
      </p:sp>
      <p:sp>
        <p:nvSpPr>
          <p:cNvPr id="30" name="Text 27"/>
          <p:cNvSpPr/>
          <p:nvPr/>
        </p:nvSpPr>
        <p:spPr>
          <a:xfrm>
            <a:off x="2834640" y="2807208"/>
            <a:ext cx="2743200" cy="274320"/>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Windows 10 or 11, or any Linux distro</a:t>
            </a:r>
            <a:endParaRPr lang="en-US" sz="1000" dirty="0"/>
          </a:p>
        </p:txBody>
      </p:sp>
      <p:sp>
        <p:nvSpPr>
          <p:cNvPr id="31" name="Shape 28"/>
          <p:cNvSpPr/>
          <p:nvPr/>
        </p:nvSpPr>
        <p:spPr>
          <a:xfrm>
            <a:off x="5669280" y="2761488"/>
            <a:ext cx="0" cy="365760"/>
          </a:xfrm>
          <a:prstGeom prst="line">
            <a:avLst/>
          </a:prstGeom>
          <a:noFill/>
          <a:ln w="9525">
            <a:solidFill>
              <a:srgbClr val="333333"/>
            </a:solidFill>
            <a:prstDash val="solid"/>
          </a:ln>
        </p:spPr>
      </p:sp>
      <p:sp>
        <p:nvSpPr>
          <p:cNvPr id="32" name="Text 29"/>
          <p:cNvSpPr/>
          <p:nvPr/>
        </p:nvSpPr>
        <p:spPr>
          <a:xfrm>
            <a:off x="5760720" y="2807208"/>
            <a:ext cx="292608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Dual boot or WSL2 setup</a:t>
            </a:r>
            <a:endParaRPr lang="en-US" sz="1000" dirty="0"/>
          </a:p>
        </p:txBody>
      </p:sp>
      <p:sp>
        <p:nvSpPr>
          <p:cNvPr id="33" name="Shape 30"/>
          <p:cNvSpPr/>
          <p:nvPr/>
        </p:nvSpPr>
        <p:spPr>
          <a:xfrm>
            <a:off x="228600" y="3227832"/>
            <a:ext cx="8686800" cy="438912"/>
          </a:xfrm>
          <a:prstGeom prst="roundRect">
            <a:avLst>
              <a:gd name="adj" fmla="val 16667"/>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34" name="Text 31"/>
          <p:cNvSpPr/>
          <p:nvPr/>
        </p:nvSpPr>
        <p:spPr>
          <a:xfrm>
            <a:off x="411480" y="3310128"/>
            <a:ext cx="2286000" cy="27432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Internet</a:t>
            </a:r>
            <a:endParaRPr lang="en-US" sz="1000" dirty="0"/>
          </a:p>
        </p:txBody>
      </p:sp>
      <p:sp>
        <p:nvSpPr>
          <p:cNvPr id="35" name="Shape 32"/>
          <p:cNvSpPr/>
          <p:nvPr/>
        </p:nvSpPr>
        <p:spPr>
          <a:xfrm>
            <a:off x="2743200" y="3264408"/>
            <a:ext cx="0" cy="365760"/>
          </a:xfrm>
          <a:prstGeom prst="line">
            <a:avLst/>
          </a:prstGeom>
          <a:noFill/>
          <a:ln w="9525">
            <a:solidFill>
              <a:srgbClr val="333333"/>
            </a:solidFill>
            <a:prstDash val="solid"/>
          </a:ln>
        </p:spPr>
      </p:sp>
      <p:sp>
        <p:nvSpPr>
          <p:cNvPr id="36" name="Text 33"/>
          <p:cNvSpPr/>
          <p:nvPr/>
        </p:nvSpPr>
        <p:spPr>
          <a:xfrm>
            <a:off x="2834640" y="3310128"/>
            <a:ext cx="2743200" cy="274320"/>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Stable WiFi or wired connection</a:t>
            </a:r>
            <a:endParaRPr lang="en-US" sz="1000" dirty="0"/>
          </a:p>
        </p:txBody>
      </p:sp>
      <p:sp>
        <p:nvSpPr>
          <p:cNvPr id="37" name="Shape 34"/>
          <p:cNvSpPr/>
          <p:nvPr/>
        </p:nvSpPr>
        <p:spPr>
          <a:xfrm>
            <a:off x="5669280" y="3264408"/>
            <a:ext cx="0" cy="365760"/>
          </a:xfrm>
          <a:prstGeom prst="line">
            <a:avLst/>
          </a:prstGeom>
          <a:noFill/>
          <a:ln w="9525">
            <a:solidFill>
              <a:srgbClr val="333333"/>
            </a:solidFill>
            <a:prstDash val="solid"/>
          </a:ln>
        </p:spPr>
      </p:sp>
      <p:sp>
        <p:nvSpPr>
          <p:cNvPr id="38" name="Text 35"/>
          <p:cNvSpPr/>
          <p:nvPr/>
        </p:nvSpPr>
        <p:spPr>
          <a:xfrm>
            <a:off x="5760720" y="3310128"/>
            <a:ext cx="292608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Wired connection preferred</a:t>
            </a:r>
            <a:endParaRPr lang="en-US" sz="1000" dirty="0"/>
          </a:p>
        </p:txBody>
      </p:sp>
      <p:sp>
        <p:nvSpPr>
          <p:cNvPr id="39" name="Shape 36"/>
          <p:cNvSpPr/>
          <p:nvPr/>
        </p:nvSpPr>
        <p:spPr>
          <a:xfrm>
            <a:off x="228600" y="3886200"/>
            <a:ext cx="8686800" cy="822960"/>
          </a:xfrm>
          <a:prstGeom prst="roundRect">
            <a:avLst>
              <a:gd name="adj" fmla="val 8889"/>
            </a:avLst>
          </a:prstGeom>
          <a:solidFill>
            <a:srgbClr val="0D0D0D"/>
          </a:solidFill>
          <a:ln w="6350">
            <a:solidFill>
              <a:srgbClr val="00B4CC"/>
            </a:solidFill>
            <a:prstDash val="solid"/>
          </a:ln>
          <a:effectLst>
            <a:outerShdw blurRad="101600" dist="38100" dir="2700000" algn="bl" rotWithShape="0">
              <a:srgbClr val="000000">
                <a:alpha val="40000"/>
              </a:srgbClr>
            </a:outerShdw>
          </a:effectLst>
        </p:spPr>
      </p:sp>
      <p:sp>
        <p:nvSpPr>
          <p:cNvPr id="40" name="Shape 37"/>
          <p:cNvSpPr/>
          <p:nvPr/>
        </p:nvSpPr>
        <p:spPr>
          <a:xfrm>
            <a:off x="365760" y="4114800"/>
            <a:ext cx="292608" cy="292608"/>
          </a:xfrm>
          <a:prstGeom prst="ellipse">
            <a:avLst/>
          </a:prstGeom>
          <a:solidFill>
            <a:srgbClr val="FF8C00"/>
          </a:solidFill>
          <a:ln w="12700">
            <a:solidFill>
              <a:srgbClr val="FF8C00"/>
            </a:solidFill>
            <a:prstDash val="solid"/>
          </a:ln>
        </p:spPr>
      </p:sp>
      <p:sp>
        <p:nvSpPr>
          <p:cNvPr id="41" name="Text 38"/>
          <p:cNvSpPr/>
          <p:nvPr/>
        </p:nvSpPr>
        <p:spPr>
          <a:xfrm>
            <a:off x="365760" y="4114800"/>
            <a:ext cx="292608"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t>
            </a:r>
            <a:endParaRPr lang="en-US" sz="1200" dirty="0"/>
          </a:p>
        </p:txBody>
      </p:sp>
      <p:sp>
        <p:nvSpPr>
          <p:cNvPr id="42" name="Text 39"/>
          <p:cNvSpPr/>
          <p:nvPr/>
        </p:nvSpPr>
        <p:spPr>
          <a:xfrm>
            <a:off x="777240" y="3931920"/>
            <a:ext cx="8001000" cy="731520"/>
          </a:xfrm>
          <a:prstGeom prst="rect">
            <a:avLst/>
          </a:prstGeom>
          <a:noFill/>
          <a:ln/>
        </p:spPr>
        <p:txBody>
          <a:bodyPr wrap="square" lIns="0" tIns="0" rIns="0" bIns="0" rtlCol="0" anchor="ctr"/>
          <a:lstStyle/>
          <a:p>
            <a:pPr marL="0" indent="0">
              <a:buNone/>
            </a:pPr>
            <a:r>
              <a:rPr lang="en-US" sz="900" dirty="0">
                <a:solidFill>
                  <a:srgbClr val="AAAAAA"/>
                </a:solidFill>
                <a:latin typeface="Arial" pitchFamily="34" charset="0"/>
                <a:ea typeface="Arial" pitchFamily="34" charset="-122"/>
                <a:cs typeface="Arial" pitchFamily="34" charset="-120"/>
              </a:rPr>
              <a:t>Do not use a hard drive. Virtual machines need an SSD to run properly. If your laptop has a spinning drive, the labs will be very slow and frustrating. The memory recommendation is also worth taking seriously, as you will often have several VMs running at the same time.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Text 0"/>
          <p:cNvSpPr/>
          <p:nvPr/>
        </p:nvSpPr>
        <p:spPr>
          <a:xfrm>
            <a:off x="822960" y="109728"/>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What You Are Building</a:t>
            </a:r>
            <a:endParaRPr lang="en-US" sz="2200" dirty="0"/>
          </a:p>
        </p:txBody>
      </p:sp>
      <p:sp>
        <p:nvSpPr>
          <p:cNvPr id="4" name="Shape 1"/>
          <p:cNvSpPr/>
          <p:nvPr/>
        </p:nvSpPr>
        <p:spPr>
          <a:xfrm>
            <a:off x="228600" y="658368"/>
            <a:ext cx="8686800" cy="0"/>
          </a:xfrm>
          <a:prstGeom prst="line">
            <a:avLst/>
          </a:prstGeom>
          <a:noFill/>
          <a:ln w="9525">
            <a:solidFill>
              <a:srgbClr val="222222"/>
            </a:solidFill>
            <a:prstDash val="solid"/>
          </a:ln>
        </p:spPr>
      </p:sp>
      <p:sp>
        <p:nvSpPr>
          <p:cNvPr id="5" name="Text 2"/>
          <p:cNvSpPr/>
          <p:nvPr/>
        </p:nvSpPr>
        <p:spPr>
          <a:xfrm>
            <a:off x="320040" y="749808"/>
            <a:ext cx="5486400" cy="274320"/>
          </a:xfrm>
          <a:prstGeom prst="rect">
            <a:avLst/>
          </a:prstGeom>
          <a:noFill/>
          <a:ln/>
        </p:spPr>
        <p:txBody>
          <a:bodyPr wrap="square" lIns="0" tIns="0" rIns="0" bIns="0" rtlCol="0" anchor="ctr"/>
          <a:lstStyle/>
          <a:p>
            <a:pPr marL="0" indent="0">
              <a:buNone/>
            </a:pPr>
            <a:r>
              <a:rPr lang="en-US" sz="1000" dirty="0">
                <a:solidFill>
                  <a:srgbClr val="AAAAAA"/>
                </a:solidFill>
                <a:latin typeface="Arial" pitchFamily="34" charset="0"/>
                <a:ea typeface="Arial" pitchFamily="34" charset="-122"/>
                <a:cs typeface="Arial" pitchFamily="34" charset="-120"/>
              </a:rPr>
              <a:t>By the end of the program you will have:</a:t>
            </a:r>
            <a:endParaRPr lang="en-US" sz="1000" dirty="0"/>
          </a:p>
        </p:txBody>
      </p:sp>
      <p:sp>
        <p:nvSpPr>
          <p:cNvPr id="6" name="Shape 3"/>
          <p:cNvSpPr/>
          <p:nvPr/>
        </p:nvSpPr>
        <p:spPr>
          <a:xfrm>
            <a:off x="228600" y="1078992"/>
            <a:ext cx="5029200" cy="457200"/>
          </a:xfrm>
          <a:prstGeom prst="roundRect">
            <a:avLst>
              <a:gd name="adj" fmla="val 16000"/>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7" name="Shape 4"/>
          <p:cNvSpPr/>
          <p:nvPr/>
        </p:nvSpPr>
        <p:spPr>
          <a:xfrm>
            <a:off x="411480" y="1207008"/>
            <a:ext cx="201168" cy="201168"/>
          </a:xfrm>
          <a:prstGeom prst="ellipse">
            <a:avLst/>
          </a:prstGeom>
          <a:solidFill>
            <a:srgbClr val="00E5FF"/>
          </a:solidFill>
          <a:ln w="12700">
            <a:solidFill>
              <a:srgbClr val="00E5FF"/>
            </a:solidFill>
            <a:prstDash val="solid"/>
          </a:ln>
        </p:spPr>
      </p:sp>
      <p:sp>
        <p:nvSpPr>
          <p:cNvPr id="8" name="Text 5"/>
          <p:cNvSpPr/>
          <p:nvPr/>
        </p:nvSpPr>
        <p:spPr>
          <a:xfrm>
            <a:off x="411480" y="1207008"/>
            <a:ext cx="201168" cy="201168"/>
          </a:xfrm>
          <a:prstGeom prst="rect">
            <a:avLst/>
          </a:prstGeom>
          <a:noFill/>
          <a:ln/>
        </p:spPr>
        <p:txBody>
          <a:bodyPr wrap="square" lIns="0" tIns="0" rIns="0" bIns="0" rtlCol="0" anchor="ctr"/>
          <a:lstStyle/>
          <a:p>
            <a:pPr marL="0" indent="0" algn="ctr">
              <a:buNone/>
            </a:pPr>
            <a:r>
              <a:rPr lang="en-US" sz="900" b="1" dirty="0">
                <a:solidFill>
                  <a:srgbClr val="000000"/>
                </a:solidFill>
                <a:latin typeface="Arial" pitchFamily="34" charset="0"/>
                <a:ea typeface="Arial" pitchFamily="34" charset="-122"/>
                <a:cs typeface="Arial" pitchFamily="34" charset="-120"/>
              </a:rPr>
              <a:t>✓</a:t>
            </a:r>
            <a:endParaRPr lang="en-US" sz="900" dirty="0"/>
          </a:p>
        </p:txBody>
      </p:sp>
      <p:sp>
        <p:nvSpPr>
          <p:cNvPr id="9" name="Text 6"/>
          <p:cNvSpPr/>
          <p:nvPr/>
        </p:nvSpPr>
        <p:spPr>
          <a:xfrm>
            <a:off x="749808" y="1170432"/>
            <a:ext cx="43891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A working SOC lab that you built from scratch</a:t>
            </a:r>
            <a:endParaRPr lang="en-US" sz="1000" dirty="0"/>
          </a:p>
        </p:txBody>
      </p:sp>
      <p:sp>
        <p:nvSpPr>
          <p:cNvPr id="10" name="Shape 7"/>
          <p:cNvSpPr/>
          <p:nvPr/>
        </p:nvSpPr>
        <p:spPr>
          <a:xfrm>
            <a:off x="228600" y="1627632"/>
            <a:ext cx="5029200" cy="457200"/>
          </a:xfrm>
          <a:prstGeom prst="roundRect">
            <a:avLst>
              <a:gd name="adj" fmla="val 16000"/>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1" name="Shape 8"/>
          <p:cNvSpPr/>
          <p:nvPr/>
        </p:nvSpPr>
        <p:spPr>
          <a:xfrm>
            <a:off x="411480" y="1755648"/>
            <a:ext cx="201168" cy="201168"/>
          </a:xfrm>
          <a:prstGeom prst="ellipse">
            <a:avLst/>
          </a:prstGeom>
          <a:solidFill>
            <a:srgbClr val="00E5FF"/>
          </a:solidFill>
          <a:ln w="12700">
            <a:solidFill>
              <a:srgbClr val="00E5FF"/>
            </a:solidFill>
            <a:prstDash val="solid"/>
          </a:ln>
        </p:spPr>
      </p:sp>
      <p:sp>
        <p:nvSpPr>
          <p:cNvPr id="12" name="Text 9"/>
          <p:cNvSpPr/>
          <p:nvPr/>
        </p:nvSpPr>
        <p:spPr>
          <a:xfrm>
            <a:off x="411480" y="1755648"/>
            <a:ext cx="201168" cy="201168"/>
          </a:xfrm>
          <a:prstGeom prst="rect">
            <a:avLst/>
          </a:prstGeom>
          <a:noFill/>
          <a:ln/>
        </p:spPr>
        <p:txBody>
          <a:bodyPr wrap="square" lIns="0" tIns="0" rIns="0" bIns="0" rtlCol="0" anchor="ctr"/>
          <a:lstStyle/>
          <a:p>
            <a:pPr marL="0" indent="0" algn="ctr">
              <a:buNone/>
            </a:pPr>
            <a:r>
              <a:rPr lang="en-US" sz="900" b="1" dirty="0">
                <a:solidFill>
                  <a:srgbClr val="000000"/>
                </a:solidFill>
                <a:latin typeface="Arial" pitchFamily="34" charset="0"/>
                <a:ea typeface="Arial" pitchFamily="34" charset="-122"/>
                <a:cs typeface="Arial" pitchFamily="34" charset="-120"/>
              </a:rPr>
              <a:t>✓</a:t>
            </a:r>
            <a:endParaRPr lang="en-US" sz="900" dirty="0"/>
          </a:p>
        </p:txBody>
      </p:sp>
      <p:sp>
        <p:nvSpPr>
          <p:cNvPr id="13" name="Text 10"/>
          <p:cNvSpPr/>
          <p:nvPr/>
        </p:nvSpPr>
        <p:spPr>
          <a:xfrm>
            <a:off x="749808" y="1719072"/>
            <a:ext cx="43891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Hands-on malware analysis experience</a:t>
            </a:r>
            <a:endParaRPr lang="en-US" sz="1000" dirty="0"/>
          </a:p>
        </p:txBody>
      </p:sp>
      <p:sp>
        <p:nvSpPr>
          <p:cNvPr id="14" name="Shape 11"/>
          <p:cNvSpPr/>
          <p:nvPr/>
        </p:nvSpPr>
        <p:spPr>
          <a:xfrm>
            <a:off x="228600" y="2176272"/>
            <a:ext cx="5029200" cy="457200"/>
          </a:xfrm>
          <a:prstGeom prst="roundRect">
            <a:avLst>
              <a:gd name="adj" fmla="val 16000"/>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5" name="Shape 12"/>
          <p:cNvSpPr/>
          <p:nvPr/>
        </p:nvSpPr>
        <p:spPr>
          <a:xfrm>
            <a:off x="411480" y="2304288"/>
            <a:ext cx="201168" cy="201168"/>
          </a:xfrm>
          <a:prstGeom prst="ellipse">
            <a:avLst/>
          </a:prstGeom>
          <a:solidFill>
            <a:srgbClr val="00E5FF"/>
          </a:solidFill>
          <a:ln w="12700">
            <a:solidFill>
              <a:srgbClr val="00E5FF"/>
            </a:solidFill>
            <a:prstDash val="solid"/>
          </a:ln>
        </p:spPr>
      </p:sp>
      <p:sp>
        <p:nvSpPr>
          <p:cNvPr id="16" name="Text 13"/>
          <p:cNvSpPr/>
          <p:nvPr/>
        </p:nvSpPr>
        <p:spPr>
          <a:xfrm>
            <a:off x="411480" y="2304288"/>
            <a:ext cx="201168" cy="201168"/>
          </a:xfrm>
          <a:prstGeom prst="rect">
            <a:avLst/>
          </a:prstGeom>
          <a:noFill/>
          <a:ln/>
        </p:spPr>
        <p:txBody>
          <a:bodyPr wrap="square" lIns="0" tIns="0" rIns="0" bIns="0" rtlCol="0" anchor="ctr"/>
          <a:lstStyle/>
          <a:p>
            <a:pPr marL="0" indent="0" algn="ctr">
              <a:buNone/>
            </a:pPr>
            <a:r>
              <a:rPr lang="en-US" sz="900" b="1" dirty="0">
                <a:solidFill>
                  <a:srgbClr val="000000"/>
                </a:solidFill>
                <a:latin typeface="Arial" pitchFamily="34" charset="0"/>
                <a:ea typeface="Arial" pitchFamily="34" charset="-122"/>
                <a:cs typeface="Arial" pitchFamily="34" charset="-120"/>
              </a:rPr>
              <a:t>✓</a:t>
            </a:r>
            <a:endParaRPr lang="en-US" sz="900" dirty="0"/>
          </a:p>
        </p:txBody>
      </p:sp>
      <p:sp>
        <p:nvSpPr>
          <p:cNvPr id="17" name="Text 14"/>
          <p:cNvSpPr/>
          <p:nvPr/>
        </p:nvSpPr>
        <p:spPr>
          <a:xfrm>
            <a:off x="749808" y="2267712"/>
            <a:ext cx="43891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A complete forensic investigation report</a:t>
            </a:r>
            <a:endParaRPr lang="en-US" sz="1000" dirty="0"/>
          </a:p>
        </p:txBody>
      </p:sp>
      <p:sp>
        <p:nvSpPr>
          <p:cNvPr id="18" name="Shape 15"/>
          <p:cNvSpPr/>
          <p:nvPr/>
        </p:nvSpPr>
        <p:spPr>
          <a:xfrm>
            <a:off x="228600" y="2724912"/>
            <a:ext cx="5029200" cy="457200"/>
          </a:xfrm>
          <a:prstGeom prst="roundRect">
            <a:avLst>
              <a:gd name="adj" fmla="val 16000"/>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9" name="Shape 16"/>
          <p:cNvSpPr/>
          <p:nvPr/>
        </p:nvSpPr>
        <p:spPr>
          <a:xfrm>
            <a:off x="411480" y="2852928"/>
            <a:ext cx="201168" cy="201168"/>
          </a:xfrm>
          <a:prstGeom prst="ellipse">
            <a:avLst/>
          </a:prstGeom>
          <a:solidFill>
            <a:srgbClr val="00E5FF"/>
          </a:solidFill>
          <a:ln w="12700">
            <a:solidFill>
              <a:srgbClr val="00E5FF"/>
            </a:solidFill>
            <a:prstDash val="solid"/>
          </a:ln>
        </p:spPr>
      </p:sp>
      <p:sp>
        <p:nvSpPr>
          <p:cNvPr id="20" name="Text 17"/>
          <p:cNvSpPr/>
          <p:nvPr/>
        </p:nvSpPr>
        <p:spPr>
          <a:xfrm>
            <a:off x="411480" y="2852928"/>
            <a:ext cx="201168" cy="201168"/>
          </a:xfrm>
          <a:prstGeom prst="rect">
            <a:avLst/>
          </a:prstGeom>
          <a:noFill/>
          <a:ln/>
        </p:spPr>
        <p:txBody>
          <a:bodyPr wrap="square" lIns="0" tIns="0" rIns="0" bIns="0" rtlCol="0" anchor="ctr"/>
          <a:lstStyle/>
          <a:p>
            <a:pPr marL="0" indent="0" algn="ctr">
              <a:buNone/>
            </a:pPr>
            <a:r>
              <a:rPr lang="en-US" sz="900" b="1" dirty="0">
                <a:solidFill>
                  <a:srgbClr val="000000"/>
                </a:solidFill>
                <a:latin typeface="Arial" pitchFamily="34" charset="0"/>
                <a:ea typeface="Arial" pitchFamily="34" charset="-122"/>
                <a:cs typeface="Arial" pitchFamily="34" charset="-120"/>
              </a:rPr>
              <a:t>✓</a:t>
            </a:r>
            <a:endParaRPr lang="en-US" sz="900" dirty="0"/>
          </a:p>
        </p:txBody>
      </p:sp>
      <p:sp>
        <p:nvSpPr>
          <p:cNvPr id="21" name="Text 18"/>
          <p:cNvSpPr/>
          <p:nvPr/>
        </p:nvSpPr>
        <p:spPr>
          <a:xfrm>
            <a:off x="749808" y="2816352"/>
            <a:ext cx="43891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Findings mapped to MITRE ATT&amp;CK</a:t>
            </a:r>
            <a:endParaRPr lang="en-US" sz="1000" dirty="0"/>
          </a:p>
        </p:txBody>
      </p:sp>
      <p:sp>
        <p:nvSpPr>
          <p:cNvPr id="22" name="Shape 19"/>
          <p:cNvSpPr/>
          <p:nvPr/>
        </p:nvSpPr>
        <p:spPr>
          <a:xfrm>
            <a:off x="228600" y="3273552"/>
            <a:ext cx="5029200" cy="457200"/>
          </a:xfrm>
          <a:prstGeom prst="roundRect">
            <a:avLst>
              <a:gd name="adj" fmla="val 16000"/>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3" name="Shape 20"/>
          <p:cNvSpPr/>
          <p:nvPr/>
        </p:nvSpPr>
        <p:spPr>
          <a:xfrm>
            <a:off x="411480" y="3401568"/>
            <a:ext cx="201168" cy="201168"/>
          </a:xfrm>
          <a:prstGeom prst="ellipse">
            <a:avLst/>
          </a:prstGeom>
          <a:solidFill>
            <a:srgbClr val="00E5FF"/>
          </a:solidFill>
          <a:ln w="12700">
            <a:solidFill>
              <a:srgbClr val="00E5FF"/>
            </a:solidFill>
            <a:prstDash val="solid"/>
          </a:ln>
        </p:spPr>
      </p:sp>
      <p:sp>
        <p:nvSpPr>
          <p:cNvPr id="24" name="Text 21"/>
          <p:cNvSpPr/>
          <p:nvPr/>
        </p:nvSpPr>
        <p:spPr>
          <a:xfrm>
            <a:off x="411480" y="3401568"/>
            <a:ext cx="201168" cy="201168"/>
          </a:xfrm>
          <a:prstGeom prst="rect">
            <a:avLst/>
          </a:prstGeom>
          <a:noFill/>
          <a:ln/>
        </p:spPr>
        <p:txBody>
          <a:bodyPr wrap="square" lIns="0" tIns="0" rIns="0" bIns="0" rtlCol="0" anchor="ctr"/>
          <a:lstStyle/>
          <a:p>
            <a:pPr marL="0" indent="0" algn="ctr">
              <a:buNone/>
            </a:pPr>
            <a:r>
              <a:rPr lang="en-US" sz="900" b="1" dirty="0">
                <a:solidFill>
                  <a:srgbClr val="000000"/>
                </a:solidFill>
                <a:latin typeface="Arial" pitchFamily="34" charset="0"/>
                <a:ea typeface="Arial" pitchFamily="34" charset="-122"/>
                <a:cs typeface="Arial" pitchFamily="34" charset="-120"/>
              </a:rPr>
              <a:t>✓</a:t>
            </a:r>
            <a:endParaRPr lang="en-US" sz="900" dirty="0"/>
          </a:p>
        </p:txBody>
      </p:sp>
      <p:sp>
        <p:nvSpPr>
          <p:cNvPr id="25" name="Text 22"/>
          <p:cNvSpPr/>
          <p:nvPr/>
        </p:nvSpPr>
        <p:spPr>
          <a:xfrm>
            <a:off x="749808" y="3364992"/>
            <a:ext cx="43891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Proficiency in tools used in real jobs</a:t>
            </a:r>
            <a:endParaRPr lang="en-US" sz="1000" dirty="0"/>
          </a:p>
        </p:txBody>
      </p:sp>
      <p:sp>
        <p:nvSpPr>
          <p:cNvPr id="26" name="Shape 23"/>
          <p:cNvSpPr/>
          <p:nvPr/>
        </p:nvSpPr>
        <p:spPr>
          <a:xfrm>
            <a:off x="228600" y="3822192"/>
            <a:ext cx="5029200" cy="457200"/>
          </a:xfrm>
          <a:prstGeom prst="roundRect">
            <a:avLst>
              <a:gd name="adj" fmla="val 16000"/>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7" name="Shape 24"/>
          <p:cNvSpPr/>
          <p:nvPr/>
        </p:nvSpPr>
        <p:spPr>
          <a:xfrm>
            <a:off x="411480" y="3950208"/>
            <a:ext cx="201168" cy="201168"/>
          </a:xfrm>
          <a:prstGeom prst="ellipse">
            <a:avLst/>
          </a:prstGeom>
          <a:solidFill>
            <a:srgbClr val="00E5FF"/>
          </a:solidFill>
          <a:ln w="12700">
            <a:solidFill>
              <a:srgbClr val="00E5FF"/>
            </a:solidFill>
            <a:prstDash val="solid"/>
          </a:ln>
        </p:spPr>
      </p:sp>
      <p:sp>
        <p:nvSpPr>
          <p:cNvPr id="28" name="Text 25"/>
          <p:cNvSpPr/>
          <p:nvPr/>
        </p:nvSpPr>
        <p:spPr>
          <a:xfrm>
            <a:off x="411480" y="3950208"/>
            <a:ext cx="201168" cy="201168"/>
          </a:xfrm>
          <a:prstGeom prst="rect">
            <a:avLst/>
          </a:prstGeom>
          <a:noFill/>
          <a:ln/>
        </p:spPr>
        <p:txBody>
          <a:bodyPr wrap="square" lIns="0" tIns="0" rIns="0" bIns="0" rtlCol="0" anchor="ctr"/>
          <a:lstStyle/>
          <a:p>
            <a:pPr marL="0" indent="0" algn="ctr">
              <a:buNone/>
            </a:pPr>
            <a:r>
              <a:rPr lang="en-US" sz="900" b="1" dirty="0">
                <a:solidFill>
                  <a:srgbClr val="000000"/>
                </a:solidFill>
                <a:latin typeface="Arial" pitchFamily="34" charset="0"/>
                <a:ea typeface="Arial" pitchFamily="34" charset="-122"/>
                <a:cs typeface="Arial" pitchFamily="34" charset="-120"/>
              </a:rPr>
              <a:t>✓</a:t>
            </a:r>
            <a:endParaRPr lang="en-US" sz="900" dirty="0"/>
          </a:p>
        </p:txBody>
      </p:sp>
      <p:sp>
        <p:nvSpPr>
          <p:cNvPr id="29" name="Text 26"/>
          <p:cNvSpPr/>
          <p:nvPr/>
        </p:nvSpPr>
        <p:spPr>
          <a:xfrm>
            <a:off x="749808" y="3913632"/>
            <a:ext cx="43891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A portfolio you can show on LinkedIn</a:t>
            </a:r>
            <a:endParaRPr lang="en-US" sz="1000" dirty="0"/>
          </a:p>
        </p:txBody>
      </p:sp>
      <p:sp>
        <p:nvSpPr>
          <p:cNvPr id="30" name="Shape 27"/>
          <p:cNvSpPr/>
          <p:nvPr/>
        </p:nvSpPr>
        <p:spPr>
          <a:xfrm>
            <a:off x="5486400" y="777240"/>
            <a:ext cx="3429000" cy="4069080"/>
          </a:xfrm>
          <a:prstGeom prst="roundRect">
            <a:avLst>
              <a:gd name="adj" fmla="val 2133"/>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31" name="Text 28"/>
          <p:cNvSpPr/>
          <p:nvPr/>
        </p:nvSpPr>
        <p:spPr>
          <a:xfrm>
            <a:off x="5669280" y="896112"/>
            <a:ext cx="3063240" cy="320040"/>
          </a:xfrm>
          <a:prstGeom prst="rect">
            <a:avLst/>
          </a:prstGeom>
          <a:noFill/>
          <a:ln/>
        </p:spPr>
        <p:txBody>
          <a:bodyPr wrap="square" lIns="0" tIns="0" rIns="0" bIns="0" rtlCol="0" anchor="ctr"/>
          <a:lstStyle/>
          <a:p>
            <a:pPr marL="0" indent="0">
              <a:buNone/>
            </a:pPr>
            <a:r>
              <a:rPr lang="en-US" sz="1200" b="1" dirty="0">
                <a:solidFill>
                  <a:srgbClr val="00E5FF"/>
                </a:solidFill>
                <a:latin typeface="Arial" pitchFamily="34" charset="0"/>
                <a:ea typeface="Arial" pitchFamily="34" charset="-122"/>
                <a:cs typeface="Arial" pitchFamily="34" charset="-120"/>
              </a:rPr>
              <a:t>Why It Matters</a:t>
            </a:r>
            <a:endParaRPr lang="en-US" sz="1200" dirty="0"/>
          </a:p>
        </p:txBody>
      </p:sp>
      <p:sp>
        <p:nvSpPr>
          <p:cNvPr id="32" name="Text 29"/>
          <p:cNvSpPr/>
          <p:nvPr/>
        </p:nvSpPr>
        <p:spPr>
          <a:xfrm>
            <a:off x="5669280" y="1298448"/>
            <a:ext cx="3063240" cy="64008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The security industry does not care about certificates as much as it cares about what you can actually do.</a:t>
            </a:r>
            <a:endParaRPr lang="en-US" sz="950" dirty="0"/>
          </a:p>
        </p:txBody>
      </p:sp>
      <p:sp>
        <p:nvSpPr>
          <p:cNvPr id="33" name="Shape 30"/>
          <p:cNvSpPr/>
          <p:nvPr/>
        </p:nvSpPr>
        <p:spPr>
          <a:xfrm>
            <a:off x="5669280" y="2011680"/>
            <a:ext cx="2834640" cy="0"/>
          </a:xfrm>
          <a:prstGeom prst="line">
            <a:avLst/>
          </a:prstGeom>
          <a:noFill/>
          <a:ln w="6350">
            <a:solidFill>
              <a:srgbClr val="333333"/>
            </a:solidFill>
            <a:prstDash val="solid"/>
          </a:ln>
        </p:spPr>
      </p:sp>
      <p:sp>
        <p:nvSpPr>
          <p:cNvPr id="34" name="Text 31"/>
          <p:cNvSpPr/>
          <p:nvPr/>
        </p:nvSpPr>
        <p:spPr>
          <a:xfrm>
            <a:off x="5669280" y="2103120"/>
            <a:ext cx="3063240" cy="640080"/>
          </a:xfrm>
          <a:prstGeom prst="rect">
            <a:avLst/>
          </a:prstGeom>
          <a:noFill/>
          <a:ln/>
        </p:spPr>
        <p:txBody>
          <a:bodyPr wrap="square" lIns="0" tIns="0" rIns="0" bIns="0" rtlCol="0" anchor="ctr"/>
          <a:lstStyle/>
          <a:p>
            <a:pPr marL="0" indent="0">
              <a:buNone/>
            </a:pPr>
            <a:r>
              <a:rPr lang="en-US" sz="950" dirty="0">
                <a:solidFill>
                  <a:srgbClr val="AAAAAA"/>
                </a:solidFill>
                <a:latin typeface="Arial" pitchFamily="34" charset="0"/>
                <a:ea typeface="Arial" pitchFamily="34" charset="-122"/>
                <a:cs typeface="Arial" pitchFamily="34" charset="-120"/>
              </a:rPr>
              <a:t>The tasks in this program are the kinds of things you will be asked to do in a real SOC analyst or forensics role.</a:t>
            </a:r>
            <a:endParaRPr lang="en-US" sz="950" dirty="0"/>
          </a:p>
        </p:txBody>
      </p:sp>
      <p:sp>
        <p:nvSpPr>
          <p:cNvPr id="35" name="Shape 32"/>
          <p:cNvSpPr/>
          <p:nvPr/>
        </p:nvSpPr>
        <p:spPr>
          <a:xfrm>
            <a:off x="5669280" y="2816352"/>
            <a:ext cx="2834640" cy="0"/>
          </a:xfrm>
          <a:prstGeom prst="line">
            <a:avLst/>
          </a:prstGeom>
          <a:noFill/>
          <a:ln w="6350">
            <a:solidFill>
              <a:srgbClr val="333333"/>
            </a:solidFill>
            <a:prstDash val="solid"/>
          </a:ln>
        </p:spPr>
      </p:sp>
      <p:sp>
        <p:nvSpPr>
          <p:cNvPr id="36" name="Text 33"/>
          <p:cNvSpPr/>
          <p:nvPr/>
        </p:nvSpPr>
        <p:spPr>
          <a:xfrm>
            <a:off x="5669280" y="2907792"/>
            <a:ext cx="3063240" cy="640080"/>
          </a:xfrm>
          <a:prstGeom prst="rect">
            <a:avLst/>
          </a:prstGeom>
          <a:noFill/>
          <a:ln/>
        </p:spPr>
        <p:txBody>
          <a:bodyPr wrap="square" lIns="0" tIns="0" rIns="0" bIns="0" rtlCol="0" anchor="ctr"/>
          <a:lstStyle/>
          <a:p>
            <a:pPr marL="0" indent="0">
              <a:buNone/>
            </a:pPr>
            <a:r>
              <a:rPr lang="en-US" sz="950" dirty="0">
                <a:solidFill>
                  <a:srgbClr val="AAAAAA"/>
                </a:solidFill>
                <a:latin typeface="Arial" pitchFamily="34" charset="0"/>
                <a:ea typeface="Arial" pitchFamily="34" charset="-122"/>
                <a:cs typeface="Arial" pitchFamily="34" charset="-120"/>
              </a:rPr>
              <a:t>Every report you submit is a piece of your portfolio. Treat it that way. Three months from now you will have something real to show.</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Text 0"/>
          <p:cNvSpPr/>
          <p:nvPr/>
        </p:nvSpPr>
        <p:spPr>
          <a:xfrm>
            <a:off x="822960" y="109728"/>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What Happens Next</a:t>
            </a:r>
            <a:endParaRPr lang="en-US" sz="2200" dirty="0"/>
          </a:p>
        </p:txBody>
      </p:sp>
      <p:sp>
        <p:nvSpPr>
          <p:cNvPr id="4" name="Shape 1"/>
          <p:cNvSpPr/>
          <p:nvPr/>
        </p:nvSpPr>
        <p:spPr>
          <a:xfrm>
            <a:off x="228600" y="658368"/>
            <a:ext cx="8686800" cy="0"/>
          </a:xfrm>
          <a:prstGeom prst="line">
            <a:avLst/>
          </a:prstGeom>
          <a:noFill/>
          <a:ln w="9525">
            <a:solidFill>
              <a:srgbClr val="222222"/>
            </a:solidFill>
            <a:prstDash val="solid"/>
          </a:ln>
        </p:spPr>
      </p:sp>
      <p:sp>
        <p:nvSpPr>
          <p:cNvPr id="5" name="Text 2"/>
          <p:cNvSpPr/>
          <p:nvPr/>
        </p:nvSpPr>
        <p:spPr>
          <a:xfrm>
            <a:off x="320040" y="749808"/>
            <a:ext cx="8412480" cy="347472"/>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Week One: SOC Foundations and Lab Setup — VirtualBox, Kali Linux, Ubuntu Server, Windows 10, networking basics, and your first look at Wazuh architecture.</a:t>
            </a:r>
            <a:endParaRPr lang="en-US" sz="1050" dirty="0"/>
          </a:p>
        </p:txBody>
      </p:sp>
      <p:sp>
        <p:nvSpPr>
          <p:cNvPr id="6" name="Shape 3"/>
          <p:cNvSpPr/>
          <p:nvPr/>
        </p:nvSpPr>
        <p:spPr>
          <a:xfrm>
            <a:off x="228600" y="1168144"/>
            <a:ext cx="4206240" cy="1600200"/>
          </a:xfrm>
          <a:prstGeom prst="roundRect">
            <a:avLst>
              <a:gd name="adj" fmla="val 457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7" name="Shape 4"/>
          <p:cNvSpPr/>
          <p:nvPr/>
        </p:nvSpPr>
        <p:spPr>
          <a:xfrm>
            <a:off x="393192" y="1664208"/>
            <a:ext cx="594360" cy="594360"/>
          </a:xfrm>
          <a:prstGeom prst="ellipse">
            <a:avLst/>
          </a:prstGeom>
          <a:solidFill>
            <a:srgbClr val="00151D"/>
          </a:solidFill>
          <a:ln w="19050">
            <a:solidFill>
              <a:srgbClr val="00E5FF"/>
            </a:solidFill>
            <a:prstDash val="solid"/>
          </a:ln>
        </p:spPr>
      </p:sp>
      <p:sp>
        <p:nvSpPr>
          <p:cNvPr id="8" name="Text 5"/>
          <p:cNvSpPr/>
          <p:nvPr/>
        </p:nvSpPr>
        <p:spPr>
          <a:xfrm>
            <a:off x="393192" y="1664208"/>
            <a:ext cx="594360" cy="594360"/>
          </a:xfrm>
          <a:prstGeom prst="rect">
            <a:avLst/>
          </a:prstGeom>
          <a:noFill/>
          <a:ln/>
        </p:spPr>
        <p:txBody>
          <a:bodyPr wrap="square" lIns="0" tIns="0" rIns="0" bIns="0" rtlCol="0" anchor="ctr"/>
          <a:lstStyle/>
          <a:p>
            <a:pPr marL="0" indent="0" algn="ctr">
              <a:buNone/>
            </a:pPr>
            <a:r>
              <a:rPr lang="en-US" sz="1300" b="1" dirty="0">
                <a:solidFill>
                  <a:srgbClr val="00E5FF"/>
                </a:solidFill>
                <a:latin typeface="Arial" pitchFamily="34" charset="0"/>
                <a:ea typeface="Arial" pitchFamily="34" charset="-122"/>
                <a:cs typeface="Arial" pitchFamily="34" charset="-120"/>
              </a:rPr>
              <a:t>01</a:t>
            </a:r>
            <a:endParaRPr lang="en-US" sz="1300" dirty="0"/>
          </a:p>
        </p:txBody>
      </p:sp>
      <p:sp>
        <p:nvSpPr>
          <p:cNvPr id="9" name="Text 6"/>
          <p:cNvSpPr/>
          <p:nvPr/>
        </p:nvSpPr>
        <p:spPr>
          <a:xfrm>
            <a:off x="1124712" y="1298448"/>
            <a:ext cx="3154680" cy="34747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Install VirtualBox</a:t>
            </a:r>
            <a:endParaRPr lang="en-US" sz="1200" dirty="0"/>
          </a:p>
        </p:txBody>
      </p:sp>
      <p:sp>
        <p:nvSpPr>
          <p:cNvPr id="10" name="Shape 7"/>
          <p:cNvSpPr/>
          <p:nvPr/>
        </p:nvSpPr>
        <p:spPr>
          <a:xfrm>
            <a:off x="1124712" y="1673352"/>
            <a:ext cx="3017520" cy="0"/>
          </a:xfrm>
          <a:prstGeom prst="line">
            <a:avLst/>
          </a:prstGeom>
          <a:noFill/>
          <a:ln w="6350">
            <a:solidFill>
              <a:srgbClr val="333333"/>
            </a:solidFill>
            <a:prstDash val="solid"/>
          </a:ln>
        </p:spPr>
      </p:sp>
      <p:sp>
        <p:nvSpPr>
          <p:cNvPr id="11" name="Text 8"/>
          <p:cNvSpPr/>
          <p:nvPr/>
        </p:nvSpPr>
        <p:spPr>
          <a:xfrm>
            <a:off x="1124712" y="1545337"/>
            <a:ext cx="3154680" cy="932688"/>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Download VirtualBox and start pulling the Kali, Ubuntu and Windows ISOs before the next session so you are not waiting on downloads.</a:t>
            </a:r>
            <a:endParaRPr lang="en-US" sz="1050" dirty="0"/>
          </a:p>
        </p:txBody>
      </p:sp>
      <p:sp>
        <p:nvSpPr>
          <p:cNvPr id="12" name="Shape 9"/>
          <p:cNvSpPr/>
          <p:nvPr/>
        </p:nvSpPr>
        <p:spPr>
          <a:xfrm>
            <a:off x="4663440" y="1188720"/>
            <a:ext cx="4206240" cy="1600200"/>
          </a:xfrm>
          <a:prstGeom prst="roundRect">
            <a:avLst>
              <a:gd name="adj" fmla="val 457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3" name="Shape 10"/>
          <p:cNvSpPr/>
          <p:nvPr/>
        </p:nvSpPr>
        <p:spPr>
          <a:xfrm>
            <a:off x="4828032" y="1664208"/>
            <a:ext cx="594360" cy="594360"/>
          </a:xfrm>
          <a:prstGeom prst="ellipse">
            <a:avLst/>
          </a:prstGeom>
          <a:solidFill>
            <a:srgbClr val="00151D"/>
          </a:solidFill>
          <a:ln w="19050">
            <a:solidFill>
              <a:srgbClr val="00E5FF"/>
            </a:solidFill>
            <a:prstDash val="solid"/>
          </a:ln>
        </p:spPr>
      </p:sp>
      <p:sp>
        <p:nvSpPr>
          <p:cNvPr id="14" name="Text 11"/>
          <p:cNvSpPr/>
          <p:nvPr/>
        </p:nvSpPr>
        <p:spPr>
          <a:xfrm>
            <a:off x="4828032" y="1664208"/>
            <a:ext cx="594360" cy="594360"/>
          </a:xfrm>
          <a:prstGeom prst="rect">
            <a:avLst/>
          </a:prstGeom>
          <a:noFill/>
          <a:ln/>
        </p:spPr>
        <p:txBody>
          <a:bodyPr wrap="square" lIns="0" tIns="0" rIns="0" bIns="0" rtlCol="0" anchor="ctr"/>
          <a:lstStyle/>
          <a:p>
            <a:pPr marL="0" indent="0" algn="ctr">
              <a:buNone/>
            </a:pPr>
            <a:r>
              <a:rPr lang="en-US" sz="1300" b="1" dirty="0">
                <a:solidFill>
                  <a:srgbClr val="00E5FF"/>
                </a:solidFill>
                <a:latin typeface="Arial" pitchFamily="34" charset="0"/>
                <a:ea typeface="Arial" pitchFamily="34" charset="-122"/>
                <a:cs typeface="Arial" pitchFamily="34" charset="-120"/>
              </a:rPr>
              <a:t>02</a:t>
            </a:r>
            <a:endParaRPr lang="en-US" sz="1300" dirty="0"/>
          </a:p>
        </p:txBody>
      </p:sp>
      <p:sp>
        <p:nvSpPr>
          <p:cNvPr id="15" name="Text 12"/>
          <p:cNvSpPr/>
          <p:nvPr/>
        </p:nvSpPr>
        <p:spPr>
          <a:xfrm>
            <a:off x="5559552" y="1298448"/>
            <a:ext cx="3154680" cy="34747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Read the Roadmap</a:t>
            </a:r>
            <a:endParaRPr lang="en-US" sz="1200" dirty="0"/>
          </a:p>
        </p:txBody>
      </p:sp>
      <p:sp>
        <p:nvSpPr>
          <p:cNvPr id="16" name="Shape 13"/>
          <p:cNvSpPr/>
          <p:nvPr/>
        </p:nvSpPr>
        <p:spPr>
          <a:xfrm>
            <a:off x="5559552" y="1673352"/>
            <a:ext cx="3017520" cy="0"/>
          </a:xfrm>
          <a:prstGeom prst="line">
            <a:avLst/>
          </a:prstGeom>
          <a:noFill/>
          <a:ln w="6350">
            <a:solidFill>
              <a:srgbClr val="333333"/>
            </a:solidFill>
            <a:prstDash val="solid"/>
          </a:ln>
        </p:spPr>
      </p:sp>
      <p:sp>
        <p:nvSpPr>
          <p:cNvPr id="17" name="Text 14"/>
          <p:cNvSpPr/>
          <p:nvPr/>
        </p:nvSpPr>
        <p:spPr>
          <a:xfrm>
            <a:off x="5559552" y="1545337"/>
            <a:ext cx="3154680" cy="932688"/>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Go through the full roadmap that was shared in your group. It gives you a clear picture of where you are going over the next three months.</a:t>
            </a:r>
            <a:endParaRPr lang="en-US" sz="1050" dirty="0"/>
          </a:p>
        </p:txBody>
      </p:sp>
      <p:sp>
        <p:nvSpPr>
          <p:cNvPr id="18" name="Shape 15"/>
          <p:cNvSpPr/>
          <p:nvPr/>
        </p:nvSpPr>
        <p:spPr>
          <a:xfrm>
            <a:off x="228600" y="2926080"/>
            <a:ext cx="4206240" cy="1600200"/>
          </a:xfrm>
          <a:prstGeom prst="roundRect">
            <a:avLst>
              <a:gd name="adj" fmla="val 457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9" name="Shape 16"/>
          <p:cNvSpPr/>
          <p:nvPr/>
        </p:nvSpPr>
        <p:spPr>
          <a:xfrm>
            <a:off x="393192" y="3401568"/>
            <a:ext cx="594360" cy="594360"/>
          </a:xfrm>
          <a:prstGeom prst="ellipse">
            <a:avLst/>
          </a:prstGeom>
          <a:solidFill>
            <a:srgbClr val="00151D"/>
          </a:solidFill>
          <a:ln w="19050">
            <a:solidFill>
              <a:srgbClr val="00E5FF"/>
            </a:solidFill>
            <a:prstDash val="solid"/>
          </a:ln>
        </p:spPr>
      </p:sp>
      <p:sp>
        <p:nvSpPr>
          <p:cNvPr id="20" name="Text 17"/>
          <p:cNvSpPr/>
          <p:nvPr/>
        </p:nvSpPr>
        <p:spPr>
          <a:xfrm>
            <a:off x="393192" y="3401568"/>
            <a:ext cx="594360" cy="594360"/>
          </a:xfrm>
          <a:prstGeom prst="rect">
            <a:avLst/>
          </a:prstGeom>
          <a:noFill/>
          <a:ln/>
        </p:spPr>
        <p:txBody>
          <a:bodyPr wrap="square" lIns="0" tIns="0" rIns="0" bIns="0" rtlCol="0" anchor="ctr"/>
          <a:lstStyle/>
          <a:p>
            <a:pPr marL="0" indent="0" algn="ctr">
              <a:buNone/>
            </a:pPr>
            <a:r>
              <a:rPr lang="en-US" sz="1300" b="1" dirty="0">
                <a:solidFill>
                  <a:srgbClr val="00E5FF"/>
                </a:solidFill>
                <a:latin typeface="Arial" pitchFamily="34" charset="0"/>
                <a:ea typeface="Arial" pitchFamily="34" charset="-122"/>
                <a:cs typeface="Arial" pitchFamily="34" charset="-120"/>
              </a:rPr>
              <a:t>03</a:t>
            </a:r>
            <a:endParaRPr lang="en-US" sz="1300" dirty="0"/>
          </a:p>
        </p:txBody>
      </p:sp>
      <p:sp>
        <p:nvSpPr>
          <p:cNvPr id="21" name="Text 18"/>
          <p:cNvSpPr/>
          <p:nvPr/>
        </p:nvSpPr>
        <p:spPr>
          <a:xfrm>
            <a:off x="1124712" y="3035808"/>
            <a:ext cx="3154680" cy="34747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Say Hello</a:t>
            </a:r>
            <a:endParaRPr lang="en-US" sz="1200" dirty="0"/>
          </a:p>
        </p:txBody>
      </p:sp>
      <p:sp>
        <p:nvSpPr>
          <p:cNvPr id="22" name="Shape 19"/>
          <p:cNvSpPr/>
          <p:nvPr/>
        </p:nvSpPr>
        <p:spPr>
          <a:xfrm>
            <a:off x="1124712" y="3410712"/>
            <a:ext cx="3017520" cy="0"/>
          </a:xfrm>
          <a:prstGeom prst="line">
            <a:avLst/>
          </a:prstGeom>
          <a:noFill/>
          <a:ln w="6350">
            <a:solidFill>
              <a:srgbClr val="333333"/>
            </a:solidFill>
            <a:prstDash val="solid"/>
          </a:ln>
        </p:spPr>
      </p:sp>
      <p:sp>
        <p:nvSpPr>
          <p:cNvPr id="23" name="Text 20"/>
          <p:cNvSpPr/>
          <p:nvPr/>
        </p:nvSpPr>
        <p:spPr>
          <a:xfrm>
            <a:off x="1124712" y="3332635"/>
            <a:ext cx="3154680" cy="932688"/>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Write your name in the discussion group if you have not already. It helps the mentors know who is active and who to watch out for.</a:t>
            </a:r>
            <a:endParaRPr lang="en-US" sz="1050" dirty="0"/>
          </a:p>
        </p:txBody>
      </p:sp>
      <p:sp>
        <p:nvSpPr>
          <p:cNvPr id="24" name="Shape 21"/>
          <p:cNvSpPr/>
          <p:nvPr/>
        </p:nvSpPr>
        <p:spPr>
          <a:xfrm>
            <a:off x="4663440" y="2926080"/>
            <a:ext cx="4206240" cy="1600200"/>
          </a:xfrm>
          <a:prstGeom prst="roundRect">
            <a:avLst>
              <a:gd name="adj" fmla="val 4571"/>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25" name="Shape 22"/>
          <p:cNvSpPr/>
          <p:nvPr/>
        </p:nvSpPr>
        <p:spPr>
          <a:xfrm>
            <a:off x="4828032" y="3401568"/>
            <a:ext cx="594360" cy="594360"/>
          </a:xfrm>
          <a:prstGeom prst="ellipse">
            <a:avLst/>
          </a:prstGeom>
          <a:solidFill>
            <a:srgbClr val="00151D"/>
          </a:solidFill>
          <a:ln w="19050">
            <a:solidFill>
              <a:srgbClr val="00E5FF"/>
            </a:solidFill>
            <a:prstDash val="solid"/>
          </a:ln>
        </p:spPr>
      </p:sp>
      <p:sp>
        <p:nvSpPr>
          <p:cNvPr id="26" name="Text 23"/>
          <p:cNvSpPr/>
          <p:nvPr/>
        </p:nvSpPr>
        <p:spPr>
          <a:xfrm>
            <a:off x="4828032" y="3401568"/>
            <a:ext cx="594360" cy="594360"/>
          </a:xfrm>
          <a:prstGeom prst="rect">
            <a:avLst/>
          </a:prstGeom>
          <a:noFill/>
          <a:ln/>
        </p:spPr>
        <p:txBody>
          <a:bodyPr wrap="square" lIns="0" tIns="0" rIns="0" bIns="0" rtlCol="0" anchor="ctr"/>
          <a:lstStyle/>
          <a:p>
            <a:pPr marL="0" indent="0" algn="ctr">
              <a:buNone/>
            </a:pPr>
            <a:r>
              <a:rPr lang="en-US" sz="1300" b="1" dirty="0">
                <a:solidFill>
                  <a:srgbClr val="00E5FF"/>
                </a:solidFill>
                <a:latin typeface="Arial" pitchFamily="34" charset="0"/>
                <a:ea typeface="Arial" pitchFamily="34" charset="-122"/>
                <a:cs typeface="Arial" pitchFamily="34" charset="-120"/>
              </a:rPr>
              <a:t>04</a:t>
            </a:r>
            <a:endParaRPr lang="en-US" sz="1300" dirty="0"/>
          </a:p>
        </p:txBody>
      </p:sp>
      <p:sp>
        <p:nvSpPr>
          <p:cNvPr id="27" name="Text 24"/>
          <p:cNvSpPr/>
          <p:nvPr/>
        </p:nvSpPr>
        <p:spPr>
          <a:xfrm>
            <a:off x="5559552" y="3035808"/>
            <a:ext cx="3154680" cy="347472"/>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Show Up on Time</a:t>
            </a:r>
            <a:endParaRPr lang="en-US" sz="1200" dirty="0"/>
          </a:p>
        </p:txBody>
      </p:sp>
      <p:sp>
        <p:nvSpPr>
          <p:cNvPr id="28" name="Shape 25"/>
          <p:cNvSpPr/>
          <p:nvPr/>
        </p:nvSpPr>
        <p:spPr>
          <a:xfrm>
            <a:off x="5559552" y="3410712"/>
            <a:ext cx="3017520" cy="0"/>
          </a:xfrm>
          <a:prstGeom prst="line">
            <a:avLst/>
          </a:prstGeom>
          <a:noFill/>
          <a:ln w="6350">
            <a:solidFill>
              <a:srgbClr val="333333"/>
            </a:solidFill>
            <a:prstDash val="solid"/>
          </a:ln>
        </p:spPr>
      </p:sp>
      <p:sp>
        <p:nvSpPr>
          <p:cNvPr id="29" name="Text 26"/>
          <p:cNvSpPr/>
          <p:nvPr/>
        </p:nvSpPr>
        <p:spPr>
          <a:xfrm>
            <a:off x="5559552" y="3319271"/>
            <a:ext cx="3154680" cy="932688"/>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Each session is at 9 PM PKT. Convert the time to your timezone and set a reminder. If you have exams, contact support before leaving.</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80808"/>
        </a:solidFill>
        <a:effectLst/>
      </p:bgPr>
    </p:bg>
    <p:spTree>
      <p:nvGrpSpPr>
        <p:cNvPr id="1" name=""/>
        <p:cNvGrpSpPr/>
        <p:nvPr/>
      </p:nvGrpSpPr>
      <p:grpSpPr>
        <a:xfrm>
          <a:off x="0" y="0"/>
          <a:ext cx="0" cy="0"/>
          <a:chOff x="0" y="0"/>
          <a:chExt cx="0" cy="0"/>
        </a:xfrm>
      </p:grpSpPr>
      <p:sp>
        <p:nvSpPr>
          <p:cNvPr id="3" name="Text 0"/>
          <p:cNvSpPr/>
          <p:nvPr/>
        </p:nvSpPr>
        <p:spPr>
          <a:xfrm>
            <a:off x="822960" y="109728"/>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Week 1 Lab Topology</a:t>
            </a:r>
            <a:endParaRPr lang="en-US" sz="2200" dirty="0"/>
          </a:p>
        </p:txBody>
      </p:sp>
      <p:sp>
        <p:nvSpPr>
          <p:cNvPr id="30" name="Shape 27"/>
          <p:cNvSpPr/>
          <p:nvPr/>
        </p:nvSpPr>
        <p:spPr>
          <a:xfrm>
            <a:off x="879229" y="612648"/>
            <a:ext cx="7005711" cy="4100048"/>
          </a:xfrm>
          <a:prstGeom prst="roundRect">
            <a:avLst>
              <a:gd name="adj" fmla="val 2133"/>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pic>
        <p:nvPicPr>
          <p:cNvPr id="38" name="Picture 37">
            <a:extLst>
              <a:ext uri="{FF2B5EF4-FFF2-40B4-BE49-F238E27FC236}">
                <a16:creationId xmlns:a16="http://schemas.microsoft.com/office/drawing/2014/main" id="{061FF1AF-C367-DAE3-C0D8-2133A4C3CE07}"/>
              </a:ext>
            </a:extLst>
          </p:cNvPr>
          <p:cNvPicPr>
            <a:picLocks noChangeAspect="1"/>
          </p:cNvPicPr>
          <p:nvPr/>
        </p:nvPicPr>
        <p:blipFill>
          <a:blip r:embed="rId3"/>
          <a:stretch>
            <a:fillRect/>
          </a:stretch>
        </p:blipFill>
        <p:spPr>
          <a:xfrm>
            <a:off x="879229" y="612648"/>
            <a:ext cx="7005711" cy="410004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37465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08080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228600" y="91440"/>
            <a:ext cx="502920" cy="502920"/>
          </a:xfrm>
          <a:prstGeom prst="rect">
            <a:avLst/>
          </a:prstGeom>
        </p:spPr>
      </p:pic>
      <p:sp>
        <p:nvSpPr>
          <p:cNvPr id="3" name="Text 0"/>
          <p:cNvSpPr/>
          <p:nvPr/>
        </p:nvSpPr>
        <p:spPr>
          <a:xfrm>
            <a:off x="822960" y="109728"/>
            <a:ext cx="7772400" cy="502920"/>
          </a:xfrm>
          <a:prstGeom prst="rect">
            <a:avLst/>
          </a:prstGeom>
          <a:noFill/>
          <a:ln/>
        </p:spPr>
        <p:txBody>
          <a:bodyPr wrap="square" lIns="0" tIns="0" rIns="0" bIns="0" rtlCol="0" anchor="ctr"/>
          <a:lstStyle/>
          <a:p>
            <a:pPr marL="0" indent="0">
              <a:buNone/>
            </a:pPr>
            <a:r>
              <a:rPr lang="en-US" sz="2200" b="1" dirty="0">
                <a:solidFill>
                  <a:srgbClr val="00E5FF"/>
                </a:solidFill>
                <a:latin typeface="Arial" pitchFamily="34" charset="0"/>
                <a:ea typeface="Arial" pitchFamily="34" charset="-122"/>
                <a:cs typeface="Arial" pitchFamily="34" charset="-120"/>
              </a:rPr>
              <a:t>Community &amp; Support</a:t>
            </a:r>
            <a:endParaRPr lang="en-US" sz="2200" dirty="0"/>
          </a:p>
        </p:txBody>
      </p:sp>
      <p:sp>
        <p:nvSpPr>
          <p:cNvPr id="4" name="Shape 1"/>
          <p:cNvSpPr/>
          <p:nvPr/>
        </p:nvSpPr>
        <p:spPr>
          <a:xfrm>
            <a:off x="228600" y="658368"/>
            <a:ext cx="8686800" cy="0"/>
          </a:xfrm>
          <a:prstGeom prst="line">
            <a:avLst/>
          </a:prstGeom>
          <a:noFill/>
          <a:ln w="9525">
            <a:solidFill>
              <a:srgbClr val="222222"/>
            </a:solidFill>
            <a:prstDash val="solid"/>
          </a:ln>
        </p:spPr>
      </p:sp>
      <p:sp>
        <p:nvSpPr>
          <p:cNvPr id="5" name="Shape 2"/>
          <p:cNvSpPr/>
          <p:nvPr/>
        </p:nvSpPr>
        <p:spPr>
          <a:xfrm>
            <a:off x="228600" y="777240"/>
            <a:ext cx="8686800" cy="960120"/>
          </a:xfrm>
          <a:prstGeom prst="roundRect">
            <a:avLst>
              <a:gd name="adj" fmla="val 7619"/>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6" name="Text 3"/>
          <p:cNvSpPr/>
          <p:nvPr/>
        </p:nvSpPr>
        <p:spPr>
          <a:xfrm>
            <a:off x="411480" y="868680"/>
            <a:ext cx="8321040" cy="347472"/>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You are not alone — we are all learners here.</a:t>
            </a:r>
            <a:endParaRPr lang="en-US" sz="1400" dirty="0"/>
          </a:p>
        </p:txBody>
      </p:sp>
      <p:sp>
        <p:nvSpPr>
          <p:cNvPr id="7" name="Text 4"/>
          <p:cNvSpPr/>
          <p:nvPr/>
        </p:nvSpPr>
        <p:spPr>
          <a:xfrm>
            <a:off x="411480" y="1234440"/>
            <a:ext cx="8321040" cy="256032"/>
          </a:xfrm>
          <a:prstGeom prst="rect">
            <a:avLst/>
          </a:prstGeom>
          <a:noFill/>
          <a:ln/>
        </p:spPr>
        <p:txBody>
          <a:bodyPr wrap="square" lIns="0" tIns="0" rIns="0" bIns="0" rtlCol="0" anchor="ctr"/>
          <a:lstStyle/>
          <a:p>
            <a:pPr marL="0" indent="0">
              <a:buNone/>
            </a:pPr>
            <a:r>
              <a:rPr lang="en-US" sz="1050" dirty="0">
                <a:solidFill>
                  <a:srgbClr val="AAAAAA"/>
                </a:solidFill>
                <a:latin typeface="Arial" pitchFamily="34" charset="0"/>
                <a:ea typeface="Arial" pitchFamily="34" charset="-122"/>
                <a:cs typeface="Arial" pitchFamily="34" charset="-120"/>
              </a:rPr>
              <a:t>This internship is a community. Everyone is here to grow, and we make room for every kind of question.</a:t>
            </a:r>
            <a:endParaRPr lang="en-US" sz="1050" dirty="0"/>
          </a:p>
        </p:txBody>
      </p:sp>
      <p:sp>
        <p:nvSpPr>
          <p:cNvPr id="8" name="Shape 5"/>
          <p:cNvSpPr/>
          <p:nvPr/>
        </p:nvSpPr>
        <p:spPr>
          <a:xfrm>
            <a:off x="228600" y="1874520"/>
            <a:ext cx="2816352" cy="3063240"/>
          </a:xfrm>
          <a:prstGeom prst="roundRect">
            <a:avLst>
              <a:gd name="adj" fmla="val 2597"/>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9" name="Shape 6"/>
          <p:cNvSpPr/>
          <p:nvPr/>
        </p:nvSpPr>
        <p:spPr>
          <a:xfrm>
            <a:off x="1234440" y="2011680"/>
            <a:ext cx="804672" cy="804672"/>
          </a:xfrm>
          <a:prstGeom prst="ellipse">
            <a:avLst/>
          </a:prstGeom>
          <a:solidFill>
            <a:srgbClr val="001520"/>
          </a:solidFill>
          <a:ln w="19050">
            <a:solidFill>
              <a:srgbClr val="00E5FF"/>
            </a:solidFill>
            <a:prstDash val="solid"/>
          </a:ln>
        </p:spPr>
      </p:sp>
      <p:sp>
        <p:nvSpPr>
          <p:cNvPr id="10" name="Text 7"/>
          <p:cNvSpPr/>
          <p:nvPr/>
        </p:nvSpPr>
        <p:spPr>
          <a:xfrm>
            <a:off x="1234440" y="2011680"/>
            <a:ext cx="804672" cy="80467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1" name="Text 8"/>
          <p:cNvSpPr/>
          <p:nvPr/>
        </p:nvSpPr>
        <p:spPr>
          <a:xfrm>
            <a:off x="338328" y="2926080"/>
            <a:ext cx="2596896"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Ask Anything in the Group</a:t>
            </a:r>
            <a:endParaRPr lang="en-US" sz="1000" dirty="0"/>
          </a:p>
        </p:txBody>
      </p:sp>
      <p:sp>
        <p:nvSpPr>
          <p:cNvPr id="12" name="Text 9"/>
          <p:cNvSpPr/>
          <p:nvPr/>
        </p:nvSpPr>
        <p:spPr>
          <a:xfrm>
            <a:off x="393192" y="3145536"/>
            <a:ext cx="2596896" cy="1417320"/>
          </a:xfrm>
          <a:prstGeom prst="rect">
            <a:avLst/>
          </a:prstGeom>
          <a:noFill/>
          <a:ln/>
        </p:spPr>
        <p:txBody>
          <a:bodyPr wrap="square" lIns="0" tIns="0" rIns="0" bIns="0" rtlCol="0" anchor="ctr"/>
          <a:lstStyle/>
          <a:p>
            <a:pPr marL="0" indent="0" algn="l">
              <a:buNone/>
            </a:pPr>
            <a:r>
              <a:rPr lang="en-US" sz="1050" dirty="0">
                <a:solidFill>
                  <a:srgbClr val="AAAAAA"/>
                </a:solidFill>
                <a:latin typeface="Arial" pitchFamily="34" charset="0"/>
                <a:ea typeface="Arial" pitchFamily="34" charset="-122"/>
                <a:cs typeface="Arial" pitchFamily="34" charset="-120"/>
              </a:rPr>
              <a:t>Do not hesitate to ask questions in the discussion group even if you think it is a very basic thing to ask. There is no such thing as a stupid question here. We are all learners and the whole community will accommodate you and help you out.</a:t>
            </a:r>
            <a:endParaRPr lang="en-US" sz="1050" dirty="0"/>
          </a:p>
        </p:txBody>
      </p:sp>
      <p:sp>
        <p:nvSpPr>
          <p:cNvPr id="13" name="Shape 10"/>
          <p:cNvSpPr/>
          <p:nvPr/>
        </p:nvSpPr>
        <p:spPr>
          <a:xfrm>
            <a:off x="3200400" y="1874520"/>
            <a:ext cx="2816352" cy="3063240"/>
          </a:xfrm>
          <a:prstGeom prst="roundRect">
            <a:avLst>
              <a:gd name="adj" fmla="val 2597"/>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4" name="Shape 11"/>
          <p:cNvSpPr/>
          <p:nvPr/>
        </p:nvSpPr>
        <p:spPr>
          <a:xfrm>
            <a:off x="4206240" y="2011680"/>
            <a:ext cx="804672" cy="804672"/>
          </a:xfrm>
          <a:prstGeom prst="ellipse">
            <a:avLst/>
          </a:prstGeom>
          <a:solidFill>
            <a:srgbClr val="001520"/>
          </a:solidFill>
          <a:ln w="19050">
            <a:solidFill>
              <a:srgbClr val="00AAFF"/>
            </a:solidFill>
            <a:prstDash val="solid"/>
          </a:ln>
        </p:spPr>
      </p:sp>
      <p:sp>
        <p:nvSpPr>
          <p:cNvPr id="15" name="Text 12"/>
          <p:cNvSpPr/>
          <p:nvPr/>
        </p:nvSpPr>
        <p:spPr>
          <a:xfrm>
            <a:off x="4206240" y="2011680"/>
            <a:ext cx="804672" cy="80467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6" name="Text 13"/>
          <p:cNvSpPr/>
          <p:nvPr/>
        </p:nvSpPr>
        <p:spPr>
          <a:xfrm>
            <a:off x="3310128" y="2926080"/>
            <a:ext cx="2596896"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Exams or Scheduling Conflicts</a:t>
            </a:r>
            <a:endParaRPr lang="en-US" sz="1000" dirty="0"/>
          </a:p>
        </p:txBody>
      </p:sp>
      <p:sp>
        <p:nvSpPr>
          <p:cNvPr id="17" name="Text 14"/>
          <p:cNvSpPr/>
          <p:nvPr/>
        </p:nvSpPr>
        <p:spPr>
          <a:xfrm>
            <a:off x="3310128" y="3281993"/>
            <a:ext cx="2596896" cy="1417320"/>
          </a:xfrm>
          <a:prstGeom prst="rect">
            <a:avLst/>
          </a:prstGeom>
          <a:noFill/>
          <a:ln/>
        </p:spPr>
        <p:txBody>
          <a:bodyPr wrap="square" lIns="0" tIns="0" rIns="0" bIns="0" rtlCol="0" anchor="ctr"/>
          <a:lstStyle/>
          <a:p>
            <a:pPr marL="0" indent="0" algn="l">
              <a:buNone/>
            </a:pPr>
            <a:r>
              <a:rPr lang="en-US" sz="1050" dirty="0">
                <a:solidFill>
                  <a:srgbClr val="AAAAAA"/>
                </a:solidFill>
                <a:latin typeface="Arial" pitchFamily="34" charset="0"/>
                <a:ea typeface="Arial" pitchFamily="34" charset="-122"/>
                <a:cs typeface="Arial" pitchFamily="34" charset="-120"/>
              </a:rPr>
              <a:t>We understand that most participants are students and life gets busy like exams, personal commitments, and emergencies happen. If you have any problem or need to step away temporarily, please contact the support number and notify them before leaving. They will accommodate you and provide a solution.</a:t>
            </a:r>
            <a:endParaRPr lang="en-US" sz="1050" dirty="0"/>
          </a:p>
        </p:txBody>
      </p:sp>
      <p:sp>
        <p:nvSpPr>
          <p:cNvPr id="18" name="Shape 15"/>
          <p:cNvSpPr/>
          <p:nvPr/>
        </p:nvSpPr>
        <p:spPr>
          <a:xfrm>
            <a:off x="6172200" y="1874520"/>
            <a:ext cx="2816352" cy="3063240"/>
          </a:xfrm>
          <a:prstGeom prst="roundRect">
            <a:avLst>
              <a:gd name="adj" fmla="val 2597"/>
            </a:avLst>
          </a:prstGeom>
          <a:solidFill>
            <a:srgbClr val="141414"/>
          </a:solidFill>
          <a:ln w="6350">
            <a:solidFill>
              <a:srgbClr val="00B4CC"/>
            </a:solidFill>
            <a:prstDash val="solid"/>
          </a:ln>
          <a:effectLst>
            <a:outerShdw blurRad="101600" dist="38100" dir="2700000" algn="bl" rotWithShape="0">
              <a:srgbClr val="000000">
                <a:alpha val="40000"/>
              </a:srgbClr>
            </a:outerShdw>
          </a:effectLst>
        </p:spPr>
      </p:sp>
      <p:sp>
        <p:nvSpPr>
          <p:cNvPr id="19" name="Shape 16"/>
          <p:cNvSpPr/>
          <p:nvPr/>
        </p:nvSpPr>
        <p:spPr>
          <a:xfrm>
            <a:off x="7178040" y="2011680"/>
            <a:ext cx="804672" cy="804672"/>
          </a:xfrm>
          <a:prstGeom prst="ellipse">
            <a:avLst/>
          </a:prstGeom>
          <a:solidFill>
            <a:srgbClr val="001520"/>
          </a:solidFill>
          <a:ln w="19050">
            <a:solidFill>
              <a:srgbClr val="1E90FF"/>
            </a:solidFill>
            <a:prstDash val="solid"/>
          </a:ln>
        </p:spPr>
      </p:sp>
      <p:sp>
        <p:nvSpPr>
          <p:cNvPr id="20" name="Text 17"/>
          <p:cNvSpPr/>
          <p:nvPr/>
        </p:nvSpPr>
        <p:spPr>
          <a:xfrm>
            <a:off x="7178040" y="2011680"/>
            <a:ext cx="804672" cy="80467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1" name="Text 18"/>
          <p:cNvSpPr/>
          <p:nvPr/>
        </p:nvSpPr>
        <p:spPr>
          <a:xfrm>
            <a:off x="6281928" y="2926080"/>
            <a:ext cx="2596896" cy="43891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Stay Active in the Discussion Group</a:t>
            </a:r>
            <a:endParaRPr lang="en-US" sz="1000" dirty="0"/>
          </a:p>
        </p:txBody>
      </p:sp>
      <p:sp>
        <p:nvSpPr>
          <p:cNvPr id="22" name="Text 19"/>
          <p:cNvSpPr/>
          <p:nvPr/>
        </p:nvSpPr>
        <p:spPr>
          <a:xfrm>
            <a:off x="6281928" y="3145536"/>
            <a:ext cx="2596896" cy="1417320"/>
          </a:xfrm>
          <a:prstGeom prst="rect">
            <a:avLst/>
          </a:prstGeom>
          <a:noFill/>
          <a:ln/>
        </p:spPr>
        <p:txBody>
          <a:bodyPr wrap="square" lIns="0" tIns="0" rIns="0" bIns="0" rtlCol="0" anchor="ctr"/>
          <a:lstStyle/>
          <a:p>
            <a:pPr marL="0" indent="0" algn="l">
              <a:buNone/>
            </a:pPr>
            <a:r>
              <a:rPr lang="en-US" sz="1050" dirty="0">
                <a:solidFill>
                  <a:srgbClr val="AAAAAA"/>
                </a:solidFill>
                <a:latin typeface="Arial" pitchFamily="34" charset="0"/>
                <a:ea typeface="Arial" pitchFamily="34" charset="-122"/>
                <a:cs typeface="Arial" pitchFamily="34" charset="-120"/>
              </a:rPr>
              <a:t>All updates, task instructions, session reminders, and submission links will be shared through the discussion group. Stay active, stay engaged, and help others when you can. A strong community makes for a stronger program.</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080808"/>
        </a:solidFill>
        <a:effectLst/>
      </p:bgPr>
    </p:bg>
    <p:spTree>
      <p:nvGrpSpPr>
        <p:cNvPr id="1" name=""/>
        <p:cNvGrpSpPr/>
        <p:nvPr/>
      </p:nvGrpSpPr>
      <p:grpSpPr>
        <a:xfrm>
          <a:off x="0" y="0"/>
          <a:ext cx="0" cy="0"/>
          <a:chOff x="0" y="0"/>
          <a:chExt cx="0" cy="0"/>
        </a:xfrm>
      </p:grpSpPr>
      <p:sp>
        <p:nvSpPr>
          <p:cNvPr id="2" name="Shape 0"/>
          <p:cNvSpPr/>
          <p:nvPr/>
        </p:nvSpPr>
        <p:spPr>
          <a:xfrm>
            <a:off x="0" y="1828800"/>
            <a:ext cx="9144000" cy="0"/>
          </a:xfrm>
          <a:prstGeom prst="line">
            <a:avLst/>
          </a:prstGeom>
          <a:noFill/>
          <a:ln w="12700">
            <a:solidFill>
              <a:srgbClr val="111111"/>
            </a:solidFill>
            <a:prstDash val="solid"/>
          </a:ln>
        </p:spPr>
      </p:sp>
      <p:pic>
        <p:nvPicPr>
          <p:cNvPr id="3" name="Image 0" descr="preencoded.png"/>
          <p:cNvPicPr>
            <a:picLocks noChangeAspect="1"/>
          </p:cNvPicPr>
          <p:nvPr/>
        </p:nvPicPr>
        <p:blipFill>
          <a:blip r:embed="rId3"/>
          <a:stretch>
            <a:fillRect/>
          </a:stretch>
        </p:blipFill>
        <p:spPr>
          <a:xfrm>
            <a:off x="3767328" y="182880"/>
            <a:ext cx="1600200" cy="1600200"/>
          </a:xfrm>
          <a:prstGeom prst="rect">
            <a:avLst/>
          </a:prstGeom>
        </p:spPr>
      </p:pic>
      <p:sp>
        <p:nvSpPr>
          <p:cNvPr id="4" name="Text 1"/>
          <p:cNvSpPr/>
          <p:nvPr/>
        </p:nvSpPr>
        <p:spPr>
          <a:xfrm>
            <a:off x="452628" y="1346981"/>
            <a:ext cx="8229600" cy="685800"/>
          </a:xfrm>
          <a:prstGeom prst="rect">
            <a:avLst/>
          </a:prstGeom>
          <a:noFill/>
          <a:ln/>
        </p:spPr>
        <p:txBody>
          <a:bodyPr wrap="square" lIns="0" tIns="0" rIns="0" bIns="0" rtlCol="0" anchor="ctr"/>
          <a:lstStyle/>
          <a:p>
            <a:pPr marL="0" indent="0" algn="ctr">
              <a:buNone/>
            </a:pPr>
            <a:r>
              <a:rPr lang="en-US" sz="3200" b="1" dirty="0">
                <a:solidFill>
                  <a:srgbClr val="FFFFFF"/>
                </a:solidFill>
                <a:latin typeface="Arial Black" pitchFamily="34" charset="0"/>
                <a:ea typeface="Arial Black" pitchFamily="34" charset="-122"/>
                <a:cs typeface="Arial Black" pitchFamily="34" charset="-120"/>
              </a:rPr>
              <a:t>Let's Build Something Real</a:t>
            </a:r>
            <a:endParaRPr lang="en-US" sz="3200" dirty="0"/>
          </a:p>
        </p:txBody>
      </p:sp>
      <p:sp>
        <p:nvSpPr>
          <p:cNvPr id="5" name="Text 2"/>
          <p:cNvSpPr/>
          <p:nvPr/>
        </p:nvSpPr>
        <p:spPr>
          <a:xfrm>
            <a:off x="1367028" y="2090810"/>
            <a:ext cx="6400800" cy="685800"/>
          </a:xfrm>
          <a:prstGeom prst="rect">
            <a:avLst/>
          </a:prstGeom>
          <a:noFill/>
          <a:ln/>
        </p:spPr>
        <p:txBody>
          <a:bodyPr wrap="square" lIns="0" tIns="0" rIns="0" bIns="0" rtlCol="0" anchor="ctr"/>
          <a:lstStyle/>
          <a:p>
            <a:pPr marL="0" indent="0" algn="ctr">
              <a:buNone/>
            </a:pPr>
            <a:r>
              <a:rPr lang="en-US" sz="1100" dirty="0">
                <a:solidFill>
                  <a:srgbClr val="AAAAAA"/>
                </a:solidFill>
                <a:latin typeface="Arial" pitchFamily="34" charset="0"/>
                <a:ea typeface="Arial" pitchFamily="34" charset="-122"/>
                <a:cs typeface="Arial" pitchFamily="34" charset="-120"/>
              </a:rPr>
              <a:t>Good analysts are built through repetition, curiosity and not giving up when something does not work the first time.</a:t>
            </a:r>
            <a:endParaRPr lang="en-US" sz="1100" dirty="0"/>
          </a:p>
          <a:p>
            <a:pPr marL="0" indent="0" algn="ctr">
              <a:buNone/>
            </a:pPr>
            <a:r>
              <a:rPr lang="en-US" sz="1100" dirty="0">
                <a:solidFill>
                  <a:srgbClr val="AAAAAA"/>
                </a:solidFill>
                <a:latin typeface="Arial" pitchFamily="34" charset="0"/>
                <a:ea typeface="Arial" pitchFamily="34" charset="-122"/>
                <a:cs typeface="Arial" pitchFamily="34" charset="-120"/>
              </a:rPr>
              <a:t>That is what the next three months are about.</a:t>
            </a:r>
            <a:endParaRPr lang="en-US" sz="1100" dirty="0"/>
          </a:p>
        </p:txBody>
      </p:sp>
      <p:sp>
        <p:nvSpPr>
          <p:cNvPr id="6" name="Text 3"/>
          <p:cNvSpPr/>
          <p:nvPr/>
        </p:nvSpPr>
        <p:spPr>
          <a:xfrm>
            <a:off x="858129" y="2864532"/>
            <a:ext cx="7315200" cy="384048"/>
          </a:xfrm>
          <a:prstGeom prst="rect">
            <a:avLst/>
          </a:prstGeom>
          <a:noFill/>
          <a:ln/>
        </p:spPr>
        <p:txBody>
          <a:bodyPr wrap="square" lIns="0" tIns="0" rIns="0" bIns="0" rtlCol="0" anchor="ctr"/>
          <a:lstStyle/>
          <a:p>
            <a:pPr marL="0" indent="0" algn="ctr">
              <a:buNone/>
            </a:pPr>
            <a:r>
              <a:rPr lang="en-US" sz="1600" b="1" dirty="0">
                <a:solidFill>
                  <a:srgbClr val="00E5FF"/>
                </a:solidFill>
                <a:latin typeface="Arial" pitchFamily="34" charset="0"/>
                <a:ea typeface="Arial" pitchFamily="34" charset="-122"/>
                <a:cs typeface="Arial" pitchFamily="34" charset="-120"/>
              </a:rPr>
              <a:t>Welcome to the Blue Team.</a:t>
            </a:r>
            <a:endParaRPr lang="en-US" sz="1600" dirty="0"/>
          </a:p>
        </p:txBody>
      </p:sp>
      <p:sp>
        <p:nvSpPr>
          <p:cNvPr id="7" name="Text 4"/>
          <p:cNvSpPr/>
          <p:nvPr/>
        </p:nvSpPr>
        <p:spPr>
          <a:xfrm>
            <a:off x="914400" y="3950208"/>
            <a:ext cx="7315200" cy="292608"/>
          </a:xfrm>
          <a:prstGeom prst="rect">
            <a:avLst/>
          </a:prstGeom>
          <a:noFill/>
          <a:ln/>
        </p:spPr>
        <p:txBody>
          <a:bodyPr wrap="square" lIns="0" tIns="0" rIns="0" bIns="0" rtlCol="0" anchor="ctr"/>
          <a:lstStyle/>
          <a:p>
            <a:pPr marL="0" indent="0" algn="ctr">
              <a:buNone/>
            </a:pPr>
            <a:r>
              <a:rPr lang="en-US" sz="1000" dirty="0">
                <a:solidFill>
                  <a:srgbClr val="AAAAAA"/>
                </a:solidFill>
                <a:latin typeface="Arial" pitchFamily="34" charset="0"/>
                <a:ea typeface="Arial" pitchFamily="34" charset="-122"/>
                <a:cs typeface="Arial" pitchFamily="34" charset="-120"/>
              </a:rPr>
              <a:t>Questions? Drop them in the discussion group.</a:t>
            </a:r>
            <a:endParaRPr lang="en-US" sz="1000" dirty="0"/>
          </a:p>
        </p:txBody>
      </p:sp>
      <p:sp>
        <p:nvSpPr>
          <p:cNvPr id="8" name="Shape 5"/>
          <p:cNvSpPr/>
          <p:nvPr/>
        </p:nvSpPr>
        <p:spPr>
          <a:xfrm>
            <a:off x="1828800" y="4343400"/>
            <a:ext cx="5486400" cy="0"/>
          </a:xfrm>
          <a:prstGeom prst="line">
            <a:avLst/>
          </a:prstGeom>
          <a:noFill/>
          <a:ln w="6350">
            <a:solidFill>
              <a:srgbClr val="222222"/>
            </a:solidFill>
            <a:prstDash val="solid"/>
          </a:ln>
        </p:spPr>
      </p:sp>
      <p:sp>
        <p:nvSpPr>
          <p:cNvPr id="9" name="Text 6"/>
          <p:cNvSpPr/>
          <p:nvPr/>
        </p:nvSpPr>
        <p:spPr>
          <a:xfrm>
            <a:off x="914400" y="4434840"/>
            <a:ext cx="7315200" cy="274320"/>
          </a:xfrm>
          <a:prstGeom prst="rect">
            <a:avLst/>
          </a:prstGeom>
          <a:noFill/>
          <a:ln/>
        </p:spPr>
        <p:txBody>
          <a:bodyPr wrap="square" lIns="0" tIns="0" rIns="0" bIns="0" rtlCol="0" anchor="ctr"/>
          <a:lstStyle/>
          <a:p>
            <a:pPr marL="0" indent="0" algn="ctr">
              <a:buNone/>
            </a:pPr>
            <a:r>
              <a:rPr lang="en-US" sz="800" dirty="0">
                <a:solidFill>
                  <a:srgbClr val="555555"/>
                </a:solidFill>
                <a:latin typeface="Arial" pitchFamily="34" charset="0"/>
                <a:ea typeface="Arial" pitchFamily="34" charset="-122"/>
                <a:cs typeface="Arial" pitchFamily="34" charset="-120"/>
              </a:rPr>
              <a:t>cyberster.site   |   Blue Team Lead: Abdullah Zia   |   21 June 2026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1743</Words>
  <Application>Microsoft Office PowerPoint</Application>
  <PresentationFormat>On-screen Show (16:9)</PresentationFormat>
  <Paragraphs>241</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Arial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Cyberster Blue Team Internship - Week 1 Session</dc:title>
  <dc:subject>PptxGenJS Presentation</dc:subject>
  <dc:creator>PptxGenJS</dc:creator>
  <cp:lastModifiedBy>Abdullah Zia</cp:lastModifiedBy>
  <cp:revision>3</cp:revision>
  <dcterms:created xsi:type="dcterms:W3CDTF">2026-06-20T11:16:11Z</dcterms:created>
  <dcterms:modified xsi:type="dcterms:W3CDTF">2026-06-21T11:51:22Z</dcterms:modified>
</cp:coreProperties>
</file>