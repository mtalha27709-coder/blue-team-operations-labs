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8372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8FF"/>
          </a:solidFill>
          <a:ln/>
        </p:spPr>
      </p:sp>
      <p:sp>
        <p:nvSpPr>
          <p:cNvPr id="3" name="Shape 1"/>
          <p:cNvSpPr/>
          <p:nvPr/>
        </p:nvSpPr>
        <p:spPr>
          <a:xfrm>
            <a:off x="457200" y="0"/>
            <a:ext cx="9144" cy="5143500"/>
          </a:xfrm>
          <a:prstGeom prst="rect">
            <a:avLst/>
          </a:prstGeom>
          <a:solidFill>
            <a:srgbClr val="2A2A2A"/>
          </a:solidFill>
          <a:ln/>
        </p:spPr>
      </p:sp>
      <p:sp>
        <p:nvSpPr>
          <p:cNvPr id="4" name="Shape 2"/>
          <p:cNvSpPr/>
          <p:nvPr/>
        </p:nvSpPr>
        <p:spPr>
          <a:xfrm>
            <a:off x="1874520" y="0"/>
            <a:ext cx="9144" cy="5143500"/>
          </a:xfrm>
          <a:prstGeom prst="rect">
            <a:avLst/>
          </a:prstGeom>
          <a:solidFill>
            <a:srgbClr val="2A2A2A"/>
          </a:solidFill>
          <a:ln/>
        </p:spPr>
      </p:sp>
      <p:sp>
        <p:nvSpPr>
          <p:cNvPr id="5" name="Shape 3"/>
          <p:cNvSpPr/>
          <p:nvPr/>
        </p:nvSpPr>
        <p:spPr>
          <a:xfrm>
            <a:off x="3291840" y="0"/>
            <a:ext cx="9144" cy="5143500"/>
          </a:xfrm>
          <a:prstGeom prst="rect">
            <a:avLst/>
          </a:prstGeom>
          <a:solidFill>
            <a:srgbClr val="2A2A2A"/>
          </a:solidFill>
          <a:ln/>
        </p:spPr>
      </p:sp>
      <p:sp>
        <p:nvSpPr>
          <p:cNvPr id="6" name="Shape 4"/>
          <p:cNvSpPr/>
          <p:nvPr/>
        </p:nvSpPr>
        <p:spPr>
          <a:xfrm>
            <a:off x="4709160" y="0"/>
            <a:ext cx="9144" cy="5143500"/>
          </a:xfrm>
          <a:prstGeom prst="rect">
            <a:avLst/>
          </a:prstGeom>
          <a:solidFill>
            <a:srgbClr val="2A2A2A"/>
          </a:solidFill>
          <a:ln/>
        </p:spPr>
      </p:sp>
      <p:sp>
        <p:nvSpPr>
          <p:cNvPr id="7" name="Shape 5"/>
          <p:cNvSpPr/>
          <p:nvPr/>
        </p:nvSpPr>
        <p:spPr>
          <a:xfrm>
            <a:off x="6126480" y="0"/>
            <a:ext cx="9144" cy="5143500"/>
          </a:xfrm>
          <a:prstGeom prst="rect">
            <a:avLst/>
          </a:prstGeom>
          <a:solidFill>
            <a:srgbClr val="2A2A2A"/>
          </a:solidFill>
          <a:ln/>
        </p:spPr>
      </p:sp>
      <p:sp>
        <p:nvSpPr>
          <p:cNvPr id="8" name="Shape 6"/>
          <p:cNvSpPr/>
          <p:nvPr/>
        </p:nvSpPr>
        <p:spPr>
          <a:xfrm>
            <a:off x="7543800" y="0"/>
            <a:ext cx="9144" cy="5143500"/>
          </a:xfrm>
          <a:prstGeom prst="rect">
            <a:avLst/>
          </a:prstGeom>
          <a:solidFill>
            <a:srgbClr val="2A2A2A"/>
          </a:solidFill>
          <a:ln/>
        </p:spPr>
      </p:sp>
      <p:sp>
        <p:nvSpPr>
          <p:cNvPr id="9" name="Shape 7"/>
          <p:cNvSpPr/>
          <p:nvPr/>
        </p:nvSpPr>
        <p:spPr>
          <a:xfrm>
            <a:off x="457200" y="731520"/>
            <a:ext cx="8412480" cy="9144"/>
          </a:xfrm>
          <a:prstGeom prst="rect">
            <a:avLst/>
          </a:prstGeom>
          <a:solidFill>
            <a:srgbClr val="2A2A2A"/>
          </a:solidFill>
          <a:ln/>
        </p:spPr>
      </p:sp>
      <p:sp>
        <p:nvSpPr>
          <p:cNvPr id="10" name="Shape 8"/>
          <p:cNvSpPr/>
          <p:nvPr/>
        </p:nvSpPr>
        <p:spPr>
          <a:xfrm>
            <a:off x="457200" y="1645920"/>
            <a:ext cx="8412480" cy="9144"/>
          </a:xfrm>
          <a:prstGeom prst="rect">
            <a:avLst/>
          </a:prstGeom>
          <a:solidFill>
            <a:srgbClr val="2A2A2A"/>
          </a:solidFill>
          <a:ln/>
        </p:spPr>
      </p:sp>
      <p:sp>
        <p:nvSpPr>
          <p:cNvPr id="11" name="Shape 9"/>
          <p:cNvSpPr/>
          <p:nvPr/>
        </p:nvSpPr>
        <p:spPr>
          <a:xfrm>
            <a:off x="457200" y="2560320"/>
            <a:ext cx="8412480" cy="9144"/>
          </a:xfrm>
          <a:prstGeom prst="rect">
            <a:avLst/>
          </a:prstGeom>
          <a:solidFill>
            <a:srgbClr val="2A2A2A"/>
          </a:solidFill>
          <a:ln/>
        </p:spPr>
      </p:sp>
      <p:sp>
        <p:nvSpPr>
          <p:cNvPr id="12" name="Shape 10"/>
          <p:cNvSpPr/>
          <p:nvPr/>
        </p:nvSpPr>
        <p:spPr>
          <a:xfrm>
            <a:off x="457200" y="3474720"/>
            <a:ext cx="8412480" cy="9144"/>
          </a:xfrm>
          <a:prstGeom prst="rect">
            <a:avLst/>
          </a:prstGeom>
          <a:solidFill>
            <a:srgbClr val="2A2A2A"/>
          </a:solidFill>
          <a:ln/>
        </p:spPr>
      </p:sp>
      <p:sp>
        <p:nvSpPr>
          <p:cNvPr id="13" name="Shape 11"/>
          <p:cNvSpPr/>
          <p:nvPr/>
        </p:nvSpPr>
        <p:spPr>
          <a:xfrm>
            <a:off x="457200" y="4389120"/>
            <a:ext cx="8412480" cy="9144"/>
          </a:xfrm>
          <a:prstGeom prst="rect">
            <a:avLst/>
          </a:prstGeom>
          <a:solidFill>
            <a:srgbClr val="2A2A2A"/>
          </a:solidFill>
          <a:ln/>
        </p:spPr>
      </p:sp>
      <p:sp>
        <p:nvSpPr>
          <p:cNvPr id="14" name="Text 12"/>
          <p:cNvSpPr/>
          <p:nvPr/>
        </p:nvSpPr>
        <p:spPr>
          <a:xfrm>
            <a:off x="457200" y="502920"/>
            <a:ext cx="8229600" cy="256032"/>
          </a:xfrm>
          <a:prstGeom prst="rect">
            <a:avLst/>
          </a:prstGeom>
          <a:noFill/>
          <a:ln/>
        </p:spPr>
        <p:txBody>
          <a:bodyPr wrap="square" lIns="0" tIns="0" rIns="0" bIns="0" rtlCol="0" anchor="ctr"/>
          <a:lstStyle/>
          <a:p>
            <a:pPr marL="0" indent="0">
              <a:buNone/>
            </a:pPr>
            <a:r>
              <a:rPr lang="en-US" sz="1000" b="1" kern="0" spc="400" dirty="0">
                <a:solidFill>
                  <a:srgbClr val="00C8FF"/>
                </a:solidFill>
              </a:rPr>
              <a:t>CYBERSTER BLUE TEAM INTERNSHIP</a:t>
            </a:r>
            <a:endParaRPr lang="en-US" sz="1000" dirty="0"/>
          </a:p>
        </p:txBody>
      </p:sp>
      <p:sp>
        <p:nvSpPr>
          <p:cNvPr id="15" name="Text 13"/>
          <p:cNvSpPr/>
          <p:nvPr/>
        </p:nvSpPr>
        <p:spPr>
          <a:xfrm>
            <a:off x="457200" y="822960"/>
            <a:ext cx="822960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Week 2 Live Session</a:t>
            </a:r>
            <a:endParaRPr lang="en-US" sz="5200" dirty="0"/>
          </a:p>
        </p:txBody>
      </p:sp>
      <p:sp>
        <p:nvSpPr>
          <p:cNvPr id="16" name="Text 14"/>
          <p:cNvSpPr/>
          <p:nvPr/>
        </p:nvSpPr>
        <p:spPr>
          <a:xfrm>
            <a:off x="457200" y="1874520"/>
            <a:ext cx="8229600" cy="320040"/>
          </a:xfrm>
          <a:prstGeom prst="rect">
            <a:avLst/>
          </a:prstGeom>
          <a:noFill/>
          <a:ln/>
        </p:spPr>
        <p:txBody>
          <a:bodyPr wrap="square" lIns="0" tIns="0" rIns="0" bIns="0" rtlCol="0" anchor="ctr"/>
          <a:lstStyle/>
          <a:p>
            <a:pPr marL="0" indent="0">
              <a:buNone/>
            </a:pPr>
            <a:r>
              <a:rPr lang="en-US" sz="1400" i="1" dirty="0">
                <a:solidFill>
                  <a:srgbClr val="B0B0B0"/>
                </a:solidFill>
              </a:rPr>
              <a:t>Detection  ·  Custom Rules  ·  Log Analysis  ·  Active Response</a:t>
            </a:r>
            <a:endParaRPr lang="en-US" sz="1400" dirty="0"/>
          </a:p>
        </p:txBody>
      </p:sp>
      <p:sp>
        <p:nvSpPr>
          <p:cNvPr id="17" name="Shape 15"/>
          <p:cNvSpPr/>
          <p:nvPr/>
        </p:nvSpPr>
        <p:spPr>
          <a:xfrm>
            <a:off x="457200" y="2286000"/>
            <a:ext cx="8229600" cy="18288"/>
          </a:xfrm>
          <a:prstGeom prst="rect">
            <a:avLst/>
          </a:prstGeom>
          <a:solidFill>
            <a:srgbClr val="3A3A3A"/>
          </a:solidFill>
          <a:ln/>
        </p:spPr>
      </p:sp>
      <p:sp>
        <p:nvSpPr>
          <p:cNvPr id="18" name="Shape 16"/>
          <p:cNvSpPr/>
          <p:nvPr/>
        </p:nvSpPr>
        <p:spPr>
          <a:xfrm>
            <a:off x="457200" y="2423160"/>
            <a:ext cx="2560320" cy="822960"/>
          </a:xfrm>
          <a:prstGeom prst="roundRect">
            <a:avLst>
              <a:gd name="adj" fmla="val 8889"/>
            </a:avLst>
          </a:prstGeom>
          <a:solidFill>
            <a:srgbClr val="1A1A1A"/>
          </a:solidFill>
          <a:ln w="6350">
            <a:solidFill>
              <a:srgbClr val="2A2A2A"/>
            </a:solidFill>
            <a:prstDash val="solid"/>
          </a:ln>
          <a:effectLst>
            <a:outerShdw blurRad="76200" dist="25400" dir="2700000" algn="bl" rotWithShape="0">
              <a:srgbClr val="000000">
                <a:alpha val="30000"/>
              </a:srgbClr>
            </a:outerShdw>
          </a:effectLst>
        </p:spPr>
      </p:sp>
      <p:sp>
        <p:nvSpPr>
          <p:cNvPr id="19" name="Text 17"/>
          <p:cNvSpPr/>
          <p:nvPr/>
        </p:nvSpPr>
        <p:spPr>
          <a:xfrm>
            <a:off x="621792" y="2487168"/>
            <a:ext cx="2286000" cy="182880"/>
          </a:xfrm>
          <a:prstGeom prst="rect">
            <a:avLst/>
          </a:prstGeom>
          <a:noFill/>
          <a:ln/>
        </p:spPr>
        <p:txBody>
          <a:bodyPr wrap="square" lIns="0" tIns="0" rIns="0" bIns="0" rtlCol="0" anchor="ctr"/>
          <a:lstStyle/>
          <a:p>
            <a:pPr marL="0" indent="0">
              <a:buNone/>
            </a:pPr>
            <a:r>
              <a:rPr lang="en-US" sz="700" b="1" kern="0" spc="200" dirty="0">
                <a:solidFill>
                  <a:srgbClr val="00C8FF"/>
                </a:solidFill>
              </a:rPr>
              <a:t>SESSION</a:t>
            </a:r>
            <a:endParaRPr lang="en-US" sz="700" dirty="0"/>
          </a:p>
        </p:txBody>
      </p:sp>
      <p:sp>
        <p:nvSpPr>
          <p:cNvPr id="20" name="Text 18"/>
          <p:cNvSpPr/>
          <p:nvPr/>
        </p:nvSpPr>
        <p:spPr>
          <a:xfrm>
            <a:off x="621792" y="2706624"/>
            <a:ext cx="2286000" cy="256032"/>
          </a:xfrm>
          <a:prstGeom prst="rect">
            <a:avLst/>
          </a:prstGeom>
          <a:noFill/>
          <a:ln/>
        </p:spPr>
        <p:txBody>
          <a:bodyPr wrap="square" lIns="0" tIns="0" rIns="0" bIns="0" rtlCol="0" anchor="ctr"/>
          <a:lstStyle/>
          <a:p>
            <a:pPr marL="0" indent="0">
              <a:buNone/>
            </a:pPr>
            <a:r>
              <a:rPr lang="en-US" sz="1100" b="1" dirty="0">
                <a:solidFill>
                  <a:srgbClr val="FFFFFF"/>
                </a:solidFill>
              </a:rPr>
              <a:t>Live Session</a:t>
            </a:r>
            <a:endParaRPr lang="en-US" sz="1100" dirty="0"/>
          </a:p>
        </p:txBody>
      </p:sp>
      <p:sp>
        <p:nvSpPr>
          <p:cNvPr id="21" name="Shape 19"/>
          <p:cNvSpPr/>
          <p:nvPr/>
        </p:nvSpPr>
        <p:spPr>
          <a:xfrm>
            <a:off x="3246120" y="2423160"/>
            <a:ext cx="2560320" cy="822960"/>
          </a:xfrm>
          <a:prstGeom prst="roundRect">
            <a:avLst>
              <a:gd name="adj" fmla="val 8889"/>
            </a:avLst>
          </a:prstGeom>
          <a:solidFill>
            <a:srgbClr val="1A1A1A"/>
          </a:solidFill>
          <a:ln w="6350">
            <a:solidFill>
              <a:srgbClr val="2A2A2A"/>
            </a:solidFill>
            <a:prstDash val="solid"/>
          </a:ln>
          <a:effectLst>
            <a:outerShdw blurRad="76200" dist="25400" dir="2700000" algn="bl" rotWithShape="0">
              <a:srgbClr val="000000">
                <a:alpha val="30000"/>
              </a:srgbClr>
            </a:outerShdw>
          </a:effectLst>
        </p:spPr>
      </p:sp>
      <p:sp>
        <p:nvSpPr>
          <p:cNvPr id="22" name="Text 20"/>
          <p:cNvSpPr/>
          <p:nvPr/>
        </p:nvSpPr>
        <p:spPr>
          <a:xfrm>
            <a:off x="3410712" y="2487168"/>
            <a:ext cx="2286000" cy="182880"/>
          </a:xfrm>
          <a:prstGeom prst="rect">
            <a:avLst/>
          </a:prstGeom>
          <a:noFill/>
          <a:ln/>
        </p:spPr>
        <p:txBody>
          <a:bodyPr wrap="square" lIns="0" tIns="0" rIns="0" bIns="0" rtlCol="0" anchor="ctr"/>
          <a:lstStyle/>
          <a:p>
            <a:pPr marL="0" indent="0">
              <a:buNone/>
            </a:pPr>
            <a:r>
              <a:rPr lang="en-US" sz="700" b="1" kern="0" spc="200" dirty="0">
                <a:solidFill>
                  <a:srgbClr val="00C8FF"/>
                </a:solidFill>
              </a:rPr>
              <a:t>PHASE</a:t>
            </a:r>
            <a:endParaRPr lang="en-US" sz="700" dirty="0"/>
          </a:p>
        </p:txBody>
      </p:sp>
      <p:sp>
        <p:nvSpPr>
          <p:cNvPr id="23" name="Text 21"/>
          <p:cNvSpPr/>
          <p:nvPr/>
        </p:nvSpPr>
        <p:spPr>
          <a:xfrm>
            <a:off x="3410712" y="2706624"/>
            <a:ext cx="2286000" cy="256032"/>
          </a:xfrm>
          <a:prstGeom prst="rect">
            <a:avLst/>
          </a:prstGeom>
          <a:noFill/>
          <a:ln/>
        </p:spPr>
        <p:txBody>
          <a:bodyPr wrap="square" lIns="0" tIns="0" rIns="0" bIns="0" rtlCol="0" anchor="ctr"/>
          <a:lstStyle/>
          <a:p>
            <a:pPr marL="0" indent="0">
              <a:buNone/>
            </a:pPr>
            <a:r>
              <a:rPr lang="en-US" sz="1100" b="1" dirty="0">
                <a:solidFill>
                  <a:srgbClr val="FFFFFF"/>
                </a:solidFill>
              </a:rPr>
              <a:t>Phase One  ·  Week 2</a:t>
            </a:r>
            <a:endParaRPr lang="en-US" sz="1100" dirty="0"/>
          </a:p>
        </p:txBody>
      </p:sp>
      <p:sp>
        <p:nvSpPr>
          <p:cNvPr id="24" name="Shape 22"/>
          <p:cNvSpPr/>
          <p:nvPr/>
        </p:nvSpPr>
        <p:spPr>
          <a:xfrm>
            <a:off x="6035040" y="2423160"/>
            <a:ext cx="2560320" cy="822960"/>
          </a:xfrm>
          <a:prstGeom prst="roundRect">
            <a:avLst>
              <a:gd name="adj" fmla="val 8889"/>
            </a:avLst>
          </a:prstGeom>
          <a:solidFill>
            <a:srgbClr val="1A1A1A"/>
          </a:solidFill>
          <a:ln w="6350">
            <a:solidFill>
              <a:srgbClr val="2A2A2A"/>
            </a:solidFill>
            <a:prstDash val="solid"/>
          </a:ln>
          <a:effectLst>
            <a:outerShdw blurRad="76200" dist="25400" dir="2700000" algn="bl" rotWithShape="0">
              <a:srgbClr val="000000">
                <a:alpha val="30000"/>
              </a:srgbClr>
            </a:outerShdw>
          </a:effectLst>
        </p:spPr>
      </p:sp>
      <p:sp>
        <p:nvSpPr>
          <p:cNvPr id="25" name="Text 23"/>
          <p:cNvSpPr/>
          <p:nvPr/>
        </p:nvSpPr>
        <p:spPr>
          <a:xfrm>
            <a:off x="6199632" y="2487168"/>
            <a:ext cx="2286000" cy="182880"/>
          </a:xfrm>
          <a:prstGeom prst="rect">
            <a:avLst/>
          </a:prstGeom>
          <a:noFill/>
          <a:ln/>
        </p:spPr>
        <p:txBody>
          <a:bodyPr wrap="square" lIns="0" tIns="0" rIns="0" bIns="0" rtlCol="0" anchor="ctr"/>
          <a:lstStyle/>
          <a:p>
            <a:pPr marL="0" indent="0">
              <a:buNone/>
            </a:pPr>
            <a:r>
              <a:rPr lang="en-US" sz="700" b="1" kern="0" spc="200" dirty="0">
                <a:solidFill>
                  <a:srgbClr val="00C8FF"/>
                </a:solidFill>
              </a:rPr>
              <a:t>DURATION</a:t>
            </a:r>
            <a:endParaRPr lang="en-US" sz="700" dirty="0"/>
          </a:p>
        </p:txBody>
      </p:sp>
      <p:sp>
        <p:nvSpPr>
          <p:cNvPr id="26" name="Text 24"/>
          <p:cNvSpPr/>
          <p:nvPr/>
        </p:nvSpPr>
        <p:spPr>
          <a:xfrm>
            <a:off x="6199632" y="2706624"/>
            <a:ext cx="2286000" cy="256032"/>
          </a:xfrm>
          <a:prstGeom prst="rect">
            <a:avLst/>
          </a:prstGeom>
          <a:noFill/>
          <a:ln/>
        </p:spPr>
        <p:txBody>
          <a:bodyPr wrap="square" lIns="0" tIns="0" rIns="0" bIns="0" rtlCol="0" anchor="ctr"/>
          <a:lstStyle/>
          <a:p>
            <a:pPr marL="0" indent="0">
              <a:buNone/>
            </a:pPr>
            <a:r>
              <a:rPr lang="en-US" sz="1100" b="1" dirty="0">
                <a:solidFill>
                  <a:srgbClr val="FFFFFF"/>
                </a:solidFill>
              </a:rPr>
              <a:t>60 Minutes</a:t>
            </a:r>
            <a:endParaRPr lang="en-US" sz="1100" dirty="0"/>
          </a:p>
        </p:txBody>
      </p:sp>
      <p:sp>
        <p:nvSpPr>
          <p:cNvPr id="27" name="Text 25"/>
          <p:cNvSpPr/>
          <p:nvPr/>
        </p:nvSpPr>
        <p:spPr>
          <a:xfrm>
            <a:off x="457200" y="3474720"/>
            <a:ext cx="8229600" cy="256032"/>
          </a:xfrm>
          <a:prstGeom prst="rect">
            <a:avLst/>
          </a:prstGeom>
          <a:noFill/>
          <a:ln/>
        </p:spPr>
        <p:txBody>
          <a:bodyPr wrap="square" lIns="0" tIns="0" rIns="0" bIns="0" rtlCol="0" anchor="ctr"/>
          <a:lstStyle/>
          <a:p>
            <a:pPr marL="0" indent="0">
              <a:buNone/>
            </a:pPr>
            <a:r>
              <a:rPr lang="en-US" sz="1200" dirty="0">
                <a:solidFill>
                  <a:srgbClr val="707070"/>
                </a:solidFill>
              </a:rPr>
              <a:t>Instructor: Abdullah Zia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CONCEPT  ·  FIM</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WHAT IS FILE INTEGRITY MONITORING?</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detection layer that watches your file system</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65760" y="1097280"/>
            <a:ext cx="4892040" cy="3474720"/>
          </a:xfrm>
          <a:prstGeom prst="roundRect">
            <a:avLst>
              <a:gd name="adj" fmla="val 2105"/>
            </a:avLst>
          </a:prstGeom>
          <a:solidFill>
            <a:srgbClr val="1A1A1A"/>
          </a:solidFill>
          <a:ln w="6350">
            <a:solidFill>
              <a:srgbClr val="2A2A2A"/>
            </a:solidFill>
            <a:prstDash val="solid"/>
          </a:ln>
          <a:effectLst>
            <a:outerShdw blurRad="76200" dist="25400" dir="2700000" algn="bl" rotWithShape="0">
              <a:srgbClr val="000000">
                <a:alpha val="30000"/>
              </a:srgbClr>
            </a:outerShdw>
          </a:effectLst>
        </p:spPr>
      </p:sp>
      <p:sp>
        <p:nvSpPr>
          <p:cNvPr id="9" name="Text 7"/>
          <p:cNvSpPr/>
          <p:nvPr/>
        </p:nvSpPr>
        <p:spPr>
          <a:xfrm>
            <a:off x="594360" y="1234440"/>
            <a:ext cx="4389120" cy="228600"/>
          </a:xfrm>
          <a:prstGeom prst="rect">
            <a:avLst/>
          </a:prstGeom>
          <a:noFill/>
          <a:ln/>
        </p:spPr>
        <p:txBody>
          <a:bodyPr wrap="square" lIns="0" tIns="0" rIns="0" bIns="0" rtlCol="0" anchor="ctr"/>
          <a:lstStyle/>
          <a:p>
            <a:pPr marL="0" indent="0">
              <a:buNone/>
            </a:pPr>
            <a:r>
              <a:rPr lang="en-US" sz="1200" b="1" kern="0" spc="100" dirty="0">
                <a:solidFill>
                  <a:srgbClr val="00C8FF"/>
                </a:solidFill>
              </a:rPr>
              <a:t>The core idea</a:t>
            </a:r>
            <a:endParaRPr lang="en-US" sz="1200" dirty="0"/>
          </a:p>
        </p:txBody>
      </p:sp>
      <p:sp>
        <p:nvSpPr>
          <p:cNvPr id="10" name="Text 8"/>
          <p:cNvSpPr/>
          <p:nvPr/>
        </p:nvSpPr>
        <p:spPr>
          <a:xfrm>
            <a:off x="594360" y="1508760"/>
            <a:ext cx="4434840" cy="2011680"/>
          </a:xfrm>
          <a:prstGeom prst="rect">
            <a:avLst/>
          </a:prstGeom>
          <a:noFill/>
          <a:ln/>
        </p:spPr>
        <p:txBody>
          <a:bodyPr wrap="square" lIns="0" tIns="0" rIns="0" bIns="0" rtlCol="0" anchor="ctr"/>
          <a:lstStyle/>
          <a:p>
            <a:pPr marL="0" indent="0">
              <a:spcAft>
                <a:spcPts val="600"/>
              </a:spcAft>
              <a:buNone/>
            </a:pPr>
            <a:r>
              <a:rPr lang="en-US" sz="1200" dirty="0">
                <a:solidFill>
                  <a:srgbClr val="B0B0B0"/>
                </a:solidFill>
              </a:rPr>
              <a:t>FIM watches files and directories and alerts you the moment anything changes. A file added. Modified. Deleted. You see who did it, what changed, and exactly when.</a:t>
            </a:r>
            <a:endParaRPr lang="en-US" sz="1200" dirty="0"/>
          </a:p>
          <a:p>
            <a:pPr marL="0" indent="0">
              <a:spcAft>
                <a:spcPts val="600"/>
              </a:spcAft>
              <a:buNone/>
            </a:pPr>
            <a:endParaRPr lang="en-US" sz="1200" dirty="0"/>
          </a:p>
          <a:p>
            <a:pPr marL="0" indent="0">
              <a:spcAft>
                <a:spcPts val="600"/>
              </a:spcAft>
              <a:buNone/>
            </a:pPr>
            <a:r>
              <a:rPr lang="en-US" sz="1200" dirty="0">
                <a:solidFill>
                  <a:srgbClr val="B0B0B0"/>
                </a:solidFill>
              </a:rPr>
              <a:t>Most attackers leave file system traces. Adding backdoors, modifying configs, replacing binaries. FIM is the control that catches those actions.</a:t>
            </a:r>
            <a:endParaRPr lang="en-US" sz="1200" dirty="0"/>
          </a:p>
          <a:p>
            <a:pPr marL="0" indent="0">
              <a:spcAft>
                <a:spcPts val="600"/>
              </a:spcAft>
              <a:buNone/>
            </a:pPr>
            <a:endParaRPr lang="en-US" sz="1200" dirty="0"/>
          </a:p>
          <a:p>
            <a:pPr marL="0" indent="0">
              <a:spcAft>
                <a:spcPts val="600"/>
              </a:spcAft>
              <a:buNone/>
            </a:pPr>
            <a:r>
              <a:rPr lang="en-US" sz="1200" dirty="0">
                <a:solidFill>
                  <a:srgbClr val="B0B0B0"/>
                </a:solidFill>
              </a:rPr>
              <a:t>In Wazuh, FIM is handled by the syscheck module inside ossec.conf.</a:t>
            </a:r>
            <a:endParaRPr lang="en-US" sz="1200" dirty="0"/>
          </a:p>
        </p:txBody>
      </p:sp>
      <p:sp>
        <p:nvSpPr>
          <p:cNvPr id="11" name="Shape 9"/>
          <p:cNvSpPr/>
          <p:nvPr/>
        </p:nvSpPr>
        <p:spPr>
          <a:xfrm>
            <a:off x="5394960" y="1097280"/>
            <a:ext cx="3383280" cy="3474720"/>
          </a:xfrm>
          <a:prstGeom prst="roundRect">
            <a:avLst>
              <a:gd name="adj" fmla="val 2162"/>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12" name="Text 10"/>
          <p:cNvSpPr/>
          <p:nvPr/>
        </p:nvSpPr>
        <p:spPr>
          <a:xfrm>
            <a:off x="5577840" y="1234440"/>
            <a:ext cx="3017520" cy="274320"/>
          </a:xfrm>
          <a:prstGeom prst="rect">
            <a:avLst/>
          </a:prstGeom>
          <a:noFill/>
          <a:ln/>
        </p:spPr>
        <p:txBody>
          <a:bodyPr wrap="square" lIns="0" tIns="0" rIns="0" bIns="0" rtlCol="0" anchor="ctr"/>
          <a:lstStyle/>
          <a:p>
            <a:pPr marL="0" indent="0">
              <a:buNone/>
            </a:pPr>
            <a:r>
              <a:rPr lang="en-US" sz="1200" b="1" kern="0" spc="100" dirty="0">
                <a:solidFill>
                  <a:srgbClr val="00C8FF"/>
                </a:solidFill>
              </a:rPr>
              <a:t>What FIM catches in real environments</a:t>
            </a:r>
            <a:endParaRPr lang="en-US" sz="1200" dirty="0"/>
          </a:p>
        </p:txBody>
      </p:sp>
      <p:sp>
        <p:nvSpPr>
          <p:cNvPr id="13" name="Shape 11"/>
          <p:cNvSpPr/>
          <p:nvPr/>
        </p:nvSpPr>
        <p:spPr>
          <a:xfrm>
            <a:off x="5577840" y="1600200"/>
            <a:ext cx="54864" cy="201168"/>
          </a:xfrm>
          <a:prstGeom prst="rect">
            <a:avLst/>
          </a:prstGeom>
          <a:solidFill>
            <a:srgbClr val="00C8FF"/>
          </a:solidFill>
          <a:ln/>
        </p:spPr>
      </p:sp>
      <p:sp>
        <p:nvSpPr>
          <p:cNvPr id="14" name="Text 12"/>
          <p:cNvSpPr/>
          <p:nvPr/>
        </p:nvSpPr>
        <p:spPr>
          <a:xfrm>
            <a:off x="5724144" y="1600200"/>
            <a:ext cx="2834640" cy="201168"/>
          </a:xfrm>
          <a:prstGeom prst="rect">
            <a:avLst/>
          </a:prstGeom>
          <a:noFill/>
          <a:ln/>
        </p:spPr>
        <p:txBody>
          <a:bodyPr wrap="square" lIns="0" tIns="0" rIns="0" bIns="0" rtlCol="0" anchor="ctr"/>
          <a:lstStyle/>
          <a:p>
            <a:pPr marL="0" indent="0">
              <a:buNone/>
            </a:pPr>
            <a:r>
              <a:rPr lang="en-US" sz="1100" dirty="0">
                <a:solidFill>
                  <a:srgbClr val="B0B0B0"/>
                </a:solidFill>
              </a:rPr>
              <a:t>SSH key added to ~/.ssh/authorized_keys</a:t>
            </a:r>
            <a:endParaRPr lang="en-US" sz="1100" dirty="0"/>
          </a:p>
        </p:txBody>
      </p:sp>
      <p:sp>
        <p:nvSpPr>
          <p:cNvPr id="15" name="Shape 13"/>
          <p:cNvSpPr/>
          <p:nvPr/>
        </p:nvSpPr>
        <p:spPr>
          <a:xfrm>
            <a:off x="5577840" y="2057400"/>
            <a:ext cx="54864" cy="201168"/>
          </a:xfrm>
          <a:prstGeom prst="rect">
            <a:avLst/>
          </a:prstGeom>
          <a:solidFill>
            <a:srgbClr val="00C8FF"/>
          </a:solidFill>
          <a:ln/>
        </p:spPr>
      </p:sp>
      <p:sp>
        <p:nvSpPr>
          <p:cNvPr id="16" name="Text 14"/>
          <p:cNvSpPr/>
          <p:nvPr/>
        </p:nvSpPr>
        <p:spPr>
          <a:xfrm>
            <a:off x="5724144" y="2057400"/>
            <a:ext cx="2834640" cy="201168"/>
          </a:xfrm>
          <a:prstGeom prst="rect">
            <a:avLst/>
          </a:prstGeom>
          <a:noFill/>
          <a:ln/>
        </p:spPr>
        <p:txBody>
          <a:bodyPr wrap="square" lIns="0" tIns="0" rIns="0" bIns="0" rtlCol="0" anchor="ctr"/>
          <a:lstStyle/>
          <a:p>
            <a:pPr marL="0" indent="0">
              <a:buNone/>
            </a:pPr>
            <a:r>
              <a:rPr lang="en-US" sz="1100" dirty="0">
                <a:solidFill>
                  <a:srgbClr val="B0B0B0"/>
                </a:solidFill>
              </a:rPr>
              <a:t>sudoers file modified to grant root access</a:t>
            </a:r>
            <a:endParaRPr lang="en-US" sz="1100" dirty="0"/>
          </a:p>
        </p:txBody>
      </p:sp>
      <p:sp>
        <p:nvSpPr>
          <p:cNvPr id="17" name="Shape 15"/>
          <p:cNvSpPr/>
          <p:nvPr/>
        </p:nvSpPr>
        <p:spPr>
          <a:xfrm>
            <a:off x="5577840" y="2514600"/>
            <a:ext cx="54864" cy="201168"/>
          </a:xfrm>
          <a:prstGeom prst="rect">
            <a:avLst/>
          </a:prstGeom>
          <a:solidFill>
            <a:srgbClr val="00C8FF"/>
          </a:solidFill>
          <a:ln/>
        </p:spPr>
      </p:sp>
      <p:sp>
        <p:nvSpPr>
          <p:cNvPr id="18" name="Text 16"/>
          <p:cNvSpPr/>
          <p:nvPr/>
        </p:nvSpPr>
        <p:spPr>
          <a:xfrm>
            <a:off x="5724144" y="2514600"/>
            <a:ext cx="2834640" cy="201168"/>
          </a:xfrm>
          <a:prstGeom prst="rect">
            <a:avLst/>
          </a:prstGeom>
          <a:noFill/>
          <a:ln/>
        </p:spPr>
        <p:txBody>
          <a:bodyPr wrap="square" lIns="0" tIns="0" rIns="0" bIns="0" rtlCol="0" anchor="ctr"/>
          <a:lstStyle/>
          <a:p>
            <a:pPr marL="0" indent="0">
              <a:buNone/>
            </a:pPr>
            <a:r>
              <a:rPr lang="en-US" sz="1100" dirty="0">
                <a:solidFill>
                  <a:srgbClr val="B0B0B0"/>
                </a:solidFill>
              </a:rPr>
              <a:t>Cron job planted in /etc/cron.d</a:t>
            </a:r>
            <a:endParaRPr lang="en-US" sz="1100" dirty="0"/>
          </a:p>
        </p:txBody>
      </p:sp>
      <p:sp>
        <p:nvSpPr>
          <p:cNvPr id="19" name="Shape 17"/>
          <p:cNvSpPr/>
          <p:nvPr/>
        </p:nvSpPr>
        <p:spPr>
          <a:xfrm>
            <a:off x="5577840" y="2971800"/>
            <a:ext cx="54864" cy="201168"/>
          </a:xfrm>
          <a:prstGeom prst="rect">
            <a:avLst/>
          </a:prstGeom>
          <a:solidFill>
            <a:srgbClr val="00C8FF"/>
          </a:solidFill>
          <a:ln/>
        </p:spPr>
      </p:sp>
      <p:sp>
        <p:nvSpPr>
          <p:cNvPr id="20" name="Text 18"/>
          <p:cNvSpPr/>
          <p:nvPr/>
        </p:nvSpPr>
        <p:spPr>
          <a:xfrm>
            <a:off x="5724144" y="2971800"/>
            <a:ext cx="2834640" cy="201168"/>
          </a:xfrm>
          <a:prstGeom prst="rect">
            <a:avLst/>
          </a:prstGeom>
          <a:noFill/>
          <a:ln/>
        </p:spPr>
        <p:txBody>
          <a:bodyPr wrap="square" lIns="0" tIns="0" rIns="0" bIns="0" rtlCol="0" anchor="ctr"/>
          <a:lstStyle/>
          <a:p>
            <a:pPr marL="0" indent="0">
              <a:buNone/>
            </a:pPr>
            <a:r>
              <a:rPr lang="en-US" sz="1100" dirty="0">
                <a:solidFill>
                  <a:srgbClr val="B0B0B0"/>
                </a:solidFill>
              </a:rPr>
              <a:t>Malware binary dropped into /tmp</a:t>
            </a:r>
            <a:endParaRPr lang="en-US" sz="1100" dirty="0"/>
          </a:p>
        </p:txBody>
      </p:sp>
      <p:sp>
        <p:nvSpPr>
          <p:cNvPr id="21" name="Shape 19"/>
          <p:cNvSpPr/>
          <p:nvPr/>
        </p:nvSpPr>
        <p:spPr>
          <a:xfrm>
            <a:off x="5577840" y="3429000"/>
            <a:ext cx="54864" cy="201168"/>
          </a:xfrm>
          <a:prstGeom prst="rect">
            <a:avLst/>
          </a:prstGeom>
          <a:solidFill>
            <a:srgbClr val="00C8FF"/>
          </a:solidFill>
          <a:ln/>
        </p:spPr>
      </p:sp>
      <p:sp>
        <p:nvSpPr>
          <p:cNvPr id="22" name="Text 20"/>
          <p:cNvSpPr/>
          <p:nvPr/>
        </p:nvSpPr>
        <p:spPr>
          <a:xfrm>
            <a:off x="5724144" y="3429000"/>
            <a:ext cx="2834640" cy="201168"/>
          </a:xfrm>
          <a:prstGeom prst="rect">
            <a:avLst/>
          </a:prstGeom>
          <a:noFill/>
          <a:ln/>
        </p:spPr>
        <p:txBody>
          <a:bodyPr wrap="square" lIns="0" tIns="0" rIns="0" bIns="0" rtlCol="0" anchor="ctr"/>
          <a:lstStyle/>
          <a:p>
            <a:pPr marL="0" indent="0">
              <a:buNone/>
            </a:pPr>
            <a:r>
              <a:rPr lang="en-US" sz="1100" dirty="0">
                <a:solidFill>
                  <a:srgbClr val="B0B0B0"/>
                </a:solidFill>
              </a:rPr>
              <a:t>Windows System32 DLL silently replaced</a:t>
            </a:r>
            <a:endParaRPr lang="en-US" sz="1100" dirty="0"/>
          </a:p>
        </p:txBody>
      </p:sp>
      <p:sp>
        <p:nvSpPr>
          <p:cNvPr id="23" name="Shape 21"/>
          <p:cNvSpPr/>
          <p:nvPr/>
        </p:nvSpPr>
        <p:spPr>
          <a:xfrm>
            <a:off x="5577840" y="3886200"/>
            <a:ext cx="54864" cy="201168"/>
          </a:xfrm>
          <a:prstGeom prst="rect">
            <a:avLst/>
          </a:prstGeom>
          <a:solidFill>
            <a:srgbClr val="00C8FF"/>
          </a:solidFill>
          <a:ln/>
        </p:spPr>
      </p:sp>
      <p:sp>
        <p:nvSpPr>
          <p:cNvPr id="24" name="Text 22"/>
          <p:cNvSpPr/>
          <p:nvPr/>
        </p:nvSpPr>
        <p:spPr>
          <a:xfrm>
            <a:off x="5724144" y="3886200"/>
            <a:ext cx="2834640" cy="201168"/>
          </a:xfrm>
          <a:prstGeom prst="rect">
            <a:avLst/>
          </a:prstGeom>
          <a:noFill/>
          <a:ln/>
        </p:spPr>
        <p:txBody>
          <a:bodyPr wrap="square" lIns="0" tIns="0" rIns="0" bIns="0" rtlCol="0" anchor="ctr"/>
          <a:lstStyle/>
          <a:p>
            <a:pPr marL="0" indent="0">
              <a:buNone/>
            </a:pPr>
            <a:r>
              <a:rPr lang="en-US" sz="1100" dirty="0">
                <a:solidFill>
                  <a:srgbClr val="B0B0B0"/>
                </a:solidFill>
              </a:rPr>
              <a:t>Web shell written into a web root directory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DEEP DIVE  ·  SYSCHECK</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HOW WAZUH SYSCHECK WORKS</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Configuration, flow, and what to set</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1609344" cy="2423160"/>
          </a:xfrm>
          <a:prstGeom prst="roundRect">
            <a:avLst>
              <a:gd name="adj" fmla="val 4545"/>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9" name="Shape 7"/>
          <p:cNvSpPr/>
          <p:nvPr/>
        </p:nvSpPr>
        <p:spPr>
          <a:xfrm>
            <a:off x="868680" y="1207008"/>
            <a:ext cx="512064" cy="512064"/>
          </a:xfrm>
          <a:prstGeom prst="roundRect">
            <a:avLst>
              <a:gd name="adj" fmla="val 50000"/>
            </a:avLst>
          </a:prstGeom>
          <a:solidFill>
            <a:srgbClr val="00C8FF"/>
          </a:solidFill>
          <a:ln w="12700">
            <a:solidFill>
              <a:srgbClr val="00C8FF"/>
            </a:solidFill>
            <a:prstDash val="solid"/>
          </a:ln>
        </p:spPr>
      </p:sp>
      <p:sp>
        <p:nvSpPr>
          <p:cNvPr id="10" name="Text 8"/>
          <p:cNvSpPr/>
          <p:nvPr/>
        </p:nvSpPr>
        <p:spPr>
          <a:xfrm>
            <a:off x="868680" y="1207008"/>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1</a:t>
            </a:r>
            <a:endParaRPr lang="en-US" sz="1600" dirty="0"/>
          </a:p>
        </p:txBody>
      </p:sp>
      <p:sp>
        <p:nvSpPr>
          <p:cNvPr id="11" name="Text 9"/>
          <p:cNvSpPr/>
          <p:nvPr/>
        </p:nvSpPr>
        <p:spPr>
          <a:xfrm>
            <a:off x="411480" y="1828800"/>
            <a:ext cx="1426464" cy="274320"/>
          </a:xfrm>
          <a:prstGeom prst="rect">
            <a:avLst/>
          </a:prstGeom>
          <a:noFill/>
          <a:ln/>
        </p:spPr>
        <p:txBody>
          <a:bodyPr wrap="square" lIns="0" tIns="0" rIns="0" bIns="0" rtlCol="0" anchor="ctr"/>
          <a:lstStyle/>
          <a:p>
            <a:pPr marL="0" indent="0" algn="ctr">
              <a:buNone/>
            </a:pPr>
            <a:r>
              <a:rPr lang="en-US" sz="1050" b="1" dirty="0">
                <a:solidFill>
                  <a:srgbClr val="FFFFFF"/>
                </a:solidFill>
              </a:rPr>
              <a:t>Configure</a:t>
            </a:r>
            <a:endParaRPr lang="en-US" sz="1050" dirty="0"/>
          </a:p>
        </p:txBody>
      </p:sp>
      <p:sp>
        <p:nvSpPr>
          <p:cNvPr id="12" name="Text 10"/>
          <p:cNvSpPr/>
          <p:nvPr/>
        </p:nvSpPr>
        <p:spPr>
          <a:xfrm>
            <a:off x="429768" y="2148840"/>
            <a:ext cx="1389888" cy="1234440"/>
          </a:xfrm>
          <a:prstGeom prst="rect">
            <a:avLst/>
          </a:prstGeom>
          <a:noFill/>
          <a:ln/>
        </p:spPr>
        <p:txBody>
          <a:bodyPr wrap="square" lIns="0" tIns="0" rIns="0" bIns="0" rtlCol="0" anchor="ctr"/>
          <a:lstStyle/>
          <a:p>
            <a:pPr marL="0" indent="0" algn="ctr">
              <a:buNone/>
            </a:pPr>
            <a:r>
              <a:rPr lang="en-US" sz="1200" dirty="0">
                <a:solidFill>
                  <a:srgbClr val="B0B0B0"/>
                </a:solidFill>
              </a:rPr>
              <a:t>Add directories in ossec.conf with realtime=yes and report_changes=yes</a:t>
            </a:r>
            <a:endParaRPr lang="en-US" sz="1200" dirty="0"/>
          </a:p>
        </p:txBody>
      </p:sp>
      <p:sp>
        <p:nvSpPr>
          <p:cNvPr id="13" name="Text 11"/>
          <p:cNvSpPr/>
          <p:nvPr/>
        </p:nvSpPr>
        <p:spPr>
          <a:xfrm>
            <a:off x="1938528" y="1920240"/>
            <a:ext cx="109728" cy="274320"/>
          </a:xfrm>
          <a:prstGeom prst="rect">
            <a:avLst/>
          </a:prstGeom>
          <a:noFill/>
          <a:ln/>
        </p:spPr>
        <p:txBody>
          <a:bodyPr wrap="square" lIns="0" tIns="0" rIns="0" bIns="0" rtlCol="0" anchor="ctr"/>
          <a:lstStyle/>
          <a:p>
            <a:pPr marL="0" indent="0" algn="ctr">
              <a:buNone/>
            </a:pPr>
            <a:r>
              <a:rPr lang="en-US" sz="1300" dirty="0">
                <a:solidFill>
                  <a:srgbClr val="007A9E"/>
                </a:solidFill>
              </a:rPr>
              <a:t>→</a:t>
            </a:r>
            <a:endParaRPr lang="en-US" sz="1300" dirty="0"/>
          </a:p>
        </p:txBody>
      </p:sp>
      <p:sp>
        <p:nvSpPr>
          <p:cNvPr id="14" name="Shape 12"/>
          <p:cNvSpPr/>
          <p:nvPr/>
        </p:nvSpPr>
        <p:spPr>
          <a:xfrm>
            <a:off x="2020824" y="1115568"/>
            <a:ext cx="1609344" cy="2423160"/>
          </a:xfrm>
          <a:prstGeom prst="roundRect">
            <a:avLst>
              <a:gd name="adj" fmla="val 4545"/>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15" name="Shape 13"/>
          <p:cNvSpPr/>
          <p:nvPr/>
        </p:nvSpPr>
        <p:spPr>
          <a:xfrm>
            <a:off x="2569464" y="1207008"/>
            <a:ext cx="512064" cy="512064"/>
          </a:xfrm>
          <a:prstGeom prst="roundRect">
            <a:avLst>
              <a:gd name="adj" fmla="val 50000"/>
            </a:avLst>
          </a:prstGeom>
          <a:solidFill>
            <a:srgbClr val="00C8FF"/>
          </a:solidFill>
          <a:ln w="12700">
            <a:solidFill>
              <a:srgbClr val="00C8FF"/>
            </a:solidFill>
            <a:prstDash val="solid"/>
          </a:ln>
        </p:spPr>
      </p:sp>
      <p:sp>
        <p:nvSpPr>
          <p:cNvPr id="16" name="Text 14"/>
          <p:cNvSpPr/>
          <p:nvPr/>
        </p:nvSpPr>
        <p:spPr>
          <a:xfrm>
            <a:off x="2569464" y="1207008"/>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2</a:t>
            </a:r>
            <a:endParaRPr lang="en-US" sz="1600" dirty="0"/>
          </a:p>
        </p:txBody>
      </p:sp>
      <p:sp>
        <p:nvSpPr>
          <p:cNvPr id="17" name="Text 15"/>
          <p:cNvSpPr/>
          <p:nvPr/>
        </p:nvSpPr>
        <p:spPr>
          <a:xfrm>
            <a:off x="2112264" y="1828800"/>
            <a:ext cx="1426464" cy="274320"/>
          </a:xfrm>
          <a:prstGeom prst="rect">
            <a:avLst/>
          </a:prstGeom>
          <a:noFill/>
          <a:ln/>
        </p:spPr>
        <p:txBody>
          <a:bodyPr wrap="square" lIns="0" tIns="0" rIns="0" bIns="0" rtlCol="0" anchor="ctr"/>
          <a:lstStyle/>
          <a:p>
            <a:pPr marL="0" indent="0" algn="ctr">
              <a:buNone/>
            </a:pPr>
            <a:r>
              <a:rPr lang="en-US" sz="1050" b="1" dirty="0">
                <a:solidFill>
                  <a:srgbClr val="FFFFFF"/>
                </a:solidFill>
              </a:rPr>
              <a:t>OS hook</a:t>
            </a:r>
            <a:endParaRPr lang="en-US" sz="1050" dirty="0"/>
          </a:p>
        </p:txBody>
      </p:sp>
      <p:sp>
        <p:nvSpPr>
          <p:cNvPr id="18" name="Text 16"/>
          <p:cNvSpPr/>
          <p:nvPr/>
        </p:nvSpPr>
        <p:spPr>
          <a:xfrm>
            <a:off x="2130552" y="2148840"/>
            <a:ext cx="1389888" cy="1234440"/>
          </a:xfrm>
          <a:prstGeom prst="rect">
            <a:avLst/>
          </a:prstGeom>
          <a:noFill/>
          <a:ln/>
        </p:spPr>
        <p:txBody>
          <a:bodyPr wrap="square" lIns="0" tIns="0" rIns="0" bIns="0" rtlCol="0" anchor="ctr"/>
          <a:lstStyle/>
          <a:p>
            <a:pPr marL="0" indent="0" algn="ctr">
              <a:buNone/>
            </a:pPr>
            <a:r>
              <a:rPr lang="en-US" sz="1200" dirty="0">
                <a:solidFill>
                  <a:srgbClr val="B0B0B0"/>
                </a:solidFill>
              </a:rPr>
              <a:t>inotify (Linux) or ReadDirectoryChangesW (Windows) fires instantly on any change</a:t>
            </a:r>
            <a:endParaRPr lang="en-US" sz="1200" dirty="0"/>
          </a:p>
        </p:txBody>
      </p:sp>
      <p:sp>
        <p:nvSpPr>
          <p:cNvPr id="19" name="Text 17"/>
          <p:cNvSpPr/>
          <p:nvPr/>
        </p:nvSpPr>
        <p:spPr>
          <a:xfrm>
            <a:off x="3639312" y="1920240"/>
            <a:ext cx="109728" cy="274320"/>
          </a:xfrm>
          <a:prstGeom prst="rect">
            <a:avLst/>
          </a:prstGeom>
          <a:noFill/>
          <a:ln/>
        </p:spPr>
        <p:txBody>
          <a:bodyPr wrap="square" lIns="0" tIns="0" rIns="0" bIns="0" rtlCol="0" anchor="ctr"/>
          <a:lstStyle/>
          <a:p>
            <a:pPr marL="0" indent="0" algn="ctr">
              <a:buNone/>
            </a:pPr>
            <a:r>
              <a:rPr lang="en-US" sz="1300" dirty="0">
                <a:solidFill>
                  <a:srgbClr val="007A9E"/>
                </a:solidFill>
              </a:rPr>
              <a:t>→</a:t>
            </a:r>
            <a:endParaRPr lang="en-US" sz="1300" dirty="0"/>
          </a:p>
        </p:txBody>
      </p:sp>
      <p:sp>
        <p:nvSpPr>
          <p:cNvPr id="20" name="Shape 18"/>
          <p:cNvSpPr/>
          <p:nvPr/>
        </p:nvSpPr>
        <p:spPr>
          <a:xfrm>
            <a:off x="3721608" y="1115568"/>
            <a:ext cx="1609344" cy="2423160"/>
          </a:xfrm>
          <a:prstGeom prst="roundRect">
            <a:avLst>
              <a:gd name="adj" fmla="val 4545"/>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21" name="Shape 19"/>
          <p:cNvSpPr/>
          <p:nvPr/>
        </p:nvSpPr>
        <p:spPr>
          <a:xfrm>
            <a:off x="4270248" y="1207008"/>
            <a:ext cx="512064" cy="512064"/>
          </a:xfrm>
          <a:prstGeom prst="roundRect">
            <a:avLst>
              <a:gd name="adj" fmla="val 50000"/>
            </a:avLst>
          </a:prstGeom>
          <a:solidFill>
            <a:srgbClr val="00C8FF"/>
          </a:solidFill>
          <a:ln w="12700">
            <a:solidFill>
              <a:srgbClr val="00C8FF"/>
            </a:solidFill>
            <a:prstDash val="solid"/>
          </a:ln>
        </p:spPr>
      </p:sp>
      <p:sp>
        <p:nvSpPr>
          <p:cNvPr id="22" name="Text 20"/>
          <p:cNvSpPr/>
          <p:nvPr/>
        </p:nvSpPr>
        <p:spPr>
          <a:xfrm>
            <a:off x="4270248" y="1207008"/>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3</a:t>
            </a:r>
            <a:endParaRPr lang="en-US" sz="1600" dirty="0"/>
          </a:p>
        </p:txBody>
      </p:sp>
      <p:sp>
        <p:nvSpPr>
          <p:cNvPr id="23" name="Text 21"/>
          <p:cNvSpPr/>
          <p:nvPr/>
        </p:nvSpPr>
        <p:spPr>
          <a:xfrm>
            <a:off x="3813048" y="1828800"/>
            <a:ext cx="1426464" cy="274320"/>
          </a:xfrm>
          <a:prstGeom prst="rect">
            <a:avLst/>
          </a:prstGeom>
          <a:noFill/>
          <a:ln/>
        </p:spPr>
        <p:txBody>
          <a:bodyPr wrap="square" lIns="0" tIns="0" rIns="0" bIns="0" rtlCol="0" anchor="ctr"/>
          <a:lstStyle/>
          <a:p>
            <a:pPr marL="0" indent="0" algn="ctr">
              <a:buNone/>
            </a:pPr>
            <a:r>
              <a:rPr lang="en-US" sz="1050" b="1" dirty="0">
                <a:solidFill>
                  <a:srgbClr val="FFFFFF"/>
                </a:solidFill>
              </a:rPr>
              <a:t>Data captured</a:t>
            </a:r>
            <a:endParaRPr lang="en-US" sz="1050" dirty="0"/>
          </a:p>
        </p:txBody>
      </p:sp>
      <p:sp>
        <p:nvSpPr>
          <p:cNvPr id="24" name="Text 22"/>
          <p:cNvSpPr/>
          <p:nvPr/>
        </p:nvSpPr>
        <p:spPr>
          <a:xfrm>
            <a:off x="3831336" y="2148840"/>
            <a:ext cx="1389888" cy="1234440"/>
          </a:xfrm>
          <a:prstGeom prst="rect">
            <a:avLst/>
          </a:prstGeom>
          <a:noFill/>
          <a:ln/>
        </p:spPr>
        <p:txBody>
          <a:bodyPr wrap="square" lIns="0" tIns="0" rIns="0" bIns="0" rtlCol="0" anchor="ctr"/>
          <a:lstStyle/>
          <a:p>
            <a:pPr marL="0" indent="0" algn="ctr">
              <a:buNone/>
            </a:pPr>
            <a:r>
              <a:rPr lang="en-US" sz="1200" dirty="0">
                <a:solidFill>
                  <a:srgbClr val="B0B0B0"/>
                </a:solidFill>
              </a:rPr>
              <a:t>Agent records hash, owner, permissions, size, timestamps, change type</a:t>
            </a:r>
            <a:endParaRPr lang="en-US" sz="1200" dirty="0"/>
          </a:p>
        </p:txBody>
      </p:sp>
      <p:sp>
        <p:nvSpPr>
          <p:cNvPr id="25" name="Text 23"/>
          <p:cNvSpPr/>
          <p:nvPr/>
        </p:nvSpPr>
        <p:spPr>
          <a:xfrm>
            <a:off x="5340096" y="1920240"/>
            <a:ext cx="109728" cy="274320"/>
          </a:xfrm>
          <a:prstGeom prst="rect">
            <a:avLst/>
          </a:prstGeom>
          <a:noFill/>
          <a:ln/>
        </p:spPr>
        <p:txBody>
          <a:bodyPr wrap="square" lIns="0" tIns="0" rIns="0" bIns="0" rtlCol="0" anchor="ctr"/>
          <a:lstStyle/>
          <a:p>
            <a:pPr marL="0" indent="0" algn="ctr">
              <a:buNone/>
            </a:pPr>
            <a:r>
              <a:rPr lang="en-US" sz="1300" dirty="0">
                <a:solidFill>
                  <a:srgbClr val="007A9E"/>
                </a:solidFill>
              </a:rPr>
              <a:t>→</a:t>
            </a:r>
            <a:endParaRPr lang="en-US" sz="1300" dirty="0"/>
          </a:p>
        </p:txBody>
      </p:sp>
      <p:sp>
        <p:nvSpPr>
          <p:cNvPr id="26" name="Shape 24"/>
          <p:cNvSpPr/>
          <p:nvPr/>
        </p:nvSpPr>
        <p:spPr>
          <a:xfrm>
            <a:off x="5422392" y="1115568"/>
            <a:ext cx="1609344" cy="2423160"/>
          </a:xfrm>
          <a:prstGeom prst="roundRect">
            <a:avLst>
              <a:gd name="adj" fmla="val 4545"/>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27" name="Shape 25"/>
          <p:cNvSpPr/>
          <p:nvPr/>
        </p:nvSpPr>
        <p:spPr>
          <a:xfrm>
            <a:off x="5971032" y="1207008"/>
            <a:ext cx="512064" cy="512064"/>
          </a:xfrm>
          <a:prstGeom prst="roundRect">
            <a:avLst>
              <a:gd name="adj" fmla="val 50000"/>
            </a:avLst>
          </a:prstGeom>
          <a:solidFill>
            <a:srgbClr val="00C8FF"/>
          </a:solidFill>
          <a:ln w="12700">
            <a:solidFill>
              <a:srgbClr val="00C8FF"/>
            </a:solidFill>
            <a:prstDash val="solid"/>
          </a:ln>
        </p:spPr>
      </p:sp>
      <p:sp>
        <p:nvSpPr>
          <p:cNvPr id="28" name="Text 26"/>
          <p:cNvSpPr/>
          <p:nvPr/>
        </p:nvSpPr>
        <p:spPr>
          <a:xfrm>
            <a:off x="5971032" y="1207008"/>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4</a:t>
            </a:r>
            <a:endParaRPr lang="en-US" sz="1600" dirty="0"/>
          </a:p>
        </p:txBody>
      </p:sp>
      <p:sp>
        <p:nvSpPr>
          <p:cNvPr id="29" name="Text 27"/>
          <p:cNvSpPr/>
          <p:nvPr/>
        </p:nvSpPr>
        <p:spPr>
          <a:xfrm>
            <a:off x="5513832" y="1828800"/>
            <a:ext cx="1426464" cy="274320"/>
          </a:xfrm>
          <a:prstGeom prst="rect">
            <a:avLst/>
          </a:prstGeom>
          <a:noFill/>
          <a:ln/>
        </p:spPr>
        <p:txBody>
          <a:bodyPr wrap="square" lIns="0" tIns="0" rIns="0" bIns="0" rtlCol="0" anchor="ctr"/>
          <a:lstStyle/>
          <a:p>
            <a:pPr marL="0" indent="0" algn="ctr">
              <a:buNone/>
            </a:pPr>
            <a:r>
              <a:rPr lang="en-US" sz="1050" b="1" dirty="0">
                <a:solidFill>
                  <a:srgbClr val="FFFFFF"/>
                </a:solidFill>
              </a:rPr>
              <a:t>Sent to Manager</a:t>
            </a:r>
            <a:endParaRPr lang="en-US" sz="1050" dirty="0"/>
          </a:p>
        </p:txBody>
      </p:sp>
      <p:sp>
        <p:nvSpPr>
          <p:cNvPr id="30" name="Text 28"/>
          <p:cNvSpPr/>
          <p:nvPr/>
        </p:nvSpPr>
        <p:spPr>
          <a:xfrm>
            <a:off x="5532120" y="2148840"/>
            <a:ext cx="1389888" cy="1234440"/>
          </a:xfrm>
          <a:prstGeom prst="rect">
            <a:avLst/>
          </a:prstGeom>
          <a:noFill/>
          <a:ln/>
        </p:spPr>
        <p:txBody>
          <a:bodyPr wrap="square" lIns="0" tIns="0" rIns="0" bIns="0" rtlCol="0" anchor="ctr"/>
          <a:lstStyle/>
          <a:p>
            <a:pPr marL="0" indent="0" algn="ctr">
              <a:buNone/>
            </a:pPr>
            <a:r>
              <a:rPr lang="en-US" sz="1200" dirty="0">
                <a:solidFill>
                  <a:srgbClr val="B0B0B0"/>
                </a:solidFill>
              </a:rPr>
              <a:t>Event travels over port 1514 to the Wazuh Manager in real time</a:t>
            </a:r>
            <a:endParaRPr lang="en-US" sz="1200" dirty="0"/>
          </a:p>
        </p:txBody>
      </p:sp>
      <p:sp>
        <p:nvSpPr>
          <p:cNvPr id="31" name="Text 29"/>
          <p:cNvSpPr/>
          <p:nvPr/>
        </p:nvSpPr>
        <p:spPr>
          <a:xfrm>
            <a:off x="7040880" y="1920240"/>
            <a:ext cx="109728" cy="274320"/>
          </a:xfrm>
          <a:prstGeom prst="rect">
            <a:avLst/>
          </a:prstGeom>
          <a:noFill/>
          <a:ln/>
        </p:spPr>
        <p:txBody>
          <a:bodyPr wrap="square" lIns="0" tIns="0" rIns="0" bIns="0" rtlCol="0" anchor="ctr"/>
          <a:lstStyle/>
          <a:p>
            <a:pPr marL="0" indent="0" algn="ctr">
              <a:buNone/>
            </a:pPr>
            <a:r>
              <a:rPr lang="en-US" sz="1300" dirty="0">
                <a:solidFill>
                  <a:srgbClr val="007A9E"/>
                </a:solidFill>
              </a:rPr>
              <a:t>→</a:t>
            </a:r>
            <a:endParaRPr lang="en-US" sz="1300" dirty="0"/>
          </a:p>
        </p:txBody>
      </p:sp>
      <p:sp>
        <p:nvSpPr>
          <p:cNvPr id="32" name="Shape 30"/>
          <p:cNvSpPr/>
          <p:nvPr/>
        </p:nvSpPr>
        <p:spPr>
          <a:xfrm>
            <a:off x="7123176" y="1115568"/>
            <a:ext cx="1609344" cy="2423160"/>
          </a:xfrm>
          <a:prstGeom prst="roundRect">
            <a:avLst>
              <a:gd name="adj" fmla="val 4545"/>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33" name="Shape 31"/>
          <p:cNvSpPr/>
          <p:nvPr/>
        </p:nvSpPr>
        <p:spPr>
          <a:xfrm>
            <a:off x="7671816" y="1207008"/>
            <a:ext cx="512064" cy="512064"/>
          </a:xfrm>
          <a:prstGeom prst="roundRect">
            <a:avLst>
              <a:gd name="adj" fmla="val 50000"/>
            </a:avLst>
          </a:prstGeom>
          <a:solidFill>
            <a:srgbClr val="00C8FF"/>
          </a:solidFill>
          <a:ln w="12700">
            <a:solidFill>
              <a:srgbClr val="00C8FF"/>
            </a:solidFill>
            <a:prstDash val="solid"/>
          </a:ln>
        </p:spPr>
      </p:sp>
      <p:sp>
        <p:nvSpPr>
          <p:cNvPr id="34" name="Text 32"/>
          <p:cNvSpPr/>
          <p:nvPr/>
        </p:nvSpPr>
        <p:spPr>
          <a:xfrm>
            <a:off x="7671816" y="1207008"/>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5</a:t>
            </a:r>
            <a:endParaRPr lang="en-US" sz="1600" dirty="0"/>
          </a:p>
        </p:txBody>
      </p:sp>
      <p:sp>
        <p:nvSpPr>
          <p:cNvPr id="35" name="Text 33"/>
          <p:cNvSpPr/>
          <p:nvPr/>
        </p:nvSpPr>
        <p:spPr>
          <a:xfrm>
            <a:off x="7214616" y="1828800"/>
            <a:ext cx="1426464" cy="274320"/>
          </a:xfrm>
          <a:prstGeom prst="rect">
            <a:avLst/>
          </a:prstGeom>
          <a:noFill/>
          <a:ln/>
        </p:spPr>
        <p:txBody>
          <a:bodyPr wrap="square" lIns="0" tIns="0" rIns="0" bIns="0" rtlCol="0" anchor="ctr"/>
          <a:lstStyle/>
          <a:p>
            <a:pPr marL="0" indent="0" algn="ctr">
              <a:buNone/>
            </a:pPr>
            <a:r>
              <a:rPr lang="en-US" sz="1050" b="1" dirty="0">
                <a:solidFill>
                  <a:srgbClr val="FFFFFF"/>
                </a:solidFill>
              </a:rPr>
              <a:t>Alert fires</a:t>
            </a:r>
            <a:endParaRPr lang="en-US" sz="1050" dirty="0"/>
          </a:p>
        </p:txBody>
      </p:sp>
      <p:sp>
        <p:nvSpPr>
          <p:cNvPr id="36" name="Text 34"/>
          <p:cNvSpPr/>
          <p:nvPr/>
        </p:nvSpPr>
        <p:spPr>
          <a:xfrm>
            <a:off x="7232904" y="2148840"/>
            <a:ext cx="1389888" cy="1234440"/>
          </a:xfrm>
          <a:prstGeom prst="rect">
            <a:avLst/>
          </a:prstGeom>
          <a:noFill/>
          <a:ln/>
        </p:spPr>
        <p:txBody>
          <a:bodyPr wrap="square" lIns="0" tIns="0" rIns="0" bIns="0" rtlCol="0" anchor="ctr"/>
          <a:lstStyle/>
          <a:p>
            <a:pPr marL="0" indent="0" algn="ctr">
              <a:buNone/>
            </a:pPr>
            <a:r>
              <a:rPr lang="en-US" sz="1200" dirty="0">
                <a:solidFill>
                  <a:srgbClr val="B0B0B0"/>
                </a:solidFill>
              </a:rPr>
              <a:t>Syscheck rules match the event. Alert appears in the dashboard with full context.</a:t>
            </a:r>
            <a:endParaRPr lang="en-US" sz="1200" dirty="0"/>
          </a:p>
        </p:txBody>
      </p:sp>
      <p:sp>
        <p:nvSpPr>
          <p:cNvPr id="37" name="Shape 35"/>
          <p:cNvSpPr/>
          <p:nvPr/>
        </p:nvSpPr>
        <p:spPr>
          <a:xfrm>
            <a:off x="320040" y="3703320"/>
            <a:ext cx="8503920" cy="960120"/>
          </a:xfrm>
          <a:prstGeom prst="roundRect">
            <a:avLst>
              <a:gd name="adj" fmla="val 7619"/>
            </a:avLst>
          </a:prstGeom>
          <a:solidFill>
            <a:srgbClr val="0A1A20"/>
          </a:solidFill>
          <a:ln w="6350">
            <a:solidFill>
              <a:srgbClr val="2A2A2A"/>
            </a:solidFill>
            <a:prstDash val="solid"/>
          </a:ln>
          <a:effectLst>
            <a:outerShdw blurRad="76200" dist="25400" dir="2700000" algn="bl" rotWithShape="0">
              <a:srgbClr val="000000">
                <a:alpha val="30000"/>
              </a:srgbClr>
            </a:outerShdw>
          </a:effectLst>
        </p:spPr>
      </p:sp>
      <p:sp>
        <p:nvSpPr>
          <p:cNvPr id="38" name="Text 36"/>
          <p:cNvSpPr/>
          <p:nvPr/>
        </p:nvSpPr>
        <p:spPr>
          <a:xfrm>
            <a:off x="548640" y="3803904"/>
            <a:ext cx="2286000" cy="201168"/>
          </a:xfrm>
          <a:prstGeom prst="rect">
            <a:avLst/>
          </a:prstGeom>
          <a:noFill/>
          <a:ln/>
        </p:spPr>
        <p:txBody>
          <a:bodyPr wrap="square" lIns="0" tIns="0" rIns="0" bIns="0" rtlCol="0" anchor="ctr"/>
          <a:lstStyle/>
          <a:p>
            <a:pPr marL="0" indent="0">
              <a:buNone/>
            </a:pPr>
            <a:r>
              <a:rPr lang="en-US" sz="900" b="1" dirty="0">
                <a:solidFill>
                  <a:srgbClr val="00C8FF"/>
                </a:solidFill>
              </a:rPr>
              <a:t>realtime vs scheduled:</a:t>
            </a:r>
            <a:endParaRPr lang="en-US" sz="900" dirty="0"/>
          </a:p>
        </p:txBody>
      </p:sp>
      <p:sp>
        <p:nvSpPr>
          <p:cNvPr id="39" name="Text 37"/>
          <p:cNvSpPr/>
          <p:nvPr/>
        </p:nvSpPr>
        <p:spPr>
          <a:xfrm>
            <a:off x="548640" y="4023360"/>
            <a:ext cx="8046720" cy="502920"/>
          </a:xfrm>
          <a:prstGeom prst="rect">
            <a:avLst/>
          </a:prstGeom>
          <a:noFill/>
          <a:ln/>
        </p:spPr>
        <p:txBody>
          <a:bodyPr wrap="square" lIns="0" tIns="0" rIns="0" bIns="0" rtlCol="0" anchor="ctr"/>
          <a:lstStyle/>
          <a:p>
            <a:pPr marL="0" indent="0">
              <a:buNone/>
            </a:pPr>
            <a:r>
              <a:rPr lang="en-US" sz="1200" dirty="0">
                <a:solidFill>
                  <a:srgbClr val="B0B0B0"/>
                </a:solidFill>
              </a:rPr>
              <a:t>realtime fires instantly via OS notifications. syscheck_frequency is a periodic baseline scan — it only runs for directories NOT in realtime mode and catches anything that slipped through. For critical directories you always want realtime.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THREAT SCENARIOS</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WHY FIM CATCHES ATTACKERS</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File system traces every attacker leaves</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4251960" cy="1719072"/>
          </a:xfrm>
          <a:prstGeom prst="roundRect">
            <a:avLst>
              <a:gd name="adj" fmla="val 4255"/>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9" name="Shape 7"/>
          <p:cNvSpPr/>
          <p:nvPr/>
        </p:nvSpPr>
        <p:spPr>
          <a:xfrm>
            <a:off x="320040" y="1115568"/>
            <a:ext cx="4251960" cy="54864"/>
          </a:xfrm>
          <a:prstGeom prst="rect">
            <a:avLst/>
          </a:prstGeom>
          <a:solidFill>
            <a:srgbClr val="00C8FF"/>
          </a:solidFill>
          <a:ln/>
        </p:spPr>
      </p:sp>
      <p:sp>
        <p:nvSpPr>
          <p:cNvPr id="10" name="Text 8"/>
          <p:cNvSpPr/>
          <p:nvPr/>
        </p:nvSpPr>
        <p:spPr>
          <a:xfrm>
            <a:off x="484632" y="1252728"/>
            <a:ext cx="3931920" cy="228600"/>
          </a:xfrm>
          <a:prstGeom prst="rect">
            <a:avLst/>
          </a:prstGeom>
          <a:noFill/>
          <a:ln/>
        </p:spPr>
        <p:txBody>
          <a:bodyPr wrap="square" lIns="0" tIns="0" rIns="0" bIns="0" rtlCol="0" anchor="ctr"/>
          <a:lstStyle/>
          <a:p>
            <a:pPr marL="0" indent="0">
              <a:buNone/>
            </a:pPr>
            <a:r>
              <a:rPr lang="en-US" sz="1100" b="1" dirty="0">
                <a:solidFill>
                  <a:srgbClr val="FFFFFF"/>
                </a:solidFill>
              </a:rPr>
              <a:t>Persistence via SSH key</a:t>
            </a:r>
            <a:endParaRPr lang="en-US" sz="1100" dirty="0"/>
          </a:p>
        </p:txBody>
      </p:sp>
      <p:sp>
        <p:nvSpPr>
          <p:cNvPr id="11" name="Text 9"/>
          <p:cNvSpPr/>
          <p:nvPr/>
        </p:nvSpPr>
        <p:spPr>
          <a:xfrm>
            <a:off x="484632" y="1499616"/>
            <a:ext cx="3931920" cy="201168"/>
          </a:xfrm>
          <a:prstGeom prst="rect">
            <a:avLst/>
          </a:prstGeom>
          <a:noFill/>
          <a:ln/>
        </p:spPr>
        <p:txBody>
          <a:bodyPr wrap="square" lIns="0" tIns="0" rIns="0" bIns="0" rtlCol="0" anchor="ctr"/>
          <a:lstStyle/>
          <a:p>
            <a:pPr marL="0" indent="0">
              <a:buNone/>
            </a:pPr>
            <a:r>
              <a:rPr lang="en-US" sz="900" dirty="0">
                <a:solidFill>
                  <a:srgbClr val="00C8FF"/>
                </a:solidFill>
                <a:latin typeface="Courier New" pitchFamily="34" charset="0"/>
                <a:ea typeface="Courier New" pitchFamily="34" charset="-122"/>
                <a:cs typeface="Courier New" pitchFamily="34" charset="-120"/>
              </a:rPr>
              <a:t>~/.ssh/authorized_keys</a:t>
            </a:r>
            <a:endParaRPr lang="en-US" sz="900" dirty="0"/>
          </a:p>
        </p:txBody>
      </p:sp>
      <p:sp>
        <p:nvSpPr>
          <p:cNvPr id="12" name="Text 10"/>
          <p:cNvSpPr/>
          <p:nvPr/>
        </p:nvSpPr>
        <p:spPr>
          <a:xfrm>
            <a:off x="484632" y="1533375"/>
            <a:ext cx="3931920" cy="914400"/>
          </a:xfrm>
          <a:prstGeom prst="rect">
            <a:avLst/>
          </a:prstGeom>
          <a:noFill/>
          <a:ln/>
        </p:spPr>
        <p:txBody>
          <a:bodyPr wrap="square" lIns="0" tIns="0" rIns="0" bIns="0" rtlCol="0" anchor="ctr"/>
          <a:lstStyle/>
          <a:p>
            <a:pPr marL="0" indent="0">
              <a:buNone/>
            </a:pPr>
            <a:r>
              <a:rPr lang="en-US" sz="1200" dirty="0">
                <a:solidFill>
                  <a:srgbClr val="B0B0B0"/>
                </a:solidFill>
              </a:rPr>
              <a:t>Attacker adds their own public key. They can now log in without a password forever. FIM fires on the file creation.</a:t>
            </a:r>
            <a:endParaRPr lang="en-US" sz="1200" dirty="0"/>
          </a:p>
        </p:txBody>
      </p:sp>
      <p:sp>
        <p:nvSpPr>
          <p:cNvPr id="13" name="Shape 11"/>
          <p:cNvSpPr/>
          <p:nvPr/>
        </p:nvSpPr>
        <p:spPr>
          <a:xfrm>
            <a:off x="320040" y="2990088"/>
            <a:ext cx="4251960" cy="1719072"/>
          </a:xfrm>
          <a:prstGeom prst="roundRect">
            <a:avLst>
              <a:gd name="adj" fmla="val 4255"/>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14" name="Shape 12"/>
          <p:cNvSpPr/>
          <p:nvPr/>
        </p:nvSpPr>
        <p:spPr>
          <a:xfrm>
            <a:off x="320040" y="2990088"/>
            <a:ext cx="4251960" cy="54864"/>
          </a:xfrm>
          <a:prstGeom prst="rect">
            <a:avLst/>
          </a:prstGeom>
          <a:solidFill>
            <a:srgbClr val="FF8C00"/>
          </a:solidFill>
          <a:ln/>
        </p:spPr>
      </p:sp>
      <p:sp>
        <p:nvSpPr>
          <p:cNvPr id="15" name="Text 13"/>
          <p:cNvSpPr/>
          <p:nvPr/>
        </p:nvSpPr>
        <p:spPr>
          <a:xfrm>
            <a:off x="484632" y="3127248"/>
            <a:ext cx="3931920" cy="228600"/>
          </a:xfrm>
          <a:prstGeom prst="rect">
            <a:avLst/>
          </a:prstGeom>
          <a:noFill/>
          <a:ln/>
        </p:spPr>
        <p:txBody>
          <a:bodyPr wrap="square" lIns="0" tIns="0" rIns="0" bIns="0" rtlCol="0" anchor="ctr"/>
          <a:lstStyle/>
          <a:p>
            <a:pPr marL="0" indent="0">
              <a:buNone/>
            </a:pPr>
            <a:r>
              <a:rPr lang="en-US" sz="1100" b="1" dirty="0">
                <a:solidFill>
                  <a:srgbClr val="FFFFFF"/>
                </a:solidFill>
              </a:rPr>
              <a:t>Privilege escalation via sudoers</a:t>
            </a:r>
            <a:endParaRPr lang="en-US" sz="1100" dirty="0"/>
          </a:p>
        </p:txBody>
      </p:sp>
      <p:sp>
        <p:nvSpPr>
          <p:cNvPr id="16" name="Text 14"/>
          <p:cNvSpPr/>
          <p:nvPr/>
        </p:nvSpPr>
        <p:spPr>
          <a:xfrm>
            <a:off x="484632" y="3374136"/>
            <a:ext cx="3931920" cy="201168"/>
          </a:xfrm>
          <a:prstGeom prst="rect">
            <a:avLst/>
          </a:prstGeom>
          <a:noFill/>
          <a:ln/>
        </p:spPr>
        <p:txBody>
          <a:bodyPr wrap="square" lIns="0" tIns="0" rIns="0" bIns="0" rtlCol="0" anchor="ctr"/>
          <a:lstStyle/>
          <a:p>
            <a:pPr marL="0" indent="0">
              <a:buNone/>
            </a:pPr>
            <a:r>
              <a:rPr lang="en-US" sz="900" dirty="0">
                <a:solidFill>
                  <a:srgbClr val="FF8C00"/>
                </a:solidFill>
                <a:latin typeface="Courier New" pitchFamily="34" charset="0"/>
                <a:ea typeface="Courier New" pitchFamily="34" charset="-122"/>
                <a:cs typeface="Courier New" pitchFamily="34" charset="-120"/>
              </a:rPr>
              <a:t>/etc/sudoers.d/</a:t>
            </a:r>
            <a:endParaRPr lang="en-US" sz="900" dirty="0"/>
          </a:p>
        </p:txBody>
      </p:sp>
      <p:sp>
        <p:nvSpPr>
          <p:cNvPr id="17" name="Text 15"/>
          <p:cNvSpPr/>
          <p:nvPr/>
        </p:nvSpPr>
        <p:spPr>
          <a:xfrm>
            <a:off x="484632" y="3407895"/>
            <a:ext cx="3931920" cy="914400"/>
          </a:xfrm>
          <a:prstGeom prst="rect">
            <a:avLst/>
          </a:prstGeom>
          <a:noFill/>
          <a:ln/>
        </p:spPr>
        <p:txBody>
          <a:bodyPr wrap="square" lIns="0" tIns="0" rIns="0" bIns="0" rtlCol="0" anchor="ctr"/>
          <a:lstStyle/>
          <a:p>
            <a:pPr marL="0" indent="0">
              <a:buNone/>
            </a:pPr>
            <a:r>
              <a:rPr lang="en-US" sz="1200" dirty="0">
                <a:solidFill>
                  <a:srgbClr val="B0B0B0"/>
                </a:solidFill>
              </a:rPr>
              <a:t>Attacker modifies sudoers to give their account root without a password. One of the most common post-exploitation steps.</a:t>
            </a:r>
            <a:endParaRPr lang="en-US" sz="1200" dirty="0"/>
          </a:p>
        </p:txBody>
      </p:sp>
      <p:sp>
        <p:nvSpPr>
          <p:cNvPr id="18" name="Shape 16"/>
          <p:cNvSpPr/>
          <p:nvPr/>
        </p:nvSpPr>
        <p:spPr>
          <a:xfrm>
            <a:off x="4709160" y="1115568"/>
            <a:ext cx="4251960" cy="1719072"/>
          </a:xfrm>
          <a:prstGeom prst="roundRect">
            <a:avLst>
              <a:gd name="adj" fmla="val 4255"/>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19" name="Shape 17"/>
          <p:cNvSpPr/>
          <p:nvPr/>
        </p:nvSpPr>
        <p:spPr>
          <a:xfrm>
            <a:off x="4709160" y="1115568"/>
            <a:ext cx="4251960" cy="54864"/>
          </a:xfrm>
          <a:prstGeom prst="rect">
            <a:avLst/>
          </a:prstGeom>
          <a:solidFill>
            <a:srgbClr val="FF4444"/>
          </a:solidFill>
          <a:ln/>
        </p:spPr>
      </p:sp>
      <p:sp>
        <p:nvSpPr>
          <p:cNvPr id="20" name="Text 18"/>
          <p:cNvSpPr/>
          <p:nvPr/>
        </p:nvSpPr>
        <p:spPr>
          <a:xfrm>
            <a:off x="4873752" y="1252728"/>
            <a:ext cx="3931920" cy="228600"/>
          </a:xfrm>
          <a:prstGeom prst="rect">
            <a:avLst/>
          </a:prstGeom>
          <a:noFill/>
          <a:ln/>
        </p:spPr>
        <p:txBody>
          <a:bodyPr wrap="square" lIns="0" tIns="0" rIns="0" bIns="0" rtlCol="0" anchor="ctr"/>
          <a:lstStyle/>
          <a:p>
            <a:pPr marL="0" indent="0">
              <a:buNone/>
            </a:pPr>
            <a:r>
              <a:rPr lang="en-US" sz="1100" b="1" dirty="0">
                <a:solidFill>
                  <a:srgbClr val="FFFFFF"/>
                </a:solidFill>
              </a:rPr>
              <a:t>Malware dropped</a:t>
            </a:r>
            <a:endParaRPr lang="en-US" sz="1100" dirty="0"/>
          </a:p>
        </p:txBody>
      </p:sp>
      <p:sp>
        <p:nvSpPr>
          <p:cNvPr id="21" name="Text 19"/>
          <p:cNvSpPr/>
          <p:nvPr/>
        </p:nvSpPr>
        <p:spPr>
          <a:xfrm>
            <a:off x="4873752" y="1499616"/>
            <a:ext cx="3931920" cy="201168"/>
          </a:xfrm>
          <a:prstGeom prst="rect">
            <a:avLst/>
          </a:prstGeom>
          <a:noFill/>
          <a:ln/>
        </p:spPr>
        <p:txBody>
          <a:bodyPr wrap="square" lIns="0" tIns="0" rIns="0" bIns="0" rtlCol="0" anchor="ctr"/>
          <a:lstStyle/>
          <a:p>
            <a:pPr marL="0" indent="0">
              <a:buNone/>
            </a:pPr>
            <a:r>
              <a:rPr lang="en-US" sz="900" dirty="0">
                <a:solidFill>
                  <a:srgbClr val="FF4444"/>
                </a:solidFill>
                <a:latin typeface="Courier New" pitchFamily="34" charset="0"/>
                <a:ea typeface="Courier New" pitchFamily="34" charset="-122"/>
                <a:cs typeface="Courier New" pitchFamily="34" charset="-120"/>
              </a:rPr>
              <a:t>/tmp/ or /var/tmp/</a:t>
            </a:r>
            <a:endParaRPr lang="en-US" sz="900" dirty="0"/>
          </a:p>
        </p:txBody>
      </p:sp>
      <p:sp>
        <p:nvSpPr>
          <p:cNvPr id="22" name="Text 20"/>
          <p:cNvSpPr/>
          <p:nvPr/>
        </p:nvSpPr>
        <p:spPr>
          <a:xfrm>
            <a:off x="4873752" y="1533375"/>
            <a:ext cx="3931920" cy="914400"/>
          </a:xfrm>
          <a:prstGeom prst="rect">
            <a:avLst/>
          </a:prstGeom>
          <a:noFill/>
          <a:ln/>
        </p:spPr>
        <p:txBody>
          <a:bodyPr wrap="square" lIns="0" tIns="0" rIns="0" bIns="0" rtlCol="0" anchor="ctr"/>
          <a:lstStyle/>
          <a:p>
            <a:pPr marL="0" indent="0">
              <a:buNone/>
            </a:pPr>
            <a:r>
              <a:rPr lang="en-US" sz="1200" dirty="0">
                <a:solidFill>
                  <a:srgbClr val="B0B0B0"/>
                </a:solidFill>
              </a:rPr>
              <a:t>World-writable temp directory. Attackers drop executables here before running them. FIM catches the file creation.</a:t>
            </a:r>
            <a:endParaRPr lang="en-US" sz="1200" dirty="0"/>
          </a:p>
        </p:txBody>
      </p:sp>
      <p:sp>
        <p:nvSpPr>
          <p:cNvPr id="23" name="Shape 21"/>
          <p:cNvSpPr/>
          <p:nvPr/>
        </p:nvSpPr>
        <p:spPr>
          <a:xfrm>
            <a:off x="4709160" y="2990088"/>
            <a:ext cx="4251960" cy="1719072"/>
          </a:xfrm>
          <a:prstGeom prst="roundRect">
            <a:avLst>
              <a:gd name="adj" fmla="val 4255"/>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24" name="Shape 22"/>
          <p:cNvSpPr/>
          <p:nvPr/>
        </p:nvSpPr>
        <p:spPr>
          <a:xfrm>
            <a:off x="4709160" y="2990088"/>
            <a:ext cx="4251960" cy="54864"/>
          </a:xfrm>
          <a:prstGeom prst="rect">
            <a:avLst/>
          </a:prstGeom>
          <a:solidFill>
            <a:srgbClr val="FFD700"/>
          </a:solidFill>
          <a:ln/>
        </p:spPr>
      </p:sp>
      <p:sp>
        <p:nvSpPr>
          <p:cNvPr id="25" name="Text 23"/>
          <p:cNvSpPr/>
          <p:nvPr/>
        </p:nvSpPr>
        <p:spPr>
          <a:xfrm>
            <a:off x="4873752" y="3127248"/>
            <a:ext cx="3931920" cy="228600"/>
          </a:xfrm>
          <a:prstGeom prst="rect">
            <a:avLst/>
          </a:prstGeom>
          <a:noFill/>
          <a:ln/>
        </p:spPr>
        <p:txBody>
          <a:bodyPr wrap="square" lIns="0" tIns="0" rIns="0" bIns="0" rtlCol="0" anchor="ctr"/>
          <a:lstStyle/>
          <a:p>
            <a:pPr marL="0" indent="0">
              <a:buNone/>
            </a:pPr>
            <a:r>
              <a:rPr lang="en-US" sz="1100" b="1" dirty="0">
                <a:solidFill>
                  <a:srgbClr val="FFFFFF"/>
                </a:solidFill>
              </a:rPr>
              <a:t>DLL hijacking (Windows)</a:t>
            </a:r>
            <a:endParaRPr lang="en-US" sz="1100" dirty="0"/>
          </a:p>
        </p:txBody>
      </p:sp>
      <p:sp>
        <p:nvSpPr>
          <p:cNvPr id="26" name="Text 24"/>
          <p:cNvSpPr/>
          <p:nvPr/>
        </p:nvSpPr>
        <p:spPr>
          <a:xfrm>
            <a:off x="4873752" y="3374136"/>
            <a:ext cx="3931920" cy="201168"/>
          </a:xfrm>
          <a:prstGeom prst="rect">
            <a:avLst/>
          </a:prstGeom>
          <a:noFill/>
          <a:ln/>
        </p:spPr>
        <p:txBody>
          <a:bodyPr wrap="square" lIns="0" tIns="0" rIns="0" bIns="0" rtlCol="0" anchor="ctr"/>
          <a:lstStyle/>
          <a:p>
            <a:pPr marL="0" indent="0">
              <a:buNone/>
            </a:pPr>
            <a:r>
              <a:rPr lang="en-US" sz="900" dirty="0">
                <a:solidFill>
                  <a:srgbClr val="FFD700"/>
                </a:solidFill>
                <a:latin typeface="Courier New" pitchFamily="34" charset="0"/>
                <a:ea typeface="Courier New" pitchFamily="34" charset="-122"/>
                <a:cs typeface="Courier New" pitchFamily="34" charset="-120"/>
              </a:rPr>
              <a:t>C:\Windows\System32\</a:t>
            </a:r>
            <a:endParaRPr lang="en-US" sz="900" dirty="0"/>
          </a:p>
        </p:txBody>
      </p:sp>
      <p:sp>
        <p:nvSpPr>
          <p:cNvPr id="27" name="Text 25"/>
          <p:cNvSpPr/>
          <p:nvPr/>
        </p:nvSpPr>
        <p:spPr>
          <a:xfrm>
            <a:off x="4873752" y="3407895"/>
            <a:ext cx="3931920" cy="914400"/>
          </a:xfrm>
          <a:prstGeom prst="rect">
            <a:avLst/>
          </a:prstGeom>
          <a:noFill/>
          <a:ln/>
        </p:spPr>
        <p:txBody>
          <a:bodyPr wrap="square" lIns="0" tIns="0" rIns="0" bIns="0" rtlCol="0" anchor="ctr"/>
          <a:lstStyle/>
          <a:p>
            <a:pPr marL="0" indent="0">
              <a:buNone/>
            </a:pPr>
            <a:r>
              <a:rPr lang="en-US" sz="1200" dirty="0">
                <a:solidFill>
                  <a:srgbClr val="B0B0B0"/>
                </a:solidFill>
              </a:rPr>
              <a:t>A legitimate DLL replaced or a new one added alongside a service. Code runs every time Windows starts the service.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ARCHITECTURE</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THE WAZUH RULE ENGINE</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a raw log line becomes an alert</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292608" y="1115568"/>
            <a:ext cx="1572768" cy="1463040"/>
          </a:xfrm>
          <a:prstGeom prst="roundRect">
            <a:avLst>
              <a:gd name="adj" fmla="val 5000"/>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9" name="Text 7"/>
          <p:cNvSpPr/>
          <p:nvPr/>
        </p:nvSpPr>
        <p:spPr>
          <a:xfrm>
            <a:off x="384048" y="1188720"/>
            <a:ext cx="1389888" cy="320040"/>
          </a:xfrm>
          <a:prstGeom prst="rect">
            <a:avLst/>
          </a:prstGeom>
          <a:noFill/>
          <a:ln/>
        </p:spPr>
        <p:txBody>
          <a:bodyPr wrap="square" lIns="0" tIns="0" rIns="0" bIns="0" rtlCol="0" anchor="ctr"/>
          <a:lstStyle/>
          <a:p>
            <a:pPr marL="0" indent="0" algn="ctr">
              <a:buNone/>
            </a:pPr>
            <a:r>
              <a:rPr lang="en-US" sz="1000" b="1" dirty="0">
                <a:solidFill>
                  <a:srgbClr val="00C8FF"/>
                </a:solidFill>
              </a:rPr>
              <a:t>Raw Log</a:t>
            </a:r>
            <a:endParaRPr lang="en-US" sz="1000" dirty="0"/>
          </a:p>
        </p:txBody>
      </p:sp>
      <p:sp>
        <p:nvSpPr>
          <p:cNvPr id="10" name="Shape 8"/>
          <p:cNvSpPr/>
          <p:nvPr/>
        </p:nvSpPr>
        <p:spPr>
          <a:xfrm>
            <a:off x="384048" y="1536192"/>
            <a:ext cx="1389888" cy="18288"/>
          </a:xfrm>
          <a:prstGeom prst="rect">
            <a:avLst/>
          </a:prstGeom>
          <a:solidFill>
            <a:srgbClr val="3A3A3A"/>
          </a:solidFill>
          <a:ln/>
        </p:spPr>
      </p:sp>
      <p:sp>
        <p:nvSpPr>
          <p:cNvPr id="11" name="Text 9"/>
          <p:cNvSpPr/>
          <p:nvPr/>
        </p:nvSpPr>
        <p:spPr>
          <a:xfrm>
            <a:off x="384048" y="1572768"/>
            <a:ext cx="1389888" cy="868680"/>
          </a:xfrm>
          <a:prstGeom prst="rect">
            <a:avLst/>
          </a:prstGeom>
          <a:noFill/>
          <a:ln/>
        </p:spPr>
        <p:txBody>
          <a:bodyPr wrap="square" lIns="0" tIns="0" rIns="0" bIns="0" rtlCol="0" anchor="ctr"/>
          <a:lstStyle/>
          <a:p>
            <a:pPr marL="0" indent="0" algn="ctr">
              <a:buNone/>
            </a:pPr>
            <a:r>
              <a:rPr lang="en-US" sz="1050" dirty="0">
                <a:solidFill>
                  <a:srgbClr val="B0B0B0"/>
                </a:solidFill>
              </a:rPr>
              <a:t>Plain text from syslog, Windows Event Log, auth.log, app logs</a:t>
            </a:r>
            <a:endParaRPr lang="en-US" sz="1050" dirty="0"/>
          </a:p>
        </p:txBody>
      </p:sp>
      <p:sp>
        <p:nvSpPr>
          <p:cNvPr id="12" name="Text 10"/>
          <p:cNvSpPr/>
          <p:nvPr/>
        </p:nvSpPr>
        <p:spPr>
          <a:xfrm>
            <a:off x="1865376"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13" name="Shape 11"/>
          <p:cNvSpPr/>
          <p:nvPr/>
        </p:nvSpPr>
        <p:spPr>
          <a:xfrm>
            <a:off x="2011680" y="1115568"/>
            <a:ext cx="1572768" cy="1463040"/>
          </a:xfrm>
          <a:prstGeom prst="roundRect">
            <a:avLst>
              <a:gd name="adj" fmla="val 5000"/>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14" name="Text 12"/>
          <p:cNvSpPr/>
          <p:nvPr/>
        </p:nvSpPr>
        <p:spPr>
          <a:xfrm>
            <a:off x="2103120" y="1188720"/>
            <a:ext cx="1389888" cy="320040"/>
          </a:xfrm>
          <a:prstGeom prst="rect">
            <a:avLst/>
          </a:prstGeom>
          <a:noFill/>
          <a:ln/>
        </p:spPr>
        <p:txBody>
          <a:bodyPr wrap="square" lIns="0" tIns="0" rIns="0" bIns="0" rtlCol="0" anchor="ctr"/>
          <a:lstStyle/>
          <a:p>
            <a:pPr marL="0" indent="0" algn="ctr">
              <a:buNone/>
            </a:pPr>
            <a:r>
              <a:rPr lang="en-US" sz="1000" b="1" dirty="0">
                <a:solidFill>
                  <a:srgbClr val="00C8FF"/>
                </a:solidFill>
              </a:rPr>
              <a:t>Decoder</a:t>
            </a:r>
            <a:endParaRPr lang="en-US" sz="1000" dirty="0"/>
          </a:p>
        </p:txBody>
      </p:sp>
      <p:sp>
        <p:nvSpPr>
          <p:cNvPr id="15" name="Shape 13"/>
          <p:cNvSpPr/>
          <p:nvPr/>
        </p:nvSpPr>
        <p:spPr>
          <a:xfrm>
            <a:off x="2103120" y="1536192"/>
            <a:ext cx="1389888" cy="18288"/>
          </a:xfrm>
          <a:prstGeom prst="rect">
            <a:avLst/>
          </a:prstGeom>
          <a:solidFill>
            <a:srgbClr val="3A3A3A"/>
          </a:solidFill>
          <a:ln/>
        </p:spPr>
      </p:sp>
      <p:sp>
        <p:nvSpPr>
          <p:cNvPr id="16" name="Text 14"/>
          <p:cNvSpPr/>
          <p:nvPr/>
        </p:nvSpPr>
        <p:spPr>
          <a:xfrm>
            <a:off x="2103120" y="1572768"/>
            <a:ext cx="1389888" cy="868680"/>
          </a:xfrm>
          <a:prstGeom prst="rect">
            <a:avLst/>
          </a:prstGeom>
          <a:noFill/>
          <a:ln/>
        </p:spPr>
        <p:txBody>
          <a:bodyPr wrap="square" lIns="0" tIns="0" rIns="0" bIns="0" rtlCol="0" anchor="ctr"/>
          <a:lstStyle/>
          <a:p>
            <a:pPr marL="0" indent="0" algn="ctr">
              <a:buNone/>
            </a:pPr>
            <a:r>
              <a:rPr lang="en-US" sz="1050" dirty="0">
                <a:solidFill>
                  <a:srgbClr val="B0B0B0"/>
                </a:solidFill>
              </a:rPr>
              <a:t>Parses text into structured fields: username, IP, event type, status</a:t>
            </a:r>
            <a:endParaRPr lang="en-US" sz="1050" dirty="0"/>
          </a:p>
        </p:txBody>
      </p:sp>
      <p:sp>
        <p:nvSpPr>
          <p:cNvPr id="17" name="Text 15"/>
          <p:cNvSpPr/>
          <p:nvPr/>
        </p:nvSpPr>
        <p:spPr>
          <a:xfrm>
            <a:off x="3584448"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18" name="Shape 16"/>
          <p:cNvSpPr/>
          <p:nvPr/>
        </p:nvSpPr>
        <p:spPr>
          <a:xfrm>
            <a:off x="3730752" y="1115568"/>
            <a:ext cx="1572768" cy="1463040"/>
          </a:xfrm>
          <a:prstGeom prst="roundRect">
            <a:avLst>
              <a:gd name="adj" fmla="val 5000"/>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19" name="Text 17"/>
          <p:cNvSpPr/>
          <p:nvPr/>
        </p:nvSpPr>
        <p:spPr>
          <a:xfrm>
            <a:off x="3822192" y="1188720"/>
            <a:ext cx="1389888" cy="320040"/>
          </a:xfrm>
          <a:prstGeom prst="rect">
            <a:avLst/>
          </a:prstGeom>
          <a:noFill/>
          <a:ln/>
        </p:spPr>
        <p:txBody>
          <a:bodyPr wrap="square" lIns="0" tIns="0" rIns="0" bIns="0" rtlCol="0" anchor="ctr"/>
          <a:lstStyle/>
          <a:p>
            <a:pPr marL="0" indent="0" algn="ctr">
              <a:buNone/>
            </a:pPr>
            <a:r>
              <a:rPr lang="en-US" sz="1000" b="1" dirty="0">
                <a:solidFill>
                  <a:srgbClr val="00C8FF"/>
                </a:solidFill>
              </a:rPr>
              <a:t>Pre-match</a:t>
            </a:r>
            <a:endParaRPr lang="en-US" sz="1000" dirty="0"/>
          </a:p>
        </p:txBody>
      </p:sp>
      <p:sp>
        <p:nvSpPr>
          <p:cNvPr id="20" name="Shape 18"/>
          <p:cNvSpPr/>
          <p:nvPr/>
        </p:nvSpPr>
        <p:spPr>
          <a:xfrm>
            <a:off x="3822192" y="1536192"/>
            <a:ext cx="1389888" cy="18288"/>
          </a:xfrm>
          <a:prstGeom prst="rect">
            <a:avLst/>
          </a:prstGeom>
          <a:solidFill>
            <a:srgbClr val="3A3A3A"/>
          </a:solidFill>
          <a:ln/>
        </p:spPr>
      </p:sp>
      <p:sp>
        <p:nvSpPr>
          <p:cNvPr id="21" name="Text 19"/>
          <p:cNvSpPr/>
          <p:nvPr/>
        </p:nvSpPr>
        <p:spPr>
          <a:xfrm>
            <a:off x="3822192" y="1572768"/>
            <a:ext cx="1389888" cy="868680"/>
          </a:xfrm>
          <a:prstGeom prst="rect">
            <a:avLst/>
          </a:prstGeom>
          <a:noFill/>
          <a:ln/>
        </p:spPr>
        <p:txBody>
          <a:bodyPr wrap="square" lIns="0" tIns="0" rIns="0" bIns="0" rtlCol="0" anchor="ctr"/>
          <a:lstStyle/>
          <a:p>
            <a:pPr marL="0" indent="0" algn="ctr">
              <a:buNone/>
            </a:pPr>
            <a:r>
              <a:rPr lang="en-US" sz="1050" dirty="0">
                <a:solidFill>
                  <a:srgbClr val="B0B0B0"/>
                </a:solidFill>
              </a:rPr>
              <a:t>Quick string filter cuts irrelevant events before full evaluation</a:t>
            </a:r>
            <a:endParaRPr lang="en-US" sz="1050" dirty="0"/>
          </a:p>
        </p:txBody>
      </p:sp>
      <p:sp>
        <p:nvSpPr>
          <p:cNvPr id="22" name="Text 20"/>
          <p:cNvSpPr/>
          <p:nvPr/>
        </p:nvSpPr>
        <p:spPr>
          <a:xfrm>
            <a:off x="5303520"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23" name="Shape 21"/>
          <p:cNvSpPr/>
          <p:nvPr/>
        </p:nvSpPr>
        <p:spPr>
          <a:xfrm>
            <a:off x="5449824" y="1115568"/>
            <a:ext cx="1572768" cy="1463040"/>
          </a:xfrm>
          <a:prstGeom prst="roundRect">
            <a:avLst>
              <a:gd name="adj" fmla="val 5000"/>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24" name="Text 22"/>
          <p:cNvSpPr/>
          <p:nvPr/>
        </p:nvSpPr>
        <p:spPr>
          <a:xfrm>
            <a:off x="5541264" y="1188720"/>
            <a:ext cx="1389888" cy="320040"/>
          </a:xfrm>
          <a:prstGeom prst="rect">
            <a:avLst/>
          </a:prstGeom>
          <a:noFill/>
          <a:ln/>
        </p:spPr>
        <p:txBody>
          <a:bodyPr wrap="square" lIns="0" tIns="0" rIns="0" bIns="0" rtlCol="0" anchor="ctr"/>
          <a:lstStyle/>
          <a:p>
            <a:pPr marL="0" indent="0" algn="ctr">
              <a:buNone/>
            </a:pPr>
            <a:r>
              <a:rPr lang="en-US" sz="1000" b="1" dirty="0">
                <a:solidFill>
                  <a:srgbClr val="00C8FF"/>
                </a:solidFill>
              </a:rPr>
              <a:t>Rule Match</a:t>
            </a:r>
            <a:endParaRPr lang="en-US" sz="1000" dirty="0"/>
          </a:p>
        </p:txBody>
      </p:sp>
      <p:sp>
        <p:nvSpPr>
          <p:cNvPr id="25" name="Shape 23"/>
          <p:cNvSpPr/>
          <p:nvPr/>
        </p:nvSpPr>
        <p:spPr>
          <a:xfrm>
            <a:off x="5541264" y="1536192"/>
            <a:ext cx="1389888" cy="18288"/>
          </a:xfrm>
          <a:prstGeom prst="rect">
            <a:avLst/>
          </a:prstGeom>
          <a:solidFill>
            <a:srgbClr val="3A3A3A"/>
          </a:solidFill>
          <a:ln/>
        </p:spPr>
      </p:sp>
      <p:sp>
        <p:nvSpPr>
          <p:cNvPr id="26" name="Text 24"/>
          <p:cNvSpPr/>
          <p:nvPr/>
        </p:nvSpPr>
        <p:spPr>
          <a:xfrm>
            <a:off x="5541264" y="1572768"/>
            <a:ext cx="1389888" cy="868680"/>
          </a:xfrm>
          <a:prstGeom prst="rect">
            <a:avLst/>
          </a:prstGeom>
          <a:noFill/>
          <a:ln/>
        </p:spPr>
        <p:txBody>
          <a:bodyPr wrap="square" lIns="0" tIns="0" rIns="0" bIns="0" rtlCol="0" anchor="ctr"/>
          <a:lstStyle/>
          <a:p>
            <a:pPr marL="0" indent="0" algn="ctr">
              <a:buNone/>
            </a:pPr>
            <a:r>
              <a:rPr lang="en-US" sz="1050" dirty="0">
                <a:solidFill>
                  <a:srgbClr val="B0B0B0"/>
                </a:solidFill>
              </a:rPr>
              <a:t>Fields checked against XML rule conditions. First match wins.</a:t>
            </a:r>
            <a:endParaRPr lang="en-US" sz="1050" dirty="0"/>
          </a:p>
        </p:txBody>
      </p:sp>
      <p:sp>
        <p:nvSpPr>
          <p:cNvPr id="27" name="Text 25"/>
          <p:cNvSpPr/>
          <p:nvPr/>
        </p:nvSpPr>
        <p:spPr>
          <a:xfrm>
            <a:off x="7022592"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28" name="Shape 26"/>
          <p:cNvSpPr/>
          <p:nvPr/>
        </p:nvSpPr>
        <p:spPr>
          <a:xfrm>
            <a:off x="7168896" y="1115568"/>
            <a:ext cx="1572768" cy="1463040"/>
          </a:xfrm>
          <a:prstGeom prst="roundRect">
            <a:avLst>
              <a:gd name="adj" fmla="val 5000"/>
            </a:avLst>
          </a:prstGeom>
          <a:solidFill>
            <a:srgbClr val="0A1F18"/>
          </a:solidFill>
          <a:ln w="6350">
            <a:solidFill>
              <a:srgbClr val="2A2A2A"/>
            </a:solidFill>
            <a:prstDash val="solid"/>
          </a:ln>
          <a:effectLst>
            <a:outerShdw blurRad="76200" dist="25400" dir="2700000" algn="bl" rotWithShape="0">
              <a:srgbClr val="000000">
                <a:alpha val="30000"/>
              </a:srgbClr>
            </a:outerShdw>
          </a:effectLst>
        </p:spPr>
      </p:sp>
      <p:sp>
        <p:nvSpPr>
          <p:cNvPr id="29" name="Text 27"/>
          <p:cNvSpPr/>
          <p:nvPr/>
        </p:nvSpPr>
        <p:spPr>
          <a:xfrm>
            <a:off x="7260336" y="1188720"/>
            <a:ext cx="1389888" cy="320040"/>
          </a:xfrm>
          <a:prstGeom prst="rect">
            <a:avLst/>
          </a:prstGeom>
          <a:noFill/>
          <a:ln/>
        </p:spPr>
        <p:txBody>
          <a:bodyPr wrap="square" lIns="0" tIns="0" rIns="0" bIns="0" rtlCol="0" anchor="ctr"/>
          <a:lstStyle/>
          <a:p>
            <a:pPr marL="0" indent="0" algn="ctr">
              <a:buNone/>
            </a:pPr>
            <a:r>
              <a:rPr lang="en-US" sz="1000" b="1" dirty="0">
                <a:solidFill>
                  <a:srgbClr val="00CC77"/>
                </a:solidFill>
              </a:rPr>
              <a:t>Alert</a:t>
            </a:r>
            <a:endParaRPr lang="en-US" sz="1000" dirty="0"/>
          </a:p>
        </p:txBody>
      </p:sp>
      <p:sp>
        <p:nvSpPr>
          <p:cNvPr id="30" name="Shape 28"/>
          <p:cNvSpPr/>
          <p:nvPr/>
        </p:nvSpPr>
        <p:spPr>
          <a:xfrm>
            <a:off x="7260336" y="1536192"/>
            <a:ext cx="1389888" cy="18288"/>
          </a:xfrm>
          <a:prstGeom prst="rect">
            <a:avLst/>
          </a:prstGeom>
          <a:solidFill>
            <a:srgbClr val="3A3A3A"/>
          </a:solidFill>
          <a:ln/>
        </p:spPr>
      </p:sp>
      <p:sp>
        <p:nvSpPr>
          <p:cNvPr id="31" name="Text 29"/>
          <p:cNvSpPr/>
          <p:nvPr/>
        </p:nvSpPr>
        <p:spPr>
          <a:xfrm>
            <a:off x="7260336" y="1572768"/>
            <a:ext cx="1389888" cy="868680"/>
          </a:xfrm>
          <a:prstGeom prst="rect">
            <a:avLst/>
          </a:prstGeom>
          <a:noFill/>
          <a:ln/>
        </p:spPr>
        <p:txBody>
          <a:bodyPr wrap="square" lIns="0" tIns="0" rIns="0" bIns="0" rtlCol="0" anchor="ctr"/>
          <a:lstStyle/>
          <a:p>
            <a:pPr marL="0" indent="0" algn="ctr">
              <a:buNone/>
            </a:pPr>
            <a:r>
              <a:rPr lang="en-US" sz="1050" dirty="0">
                <a:solidFill>
                  <a:srgbClr val="B0B0B0"/>
                </a:solidFill>
              </a:rPr>
              <a:t>Rule fires: ID, level, description, MITRE tag, all in the dashboard</a:t>
            </a:r>
            <a:endParaRPr lang="en-US" sz="1050" dirty="0"/>
          </a:p>
        </p:txBody>
      </p:sp>
      <p:sp>
        <p:nvSpPr>
          <p:cNvPr id="32" name="Shape 30"/>
          <p:cNvSpPr/>
          <p:nvPr/>
        </p:nvSpPr>
        <p:spPr>
          <a:xfrm>
            <a:off x="320040" y="2743200"/>
            <a:ext cx="4206240" cy="2029968"/>
          </a:xfrm>
          <a:prstGeom prst="roundRect">
            <a:avLst>
              <a:gd name="adj" fmla="val 3604"/>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33" name="Text 31"/>
          <p:cNvSpPr/>
          <p:nvPr/>
        </p:nvSpPr>
        <p:spPr>
          <a:xfrm>
            <a:off x="502920" y="2834640"/>
            <a:ext cx="3840480" cy="256032"/>
          </a:xfrm>
          <a:prstGeom prst="rect">
            <a:avLst/>
          </a:prstGeom>
          <a:noFill/>
          <a:ln/>
        </p:spPr>
        <p:txBody>
          <a:bodyPr wrap="square" lIns="0" tIns="0" rIns="0" bIns="0" rtlCol="0" anchor="ctr"/>
          <a:lstStyle/>
          <a:p>
            <a:pPr marL="0" indent="0">
              <a:buNone/>
            </a:pPr>
            <a:r>
              <a:rPr lang="en-US" sz="1100" b="1" dirty="0">
                <a:solidFill>
                  <a:srgbClr val="00C8FF"/>
                </a:solidFill>
              </a:rPr>
              <a:t>Decoders</a:t>
            </a:r>
            <a:endParaRPr lang="en-US" sz="1100" dirty="0"/>
          </a:p>
        </p:txBody>
      </p:sp>
      <p:sp>
        <p:nvSpPr>
          <p:cNvPr id="34" name="Text 32"/>
          <p:cNvSpPr/>
          <p:nvPr/>
        </p:nvSpPr>
        <p:spPr>
          <a:xfrm>
            <a:off x="502920" y="3127248"/>
            <a:ext cx="3840480" cy="1508760"/>
          </a:xfrm>
          <a:prstGeom prst="rect">
            <a:avLst/>
          </a:prstGeom>
          <a:noFill/>
          <a:ln/>
        </p:spPr>
        <p:txBody>
          <a:bodyPr wrap="square" lIns="0" tIns="0" rIns="0" bIns="0" rtlCol="0" anchor="ctr"/>
          <a:lstStyle/>
          <a:p>
            <a:pPr marL="0" indent="0">
              <a:buNone/>
            </a:pPr>
            <a:r>
              <a:rPr lang="en-US" sz="1200" dirty="0">
                <a:solidFill>
                  <a:srgbClr val="B0B0B0"/>
                </a:solidFill>
              </a:rPr>
              <a:t>Every log format needs a decoder. The sshd decoder knows how to extract the username and IP from an SSH failure. Without it, the log arrives as a blob and most rules miss it. You rarely write decoders yourself — there are hundreds built in.</a:t>
            </a:r>
            <a:endParaRPr lang="en-US" sz="1200" dirty="0"/>
          </a:p>
        </p:txBody>
      </p:sp>
      <p:sp>
        <p:nvSpPr>
          <p:cNvPr id="35" name="Shape 33"/>
          <p:cNvSpPr/>
          <p:nvPr/>
        </p:nvSpPr>
        <p:spPr>
          <a:xfrm>
            <a:off x="4709160" y="2743200"/>
            <a:ext cx="4206240" cy="2029968"/>
          </a:xfrm>
          <a:prstGeom prst="roundRect">
            <a:avLst>
              <a:gd name="adj" fmla="val 3604"/>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36" name="Text 34"/>
          <p:cNvSpPr/>
          <p:nvPr/>
        </p:nvSpPr>
        <p:spPr>
          <a:xfrm>
            <a:off x="4892040" y="2834640"/>
            <a:ext cx="3840480" cy="256032"/>
          </a:xfrm>
          <a:prstGeom prst="rect">
            <a:avLst/>
          </a:prstGeom>
          <a:noFill/>
          <a:ln/>
        </p:spPr>
        <p:txBody>
          <a:bodyPr wrap="square" lIns="0" tIns="0" rIns="0" bIns="0" rtlCol="0" anchor="ctr"/>
          <a:lstStyle/>
          <a:p>
            <a:pPr marL="0" indent="0">
              <a:buNone/>
            </a:pPr>
            <a:r>
              <a:rPr lang="en-US" sz="1100" b="1" dirty="0">
                <a:solidFill>
                  <a:srgbClr val="00C8FF"/>
                </a:solidFill>
              </a:rPr>
              <a:t>Rules</a:t>
            </a:r>
            <a:endParaRPr lang="en-US" sz="1100" dirty="0"/>
          </a:p>
        </p:txBody>
      </p:sp>
      <p:sp>
        <p:nvSpPr>
          <p:cNvPr id="37" name="Text 35"/>
          <p:cNvSpPr/>
          <p:nvPr/>
        </p:nvSpPr>
        <p:spPr>
          <a:xfrm>
            <a:off x="4892040" y="3127248"/>
            <a:ext cx="3840480" cy="1508760"/>
          </a:xfrm>
          <a:prstGeom prst="rect">
            <a:avLst/>
          </a:prstGeom>
          <a:noFill/>
          <a:ln/>
        </p:spPr>
        <p:txBody>
          <a:bodyPr wrap="square" lIns="0" tIns="0" rIns="0" bIns="0" rtlCol="0" anchor="ctr"/>
          <a:lstStyle/>
          <a:p>
            <a:pPr marL="0" indent="0">
              <a:buNone/>
            </a:pPr>
            <a:r>
              <a:rPr lang="en-US" sz="1200" dirty="0">
                <a:solidFill>
                  <a:srgbClr val="B0B0B0"/>
                </a:solidFill>
              </a:rPr>
              <a:t>Rules are XML conditions. When the structured fields from the decoder match a rule's conditions, the alert fires. Rules chain together — a child rule says fire when parent rule X also fired AND this additional field matches. Your custom rules live in local_rules.xml.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RULE STRUCTURE</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ANATOMY OF A WAZUH RULE</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Reading and writing rule XML</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4069080" cy="3694176"/>
          </a:xfrm>
          <a:prstGeom prst="roundRect">
            <a:avLst>
              <a:gd name="adj" fmla="val 1980"/>
            </a:avLst>
          </a:prstGeom>
          <a:solidFill>
            <a:srgbClr val="0C0C0C"/>
          </a:solidFill>
          <a:ln w="6350">
            <a:solidFill>
              <a:srgbClr val="2A2A2A"/>
            </a:solidFill>
            <a:prstDash val="solid"/>
          </a:ln>
          <a:effectLst>
            <a:outerShdw blurRad="76200" dist="25400" dir="2700000" algn="bl" rotWithShape="0">
              <a:srgbClr val="000000">
                <a:alpha val="30000"/>
              </a:srgbClr>
            </a:outerShdw>
          </a:effectLst>
        </p:spPr>
      </p:sp>
      <p:sp>
        <p:nvSpPr>
          <p:cNvPr id="9" name="Text 7"/>
          <p:cNvSpPr/>
          <p:nvPr/>
        </p:nvSpPr>
        <p:spPr>
          <a:xfrm>
            <a:off x="502920" y="1234440"/>
            <a:ext cx="3749040"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&lt; rule id="100002" level="10" &gt;</a:t>
            </a:r>
            <a:endParaRPr lang="en-US" sz="950" dirty="0"/>
          </a:p>
        </p:txBody>
      </p:sp>
      <p:sp>
        <p:nvSpPr>
          <p:cNvPr id="10" name="Text 8"/>
          <p:cNvSpPr/>
          <p:nvPr/>
        </p:nvSpPr>
        <p:spPr>
          <a:xfrm>
            <a:off x="502920" y="1481328"/>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&lt;if_sid&gt;</a:t>
            </a:r>
            <a:r>
              <a:rPr lang="en-US" sz="950" dirty="0">
                <a:solidFill>
                  <a:srgbClr val="00C8FF"/>
                </a:solidFill>
                <a:latin typeface="Courier New" pitchFamily="34" charset="0"/>
                <a:ea typeface="Courier New" pitchFamily="34" charset="-122"/>
                <a:cs typeface="Courier New" pitchFamily="34" charset="-120"/>
              </a:rPr>
              <a:t>5503</a:t>
            </a:r>
            <a:r>
              <a:rPr lang="en-US" sz="950" dirty="0">
                <a:solidFill>
                  <a:srgbClr val="C586C0"/>
                </a:solidFill>
                <a:latin typeface="Courier New" pitchFamily="34" charset="0"/>
                <a:ea typeface="Courier New" pitchFamily="34" charset="-122"/>
                <a:cs typeface="Courier New" pitchFamily="34" charset="-120"/>
              </a:rPr>
              <a:t>&lt;/if_sid&gt;</a:t>
            </a:r>
            <a:endParaRPr lang="en-US" sz="950" dirty="0"/>
          </a:p>
        </p:txBody>
      </p:sp>
      <p:sp>
        <p:nvSpPr>
          <p:cNvPr id="11" name="Text 9"/>
          <p:cNvSpPr/>
          <p:nvPr/>
        </p:nvSpPr>
        <p:spPr>
          <a:xfrm>
            <a:off x="502920" y="1737360"/>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&lt;frequency&gt;</a:t>
            </a:r>
            <a:r>
              <a:rPr lang="en-US" sz="950" dirty="0">
                <a:solidFill>
                  <a:srgbClr val="00C8FF"/>
                </a:solidFill>
                <a:latin typeface="Courier New" pitchFamily="34" charset="0"/>
                <a:ea typeface="Courier New" pitchFamily="34" charset="-122"/>
                <a:cs typeface="Courier New" pitchFamily="34" charset="-120"/>
              </a:rPr>
              <a:t>5</a:t>
            </a:r>
            <a:r>
              <a:rPr lang="en-US" sz="950" dirty="0">
                <a:solidFill>
                  <a:srgbClr val="C586C0"/>
                </a:solidFill>
                <a:latin typeface="Courier New" pitchFamily="34" charset="0"/>
                <a:ea typeface="Courier New" pitchFamily="34" charset="-122"/>
                <a:cs typeface="Courier New" pitchFamily="34" charset="-120"/>
              </a:rPr>
              <a:t>&lt;/frequency&gt;</a:t>
            </a:r>
            <a:endParaRPr lang="en-US" sz="950" dirty="0"/>
          </a:p>
        </p:txBody>
      </p:sp>
      <p:sp>
        <p:nvSpPr>
          <p:cNvPr id="12" name="Text 10"/>
          <p:cNvSpPr/>
          <p:nvPr/>
        </p:nvSpPr>
        <p:spPr>
          <a:xfrm>
            <a:off x="502920" y="1993392"/>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&lt;timeframe&gt;</a:t>
            </a:r>
            <a:r>
              <a:rPr lang="en-US" sz="950" dirty="0">
                <a:solidFill>
                  <a:srgbClr val="00C8FF"/>
                </a:solidFill>
                <a:latin typeface="Courier New" pitchFamily="34" charset="0"/>
                <a:ea typeface="Courier New" pitchFamily="34" charset="-122"/>
                <a:cs typeface="Courier New" pitchFamily="34" charset="-120"/>
              </a:rPr>
              <a:t>120</a:t>
            </a:r>
            <a:r>
              <a:rPr lang="en-US" sz="950" dirty="0">
                <a:solidFill>
                  <a:srgbClr val="C586C0"/>
                </a:solidFill>
                <a:latin typeface="Courier New" pitchFamily="34" charset="0"/>
                <a:ea typeface="Courier New" pitchFamily="34" charset="-122"/>
                <a:cs typeface="Courier New" pitchFamily="34" charset="-120"/>
              </a:rPr>
              <a:t>&lt;/timeframe&gt;</a:t>
            </a:r>
            <a:endParaRPr lang="en-US" sz="950" dirty="0"/>
          </a:p>
        </p:txBody>
      </p:sp>
      <p:sp>
        <p:nvSpPr>
          <p:cNvPr id="13" name="Text 11"/>
          <p:cNvSpPr/>
          <p:nvPr/>
        </p:nvSpPr>
        <p:spPr>
          <a:xfrm>
            <a:off x="502920" y="2249424"/>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&lt;description&gt;</a:t>
            </a:r>
            <a:endParaRPr lang="en-US" sz="950" dirty="0"/>
          </a:p>
        </p:txBody>
      </p:sp>
      <p:sp>
        <p:nvSpPr>
          <p:cNvPr id="14" name="Text 12"/>
          <p:cNvSpPr/>
          <p:nvPr/>
        </p:nvSpPr>
        <p:spPr>
          <a:xfrm>
            <a:off x="502920" y="2505456"/>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SSH brute force detected</a:t>
            </a:r>
            <a:endParaRPr lang="en-US" sz="950" dirty="0"/>
          </a:p>
        </p:txBody>
      </p:sp>
      <p:sp>
        <p:nvSpPr>
          <p:cNvPr id="15" name="Text 13"/>
          <p:cNvSpPr/>
          <p:nvPr/>
        </p:nvSpPr>
        <p:spPr>
          <a:xfrm>
            <a:off x="502920" y="2761488"/>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&lt;/description&gt;</a:t>
            </a:r>
            <a:endParaRPr lang="en-US" sz="950" dirty="0"/>
          </a:p>
        </p:txBody>
      </p:sp>
      <p:sp>
        <p:nvSpPr>
          <p:cNvPr id="16" name="Text 14"/>
          <p:cNvSpPr/>
          <p:nvPr/>
        </p:nvSpPr>
        <p:spPr>
          <a:xfrm>
            <a:off x="502920" y="3017520"/>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&lt;group&gt;</a:t>
            </a:r>
            <a:r>
              <a:rPr lang="en-US" sz="950" dirty="0">
                <a:solidFill>
                  <a:srgbClr val="00C8FF"/>
                </a:solidFill>
                <a:latin typeface="Courier New" pitchFamily="34" charset="0"/>
                <a:ea typeface="Courier New" pitchFamily="34" charset="-122"/>
                <a:cs typeface="Courier New" pitchFamily="34" charset="-120"/>
              </a:rPr>
              <a:t>authentication_failures</a:t>
            </a:r>
            <a:r>
              <a:rPr lang="en-US" sz="950" dirty="0">
                <a:solidFill>
                  <a:srgbClr val="C586C0"/>
                </a:solidFill>
                <a:latin typeface="Courier New" pitchFamily="34" charset="0"/>
                <a:ea typeface="Courier New" pitchFamily="34" charset="-122"/>
                <a:cs typeface="Courier New" pitchFamily="34" charset="-120"/>
              </a:rPr>
              <a:t>&lt;/group&gt;</a:t>
            </a:r>
            <a:endParaRPr lang="en-US" sz="950" dirty="0"/>
          </a:p>
        </p:txBody>
      </p:sp>
      <p:sp>
        <p:nvSpPr>
          <p:cNvPr id="17" name="Text 15"/>
          <p:cNvSpPr/>
          <p:nvPr/>
        </p:nvSpPr>
        <p:spPr>
          <a:xfrm>
            <a:off x="502920" y="3273552"/>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&lt;mitre&gt;</a:t>
            </a:r>
            <a:endParaRPr lang="en-US" sz="950" dirty="0"/>
          </a:p>
        </p:txBody>
      </p:sp>
      <p:sp>
        <p:nvSpPr>
          <p:cNvPr id="18" name="Text 16"/>
          <p:cNvSpPr/>
          <p:nvPr/>
        </p:nvSpPr>
        <p:spPr>
          <a:xfrm>
            <a:off x="502920" y="3529584"/>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&lt;id&gt;</a:t>
            </a:r>
            <a:r>
              <a:rPr lang="en-US" sz="950" dirty="0">
                <a:solidFill>
                  <a:srgbClr val="00C8FF"/>
                </a:solidFill>
                <a:latin typeface="Courier New" pitchFamily="34" charset="0"/>
                <a:ea typeface="Courier New" pitchFamily="34" charset="-122"/>
                <a:cs typeface="Courier New" pitchFamily="34" charset="-120"/>
              </a:rPr>
              <a:t>T1110</a:t>
            </a:r>
            <a:r>
              <a:rPr lang="en-US" sz="950" dirty="0">
                <a:solidFill>
                  <a:srgbClr val="C586C0"/>
                </a:solidFill>
                <a:latin typeface="Courier New" pitchFamily="34" charset="0"/>
                <a:ea typeface="Courier New" pitchFamily="34" charset="-122"/>
                <a:cs typeface="Courier New" pitchFamily="34" charset="-120"/>
              </a:rPr>
              <a:t>&lt;/id&gt;</a:t>
            </a:r>
            <a:endParaRPr lang="en-US" sz="950" dirty="0"/>
          </a:p>
        </p:txBody>
      </p:sp>
      <p:sp>
        <p:nvSpPr>
          <p:cNvPr id="19" name="Text 17"/>
          <p:cNvSpPr/>
          <p:nvPr/>
        </p:nvSpPr>
        <p:spPr>
          <a:xfrm>
            <a:off x="502920" y="3785616"/>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&lt;/mitre&gt;</a:t>
            </a:r>
            <a:endParaRPr lang="en-US" sz="950" dirty="0"/>
          </a:p>
        </p:txBody>
      </p:sp>
      <p:sp>
        <p:nvSpPr>
          <p:cNvPr id="20" name="Text 18"/>
          <p:cNvSpPr/>
          <p:nvPr/>
        </p:nvSpPr>
        <p:spPr>
          <a:xfrm>
            <a:off x="502920" y="4041648"/>
            <a:ext cx="3749040" cy="237744"/>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&lt;/rule&gt;</a:t>
            </a:r>
            <a:endParaRPr lang="en-US" sz="950" dirty="0"/>
          </a:p>
        </p:txBody>
      </p:sp>
      <p:sp>
        <p:nvSpPr>
          <p:cNvPr id="63" name="Shape 20">
            <a:extLst>
              <a:ext uri="{FF2B5EF4-FFF2-40B4-BE49-F238E27FC236}">
                <a16:creationId xmlns:a16="http://schemas.microsoft.com/office/drawing/2014/main" id="{1BB34F1A-DD59-1C87-E3F2-FA52271F07D2}"/>
              </a:ext>
            </a:extLst>
          </p:cNvPr>
          <p:cNvSpPr/>
          <p:nvPr/>
        </p:nvSpPr>
        <p:spPr>
          <a:xfrm>
            <a:off x="4443984" y="1564327"/>
            <a:ext cx="256032" cy="0"/>
          </a:xfrm>
          <a:prstGeom prst="line">
            <a:avLst/>
          </a:prstGeom>
          <a:noFill/>
          <a:ln w="12700">
            <a:solidFill>
              <a:srgbClr val="00C9A7"/>
            </a:solidFill>
            <a:prstDash val="solid"/>
          </a:ln>
        </p:spPr>
      </p:sp>
      <p:sp>
        <p:nvSpPr>
          <p:cNvPr id="64" name="Text 21">
            <a:extLst>
              <a:ext uri="{FF2B5EF4-FFF2-40B4-BE49-F238E27FC236}">
                <a16:creationId xmlns:a16="http://schemas.microsoft.com/office/drawing/2014/main" id="{817CBEE0-D84A-3E66-64EA-813034F8D3CC}"/>
              </a:ext>
            </a:extLst>
          </p:cNvPr>
          <p:cNvSpPr/>
          <p:nvPr/>
        </p:nvSpPr>
        <p:spPr>
          <a:xfrm>
            <a:off x="4846320" y="1445280"/>
            <a:ext cx="3438144"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ID above 100000 — avoids conflicts with default ruleset</a:t>
            </a:r>
            <a:endParaRPr lang="en-US" sz="1050" dirty="0"/>
          </a:p>
        </p:txBody>
      </p:sp>
      <p:sp>
        <p:nvSpPr>
          <p:cNvPr id="65" name="Shape 22">
            <a:extLst>
              <a:ext uri="{FF2B5EF4-FFF2-40B4-BE49-F238E27FC236}">
                <a16:creationId xmlns:a16="http://schemas.microsoft.com/office/drawing/2014/main" id="{BCBA5BA6-85F2-78F2-B297-A77A51EA6B79}"/>
              </a:ext>
            </a:extLst>
          </p:cNvPr>
          <p:cNvSpPr/>
          <p:nvPr/>
        </p:nvSpPr>
        <p:spPr>
          <a:xfrm>
            <a:off x="4443984" y="1829503"/>
            <a:ext cx="256032" cy="0"/>
          </a:xfrm>
          <a:prstGeom prst="line">
            <a:avLst/>
          </a:prstGeom>
          <a:noFill/>
          <a:ln w="12700">
            <a:solidFill>
              <a:srgbClr val="00C9A7"/>
            </a:solidFill>
            <a:prstDash val="solid"/>
          </a:ln>
        </p:spPr>
      </p:sp>
      <p:sp>
        <p:nvSpPr>
          <p:cNvPr id="66" name="Text 23">
            <a:extLst>
              <a:ext uri="{FF2B5EF4-FFF2-40B4-BE49-F238E27FC236}">
                <a16:creationId xmlns:a16="http://schemas.microsoft.com/office/drawing/2014/main" id="{16742A84-F1A1-73D7-DE4A-561571089173}"/>
              </a:ext>
            </a:extLst>
          </p:cNvPr>
          <p:cNvSpPr/>
          <p:nvPr/>
        </p:nvSpPr>
        <p:spPr>
          <a:xfrm>
            <a:off x="4846320" y="1716962"/>
            <a:ext cx="3438144"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Parent rule ID (5503 = SSH auth failure from default rules)</a:t>
            </a:r>
            <a:endParaRPr lang="en-US" sz="1050" dirty="0"/>
          </a:p>
        </p:txBody>
      </p:sp>
      <p:sp>
        <p:nvSpPr>
          <p:cNvPr id="67" name="Shape 24">
            <a:extLst>
              <a:ext uri="{FF2B5EF4-FFF2-40B4-BE49-F238E27FC236}">
                <a16:creationId xmlns:a16="http://schemas.microsoft.com/office/drawing/2014/main" id="{5C261739-C81B-0ECB-F51A-4A1592A6DBF6}"/>
              </a:ext>
            </a:extLst>
          </p:cNvPr>
          <p:cNvSpPr/>
          <p:nvPr/>
        </p:nvSpPr>
        <p:spPr>
          <a:xfrm>
            <a:off x="4443984" y="2094679"/>
            <a:ext cx="256032" cy="0"/>
          </a:xfrm>
          <a:prstGeom prst="line">
            <a:avLst/>
          </a:prstGeom>
          <a:noFill/>
          <a:ln w="12700">
            <a:solidFill>
              <a:srgbClr val="00C9A7"/>
            </a:solidFill>
            <a:prstDash val="solid"/>
          </a:ln>
        </p:spPr>
      </p:sp>
      <p:sp>
        <p:nvSpPr>
          <p:cNvPr id="68" name="Text 25">
            <a:extLst>
              <a:ext uri="{FF2B5EF4-FFF2-40B4-BE49-F238E27FC236}">
                <a16:creationId xmlns:a16="http://schemas.microsoft.com/office/drawing/2014/main" id="{89DE6E58-754B-FEFD-360C-B92EB38191AC}"/>
              </a:ext>
            </a:extLst>
          </p:cNvPr>
          <p:cNvSpPr/>
          <p:nvPr/>
        </p:nvSpPr>
        <p:spPr>
          <a:xfrm>
            <a:off x="4846320" y="2010801"/>
            <a:ext cx="3438144"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Number of matching events that trigger this rule...</a:t>
            </a:r>
            <a:endParaRPr lang="en-US" sz="1050" dirty="0"/>
          </a:p>
        </p:txBody>
      </p:sp>
      <p:sp>
        <p:nvSpPr>
          <p:cNvPr id="69" name="Shape 26">
            <a:extLst>
              <a:ext uri="{FF2B5EF4-FFF2-40B4-BE49-F238E27FC236}">
                <a16:creationId xmlns:a16="http://schemas.microsoft.com/office/drawing/2014/main" id="{41122F06-AC96-E1C8-8F11-CCBB238555E0}"/>
              </a:ext>
            </a:extLst>
          </p:cNvPr>
          <p:cNvSpPr/>
          <p:nvPr/>
        </p:nvSpPr>
        <p:spPr>
          <a:xfrm>
            <a:off x="4443984" y="2350711"/>
            <a:ext cx="256032" cy="0"/>
          </a:xfrm>
          <a:prstGeom prst="line">
            <a:avLst/>
          </a:prstGeom>
          <a:noFill/>
          <a:ln w="12700">
            <a:solidFill>
              <a:srgbClr val="00C9A7"/>
            </a:solidFill>
            <a:prstDash val="solid"/>
          </a:ln>
        </p:spPr>
      </p:sp>
      <p:sp>
        <p:nvSpPr>
          <p:cNvPr id="70" name="Text 27">
            <a:extLst>
              <a:ext uri="{FF2B5EF4-FFF2-40B4-BE49-F238E27FC236}">
                <a16:creationId xmlns:a16="http://schemas.microsoft.com/office/drawing/2014/main" id="{60E8F2D7-2CB1-995E-A82C-527AD2C40F1C}"/>
              </a:ext>
            </a:extLst>
          </p:cNvPr>
          <p:cNvSpPr/>
          <p:nvPr/>
        </p:nvSpPr>
        <p:spPr>
          <a:xfrm>
            <a:off x="4846320" y="2306047"/>
            <a:ext cx="3438144"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...within this many seconds. Both required for brute force detection.</a:t>
            </a:r>
            <a:endParaRPr lang="en-US" sz="1050" dirty="0"/>
          </a:p>
        </p:txBody>
      </p:sp>
      <p:sp>
        <p:nvSpPr>
          <p:cNvPr id="71" name="Shape 28">
            <a:extLst>
              <a:ext uri="{FF2B5EF4-FFF2-40B4-BE49-F238E27FC236}">
                <a16:creationId xmlns:a16="http://schemas.microsoft.com/office/drawing/2014/main" id="{0DEFD222-34F6-B638-4D93-FFDE078C381B}"/>
              </a:ext>
            </a:extLst>
          </p:cNvPr>
          <p:cNvSpPr/>
          <p:nvPr/>
        </p:nvSpPr>
        <p:spPr>
          <a:xfrm>
            <a:off x="4443984" y="2679895"/>
            <a:ext cx="256032" cy="0"/>
          </a:xfrm>
          <a:prstGeom prst="line">
            <a:avLst/>
          </a:prstGeom>
          <a:noFill/>
          <a:ln w="12700">
            <a:solidFill>
              <a:srgbClr val="00C9A7"/>
            </a:solidFill>
            <a:prstDash val="solid"/>
          </a:ln>
        </p:spPr>
      </p:sp>
      <p:sp>
        <p:nvSpPr>
          <p:cNvPr id="72" name="Text 29">
            <a:extLst>
              <a:ext uri="{FF2B5EF4-FFF2-40B4-BE49-F238E27FC236}">
                <a16:creationId xmlns:a16="http://schemas.microsoft.com/office/drawing/2014/main" id="{32A79522-45A0-606A-5F7E-D43196A0B2D5}"/>
              </a:ext>
            </a:extLst>
          </p:cNvPr>
          <p:cNvSpPr/>
          <p:nvPr/>
        </p:nvSpPr>
        <p:spPr>
          <a:xfrm>
            <a:off x="4846320" y="2651760"/>
            <a:ext cx="3438144"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Text that appears as the alert title in the Wazuh dashboard</a:t>
            </a:r>
            <a:endParaRPr lang="en-US" sz="1050" dirty="0"/>
          </a:p>
        </p:txBody>
      </p:sp>
      <p:sp>
        <p:nvSpPr>
          <p:cNvPr id="73" name="Shape 30">
            <a:extLst>
              <a:ext uri="{FF2B5EF4-FFF2-40B4-BE49-F238E27FC236}">
                <a16:creationId xmlns:a16="http://schemas.microsoft.com/office/drawing/2014/main" id="{B71FA855-3BD5-476C-E0A1-EC775AEC5569}"/>
              </a:ext>
            </a:extLst>
          </p:cNvPr>
          <p:cNvSpPr/>
          <p:nvPr/>
        </p:nvSpPr>
        <p:spPr>
          <a:xfrm>
            <a:off x="4443984" y="3173671"/>
            <a:ext cx="256032" cy="0"/>
          </a:xfrm>
          <a:prstGeom prst="line">
            <a:avLst/>
          </a:prstGeom>
          <a:noFill/>
          <a:ln w="12700">
            <a:solidFill>
              <a:srgbClr val="00C9A7"/>
            </a:solidFill>
            <a:prstDash val="solid"/>
          </a:ln>
        </p:spPr>
      </p:sp>
      <p:sp>
        <p:nvSpPr>
          <p:cNvPr id="74" name="Text 31">
            <a:extLst>
              <a:ext uri="{FF2B5EF4-FFF2-40B4-BE49-F238E27FC236}">
                <a16:creationId xmlns:a16="http://schemas.microsoft.com/office/drawing/2014/main" id="{B7178A63-9DA4-F9C2-463D-DD622ACE164E}"/>
              </a:ext>
            </a:extLst>
          </p:cNvPr>
          <p:cNvSpPr/>
          <p:nvPr/>
        </p:nvSpPr>
        <p:spPr>
          <a:xfrm>
            <a:off x="4846320" y="3054799"/>
            <a:ext cx="3438144"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Groups allow you to tune many related rules together at once</a:t>
            </a:r>
            <a:endParaRPr lang="en-US" sz="1050" dirty="0"/>
          </a:p>
        </p:txBody>
      </p:sp>
      <p:sp>
        <p:nvSpPr>
          <p:cNvPr id="75" name="Shape 32">
            <a:extLst>
              <a:ext uri="{FF2B5EF4-FFF2-40B4-BE49-F238E27FC236}">
                <a16:creationId xmlns:a16="http://schemas.microsoft.com/office/drawing/2014/main" id="{EA016558-ED14-97AA-5C8D-01FD00DACC8C}"/>
              </a:ext>
            </a:extLst>
          </p:cNvPr>
          <p:cNvSpPr/>
          <p:nvPr/>
        </p:nvSpPr>
        <p:spPr>
          <a:xfrm>
            <a:off x="4443984" y="3438847"/>
            <a:ext cx="256032" cy="0"/>
          </a:xfrm>
          <a:prstGeom prst="line">
            <a:avLst/>
          </a:prstGeom>
          <a:noFill/>
          <a:ln w="12700">
            <a:solidFill>
              <a:srgbClr val="00C9A7"/>
            </a:solidFill>
            <a:prstDash val="solid"/>
          </a:ln>
        </p:spPr>
      </p:sp>
      <p:sp>
        <p:nvSpPr>
          <p:cNvPr id="76" name="Text 33">
            <a:extLst>
              <a:ext uri="{FF2B5EF4-FFF2-40B4-BE49-F238E27FC236}">
                <a16:creationId xmlns:a16="http://schemas.microsoft.com/office/drawing/2014/main" id="{6E5BD269-6CF1-E578-59E5-62D8DDF4531E}"/>
              </a:ext>
            </a:extLst>
          </p:cNvPr>
          <p:cNvSpPr/>
          <p:nvPr/>
        </p:nvSpPr>
        <p:spPr>
          <a:xfrm>
            <a:off x="4846320" y="3417922"/>
            <a:ext cx="3438144" cy="237744"/>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Maps to MITRE ATT&amp;CK — appears in the ATT&amp;CK module view</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DETECTION ENGINEERING</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WRITING RULES THAT ACTUALLY WORK</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False positives, thresholds, and the tuning cycle</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2743200" cy="2103120"/>
          </a:xfrm>
          <a:prstGeom prst="roundRect">
            <a:avLst>
              <a:gd name="adj" fmla="val 3478"/>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9" name="Shape 7"/>
          <p:cNvSpPr/>
          <p:nvPr/>
        </p:nvSpPr>
        <p:spPr>
          <a:xfrm>
            <a:off x="320040" y="1115568"/>
            <a:ext cx="2743200" cy="54864"/>
          </a:xfrm>
          <a:prstGeom prst="rect">
            <a:avLst/>
          </a:prstGeom>
          <a:solidFill>
            <a:srgbClr val="FF8C00"/>
          </a:solidFill>
          <a:ln/>
        </p:spPr>
      </p:sp>
      <p:sp>
        <p:nvSpPr>
          <p:cNvPr id="10" name="Text 8"/>
          <p:cNvSpPr/>
          <p:nvPr/>
        </p:nvSpPr>
        <p:spPr>
          <a:xfrm>
            <a:off x="484632" y="1234440"/>
            <a:ext cx="2423160" cy="274320"/>
          </a:xfrm>
          <a:prstGeom prst="rect">
            <a:avLst/>
          </a:prstGeom>
          <a:noFill/>
          <a:ln/>
        </p:spPr>
        <p:txBody>
          <a:bodyPr wrap="square" lIns="0" tIns="0" rIns="0" bIns="0" rtlCol="0" anchor="ctr"/>
          <a:lstStyle/>
          <a:p>
            <a:pPr marL="0" indent="0">
              <a:buNone/>
            </a:pPr>
            <a:r>
              <a:rPr lang="en-US" sz="1300" b="1" dirty="0">
                <a:solidFill>
                  <a:srgbClr val="FF8C00"/>
                </a:solidFill>
              </a:rPr>
              <a:t>False Positive</a:t>
            </a:r>
            <a:endParaRPr lang="en-US" sz="1300" dirty="0"/>
          </a:p>
        </p:txBody>
      </p:sp>
      <p:sp>
        <p:nvSpPr>
          <p:cNvPr id="11" name="Text 9"/>
          <p:cNvSpPr/>
          <p:nvPr/>
        </p:nvSpPr>
        <p:spPr>
          <a:xfrm>
            <a:off x="484632" y="1572768"/>
            <a:ext cx="2423160" cy="1508760"/>
          </a:xfrm>
          <a:prstGeom prst="rect">
            <a:avLst/>
          </a:prstGeom>
          <a:noFill/>
          <a:ln/>
        </p:spPr>
        <p:txBody>
          <a:bodyPr wrap="square" lIns="0" tIns="0" rIns="0" bIns="0" rtlCol="0" anchor="ctr"/>
          <a:lstStyle/>
          <a:p>
            <a:pPr marL="0" indent="0">
              <a:buNone/>
            </a:pPr>
            <a:r>
              <a:rPr lang="en-US" sz="1200" dirty="0">
                <a:solidFill>
                  <a:srgbClr val="B0B0B0"/>
                </a:solidFill>
              </a:rPr>
              <a:t>Alert fires on legitimate activity. Backup job triggering a frequency rule. Scheduled task hitting a file watch. Not a threat, but wastes analyst time.</a:t>
            </a:r>
            <a:endParaRPr lang="en-US" sz="1200" dirty="0"/>
          </a:p>
        </p:txBody>
      </p:sp>
      <p:sp>
        <p:nvSpPr>
          <p:cNvPr id="12" name="Shape 10"/>
          <p:cNvSpPr/>
          <p:nvPr/>
        </p:nvSpPr>
        <p:spPr>
          <a:xfrm>
            <a:off x="3172968" y="1115568"/>
            <a:ext cx="2743200" cy="2103120"/>
          </a:xfrm>
          <a:prstGeom prst="roundRect">
            <a:avLst>
              <a:gd name="adj" fmla="val 3478"/>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13" name="Shape 11"/>
          <p:cNvSpPr/>
          <p:nvPr/>
        </p:nvSpPr>
        <p:spPr>
          <a:xfrm>
            <a:off x="3172968" y="1115568"/>
            <a:ext cx="2743200" cy="54864"/>
          </a:xfrm>
          <a:prstGeom prst="rect">
            <a:avLst/>
          </a:prstGeom>
          <a:solidFill>
            <a:srgbClr val="FF4444"/>
          </a:solidFill>
          <a:ln/>
        </p:spPr>
      </p:sp>
      <p:sp>
        <p:nvSpPr>
          <p:cNvPr id="14" name="Text 12"/>
          <p:cNvSpPr/>
          <p:nvPr/>
        </p:nvSpPr>
        <p:spPr>
          <a:xfrm>
            <a:off x="3337560" y="1234440"/>
            <a:ext cx="2423160" cy="274320"/>
          </a:xfrm>
          <a:prstGeom prst="rect">
            <a:avLst/>
          </a:prstGeom>
          <a:noFill/>
          <a:ln/>
        </p:spPr>
        <p:txBody>
          <a:bodyPr wrap="square" lIns="0" tIns="0" rIns="0" bIns="0" rtlCol="0" anchor="ctr"/>
          <a:lstStyle/>
          <a:p>
            <a:pPr marL="0" indent="0">
              <a:buNone/>
            </a:pPr>
            <a:r>
              <a:rPr lang="en-US" sz="1300" b="1" dirty="0">
                <a:solidFill>
                  <a:srgbClr val="FF4444"/>
                </a:solidFill>
              </a:rPr>
              <a:t>False Negative</a:t>
            </a:r>
            <a:endParaRPr lang="en-US" sz="1300" dirty="0"/>
          </a:p>
        </p:txBody>
      </p:sp>
      <p:sp>
        <p:nvSpPr>
          <p:cNvPr id="15" name="Text 13"/>
          <p:cNvSpPr/>
          <p:nvPr/>
        </p:nvSpPr>
        <p:spPr>
          <a:xfrm>
            <a:off x="3337560" y="1572768"/>
            <a:ext cx="2423160" cy="1508760"/>
          </a:xfrm>
          <a:prstGeom prst="rect">
            <a:avLst/>
          </a:prstGeom>
          <a:noFill/>
          <a:ln/>
        </p:spPr>
        <p:txBody>
          <a:bodyPr wrap="square" lIns="0" tIns="0" rIns="0" bIns="0" rtlCol="0" anchor="ctr"/>
          <a:lstStyle/>
          <a:p>
            <a:pPr marL="0" indent="0">
              <a:buNone/>
            </a:pPr>
            <a:r>
              <a:rPr lang="en-US" sz="1200" dirty="0">
                <a:solidFill>
                  <a:srgbClr val="B0B0B0"/>
                </a:solidFill>
              </a:rPr>
              <a:t>A real threat that didn't alert. Threshold too high. Technique the ruleset doesn't cover. The invisible failure — you don't know it's happening.</a:t>
            </a:r>
            <a:endParaRPr lang="en-US" sz="1200" dirty="0"/>
          </a:p>
        </p:txBody>
      </p:sp>
      <p:sp>
        <p:nvSpPr>
          <p:cNvPr id="16" name="Shape 14"/>
          <p:cNvSpPr/>
          <p:nvPr/>
        </p:nvSpPr>
        <p:spPr>
          <a:xfrm>
            <a:off x="6025896" y="1115568"/>
            <a:ext cx="2743200" cy="2103120"/>
          </a:xfrm>
          <a:prstGeom prst="roundRect">
            <a:avLst>
              <a:gd name="adj" fmla="val 3478"/>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17" name="Shape 15"/>
          <p:cNvSpPr/>
          <p:nvPr/>
        </p:nvSpPr>
        <p:spPr>
          <a:xfrm>
            <a:off x="6025896" y="1115568"/>
            <a:ext cx="2743200" cy="54864"/>
          </a:xfrm>
          <a:prstGeom prst="rect">
            <a:avLst/>
          </a:prstGeom>
          <a:solidFill>
            <a:srgbClr val="00CC77"/>
          </a:solidFill>
          <a:ln/>
        </p:spPr>
      </p:sp>
      <p:sp>
        <p:nvSpPr>
          <p:cNvPr id="18" name="Text 16"/>
          <p:cNvSpPr/>
          <p:nvPr/>
        </p:nvSpPr>
        <p:spPr>
          <a:xfrm>
            <a:off x="6190488" y="1234440"/>
            <a:ext cx="2423160" cy="274320"/>
          </a:xfrm>
          <a:prstGeom prst="rect">
            <a:avLst/>
          </a:prstGeom>
          <a:noFill/>
          <a:ln/>
        </p:spPr>
        <p:txBody>
          <a:bodyPr wrap="square" lIns="0" tIns="0" rIns="0" bIns="0" rtlCol="0" anchor="ctr"/>
          <a:lstStyle/>
          <a:p>
            <a:pPr marL="0" indent="0">
              <a:buNone/>
            </a:pPr>
            <a:r>
              <a:rPr lang="en-US" sz="1300" b="1" dirty="0">
                <a:solidFill>
                  <a:srgbClr val="00CC77"/>
                </a:solidFill>
              </a:rPr>
              <a:t>Tuning</a:t>
            </a:r>
            <a:endParaRPr lang="en-US" sz="1300" dirty="0"/>
          </a:p>
        </p:txBody>
      </p:sp>
      <p:sp>
        <p:nvSpPr>
          <p:cNvPr id="19" name="Text 17"/>
          <p:cNvSpPr/>
          <p:nvPr/>
        </p:nvSpPr>
        <p:spPr>
          <a:xfrm>
            <a:off x="6190488" y="1572768"/>
            <a:ext cx="2423160" cy="1508760"/>
          </a:xfrm>
          <a:prstGeom prst="rect">
            <a:avLst/>
          </a:prstGeom>
          <a:noFill/>
          <a:ln/>
        </p:spPr>
        <p:txBody>
          <a:bodyPr wrap="square" lIns="0" tIns="0" rIns="0" bIns="0" rtlCol="0" anchor="ctr"/>
          <a:lstStyle/>
          <a:p>
            <a:pPr marL="0" indent="0">
              <a:buNone/>
            </a:pPr>
            <a:r>
              <a:rPr lang="en-US" sz="1200" dirty="0">
                <a:solidFill>
                  <a:srgbClr val="B0B0B0"/>
                </a:solidFill>
              </a:rPr>
              <a:t>Adjusting conditions, thresholds, and exclusions until the rule is specific enough to matter. Never a one-time task — the environment changes, so rules must change too.</a:t>
            </a:r>
            <a:endParaRPr lang="en-US" sz="1200" dirty="0"/>
          </a:p>
        </p:txBody>
      </p:sp>
      <p:sp>
        <p:nvSpPr>
          <p:cNvPr id="20" name="Shape 18"/>
          <p:cNvSpPr/>
          <p:nvPr/>
        </p:nvSpPr>
        <p:spPr>
          <a:xfrm>
            <a:off x="320040" y="3401568"/>
            <a:ext cx="8503920" cy="1417320"/>
          </a:xfrm>
          <a:prstGeom prst="roundRect">
            <a:avLst>
              <a:gd name="adj" fmla="val 5161"/>
            </a:avLst>
          </a:prstGeom>
          <a:solidFill>
            <a:srgbClr val="0A0A0A"/>
          </a:solidFill>
          <a:ln w="6350">
            <a:solidFill>
              <a:srgbClr val="2A2A2A"/>
            </a:solidFill>
            <a:prstDash val="solid"/>
          </a:ln>
          <a:effectLst>
            <a:outerShdw blurRad="76200" dist="25400" dir="2700000" algn="bl" rotWithShape="0">
              <a:srgbClr val="000000">
                <a:alpha val="30000"/>
              </a:srgbClr>
            </a:outerShdw>
          </a:effectLst>
        </p:spPr>
      </p:sp>
      <p:sp>
        <p:nvSpPr>
          <p:cNvPr id="21" name="Text 19"/>
          <p:cNvSpPr/>
          <p:nvPr/>
        </p:nvSpPr>
        <p:spPr>
          <a:xfrm>
            <a:off x="548640" y="3493008"/>
            <a:ext cx="8046720" cy="228600"/>
          </a:xfrm>
          <a:prstGeom prst="rect">
            <a:avLst/>
          </a:prstGeom>
          <a:noFill/>
          <a:ln/>
        </p:spPr>
        <p:txBody>
          <a:bodyPr wrap="square" lIns="0" tIns="0" rIns="0" bIns="0" rtlCol="0" anchor="ctr"/>
          <a:lstStyle/>
          <a:p>
            <a:pPr marL="0" indent="0">
              <a:buNone/>
            </a:pPr>
            <a:r>
              <a:rPr lang="en-US" sz="1000" b="1" dirty="0">
                <a:solidFill>
                  <a:srgbClr val="00C8FF"/>
                </a:solidFill>
              </a:rPr>
              <a:t>The tuning cycle — what detection engineering actually looks like</a:t>
            </a:r>
            <a:endParaRPr lang="en-US" sz="1000" dirty="0"/>
          </a:p>
        </p:txBody>
      </p:sp>
      <p:sp>
        <p:nvSpPr>
          <p:cNvPr id="22" name="Shape 20"/>
          <p:cNvSpPr/>
          <p:nvPr/>
        </p:nvSpPr>
        <p:spPr>
          <a:xfrm>
            <a:off x="548640" y="3794760"/>
            <a:ext cx="237744" cy="237744"/>
          </a:xfrm>
          <a:prstGeom prst="roundRect">
            <a:avLst>
              <a:gd name="adj" fmla="val 50000"/>
            </a:avLst>
          </a:prstGeom>
          <a:solidFill>
            <a:srgbClr val="007A9E"/>
          </a:solidFill>
          <a:ln w="12700">
            <a:solidFill>
              <a:srgbClr val="007A9E"/>
            </a:solidFill>
            <a:prstDash val="solid"/>
          </a:ln>
        </p:spPr>
      </p:sp>
      <p:sp>
        <p:nvSpPr>
          <p:cNvPr id="23" name="Text 21"/>
          <p:cNvSpPr/>
          <p:nvPr/>
        </p:nvSpPr>
        <p:spPr>
          <a:xfrm>
            <a:off x="548640" y="379476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1</a:t>
            </a:r>
            <a:endParaRPr lang="en-US" sz="800" dirty="0"/>
          </a:p>
        </p:txBody>
      </p:sp>
      <p:sp>
        <p:nvSpPr>
          <p:cNvPr id="24" name="Text 22"/>
          <p:cNvSpPr/>
          <p:nvPr/>
        </p:nvSpPr>
        <p:spPr>
          <a:xfrm>
            <a:off x="457200" y="4059936"/>
            <a:ext cx="1280160" cy="594360"/>
          </a:xfrm>
          <a:prstGeom prst="rect">
            <a:avLst/>
          </a:prstGeom>
          <a:noFill/>
          <a:ln/>
        </p:spPr>
        <p:txBody>
          <a:bodyPr wrap="square" lIns="0" tIns="0" rIns="0" bIns="0" rtlCol="0" anchor="ctr"/>
          <a:lstStyle/>
          <a:p>
            <a:pPr marL="0" indent="0" algn="ctr">
              <a:buNone/>
            </a:pPr>
            <a:r>
              <a:rPr lang="en-US" sz="1100" dirty="0">
                <a:solidFill>
                  <a:srgbClr val="B0B0B0"/>
                </a:solidFill>
              </a:rPr>
              <a:t>Write the rule</a:t>
            </a:r>
            <a:endParaRPr lang="en-US" sz="1100" dirty="0"/>
          </a:p>
        </p:txBody>
      </p:sp>
      <p:sp>
        <p:nvSpPr>
          <p:cNvPr id="25" name="Text 23"/>
          <p:cNvSpPr/>
          <p:nvPr/>
        </p:nvSpPr>
        <p:spPr>
          <a:xfrm>
            <a:off x="1719072" y="3840480"/>
            <a:ext cx="182880" cy="18288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26" name="Shape 24"/>
          <p:cNvSpPr/>
          <p:nvPr/>
        </p:nvSpPr>
        <p:spPr>
          <a:xfrm>
            <a:off x="1938528" y="3794760"/>
            <a:ext cx="237744" cy="237744"/>
          </a:xfrm>
          <a:prstGeom prst="roundRect">
            <a:avLst>
              <a:gd name="adj" fmla="val 50000"/>
            </a:avLst>
          </a:prstGeom>
          <a:solidFill>
            <a:srgbClr val="007A9E"/>
          </a:solidFill>
          <a:ln w="12700">
            <a:solidFill>
              <a:srgbClr val="007A9E"/>
            </a:solidFill>
            <a:prstDash val="solid"/>
          </a:ln>
        </p:spPr>
      </p:sp>
      <p:sp>
        <p:nvSpPr>
          <p:cNvPr id="27" name="Text 25"/>
          <p:cNvSpPr/>
          <p:nvPr/>
        </p:nvSpPr>
        <p:spPr>
          <a:xfrm>
            <a:off x="1938528" y="379476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2</a:t>
            </a:r>
            <a:endParaRPr lang="en-US" sz="800" dirty="0"/>
          </a:p>
        </p:txBody>
      </p:sp>
      <p:sp>
        <p:nvSpPr>
          <p:cNvPr id="28" name="Text 26"/>
          <p:cNvSpPr/>
          <p:nvPr/>
        </p:nvSpPr>
        <p:spPr>
          <a:xfrm>
            <a:off x="1847088" y="4059936"/>
            <a:ext cx="1280160" cy="594360"/>
          </a:xfrm>
          <a:prstGeom prst="rect">
            <a:avLst/>
          </a:prstGeom>
          <a:noFill/>
          <a:ln/>
        </p:spPr>
        <p:txBody>
          <a:bodyPr wrap="square" lIns="0" tIns="0" rIns="0" bIns="0" rtlCol="0" anchor="ctr"/>
          <a:lstStyle/>
          <a:p>
            <a:pPr marL="0" indent="0" algn="ctr">
              <a:buNone/>
            </a:pPr>
            <a:r>
              <a:rPr lang="en-US" sz="1100" dirty="0">
                <a:solidFill>
                  <a:srgbClr val="B0B0B0"/>
                </a:solidFill>
              </a:rPr>
              <a:t>Trigger the condition</a:t>
            </a:r>
            <a:endParaRPr lang="en-US" sz="1100" dirty="0"/>
          </a:p>
        </p:txBody>
      </p:sp>
      <p:sp>
        <p:nvSpPr>
          <p:cNvPr id="29" name="Text 27"/>
          <p:cNvSpPr/>
          <p:nvPr/>
        </p:nvSpPr>
        <p:spPr>
          <a:xfrm>
            <a:off x="3108960" y="3840480"/>
            <a:ext cx="182880" cy="18288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30" name="Shape 28"/>
          <p:cNvSpPr/>
          <p:nvPr/>
        </p:nvSpPr>
        <p:spPr>
          <a:xfrm>
            <a:off x="3328416" y="3794760"/>
            <a:ext cx="237744" cy="237744"/>
          </a:xfrm>
          <a:prstGeom prst="roundRect">
            <a:avLst>
              <a:gd name="adj" fmla="val 50000"/>
            </a:avLst>
          </a:prstGeom>
          <a:solidFill>
            <a:srgbClr val="007A9E"/>
          </a:solidFill>
          <a:ln w="12700">
            <a:solidFill>
              <a:srgbClr val="007A9E"/>
            </a:solidFill>
            <a:prstDash val="solid"/>
          </a:ln>
        </p:spPr>
      </p:sp>
      <p:sp>
        <p:nvSpPr>
          <p:cNvPr id="31" name="Text 29"/>
          <p:cNvSpPr/>
          <p:nvPr/>
        </p:nvSpPr>
        <p:spPr>
          <a:xfrm>
            <a:off x="3328416" y="379476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3</a:t>
            </a:r>
            <a:endParaRPr lang="en-US" sz="800" dirty="0"/>
          </a:p>
        </p:txBody>
      </p:sp>
      <p:sp>
        <p:nvSpPr>
          <p:cNvPr id="32" name="Text 30"/>
          <p:cNvSpPr/>
          <p:nvPr/>
        </p:nvSpPr>
        <p:spPr>
          <a:xfrm>
            <a:off x="3236976" y="4059936"/>
            <a:ext cx="1280160" cy="594360"/>
          </a:xfrm>
          <a:prstGeom prst="rect">
            <a:avLst/>
          </a:prstGeom>
          <a:noFill/>
          <a:ln/>
        </p:spPr>
        <p:txBody>
          <a:bodyPr wrap="square" lIns="0" tIns="0" rIns="0" bIns="0" rtlCol="0" anchor="ctr"/>
          <a:lstStyle/>
          <a:p>
            <a:pPr marL="0" indent="0" algn="ctr">
              <a:buNone/>
            </a:pPr>
            <a:r>
              <a:rPr lang="en-US" sz="1100" dirty="0">
                <a:solidFill>
                  <a:srgbClr val="B0B0B0"/>
                </a:solidFill>
              </a:rPr>
              <a:t>Check for false positives</a:t>
            </a:r>
            <a:endParaRPr lang="en-US" sz="1100" dirty="0"/>
          </a:p>
        </p:txBody>
      </p:sp>
      <p:sp>
        <p:nvSpPr>
          <p:cNvPr id="33" name="Text 31"/>
          <p:cNvSpPr/>
          <p:nvPr/>
        </p:nvSpPr>
        <p:spPr>
          <a:xfrm>
            <a:off x="4498848" y="3840480"/>
            <a:ext cx="182880" cy="18288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34" name="Shape 32"/>
          <p:cNvSpPr/>
          <p:nvPr/>
        </p:nvSpPr>
        <p:spPr>
          <a:xfrm>
            <a:off x="4718304" y="3794760"/>
            <a:ext cx="237744" cy="237744"/>
          </a:xfrm>
          <a:prstGeom prst="roundRect">
            <a:avLst>
              <a:gd name="adj" fmla="val 50000"/>
            </a:avLst>
          </a:prstGeom>
          <a:solidFill>
            <a:srgbClr val="007A9E"/>
          </a:solidFill>
          <a:ln w="12700">
            <a:solidFill>
              <a:srgbClr val="007A9E"/>
            </a:solidFill>
            <a:prstDash val="solid"/>
          </a:ln>
        </p:spPr>
      </p:sp>
      <p:sp>
        <p:nvSpPr>
          <p:cNvPr id="35" name="Text 33"/>
          <p:cNvSpPr/>
          <p:nvPr/>
        </p:nvSpPr>
        <p:spPr>
          <a:xfrm>
            <a:off x="4718304" y="379476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4</a:t>
            </a:r>
            <a:endParaRPr lang="en-US" sz="800" dirty="0"/>
          </a:p>
        </p:txBody>
      </p:sp>
      <p:sp>
        <p:nvSpPr>
          <p:cNvPr id="36" name="Text 34"/>
          <p:cNvSpPr/>
          <p:nvPr/>
        </p:nvSpPr>
        <p:spPr>
          <a:xfrm>
            <a:off x="4626864" y="4059936"/>
            <a:ext cx="1280160" cy="594360"/>
          </a:xfrm>
          <a:prstGeom prst="rect">
            <a:avLst/>
          </a:prstGeom>
          <a:noFill/>
          <a:ln/>
        </p:spPr>
        <p:txBody>
          <a:bodyPr wrap="square" lIns="0" tIns="0" rIns="0" bIns="0" rtlCol="0" anchor="ctr"/>
          <a:lstStyle/>
          <a:p>
            <a:pPr marL="0" indent="0" algn="ctr">
              <a:buNone/>
            </a:pPr>
            <a:r>
              <a:rPr lang="en-US" sz="1100" dirty="0">
                <a:solidFill>
                  <a:srgbClr val="B0B0B0"/>
                </a:solidFill>
              </a:rPr>
              <a:t>Adjust threshold or add exclusion</a:t>
            </a:r>
            <a:endParaRPr lang="en-US" sz="1100" dirty="0"/>
          </a:p>
        </p:txBody>
      </p:sp>
      <p:sp>
        <p:nvSpPr>
          <p:cNvPr id="37" name="Text 35"/>
          <p:cNvSpPr/>
          <p:nvPr/>
        </p:nvSpPr>
        <p:spPr>
          <a:xfrm>
            <a:off x="5888736" y="3840480"/>
            <a:ext cx="182880" cy="18288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38" name="Shape 36"/>
          <p:cNvSpPr/>
          <p:nvPr/>
        </p:nvSpPr>
        <p:spPr>
          <a:xfrm>
            <a:off x="6108192" y="3794760"/>
            <a:ext cx="237744" cy="237744"/>
          </a:xfrm>
          <a:prstGeom prst="roundRect">
            <a:avLst>
              <a:gd name="adj" fmla="val 50000"/>
            </a:avLst>
          </a:prstGeom>
          <a:solidFill>
            <a:srgbClr val="007A9E"/>
          </a:solidFill>
          <a:ln w="12700">
            <a:solidFill>
              <a:srgbClr val="007A9E"/>
            </a:solidFill>
            <a:prstDash val="solid"/>
          </a:ln>
        </p:spPr>
      </p:sp>
      <p:sp>
        <p:nvSpPr>
          <p:cNvPr id="39" name="Text 37"/>
          <p:cNvSpPr/>
          <p:nvPr/>
        </p:nvSpPr>
        <p:spPr>
          <a:xfrm>
            <a:off x="6108192" y="379476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5</a:t>
            </a:r>
            <a:endParaRPr lang="en-US" sz="800" dirty="0"/>
          </a:p>
        </p:txBody>
      </p:sp>
      <p:sp>
        <p:nvSpPr>
          <p:cNvPr id="40" name="Text 38"/>
          <p:cNvSpPr/>
          <p:nvPr/>
        </p:nvSpPr>
        <p:spPr>
          <a:xfrm>
            <a:off x="6016752" y="4059936"/>
            <a:ext cx="1280160" cy="594360"/>
          </a:xfrm>
          <a:prstGeom prst="rect">
            <a:avLst/>
          </a:prstGeom>
          <a:noFill/>
          <a:ln/>
        </p:spPr>
        <p:txBody>
          <a:bodyPr wrap="square" lIns="0" tIns="0" rIns="0" bIns="0" rtlCol="0" anchor="ctr"/>
          <a:lstStyle/>
          <a:p>
            <a:pPr marL="0" indent="0" algn="ctr">
              <a:buNone/>
            </a:pPr>
            <a:r>
              <a:rPr lang="en-US" sz="1100" dirty="0">
                <a:solidFill>
                  <a:srgbClr val="B0B0B0"/>
                </a:solidFill>
              </a:rPr>
              <a:t>Retest</a:t>
            </a:r>
            <a:endParaRPr lang="en-US" sz="1100" dirty="0"/>
          </a:p>
        </p:txBody>
      </p:sp>
      <p:sp>
        <p:nvSpPr>
          <p:cNvPr id="41" name="Text 39"/>
          <p:cNvSpPr/>
          <p:nvPr/>
        </p:nvSpPr>
        <p:spPr>
          <a:xfrm>
            <a:off x="7278624" y="3840480"/>
            <a:ext cx="182880" cy="18288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42" name="Shape 40"/>
          <p:cNvSpPr/>
          <p:nvPr/>
        </p:nvSpPr>
        <p:spPr>
          <a:xfrm>
            <a:off x="7498080" y="3794760"/>
            <a:ext cx="237744" cy="237744"/>
          </a:xfrm>
          <a:prstGeom prst="roundRect">
            <a:avLst>
              <a:gd name="adj" fmla="val 50000"/>
            </a:avLst>
          </a:prstGeom>
          <a:solidFill>
            <a:srgbClr val="007A9E"/>
          </a:solidFill>
          <a:ln w="12700">
            <a:solidFill>
              <a:srgbClr val="007A9E"/>
            </a:solidFill>
            <a:prstDash val="solid"/>
          </a:ln>
        </p:spPr>
      </p:sp>
      <p:sp>
        <p:nvSpPr>
          <p:cNvPr id="43" name="Text 41"/>
          <p:cNvSpPr/>
          <p:nvPr/>
        </p:nvSpPr>
        <p:spPr>
          <a:xfrm>
            <a:off x="7498080" y="3794760"/>
            <a:ext cx="237744" cy="237744"/>
          </a:xfrm>
          <a:prstGeom prst="rect">
            <a:avLst/>
          </a:prstGeom>
          <a:noFill/>
          <a:ln/>
        </p:spPr>
        <p:txBody>
          <a:bodyPr wrap="square" lIns="0" tIns="0" rIns="0" bIns="0" rtlCol="0" anchor="ctr"/>
          <a:lstStyle/>
          <a:p>
            <a:pPr marL="0" indent="0" algn="ctr">
              <a:buNone/>
            </a:pPr>
            <a:r>
              <a:rPr lang="en-US" sz="800" b="1" dirty="0">
                <a:solidFill>
                  <a:srgbClr val="FFFFFF"/>
                </a:solidFill>
              </a:rPr>
              <a:t>6</a:t>
            </a:r>
            <a:endParaRPr lang="en-US" sz="800" dirty="0"/>
          </a:p>
        </p:txBody>
      </p:sp>
      <p:sp>
        <p:nvSpPr>
          <p:cNvPr id="44" name="Text 42"/>
          <p:cNvSpPr/>
          <p:nvPr/>
        </p:nvSpPr>
        <p:spPr>
          <a:xfrm>
            <a:off x="7406640" y="4059936"/>
            <a:ext cx="1280160" cy="594360"/>
          </a:xfrm>
          <a:prstGeom prst="rect">
            <a:avLst/>
          </a:prstGeom>
          <a:noFill/>
          <a:ln/>
        </p:spPr>
        <p:txBody>
          <a:bodyPr wrap="square" lIns="0" tIns="0" rIns="0" bIns="0" rtlCol="0" anchor="ctr"/>
          <a:lstStyle/>
          <a:p>
            <a:pPr marL="0" indent="0" algn="ctr">
              <a:buNone/>
            </a:pPr>
            <a:r>
              <a:rPr lang="en-US" sz="1100" dirty="0">
                <a:solidFill>
                  <a:srgbClr val="B0B0B0"/>
                </a:solidFill>
              </a:rPr>
              <a:t>Document every change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ANALYST SKILL</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LOG ANALYSIS IN A SOC</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logs are, where they live, what you do with them</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4069080" cy="3182112"/>
          </a:xfrm>
          <a:prstGeom prst="roundRect">
            <a:avLst>
              <a:gd name="adj" fmla="val 2299"/>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9" name="Text 7"/>
          <p:cNvSpPr/>
          <p:nvPr/>
        </p:nvSpPr>
        <p:spPr>
          <a:xfrm>
            <a:off x="502920" y="1234440"/>
            <a:ext cx="3749040" cy="228600"/>
          </a:xfrm>
          <a:prstGeom prst="rect">
            <a:avLst/>
          </a:prstGeom>
          <a:noFill/>
          <a:ln/>
        </p:spPr>
        <p:txBody>
          <a:bodyPr wrap="square" lIns="0" tIns="0" rIns="0" bIns="0" rtlCol="0" anchor="ctr"/>
          <a:lstStyle/>
          <a:p>
            <a:pPr marL="0" indent="0">
              <a:buNone/>
            </a:pPr>
            <a:r>
              <a:rPr lang="en-US" sz="1000" b="1" kern="0" spc="100" dirty="0">
                <a:solidFill>
                  <a:srgbClr val="00C8FF"/>
                </a:solidFill>
              </a:rPr>
              <a:t>What a log actually is</a:t>
            </a:r>
            <a:endParaRPr lang="en-US" sz="1000" dirty="0"/>
          </a:p>
        </p:txBody>
      </p:sp>
      <p:sp>
        <p:nvSpPr>
          <p:cNvPr id="10" name="Text 8"/>
          <p:cNvSpPr/>
          <p:nvPr/>
        </p:nvSpPr>
        <p:spPr>
          <a:xfrm>
            <a:off x="502920" y="1508760"/>
            <a:ext cx="3703320" cy="2514600"/>
          </a:xfrm>
          <a:prstGeom prst="rect">
            <a:avLst/>
          </a:prstGeom>
          <a:noFill/>
          <a:ln/>
        </p:spPr>
        <p:txBody>
          <a:bodyPr wrap="square" lIns="0" tIns="0" rIns="0" bIns="0" rtlCol="0" anchor="ctr"/>
          <a:lstStyle/>
          <a:p>
            <a:pPr marL="0" indent="0">
              <a:spcAft>
                <a:spcPts val="500"/>
              </a:spcAft>
              <a:buNone/>
            </a:pPr>
            <a:r>
              <a:rPr lang="en-US" sz="1200" dirty="0">
                <a:solidFill>
                  <a:srgbClr val="B0B0B0"/>
                </a:solidFill>
              </a:rPr>
              <a:t>A log is a timestamped record of one thing that happened. A user logged in. A service started. A file opened. A connection made. One event per line, thousands per day per machine.</a:t>
            </a:r>
            <a:endParaRPr lang="en-US" sz="1200" dirty="0"/>
          </a:p>
          <a:p>
            <a:pPr marL="0" indent="0">
              <a:spcAft>
                <a:spcPts val="500"/>
              </a:spcAft>
              <a:buNone/>
            </a:pPr>
            <a:endParaRPr lang="en-US" sz="1200" dirty="0"/>
          </a:p>
          <a:p>
            <a:pPr marL="0" indent="0">
              <a:spcAft>
                <a:spcPts val="500"/>
              </a:spcAft>
              <a:buNone/>
            </a:pPr>
            <a:r>
              <a:rPr lang="en-US" sz="1200" dirty="0">
                <a:solidFill>
                  <a:srgbClr val="B0B0B0"/>
                </a:solidFill>
              </a:rPr>
              <a:t>Individual events mean little. Value comes from seeing many events together and asking what pattern they show. A single failed login is background noise. Fifty in two minutes from the same IP is a brute force attack.</a:t>
            </a:r>
            <a:endParaRPr lang="en-US" sz="1200" dirty="0"/>
          </a:p>
          <a:p>
            <a:pPr marL="0" indent="0">
              <a:spcAft>
                <a:spcPts val="500"/>
              </a:spcAft>
              <a:buNone/>
            </a:pPr>
            <a:endParaRPr lang="en-US" sz="1200" dirty="0"/>
          </a:p>
          <a:p>
            <a:pPr marL="0" indent="0">
              <a:spcAft>
                <a:spcPts val="500"/>
              </a:spcAft>
              <a:buNone/>
            </a:pPr>
            <a:r>
              <a:rPr lang="en-US" sz="1200" dirty="0">
                <a:solidFill>
                  <a:srgbClr val="B0B0B0"/>
                </a:solidFill>
              </a:rPr>
              <a:t>The analyst's job: find the signal in the noise.</a:t>
            </a:r>
            <a:endParaRPr lang="en-US" sz="1200" dirty="0"/>
          </a:p>
        </p:txBody>
      </p:sp>
      <p:sp>
        <p:nvSpPr>
          <p:cNvPr id="11" name="Shape 9"/>
          <p:cNvSpPr/>
          <p:nvPr/>
        </p:nvSpPr>
        <p:spPr>
          <a:xfrm>
            <a:off x="4526280" y="1115568"/>
            <a:ext cx="4251960" cy="3182112"/>
          </a:xfrm>
          <a:prstGeom prst="roundRect">
            <a:avLst>
              <a:gd name="adj" fmla="val 2299"/>
            </a:avLst>
          </a:prstGeom>
          <a:solidFill>
            <a:srgbClr val="0D0D0D"/>
          </a:solidFill>
          <a:ln w="6350">
            <a:solidFill>
              <a:srgbClr val="2A2A2A"/>
            </a:solidFill>
            <a:prstDash val="solid"/>
          </a:ln>
          <a:effectLst>
            <a:outerShdw blurRad="76200" dist="25400" dir="2700000" algn="bl" rotWithShape="0">
              <a:srgbClr val="000000">
                <a:alpha val="30000"/>
              </a:srgbClr>
            </a:outerShdw>
          </a:effectLst>
        </p:spPr>
      </p:sp>
      <p:sp>
        <p:nvSpPr>
          <p:cNvPr id="12" name="Text 10"/>
          <p:cNvSpPr/>
          <p:nvPr/>
        </p:nvSpPr>
        <p:spPr>
          <a:xfrm>
            <a:off x="4681728" y="1234440"/>
            <a:ext cx="3931920" cy="228600"/>
          </a:xfrm>
          <a:prstGeom prst="rect">
            <a:avLst/>
          </a:prstGeom>
          <a:noFill/>
          <a:ln/>
        </p:spPr>
        <p:txBody>
          <a:bodyPr wrap="square" lIns="0" tIns="0" rIns="0" bIns="0" rtlCol="0" anchor="ctr"/>
          <a:lstStyle/>
          <a:p>
            <a:pPr marL="0" indent="0">
              <a:buNone/>
            </a:pPr>
            <a:r>
              <a:rPr lang="en-US" sz="1000" b="1" kern="0" spc="100" dirty="0">
                <a:solidFill>
                  <a:srgbClr val="00C8FF"/>
                </a:solidFill>
              </a:rPr>
              <a:t>What you are analysing this week</a:t>
            </a:r>
            <a:endParaRPr lang="en-US" sz="1000" dirty="0"/>
          </a:p>
        </p:txBody>
      </p:sp>
      <p:sp>
        <p:nvSpPr>
          <p:cNvPr id="13" name="Shape 11"/>
          <p:cNvSpPr/>
          <p:nvPr/>
        </p:nvSpPr>
        <p:spPr>
          <a:xfrm>
            <a:off x="4663440" y="1554480"/>
            <a:ext cx="3931920" cy="457200"/>
          </a:xfrm>
          <a:prstGeom prst="roundRect">
            <a:avLst>
              <a:gd name="adj" fmla="val 16000"/>
            </a:avLst>
          </a:prstGeom>
          <a:solidFill>
            <a:srgbClr val="181818"/>
          </a:solidFill>
          <a:ln w="6350">
            <a:solidFill>
              <a:srgbClr val="2A2A2A"/>
            </a:solidFill>
            <a:prstDash val="solid"/>
          </a:ln>
          <a:effectLst>
            <a:outerShdw blurRad="76200" dist="25400" dir="2700000" algn="bl" rotWithShape="0">
              <a:srgbClr val="000000">
                <a:alpha val="30000"/>
              </a:srgbClr>
            </a:outerShdw>
          </a:effectLst>
        </p:spPr>
      </p:sp>
      <p:sp>
        <p:nvSpPr>
          <p:cNvPr id="14" name="Text 12"/>
          <p:cNvSpPr/>
          <p:nvPr/>
        </p:nvSpPr>
        <p:spPr>
          <a:xfrm>
            <a:off x="4773168" y="1581912"/>
            <a:ext cx="3703320" cy="182880"/>
          </a:xfrm>
          <a:prstGeom prst="rect">
            <a:avLst/>
          </a:prstGeom>
          <a:noFill/>
          <a:ln/>
        </p:spPr>
        <p:txBody>
          <a:bodyPr wrap="square" lIns="0" tIns="0" rIns="0" bIns="0" rtlCol="0" anchor="ctr"/>
          <a:lstStyle/>
          <a:p>
            <a:pPr marL="0" indent="0">
              <a:buNone/>
            </a:pPr>
            <a:r>
              <a:rPr lang="en-US" sz="900" b="1" dirty="0">
                <a:solidFill>
                  <a:srgbClr val="00C8FF"/>
                </a:solidFill>
                <a:latin typeface="Courier New" pitchFamily="34" charset="0"/>
                <a:ea typeface="Courier New" pitchFamily="34" charset="-122"/>
                <a:cs typeface="Courier New" pitchFamily="34" charset="-120"/>
              </a:rPr>
              <a:t>/var/log/auth.log</a:t>
            </a:r>
            <a:endParaRPr lang="en-US" sz="900" dirty="0"/>
          </a:p>
        </p:txBody>
      </p:sp>
      <p:sp>
        <p:nvSpPr>
          <p:cNvPr id="15" name="Text 13"/>
          <p:cNvSpPr/>
          <p:nvPr/>
        </p:nvSpPr>
        <p:spPr>
          <a:xfrm>
            <a:off x="4773168" y="1783080"/>
            <a:ext cx="3703320" cy="182880"/>
          </a:xfrm>
          <a:prstGeom prst="rect">
            <a:avLst/>
          </a:prstGeom>
          <a:noFill/>
          <a:ln/>
        </p:spPr>
        <p:txBody>
          <a:bodyPr wrap="square" lIns="0" tIns="0" rIns="0" bIns="0" rtlCol="0" anchor="ctr"/>
          <a:lstStyle/>
          <a:p>
            <a:pPr marL="0" indent="0">
              <a:buNone/>
            </a:pPr>
            <a:r>
              <a:rPr lang="en-US" sz="850" dirty="0">
                <a:solidFill>
                  <a:srgbClr val="B0B0B0"/>
                </a:solidFill>
              </a:rPr>
              <a:t>SSH, sudo, su, PAM — authentication on Linux</a:t>
            </a:r>
            <a:endParaRPr lang="en-US" sz="850" dirty="0"/>
          </a:p>
        </p:txBody>
      </p:sp>
      <p:sp>
        <p:nvSpPr>
          <p:cNvPr id="16" name="Shape 14"/>
          <p:cNvSpPr/>
          <p:nvPr/>
        </p:nvSpPr>
        <p:spPr>
          <a:xfrm>
            <a:off x="4663440" y="2066544"/>
            <a:ext cx="3931920" cy="457200"/>
          </a:xfrm>
          <a:prstGeom prst="roundRect">
            <a:avLst>
              <a:gd name="adj" fmla="val 16000"/>
            </a:avLst>
          </a:prstGeom>
          <a:solidFill>
            <a:srgbClr val="181818"/>
          </a:solidFill>
          <a:ln w="6350">
            <a:solidFill>
              <a:srgbClr val="2A2A2A"/>
            </a:solidFill>
            <a:prstDash val="solid"/>
          </a:ln>
          <a:effectLst>
            <a:outerShdw blurRad="76200" dist="25400" dir="2700000" algn="bl" rotWithShape="0">
              <a:srgbClr val="000000">
                <a:alpha val="30000"/>
              </a:srgbClr>
            </a:outerShdw>
          </a:effectLst>
        </p:spPr>
      </p:sp>
      <p:sp>
        <p:nvSpPr>
          <p:cNvPr id="17" name="Text 15"/>
          <p:cNvSpPr/>
          <p:nvPr/>
        </p:nvSpPr>
        <p:spPr>
          <a:xfrm>
            <a:off x="4773168" y="2093976"/>
            <a:ext cx="3703320" cy="182880"/>
          </a:xfrm>
          <a:prstGeom prst="rect">
            <a:avLst/>
          </a:prstGeom>
          <a:noFill/>
          <a:ln/>
        </p:spPr>
        <p:txBody>
          <a:bodyPr wrap="square" lIns="0" tIns="0" rIns="0" bIns="0" rtlCol="0" anchor="ctr"/>
          <a:lstStyle/>
          <a:p>
            <a:pPr marL="0" indent="0">
              <a:buNone/>
            </a:pPr>
            <a:r>
              <a:rPr lang="en-US" sz="900" b="1" dirty="0">
                <a:solidFill>
                  <a:srgbClr val="00C8FF"/>
                </a:solidFill>
                <a:latin typeface="Courier New" pitchFamily="34" charset="0"/>
                <a:ea typeface="Courier New" pitchFamily="34" charset="-122"/>
                <a:cs typeface="Courier New" pitchFamily="34" charset="-120"/>
              </a:rPr>
              <a:t>/var/log/syslog</a:t>
            </a:r>
            <a:endParaRPr lang="en-US" sz="900" dirty="0"/>
          </a:p>
        </p:txBody>
      </p:sp>
      <p:sp>
        <p:nvSpPr>
          <p:cNvPr id="18" name="Text 16"/>
          <p:cNvSpPr/>
          <p:nvPr/>
        </p:nvSpPr>
        <p:spPr>
          <a:xfrm>
            <a:off x="4773168" y="2295144"/>
            <a:ext cx="3703320" cy="182880"/>
          </a:xfrm>
          <a:prstGeom prst="rect">
            <a:avLst/>
          </a:prstGeom>
          <a:noFill/>
          <a:ln/>
        </p:spPr>
        <p:txBody>
          <a:bodyPr wrap="square" lIns="0" tIns="0" rIns="0" bIns="0" rtlCol="0" anchor="ctr"/>
          <a:lstStyle/>
          <a:p>
            <a:pPr marL="0" indent="0">
              <a:buNone/>
            </a:pPr>
            <a:r>
              <a:rPr lang="en-US" sz="850" dirty="0">
                <a:solidFill>
                  <a:srgbClr val="B0B0B0"/>
                </a:solidFill>
              </a:rPr>
              <a:t>Services, kernel, general system events</a:t>
            </a:r>
            <a:endParaRPr lang="en-US" sz="850" dirty="0"/>
          </a:p>
        </p:txBody>
      </p:sp>
      <p:sp>
        <p:nvSpPr>
          <p:cNvPr id="19" name="Shape 17"/>
          <p:cNvSpPr/>
          <p:nvPr/>
        </p:nvSpPr>
        <p:spPr>
          <a:xfrm>
            <a:off x="4663440" y="2578608"/>
            <a:ext cx="3931920" cy="457200"/>
          </a:xfrm>
          <a:prstGeom prst="roundRect">
            <a:avLst>
              <a:gd name="adj" fmla="val 16000"/>
            </a:avLst>
          </a:prstGeom>
          <a:solidFill>
            <a:srgbClr val="181818"/>
          </a:solidFill>
          <a:ln w="6350">
            <a:solidFill>
              <a:srgbClr val="2A2A2A"/>
            </a:solidFill>
            <a:prstDash val="solid"/>
          </a:ln>
          <a:effectLst>
            <a:outerShdw blurRad="76200" dist="25400" dir="2700000" algn="bl" rotWithShape="0">
              <a:srgbClr val="000000">
                <a:alpha val="30000"/>
              </a:srgbClr>
            </a:outerShdw>
          </a:effectLst>
        </p:spPr>
      </p:sp>
      <p:sp>
        <p:nvSpPr>
          <p:cNvPr id="20" name="Text 18"/>
          <p:cNvSpPr/>
          <p:nvPr/>
        </p:nvSpPr>
        <p:spPr>
          <a:xfrm>
            <a:off x="4773168" y="2606040"/>
            <a:ext cx="3703320" cy="182880"/>
          </a:xfrm>
          <a:prstGeom prst="rect">
            <a:avLst/>
          </a:prstGeom>
          <a:noFill/>
          <a:ln/>
        </p:spPr>
        <p:txBody>
          <a:bodyPr wrap="square" lIns="0" tIns="0" rIns="0" bIns="0" rtlCol="0" anchor="ctr"/>
          <a:lstStyle/>
          <a:p>
            <a:pPr marL="0" indent="0">
              <a:buNone/>
            </a:pPr>
            <a:r>
              <a:rPr lang="en-US" sz="900" b="1" dirty="0">
                <a:solidFill>
                  <a:srgbClr val="00C8FF"/>
                </a:solidFill>
                <a:latin typeface="Courier New" pitchFamily="34" charset="0"/>
                <a:ea typeface="Courier New" pitchFamily="34" charset="-122"/>
                <a:cs typeface="Courier New" pitchFamily="34" charset="-120"/>
              </a:rPr>
              <a:t>Windows Security Log</a:t>
            </a:r>
            <a:endParaRPr lang="en-US" sz="900" dirty="0"/>
          </a:p>
        </p:txBody>
      </p:sp>
      <p:sp>
        <p:nvSpPr>
          <p:cNvPr id="21" name="Text 19"/>
          <p:cNvSpPr/>
          <p:nvPr/>
        </p:nvSpPr>
        <p:spPr>
          <a:xfrm>
            <a:off x="4773168" y="2807208"/>
            <a:ext cx="3703320" cy="182880"/>
          </a:xfrm>
          <a:prstGeom prst="rect">
            <a:avLst/>
          </a:prstGeom>
          <a:noFill/>
          <a:ln/>
        </p:spPr>
        <p:txBody>
          <a:bodyPr wrap="square" lIns="0" tIns="0" rIns="0" bIns="0" rtlCol="0" anchor="ctr"/>
          <a:lstStyle/>
          <a:p>
            <a:pPr marL="0" indent="0">
              <a:buNone/>
            </a:pPr>
            <a:r>
              <a:rPr lang="en-US" sz="850" dirty="0">
                <a:solidFill>
                  <a:srgbClr val="B0B0B0"/>
                </a:solidFill>
              </a:rPr>
              <a:t>The most forensically valuable Windows log. Logins, privilege, account changes.</a:t>
            </a:r>
            <a:endParaRPr lang="en-US" sz="850" dirty="0"/>
          </a:p>
        </p:txBody>
      </p:sp>
      <p:sp>
        <p:nvSpPr>
          <p:cNvPr id="22" name="Shape 20"/>
          <p:cNvSpPr/>
          <p:nvPr/>
        </p:nvSpPr>
        <p:spPr>
          <a:xfrm>
            <a:off x="4663440" y="3090672"/>
            <a:ext cx="3931920" cy="457200"/>
          </a:xfrm>
          <a:prstGeom prst="roundRect">
            <a:avLst>
              <a:gd name="adj" fmla="val 16000"/>
            </a:avLst>
          </a:prstGeom>
          <a:solidFill>
            <a:srgbClr val="181818"/>
          </a:solidFill>
          <a:ln w="6350">
            <a:solidFill>
              <a:srgbClr val="2A2A2A"/>
            </a:solidFill>
            <a:prstDash val="solid"/>
          </a:ln>
          <a:effectLst>
            <a:outerShdw blurRad="76200" dist="25400" dir="2700000" algn="bl" rotWithShape="0">
              <a:srgbClr val="000000">
                <a:alpha val="30000"/>
              </a:srgbClr>
            </a:outerShdw>
          </a:effectLst>
        </p:spPr>
      </p:sp>
      <p:sp>
        <p:nvSpPr>
          <p:cNvPr id="23" name="Text 21"/>
          <p:cNvSpPr/>
          <p:nvPr/>
        </p:nvSpPr>
        <p:spPr>
          <a:xfrm>
            <a:off x="4773168" y="3118104"/>
            <a:ext cx="3703320" cy="182880"/>
          </a:xfrm>
          <a:prstGeom prst="rect">
            <a:avLst/>
          </a:prstGeom>
          <a:noFill/>
          <a:ln/>
        </p:spPr>
        <p:txBody>
          <a:bodyPr wrap="square" lIns="0" tIns="0" rIns="0" bIns="0" rtlCol="0" anchor="ctr"/>
          <a:lstStyle/>
          <a:p>
            <a:pPr marL="0" indent="0">
              <a:buNone/>
            </a:pPr>
            <a:r>
              <a:rPr lang="en-US" sz="900" b="1" dirty="0">
                <a:solidFill>
                  <a:srgbClr val="00C8FF"/>
                </a:solidFill>
                <a:latin typeface="Courier New" pitchFamily="34" charset="0"/>
                <a:ea typeface="Courier New" pitchFamily="34" charset="-122"/>
                <a:cs typeface="Courier New" pitchFamily="34" charset="-120"/>
              </a:rPr>
              <a:t>Windows System Log</a:t>
            </a:r>
            <a:endParaRPr lang="en-US" sz="900" dirty="0"/>
          </a:p>
        </p:txBody>
      </p:sp>
      <p:sp>
        <p:nvSpPr>
          <p:cNvPr id="24" name="Text 22"/>
          <p:cNvSpPr/>
          <p:nvPr/>
        </p:nvSpPr>
        <p:spPr>
          <a:xfrm>
            <a:off x="4773168" y="3319272"/>
            <a:ext cx="3703320" cy="182880"/>
          </a:xfrm>
          <a:prstGeom prst="rect">
            <a:avLst/>
          </a:prstGeom>
          <a:noFill/>
          <a:ln/>
        </p:spPr>
        <p:txBody>
          <a:bodyPr wrap="square" lIns="0" tIns="0" rIns="0" bIns="0" rtlCol="0" anchor="ctr"/>
          <a:lstStyle/>
          <a:p>
            <a:pPr marL="0" indent="0">
              <a:buNone/>
            </a:pPr>
            <a:r>
              <a:rPr lang="en-US" sz="850" dirty="0">
                <a:solidFill>
                  <a:srgbClr val="B0B0B0"/>
                </a:solidFill>
              </a:rPr>
              <a:t>Services, drivers, hardware events</a:t>
            </a:r>
            <a:endParaRPr lang="en-US" sz="850" dirty="0"/>
          </a:p>
        </p:txBody>
      </p:sp>
      <p:sp>
        <p:nvSpPr>
          <p:cNvPr id="25" name="Shape 23"/>
          <p:cNvSpPr/>
          <p:nvPr/>
        </p:nvSpPr>
        <p:spPr>
          <a:xfrm>
            <a:off x="4663440" y="3602736"/>
            <a:ext cx="3931920" cy="457200"/>
          </a:xfrm>
          <a:prstGeom prst="roundRect">
            <a:avLst>
              <a:gd name="adj" fmla="val 16000"/>
            </a:avLst>
          </a:prstGeom>
          <a:solidFill>
            <a:srgbClr val="181818"/>
          </a:solidFill>
          <a:ln w="6350">
            <a:solidFill>
              <a:srgbClr val="2A2A2A"/>
            </a:solidFill>
            <a:prstDash val="solid"/>
          </a:ln>
          <a:effectLst>
            <a:outerShdw blurRad="76200" dist="25400" dir="2700000" algn="bl" rotWithShape="0">
              <a:srgbClr val="000000">
                <a:alpha val="30000"/>
              </a:srgbClr>
            </a:outerShdw>
          </a:effectLst>
        </p:spPr>
      </p:sp>
      <p:sp>
        <p:nvSpPr>
          <p:cNvPr id="26" name="Text 24"/>
          <p:cNvSpPr/>
          <p:nvPr/>
        </p:nvSpPr>
        <p:spPr>
          <a:xfrm>
            <a:off x="4773168" y="3630168"/>
            <a:ext cx="3703320" cy="182880"/>
          </a:xfrm>
          <a:prstGeom prst="rect">
            <a:avLst/>
          </a:prstGeom>
          <a:noFill/>
          <a:ln/>
        </p:spPr>
        <p:txBody>
          <a:bodyPr wrap="square" lIns="0" tIns="0" rIns="0" bIns="0" rtlCol="0" anchor="ctr"/>
          <a:lstStyle/>
          <a:p>
            <a:pPr marL="0" indent="0">
              <a:buNone/>
            </a:pPr>
            <a:r>
              <a:rPr lang="en-US" sz="900" b="1" dirty="0">
                <a:solidFill>
                  <a:srgbClr val="00C8FF"/>
                </a:solidFill>
                <a:latin typeface="Courier New" pitchFamily="34" charset="0"/>
                <a:ea typeface="Courier New" pitchFamily="34" charset="-122"/>
                <a:cs typeface="Courier New" pitchFamily="34" charset="-120"/>
              </a:rPr>
              <a:t>Wazuh Threat Hunting</a:t>
            </a:r>
            <a:endParaRPr lang="en-US" sz="900" dirty="0"/>
          </a:p>
        </p:txBody>
      </p:sp>
      <p:sp>
        <p:nvSpPr>
          <p:cNvPr id="27" name="Text 25"/>
          <p:cNvSpPr/>
          <p:nvPr/>
        </p:nvSpPr>
        <p:spPr>
          <a:xfrm>
            <a:off x="4773168" y="3831336"/>
            <a:ext cx="3703320" cy="182880"/>
          </a:xfrm>
          <a:prstGeom prst="rect">
            <a:avLst/>
          </a:prstGeom>
          <a:noFill/>
          <a:ln/>
        </p:spPr>
        <p:txBody>
          <a:bodyPr wrap="square" lIns="0" tIns="0" rIns="0" bIns="0" rtlCol="0" anchor="ctr"/>
          <a:lstStyle/>
          <a:p>
            <a:pPr marL="0" indent="0">
              <a:buNone/>
            </a:pPr>
            <a:r>
              <a:rPr lang="en-US" sz="850" dirty="0">
                <a:solidFill>
                  <a:srgbClr val="B0B0B0"/>
                </a:solidFill>
              </a:rPr>
              <a:t>Query, filter, and correlate across all agents and all time</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WINDOWS LOGS</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WINDOWS SECURITY EVENT IDs</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three that matter most this week</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2743200" cy="3657600"/>
          </a:xfrm>
          <a:prstGeom prst="roundRect">
            <a:avLst>
              <a:gd name="adj" fmla="val 2667"/>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9" name="Shape 7"/>
          <p:cNvSpPr/>
          <p:nvPr/>
        </p:nvSpPr>
        <p:spPr>
          <a:xfrm>
            <a:off x="320040" y="1115568"/>
            <a:ext cx="2743200" cy="64008"/>
          </a:xfrm>
          <a:prstGeom prst="rect">
            <a:avLst/>
          </a:prstGeom>
          <a:solidFill>
            <a:srgbClr val="FF4444"/>
          </a:solidFill>
          <a:ln/>
        </p:spPr>
      </p:sp>
      <p:sp>
        <p:nvSpPr>
          <p:cNvPr id="10" name="Text 8"/>
          <p:cNvSpPr/>
          <p:nvPr/>
        </p:nvSpPr>
        <p:spPr>
          <a:xfrm>
            <a:off x="411480" y="1207008"/>
            <a:ext cx="1097280" cy="640080"/>
          </a:xfrm>
          <a:prstGeom prst="rect">
            <a:avLst/>
          </a:prstGeom>
          <a:noFill/>
          <a:ln/>
        </p:spPr>
        <p:txBody>
          <a:bodyPr wrap="square" lIns="0" tIns="0" rIns="0" bIns="0" rtlCol="0" anchor="ctr"/>
          <a:lstStyle/>
          <a:p>
            <a:pPr marL="0" indent="0">
              <a:buNone/>
            </a:pPr>
            <a:r>
              <a:rPr lang="en-US" sz="3600" b="1" dirty="0">
                <a:solidFill>
                  <a:srgbClr val="FF4444"/>
                </a:solidFill>
                <a:latin typeface="Cambria" pitchFamily="34" charset="0"/>
                <a:ea typeface="Cambria" pitchFamily="34" charset="-122"/>
                <a:cs typeface="Cambria" pitchFamily="34" charset="-120"/>
              </a:rPr>
              <a:t>4625</a:t>
            </a:r>
            <a:endParaRPr lang="en-US" sz="3600" dirty="0"/>
          </a:p>
        </p:txBody>
      </p:sp>
      <p:sp>
        <p:nvSpPr>
          <p:cNvPr id="11" name="Text 9"/>
          <p:cNvSpPr/>
          <p:nvPr/>
        </p:nvSpPr>
        <p:spPr>
          <a:xfrm>
            <a:off x="411480" y="1874520"/>
            <a:ext cx="2560320" cy="256032"/>
          </a:xfrm>
          <a:prstGeom prst="rect">
            <a:avLst/>
          </a:prstGeom>
          <a:noFill/>
          <a:ln/>
        </p:spPr>
        <p:txBody>
          <a:bodyPr wrap="square" lIns="0" tIns="0" rIns="0" bIns="0" rtlCol="0" anchor="ctr"/>
          <a:lstStyle/>
          <a:p>
            <a:pPr marL="0" indent="0">
              <a:buNone/>
            </a:pPr>
            <a:r>
              <a:rPr lang="en-US" sz="1300" b="1" dirty="0">
                <a:solidFill>
                  <a:srgbClr val="FFFFFF"/>
                </a:solidFill>
              </a:rPr>
              <a:t>Failed Logon</a:t>
            </a:r>
            <a:endParaRPr lang="en-US" sz="1300" dirty="0"/>
          </a:p>
        </p:txBody>
      </p:sp>
      <p:sp>
        <p:nvSpPr>
          <p:cNvPr id="12" name="Shape 10"/>
          <p:cNvSpPr/>
          <p:nvPr/>
        </p:nvSpPr>
        <p:spPr>
          <a:xfrm>
            <a:off x="411480" y="2176272"/>
            <a:ext cx="2560320" cy="18288"/>
          </a:xfrm>
          <a:prstGeom prst="rect">
            <a:avLst/>
          </a:prstGeom>
          <a:solidFill>
            <a:srgbClr val="3A3A3A"/>
          </a:solidFill>
          <a:ln/>
        </p:spPr>
      </p:sp>
      <p:sp>
        <p:nvSpPr>
          <p:cNvPr id="13" name="Text 11"/>
          <p:cNvSpPr/>
          <p:nvPr/>
        </p:nvSpPr>
        <p:spPr>
          <a:xfrm>
            <a:off x="411480" y="2231136"/>
            <a:ext cx="2560320" cy="1463040"/>
          </a:xfrm>
          <a:prstGeom prst="rect">
            <a:avLst/>
          </a:prstGeom>
          <a:noFill/>
          <a:ln/>
        </p:spPr>
        <p:txBody>
          <a:bodyPr wrap="square" lIns="0" tIns="0" rIns="0" bIns="0" rtlCol="0" anchor="ctr"/>
          <a:lstStyle/>
          <a:p>
            <a:pPr marL="0" indent="0">
              <a:buNone/>
            </a:pPr>
            <a:r>
              <a:rPr lang="en-US" sz="1050" dirty="0">
                <a:solidFill>
                  <a:srgbClr val="B0B0B0"/>
                </a:solidFill>
              </a:rPr>
              <a:t>Every failed authentication attempt. Contains the account name, failure reason code, source workstation, and logon type. One 4625 is background noise. Many in rapid succession from the same source is a brute force attack in progress.</a:t>
            </a:r>
            <a:endParaRPr lang="en-US" sz="1050" dirty="0"/>
          </a:p>
        </p:txBody>
      </p:sp>
      <p:sp>
        <p:nvSpPr>
          <p:cNvPr id="14" name="Shape 12"/>
          <p:cNvSpPr/>
          <p:nvPr/>
        </p:nvSpPr>
        <p:spPr>
          <a:xfrm>
            <a:off x="411480" y="3749040"/>
            <a:ext cx="2560320" cy="822960"/>
          </a:xfrm>
          <a:prstGeom prst="roundRect">
            <a:avLst>
              <a:gd name="adj" fmla="val 6667"/>
            </a:avLst>
          </a:prstGeom>
          <a:solidFill>
            <a:srgbClr val="0C0C0C"/>
          </a:solidFill>
          <a:ln w="6350">
            <a:solidFill>
              <a:srgbClr val="FF4444"/>
            </a:solidFill>
            <a:prstDash val="solid"/>
          </a:ln>
        </p:spPr>
      </p:sp>
      <p:sp>
        <p:nvSpPr>
          <p:cNvPr id="15" name="Text 13"/>
          <p:cNvSpPr/>
          <p:nvPr/>
        </p:nvSpPr>
        <p:spPr>
          <a:xfrm>
            <a:off x="502920" y="3803904"/>
            <a:ext cx="2377440" cy="713232"/>
          </a:xfrm>
          <a:prstGeom prst="rect">
            <a:avLst/>
          </a:prstGeom>
          <a:noFill/>
          <a:ln/>
        </p:spPr>
        <p:txBody>
          <a:bodyPr wrap="square" lIns="0" tIns="0" rIns="0" bIns="0" rtlCol="0" anchor="ctr"/>
          <a:lstStyle/>
          <a:p>
            <a:pPr marL="0" indent="0">
              <a:buNone/>
            </a:pPr>
            <a:r>
              <a:rPr lang="en-US" sz="1050" i="1" dirty="0">
                <a:solidFill>
                  <a:srgbClr val="B0B0B0"/>
                </a:solidFill>
              </a:rPr>
              <a:t>Watch for: Reason 0xC000006A = wrong password.  0xC0000064 = account does not exist.</a:t>
            </a:r>
            <a:endParaRPr lang="en-US" sz="1050" dirty="0"/>
          </a:p>
        </p:txBody>
      </p:sp>
      <p:sp>
        <p:nvSpPr>
          <p:cNvPr id="16" name="Shape 14"/>
          <p:cNvSpPr/>
          <p:nvPr/>
        </p:nvSpPr>
        <p:spPr>
          <a:xfrm>
            <a:off x="3172968" y="1115568"/>
            <a:ext cx="2743200" cy="3657600"/>
          </a:xfrm>
          <a:prstGeom prst="roundRect">
            <a:avLst>
              <a:gd name="adj" fmla="val 2667"/>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17" name="Shape 15"/>
          <p:cNvSpPr/>
          <p:nvPr/>
        </p:nvSpPr>
        <p:spPr>
          <a:xfrm>
            <a:off x="3172968" y="1115568"/>
            <a:ext cx="2743200" cy="64008"/>
          </a:xfrm>
          <a:prstGeom prst="rect">
            <a:avLst/>
          </a:prstGeom>
          <a:solidFill>
            <a:srgbClr val="FF8C00"/>
          </a:solidFill>
          <a:ln/>
        </p:spPr>
      </p:sp>
      <p:sp>
        <p:nvSpPr>
          <p:cNvPr id="18" name="Text 16"/>
          <p:cNvSpPr/>
          <p:nvPr/>
        </p:nvSpPr>
        <p:spPr>
          <a:xfrm>
            <a:off x="3264408" y="1207008"/>
            <a:ext cx="1097280" cy="640080"/>
          </a:xfrm>
          <a:prstGeom prst="rect">
            <a:avLst/>
          </a:prstGeom>
          <a:noFill/>
          <a:ln/>
        </p:spPr>
        <p:txBody>
          <a:bodyPr wrap="square" lIns="0" tIns="0" rIns="0" bIns="0" rtlCol="0" anchor="ctr"/>
          <a:lstStyle/>
          <a:p>
            <a:pPr marL="0" indent="0">
              <a:buNone/>
            </a:pPr>
            <a:r>
              <a:rPr lang="en-US" sz="3600" b="1" dirty="0">
                <a:solidFill>
                  <a:srgbClr val="FF8C00"/>
                </a:solidFill>
                <a:latin typeface="Cambria" pitchFamily="34" charset="0"/>
                <a:ea typeface="Cambria" pitchFamily="34" charset="-122"/>
                <a:cs typeface="Cambria" pitchFamily="34" charset="-120"/>
              </a:rPr>
              <a:t>4672</a:t>
            </a:r>
            <a:endParaRPr lang="en-US" sz="3600" dirty="0"/>
          </a:p>
        </p:txBody>
      </p:sp>
      <p:sp>
        <p:nvSpPr>
          <p:cNvPr id="19" name="Text 17"/>
          <p:cNvSpPr/>
          <p:nvPr/>
        </p:nvSpPr>
        <p:spPr>
          <a:xfrm>
            <a:off x="3264408" y="1874520"/>
            <a:ext cx="2560320" cy="256032"/>
          </a:xfrm>
          <a:prstGeom prst="rect">
            <a:avLst/>
          </a:prstGeom>
          <a:noFill/>
          <a:ln/>
        </p:spPr>
        <p:txBody>
          <a:bodyPr wrap="square" lIns="0" tIns="0" rIns="0" bIns="0" rtlCol="0" anchor="ctr"/>
          <a:lstStyle/>
          <a:p>
            <a:pPr marL="0" indent="0">
              <a:buNone/>
            </a:pPr>
            <a:r>
              <a:rPr lang="en-US" sz="1300" b="1" dirty="0">
                <a:solidFill>
                  <a:srgbClr val="FFFFFF"/>
                </a:solidFill>
              </a:rPr>
              <a:t>Special Privileges</a:t>
            </a:r>
            <a:endParaRPr lang="en-US" sz="1300" dirty="0"/>
          </a:p>
        </p:txBody>
      </p:sp>
      <p:sp>
        <p:nvSpPr>
          <p:cNvPr id="20" name="Shape 18"/>
          <p:cNvSpPr/>
          <p:nvPr/>
        </p:nvSpPr>
        <p:spPr>
          <a:xfrm>
            <a:off x="3264408" y="2176272"/>
            <a:ext cx="2560320" cy="18288"/>
          </a:xfrm>
          <a:prstGeom prst="rect">
            <a:avLst/>
          </a:prstGeom>
          <a:solidFill>
            <a:srgbClr val="3A3A3A"/>
          </a:solidFill>
          <a:ln/>
        </p:spPr>
      </p:sp>
      <p:sp>
        <p:nvSpPr>
          <p:cNvPr id="21" name="Text 19"/>
          <p:cNvSpPr/>
          <p:nvPr/>
        </p:nvSpPr>
        <p:spPr>
          <a:xfrm>
            <a:off x="3264408" y="2231136"/>
            <a:ext cx="2560320" cy="1463040"/>
          </a:xfrm>
          <a:prstGeom prst="rect">
            <a:avLst/>
          </a:prstGeom>
          <a:noFill/>
          <a:ln/>
        </p:spPr>
        <p:txBody>
          <a:bodyPr wrap="square" lIns="0" tIns="0" rIns="0" bIns="0" rtlCol="0" anchor="ctr"/>
          <a:lstStyle/>
          <a:p>
            <a:pPr marL="0" indent="0">
              <a:buNone/>
            </a:pPr>
            <a:r>
              <a:rPr lang="en-US" sz="1050" dirty="0">
                <a:solidFill>
                  <a:srgbClr val="B0B0B0"/>
                </a:solidFill>
              </a:rPr>
              <a:t>Fires when an account with sensitive privileges logs in. Not suspicious on its own — all admin accounts trigger it. Suspicious when it follows a series of 4625 failures from the same IP. That sequence means someone just brute-forced their way in.</a:t>
            </a:r>
            <a:endParaRPr lang="en-US" sz="1050" dirty="0"/>
          </a:p>
        </p:txBody>
      </p:sp>
      <p:sp>
        <p:nvSpPr>
          <p:cNvPr id="22" name="Shape 20"/>
          <p:cNvSpPr/>
          <p:nvPr/>
        </p:nvSpPr>
        <p:spPr>
          <a:xfrm>
            <a:off x="3264408" y="3749040"/>
            <a:ext cx="2560320" cy="822960"/>
          </a:xfrm>
          <a:prstGeom prst="roundRect">
            <a:avLst>
              <a:gd name="adj" fmla="val 6667"/>
            </a:avLst>
          </a:prstGeom>
          <a:solidFill>
            <a:srgbClr val="0C0C0C"/>
          </a:solidFill>
          <a:ln w="6350">
            <a:solidFill>
              <a:srgbClr val="FF8C00"/>
            </a:solidFill>
            <a:prstDash val="solid"/>
          </a:ln>
        </p:spPr>
      </p:sp>
      <p:sp>
        <p:nvSpPr>
          <p:cNvPr id="23" name="Text 21"/>
          <p:cNvSpPr/>
          <p:nvPr/>
        </p:nvSpPr>
        <p:spPr>
          <a:xfrm>
            <a:off x="3355848" y="3803904"/>
            <a:ext cx="2377440" cy="713232"/>
          </a:xfrm>
          <a:prstGeom prst="rect">
            <a:avLst/>
          </a:prstGeom>
          <a:noFill/>
          <a:ln/>
        </p:spPr>
        <p:txBody>
          <a:bodyPr wrap="square" lIns="0" tIns="0" rIns="0" bIns="0" rtlCol="0" anchor="ctr"/>
          <a:lstStyle/>
          <a:p>
            <a:pPr marL="0" indent="0">
              <a:buNone/>
            </a:pPr>
            <a:r>
              <a:rPr lang="en-US" sz="1050" i="1" dirty="0">
                <a:solidFill>
                  <a:srgbClr val="B0B0B0"/>
                </a:solidFill>
              </a:rPr>
              <a:t>Watch for: Pattern: 4625 failures → 4624 success → 4672 = successful brute force. Investigate immediately.</a:t>
            </a:r>
            <a:endParaRPr lang="en-US" sz="1050" dirty="0"/>
          </a:p>
        </p:txBody>
      </p:sp>
      <p:sp>
        <p:nvSpPr>
          <p:cNvPr id="24" name="Shape 22"/>
          <p:cNvSpPr/>
          <p:nvPr/>
        </p:nvSpPr>
        <p:spPr>
          <a:xfrm>
            <a:off x="6025896" y="1115568"/>
            <a:ext cx="2743200" cy="3657600"/>
          </a:xfrm>
          <a:prstGeom prst="roundRect">
            <a:avLst>
              <a:gd name="adj" fmla="val 2667"/>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25" name="Shape 23"/>
          <p:cNvSpPr/>
          <p:nvPr/>
        </p:nvSpPr>
        <p:spPr>
          <a:xfrm>
            <a:off x="6025896" y="1115568"/>
            <a:ext cx="2743200" cy="64008"/>
          </a:xfrm>
          <a:prstGeom prst="rect">
            <a:avLst/>
          </a:prstGeom>
          <a:solidFill>
            <a:srgbClr val="FFD700"/>
          </a:solidFill>
          <a:ln/>
        </p:spPr>
      </p:sp>
      <p:sp>
        <p:nvSpPr>
          <p:cNvPr id="26" name="Text 24"/>
          <p:cNvSpPr/>
          <p:nvPr/>
        </p:nvSpPr>
        <p:spPr>
          <a:xfrm>
            <a:off x="6117336" y="1207008"/>
            <a:ext cx="1097280" cy="640080"/>
          </a:xfrm>
          <a:prstGeom prst="rect">
            <a:avLst/>
          </a:prstGeom>
          <a:noFill/>
          <a:ln/>
        </p:spPr>
        <p:txBody>
          <a:bodyPr wrap="square" lIns="0" tIns="0" rIns="0" bIns="0" rtlCol="0" anchor="ctr"/>
          <a:lstStyle/>
          <a:p>
            <a:pPr marL="0" indent="0">
              <a:buNone/>
            </a:pPr>
            <a:r>
              <a:rPr lang="en-US" sz="3600" b="1" dirty="0">
                <a:solidFill>
                  <a:srgbClr val="FFD700"/>
                </a:solidFill>
                <a:latin typeface="Cambria" pitchFamily="34" charset="0"/>
                <a:ea typeface="Cambria" pitchFamily="34" charset="-122"/>
                <a:cs typeface="Cambria" pitchFamily="34" charset="-120"/>
              </a:rPr>
              <a:t>4720</a:t>
            </a:r>
            <a:endParaRPr lang="en-US" sz="3600" dirty="0"/>
          </a:p>
        </p:txBody>
      </p:sp>
      <p:sp>
        <p:nvSpPr>
          <p:cNvPr id="27" name="Text 25"/>
          <p:cNvSpPr/>
          <p:nvPr/>
        </p:nvSpPr>
        <p:spPr>
          <a:xfrm>
            <a:off x="6117336" y="1874520"/>
            <a:ext cx="2560320" cy="256032"/>
          </a:xfrm>
          <a:prstGeom prst="rect">
            <a:avLst/>
          </a:prstGeom>
          <a:noFill/>
          <a:ln/>
        </p:spPr>
        <p:txBody>
          <a:bodyPr wrap="square" lIns="0" tIns="0" rIns="0" bIns="0" rtlCol="0" anchor="ctr"/>
          <a:lstStyle/>
          <a:p>
            <a:pPr marL="0" indent="0">
              <a:buNone/>
            </a:pPr>
            <a:r>
              <a:rPr lang="en-US" sz="1300" b="1" dirty="0">
                <a:solidFill>
                  <a:srgbClr val="FFFFFF"/>
                </a:solidFill>
              </a:rPr>
              <a:t>Account Created</a:t>
            </a:r>
            <a:endParaRPr lang="en-US" sz="1300" dirty="0"/>
          </a:p>
        </p:txBody>
      </p:sp>
      <p:sp>
        <p:nvSpPr>
          <p:cNvPr id="28" name="Shape 26"/>
          <p:cNvSpPr/>
          <p:nvPr/>
        </p:nvSpPr>
        <p:spPr>
          <a:xfrm>
            <a:off x="6117336" y="2176272"/>
            <a:ext cx="2560320" cy="18288"/>
          </a:xfrm>
          <a:prstGeom prst="rect">
            <a:avLst/>
          </a:prstGeom>
          <a:solidFill>
            <a:srgbClr val="3A3A3A"/>
          </a:solidFill>
          <a:ln/>
        </p:spPr>
      </p:sp>
      <p:sp>
        <p:nvSpPr>
          <p:cNvPr id="29" name="Text 27"/>
          <p:cNvSpPr/>
          <p:nvPr/>
        </p:nvSpPr>
        <p:spPr>
          <a:xfrm>
            <a:off x="6117336" y="2231136"/>
            <a:ext cx="2560320" cy="1463040"/>
          </a:xfrm>
          <a:prstGeom prst="rect">
            <a:avLst/>
          </a:prstGeom>
          <a:noFill/>
          <a:ln/>
        </p:spPr>
        <p:txBody>
          <a:bodyPr wrap="square" lIns="0" tIns="0" rIns="0" bIns="0" rtlCol="0" anchor="ctr"/>
          <a:lstStyle/>
          <a:p>
            <a:pPr marL="0" indent="0">
              <a:buNone/>
            </a:pPr>
            <a:r>
              <a:rPr lang="en-US" sz="1050" dirty="0">
                <a:solidFill>
                  <a:srgbClr val="B0B0B0"/>
                </a:solidFill>
              </a:rPr>
              <a:t>New user account created on the system. Includes the new account name, who created it, and when. Unexpected account creation outside normal business hours or by accounts that should not create users is a red flag for attacker persistence.</a:t>
            </a:r>
            <a:endParaRPr lang="en-US" sz="1050" dirty="0"/>
          </a:p>
        </p:txBody>
      </p:sp>
      <p:sp>
        <p:nvSpPr>
          <p:cNvPr id="30" name="Shape 28"/>
          <p:cNvSpPr/>
          <p:nvPr/>
        </p:nvSpPr>
        <p:spPr>
          <a:xfrm>
            <a:off x="6117336" y="3749040"/>
            <a:ext cx="2560320" cy="822960"/>
          </a:xfrm>
          <a:prstGeom prst="roundRect">
            <a:avLst>
              <a:gd name="adj" fmla="val 6667"/>
            </a:avLst>
          </a:prstGeom>
          <a:solidFill>
            <a:srgbClr val="0C0C0C"/>
          </a:solidFill>
          <a:ln w="6350">
            <a:solidFill>
              <a:srgbClr val="FFD700"/>
            </a:solidFill>
            <a:prstDash val="solid"/>
          </a:ln>
        </p:spPr>
      </p:sp>
      <p:sp>
        <p:nvSpPr>
          <p:cNvPr id="31" name="Text 29"/>
          <p:cNvSpPr/>
          <p:nvPr/>
        </p:nvSpPr>
        <p:spPr>
          <a:xfrm>
            <a:off x="6208776" y="3803904"/>
            <a:ext cx="2377440" cy="713232"/>
          </a:xfrm>
          <a:prstGeom prst="rect">
            <a:avLst/>
          </a:prstGeom>
          <a:noFill/>
          <a:ln/>
        </p:spPr>
        <p:txBody>
          <a:bodyPr wrap="square" lIns="0" tIns="0" rIns="0" bIns="0" rtlCol="0" anchor="ctr"/>
          <a:lstStyle/>
          <a:p>
            <a:pPr marL="0" indent="0">
              <a:buNone/>
            </a:pPr>
            <a:r>
              <a:rPr lang="en-US" sz="1050" i="1" dirty="0">
                <a:solidFill>
                  <a:srgbClr val="B0B0B0"/>
                </a:solidFill>
              </a:rPr>
              <a:t>Watch for: Accounts created at 3am or created by service accounts are worth investigating every time.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INVESTIGATION SKILL</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CORRELATION AND BUILDING TIMELINES</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How individual events become evidence</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8503920" cy="868680"/>
          </a:xfrm>
          <a:prstGeom prst="roundRect">
            <a:avLst>
              <a:gd name="adj" fmla="val 8421"/>
            </a:avLst>
          </a:prstGeom>
          <a:solidFill>
            <a:srgbClr val="0A0A0A"/>
          </a:solidFill>
          <a:ln w="6350">
            <a:solidFill>
              <a:srgbClr val="2A2A2A"/>
            </a:solidFill>
            <a:prstDash val="solid"/>
          </a:ln>
          <a:effectLst>
            <a:outerShdw blurRad="76200" dist="25400" dir="2700000" algn="bl" rotWithShape="0">
              <a:srgbClr val="000000">
                <a:alpha val="30000"/>
              </a:srgbClr>
            </a:outerShdw>
          </a:effectLst>
        </p:spPr>
      </p:sp>
      <p:sp>
        <p:nvSpPr>
          <p:cNvPr id="9" name="Text 7"/>
          <p:cNvSpPr/>
          <p:nvPr/>
        </p:nvSpPr>
        <p:spPr>
          <a:xfrm>
            <a:off x="502920" y="1188720"/>
            <a:ext cx="3657600" cy="182880"/>
          </a:xfrm>
          <a:prstGeom prst="rect">
            <a:avLst/>
          </a:prstGeom>
          <a:noFill/>
          <a:ln/>
        </p:spPr>
        <p:txBody>
          <a:bodyPr wrap="square" lIns="0" tIns="0" rIns="0" bIns="0" rtlCol="0" anchor="ctr"/>
          <a:lstStyle/>
          <a:p>
            <a:pPr marL="0" indent="0">
              <a:buNone/>
            </a:pPr>
            <a:r>
              <a:rPr lang="en-US" sz="900" b="1" dirty="0">
                <a:solidFill>
                  <a:srgbClr val="00C8FF"/>
                </a:solidFill>
              </a:rPr>
              <a:t>Reading a single auth.log line</a:t>
            </a:r>
            <a:endParaRPr lang="en-US" sz="900" dirty="0"/>
          </a:p>
        </p:txBody>
      </p:sp>
      <p:sp>
        <p:nvSpPr>
          <p:cNvPr id="10" name="Text 8"/>
          <p:cNvSpPr/>
          <p:nvPr/>
        </p:nvSpPr>
        <p:spPr>
          <a:xfrm>
            <a:off x="502920" y="1399032"/>
            <a:ext cx="8229600" cy="201168"/>
          </a:xfrm>
          <a:prstGeom prst="rect">
            <a:avLst/>
          </a:prstGeom>
          <a:noFill/>
          <a:ln/>
        </p:spPr>
        <p:txBody>
          <a:bodyPr wrap="square" lIns="0" tIns="0" rIns="0" bIns="0" rtlCol="0" anchor="ctr"/>
          <a:lstStyle/>
          <a:p>
            <a:pPr marL="0" indent="0">
              <a:buNone/>
            </a:pPr>
            <a:r>
              <a:rPr lang="en-US" sz="1100" dirty="0">
                <a:solidFill>
                  <a:srgbClr val="7EC8E3"/>
                </a:solidFill>
                <a:latin typeface="Courier New" pitchFamily="34" charset="0"/>
                <a:ea typeface="Courier New" pitchFamily="34" charset="-122"/>
                <a:cs typeface="Courier New" pitchFamily="34" charset="-120"/>
              </a:rPr>
              <a:t>Mar  9 21:14:32 ubuntu sshd[1823]: Failed password for invalid user admin from 192.168.56.101 port 43211 ssh2</a:t>
            </a:r>
            <a:endParaRPr lang="en-US" sz="1100" dirty="0"/>
          </a:p>
        </p:txBody>
      </p:sp>
      <p:sp>
        <p:nvSpPr>
          <p:cNvPr id="11" name="Text 9"/>
          <p:cNvSpPr/>
          <p:nvPr/>
        </p:nvSpPr>
        <p:spPr>
          <a:xfrm>
            <a:off x="502920" y="1618488"/>
            <a:ext cx="8229600" cy="201168"/>
          </a:xfrm>
          <a:prstGeom prst="rect">
            <a:avLst/>
          </a:prstGeom>
          <a:noFill/>
          <a:ln/>
        </p:spPr>
        <p:txBody>
          <a:bodyPr wrap="square" lIns="0" tIns="0" rIns="0" bIns="0" rtlCol="0" anchor="ctr"/>
          <a:lstStyle/>
          <a:p>
            <a:pPr marL="0" indent="0">
              <a:buNone/>
            </a:pPr>
            <a:r>
              <a:rPr lang="en-US" sz="1100" i="1" dirty="0">
                <a:solidFill>
                  <a:srgbClr val="707070"/>
                </a:solidFill>
              </a:rPr>
              <a:t>Timestamp  ·  hostname  ·  process  ·  event type  ·  username  ·  source IP  ·  port  ·  protocol  — everything to reconstruct one moment in time</a:t>
            </a:r>
            <a:endParaRPr lang="en-US" sz="1100" dirty="0"/>
          </a:p>
        </p:txBody>
      </p:sp>
      <p:sp>
        <p:nvSpPr>
          <p:cNvPr id="12" name="Text 10"/>
          <p:cNvSpPr/>
          <p:nvPr/>
        </p:nvSpPr>
        <p:spPr>
          <a:xfrm>
            <a:off x="365760" y="2103120"/>
            <a:ext cx="8412480" cy="256032"/>
          </a:xfrm>
          <a:prstGeom prst="rect">
            <a:avLst/>
          </a:prstGeom>
          <a:noFill/>
          <a:ln/>
        </p:spPr>
        <p:txBody>
          <a:bodyPr wrap="square" lIns="0" tIns="0" rIns="0" bIns="0" rtlCol="0" anchor="ctr"/>
          <a:lstStyle/>
          <a:p>
            <a:pPr marL="0" indent="0">
              <a:buNone/>
            </a:pPr>
            <a:r>
              <a:rPr lang="en-US" sz="1100" i="1" dirty="0">
                <a:solidFill>
                  <a:srgbClr val="B0B0B0"/>
                </a:solidFill>
              </a:rPr>
              <a:t>When you correlate across agents and time — this is what evidence looks like</a:t>
            </a:r>
            <a:endParaRPr lang="en-US" sz="1100" dirty="0"/>
          </a:p>
        </p:txBody>
      </p:sp>
      <p:sp>
        <p:nvSpPr>
          <p:cNvPr id="13" name="Shape 11"/>
          <p:cNvSpPr/>
          <p:nvPr/>
        </p:nvSpPr>
        <p:spPr>
          <a:xfrm>
            <a:off x="2331720" y="2871216"/>
            <a:ext cx="182880" cy="36576"/>
          </a:xfrm>
          <a:prstGeom prst="rect">
            <a:avLst/>
          </a:prstGeom>
          <a:solidFill>
            <a:srgbClr val="3A3A3A"/>
          </a:solidFill>
          <a:ln/>
        </p:spPr>
      </p:sp>
      <p:sp>
        <p:nvSpPr>
          <p:cNvPr id="14" name="Shape 12"/>
          <p:cNvSpPr/>
          <p:nvPr/>
        </p:nvSpPr>
        <p:spPr>
          <a:xfrm>
            <a:off x="365760" y="2423160"/>
            <a:ext cx="2011680" cy="2331720"/>
          </a:xfrm>
          <a:prstGeom prst="roundRect">
            <a:avLst>
              <a:gd name="adj" fmla="val 3636"/>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15" name="Shape 13"/>
          <p:cNvSpPr/>
          <p:nvPr/>
        </p:nvSpPr>
        <p:spPr>
          <a:xfrm>
            <a:off x="365760" y="2423160"/>
            <a:ext cx="2011680" cy="45720"/>
          </a:xfrm>
          <a:prstGeom prst="rect">
            <a:avLst/>
          </a:prstGeom>
          <a:solidFill>
            <a:srgbClr val="FF8C00"/>
          </a:solidFill>
          <a:ln/>
        </p:spPr>
      </p:sp>
      <p:sp>
        <p:nvSpPr>
          <p:cNvPr id="16" name="Text 14"/>
          <p:cNvSpPr/>
          <p:nvPr/>
        </p:nvSpPr>
        <p:spPr>
          <a:xfrm>
            <a:off x="475488" y="2505456"/>
            <a:ext cx="1828800" cy="219456"/>
          </a:xfrm>
          <a:prstGeom prst="rect">
            <a:avLst/>
          </a:prstGeom>
          <a:noFill/>
          <a:ln/>
        </p:spPr>
        <p:txBody>
          <a:bodyPr wrap="square" lIns="0" tIns="0" rIns="0" bIns="0" rtlCol="0" anchor="ctr"/>
          <a:lstStyle/>
          <a:p>
            <a:pPr marL="0" indent="0">
              <a:buNone/>
            </a:pPr>
            <a:r>
              <a:rPr lang="en-US" sz="900" b="1" dirty="0">
                <a:solidFill>
                  <a:srgbClr val="FF8C00"/>
                </a:solidFill>
                <a:latin typeface="Courier New" pitchFamily="34" charset="0"/>
                <a:ea typeface="Courier New" pitchFamily="34" charset="-122"/>
                <a:cs typeface="Courier New" pitchFamily="34" charset="-120"/>
              </a:rPr>
              <a:t>21:14:30–40</a:t>
            </a:r>
            <a:endParaRPr lang="en-US" sz="900" dirty="0"/>
          </a:p>
        </p:txBody>
      </p:sp>
      <p:sp>
        <p:nvSpPr>
          <p:cNvPr id="17" name="Shape 15"/>
          <p:cNvSpPr/>
          <p:nvPr/>
        </p:nvSpPr>
        <p:spPr>
          <a:xfrm>
            <a:off x="475488" y="2743200"/>
            <a:ext cx="1792224" cy="18288"/>
          </a:xfrm>
          <a:prstGeom prst="rect">
            <a:avLst/>
          </a:prstGeom>
          <a:solidFill>
            <a:srgbClr val="3A3A3A"/>
          </a:solidFill>
          <a:ln/>
        </p:spPr>
      </p:sp>
      <p:sp>
        <p:nvSpPr>
          <p:cNvPr id="18" name="Text 16"/>
          <p:cNvSpPr/>
          <p:nvPr/>
        </p:nvSpPr>
        <p:spPr>
          <a:xfrm>
            <a:off x="475488" y="2798064"/>
            <a:ext cx="1792224" cy="320040"/>
          </a:xfrm>
          <a:prstGeom prst="rect">
            <a:avLst/>
          </a:prstGeom>
          <a:noFill/>
          <a:ln/>
        </p:spPr>
        <p:txBody>
          <a:bodyPr wrap="square" lIns="0" tIns="0" rIns="0" bIns="0" rtlCol="0" anchor="ctr"/>
          <a:lstStyle/>
          <a:p>
            <a:pPr marL="0" indent="0">
              <a:buNone/>
            </a:pPr>
            <a:r>
              <a:rPr lang="en-US" sz="1050" b="1" dirty="0">
                <a:solidFill>
                  <a:srgbClr val="FFFFFF"/>
                </a:solidFill>
              </a:rPr>
              <a:t>50 failed SSH attempts</a:t>
            </a:r>
            <a:endParaRPr lang="en-US" sz="1050" dirty="0"/>
          </a:p>
        </p:txBody>
      </p:sp>
      <p:sp>
        <p:nvSpPr>
          <p:cNvPr id="19" name="Text 17"/>
          <p:cNvSpPr/>
          <p:nvPr/>
        </p:nvSpPr>
        <p:spPr>
          <a:xfrm>
            <a:off x="475488" y="3154680"/>
            <a:ext cx="1792224" cy="502920"/>
          </a:xfrm>
          <a:prstGeom prst="rect">
            <a:avLst/>
          </a:prstGeom>
          <a:noFill/>
          <a:ln/>
        </p:spPr>
        <p:txBody>
          <a:bodyPr wrap="square" lIns="0" tIns="0" rIns="0" bIns="0" rtlCol="0" anchor="ctr"/>
          <a:lstStyle/>
          <a:p>
            <a:pPr marL="0" indent="0">
              <a:buNone/>
            </a:pPr>
            <a:r>
              <a:rPr lang="en-US" sz="1100" dirty="0">
                <a:solidFill>
                  <a:srgbClr val="B0B0B0"/>
                </a:solidFill>
              </a:rPr>
              <a:t>192.168.56.101 → Ubuntu</a:t>
            </a:r>
            <a:endParaRPr lang="en-US" sz="1100" dirty="0"/>
          </a:p>
        </p:txBody>
      </p:sp>
      <p:sp>
        <p:nvSpPr>
          <p:cNvPr id="20" name="Shape 18"/>
          <p:cNvSpPr/>
          <p:nvPr/>
        </p:nvSpPr>
        <p:spPr>
          <a:xfrm>
            <a:off x="4507992" y="2871216"/>
            <a:ext cx="182880" cy="36576"/>
          </a:xfrm>
          <a:prstGeom prst="rect">
            <a:avLst/>
          </a:prstGeom>
          <a:solidFill>
            <a:srgbClr val="3A3A3A"/>
          </a:solidFill>
          <a:ln/>
        </p:spPr>
      </p:sp>
      <p:sp>
        <p:nvSpPr>
          <p:cNvPr id="21" name="Shape 19"/>
          <p:cNvSpPr/>
          <p:nvPr/>
        </p:nvSpPr>
        <p:spPr>
          <a:xfrm>
            <a:off x="2542032" y="2423160"/>
            <a:ext cx="2011680" cy="2331720"/>
          </a:xfrm>
          <a:prstGeom prst="roundRect">
            <a:avLst>
              <a:gd name="adj" fmla="val 3636"/>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22" name="Shape 20"/>
          <p:cNvSpPr/>
          <p:nvPr/>
        </p:nvSpPr>
        <p:spPr>
          <a:xfrm>
            <a:off x="2542032" y="2423160"/>
            <a:ext cx="2011680" cy="45720"/>
          </a:xfrm>
          <a:prstGeom prst="rect">
            <a:avLst/>
          </a:prstGeom>
          <a:solidFill>
            <a:srgbClr val="FFD700"/>
          </a:solidFill>
          <a:ln/>
        </p:spPr>
      </p:sp>
      <p:sp>
        <p:nvSpPr>
          <p:cNvPr id="23" name="Text 21"/>
          <p:cNvSpPr/>
          <p:nvPr/>
        </p:nvSpPr>
        <p:spPr>
          <a:xfrm>
            <a:off x="2651760" y="2505456"/>
            <a:ext cx="1828800" cy="219456"/>
          </a:xfrm>
          <a:prstGeom prst="rect">
            <a:avLst/>
          </a:prstGeom>
          <a:noFill/>
          <a:ln/>
        </p:spPr>
        <p:txBody>
          <a:bodyPr wrap="square" lIns="0" tIns="0" rIns="0" bIns="0" rtlCol="0" anchor="ctr"/>
          <a:lstStyle/>
          <a:p>
            <a:pPr marL="0" indent="0">
              <a:buNone/>
            </a:pPr>
            <a:r>
              <a:rPr lang="en-US" sz="900" b="1" dirty="0">
                <a:solidFill>
                  <a:srgbClr val="FFD700"/>
                </a:solidFill>
                <a:latin typeface="Courier New" pitchFamily="34" charset="0"/>
                <a:ea typeface="Courier New" pitchFamily="34" charset="-122"/>
                <a:cs typeface="Courier New" pitchFamily="34" charset="-120"/>
              </a:rPr>
              <a:t>21:14:41</a:t>
            </a:r>
            <a:endParaRPr lang="en-US" sz="900" dirty="0"/>
          </a:p>
        </p:txBody>
      </p:sp>
      <p:sp>
        <p:nvSpPr>
          <p:cNvPr id="24" name="Shape 22"/>
          <p:cNvSpPr/>
          <p:nvPr/>
        </p:nvSpPr>
        <p:spPr>
          <a:xfrm>
            <a:off x="2651760" y="2743200"/>
            <a:ext cx="1792224" cy="18288"/>
          </a:xfrm>
          <a:prstGeom prst="rect">
            <a:avLst/>
          </a:prstGeom>
          <a:solidFill>
            <a:srgbClr val="3A3A3A"/>
          </a:solidFill>
          <a:ln/>
        </p:spPr>
      </p:sp>
      <p:sp>
        <p:nvSpPr>
          <p:cNvPr id="25" name="Text 23"/>
          <p:cNvSpPr/>
          <p:nvPr/>
        </p:nvSpPr>
        <p:spPr>
          <a:xfrm>
            <a:off x="2651760" y="2798064"/>
            <a:ext cx="1792224" cy="320040"/>
          </a:xfrm>
          <a:prstGeom prst="rect">
            <a:avLst/>
          </a:prstGeom>
          <a:noFill/>
          <a:ln/>
        </p:spPr>
        <p:txBody>
          <a:bodyPr wrap="square" lIns="0" tIns="0" rIns="0" bIns="0" rtlCol="0" anchor="ctr"/>
          <a:lstStyle/>
          <a:p>
            <a:pPr marL="0" indent="0">
              <a:buNone/>
            </a:pPr>
            <a:r>
              <a:rPr lang="en-US" sz="1050" b="1" dirty="0">
                <a:solidFill>
                  <a:srgbClr val="FFFFFF"/>
                </a:solidFill>
              </a:rPr>
              <a:t>Successful login</a:t>
            </a:r>
            <a:endParaRPr lang="en-US" sz="1050" dirty="0"/>
          </a:p>
        </p:txBody>
      </p:sp>
      <p:sp>
        <p:nvSpPr>
          <p:cNvPr id="26" name="Text 24"/>
          <p:cNvSpPr/>
          <p:nvPr/>
        </p:nvSpPr>
        <p:spPr>
          <a:xfrm>
            <a:off x="2651760" y="3154680"/>
            <a:ext cx="1792224" cy="502920"/>
          </a:xfrm>
          <a:prstGeom prst="rect">
            <a:avLst/>
          </a:prstGeom>
          <a:noFill/>
          <a:ln/>
        </p:spPr>
        <p:txBody>
          <a:bodyPr wrap="square" lIns="0" tIns="0" rIns="0" bIns="0" rtlCol="0" anchor="ctr"/>
          <a:lstStyle/>
          <a:p>
            <a:pPr marL="0" indent="0">
              <a:buNone/>
            </a:pPr>
            <a:r>
              <a:rPr lang="en-US" sz="1100" dirty="0">
                <a:solidFill>
                  <a:srgbClr val="B0B0B0"/>
                </a:solidFill>
              </a:rPr>
              <a:t>as user 'backup'</a:t>
            </a:r>
            <a:endParaRPr lang="en-US" sz="1100" dirty="0"/>
          </a:p>
        </p:txBody>
      </p:sp>
      <p:sp>
        <p:nvSpPr>
          <p:cNvPr id="27" name="Shape 25"/>
          <p:cNvSpPr/>
          <p:nvPr/>
        </p:nvSpPr>
        <p:spPr>
          <a:xfrm>
            <a:off x="6684264" y="2871216"/>
            <a:ext cx="182880" cy="36576"/>
          </a:xfrm>
          <a:prstGeom prst="rect">
            <a:avLst/>
          </a:prstGeom>
          <a:solidFill>
            <a:srgbClr val="3A3A3A"/>
          </a:solidFill>
          <a:ln/>
        </p:spPr>
      </p:sp>
      <p:sp>
        <p:nvSpPr>
          <p:cNvPr id="28" name="Shape 26"/>
          <p:cNvSpPr/>
          <p:nvPr/>
        </p:nvSpPr>
        <p:spPr>
          <a:xfrm>
            <a:off x="4718304" y="2423160"/>
            <a:ext cx="2011680" cy="2331720"/>
          </a:xfrm>
          <a:prstGeom prst="roundRect">
            <a:avLst>
              <a:gd name="adj" fmla="val 3636"/>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29" name="Shape 27"/>
          <p:cNvSpPr/>
          <p:nvPr/>
        </p:nvSpPr>
        <p:spPr>
          <a:xfrm>
            <a:off x="4718304" y="2423160"/>
            <a:ext cx="2011680" cy="45720"/>
          </a:xfrm>
          <a:prstGeom prst="rect">
            <a:avLst/>
          </a:prstGeom>
          <a:solidFill>
            <a:srgbClr val="FF4444"/>
          </a:solidFill>
          <a:ln/>
        </p:spPr>
      </p:sp>
      <p:sp>
        <p:nvSpPr>
          <p:cNvPr id="30" name="Text 28"/>
          <p:cNvSpPr/>
          <p:nvPr/>
        </p:nvSpPr>
        <p:spPr>
          <a:xfrm>
            <a:off x="4828032" y="2505456"/>
            <a:ext cx="1828800" cy="219456"/>
          </a:xfrm>
          <a:prstGeom prst="rect">
            <a:avLst/>
          </a:prstGeom>
          <a:noFill/>
          <a:ln/>
        </p:spPr>
        <p:txBody>
          <a:bodyPr wrap="square" lIns="0" tIns="0" rIns="0" bIns="0" rtlCol="0" anchor="ctr"/>
          <a:lstStyle/>
          <a:p>
            <a:pPr marL="0" indent="0">
              <a:buNone/>
            </a:pPr>
            <a:r>
              <a:rPr lang="en-US" sz="900" b="1" dirty="0">
                <a:solidFill>
                  <a:srgbClr val="FF4444"/>
                </a:solidFill>
                <a:latin typeface="Courier New" pitchFamily="34" charset="0"/>
                <a:ea typeface="Courier New" pitchFamily="34" charset="-122"/>
                <a:cs typeface="Courier New" pitchFamily="34" charset="-120"/>
              </a:rPr>
              <a:t>21:14:45</a:t>
            </a:r>
            <a:endParaRPr lang="en-US" sz="900" dirty="0"/>
          </a:p>
        </p:txBody>
      </p:sp>
      <p:sp>
        <p:nvSpPr>
          <p:cNvPr id="31" name="Shape 29"/>
          <p:cNvSpPr/>
          <p:nvPr/>
        </p:nvSpPr>
        <p:spPr>
          <a:xfrm>
            <a:off x="4828032" y="2743200"/>
            <a:ext cx="1792224" cy="18288"/>
          </a:xfrm>
          <a:prstGeom prst="rect">
            <a:avLst/>
          </a:prstGeom>
          <a:solidFill>
            <a:srgbClr val="3A3A3A"/>
          </a:solidFill>
          <a:ln/>
        </p:spPr>
      </p:sp>
      <p:sp>
        <p:nvSpPr>
          <p:cNvPr id="32" name="Text 30"/>
          <p:cNvSpPr/>
          <p:nvPr/>
        </p:nvSpPr>
        <p:spPr>
          <a:xfrm>
            <a:off x="4828032" y="2798064"/>
            <a:ext cx="1792224" cy="320040"/>
          </a:xfrm>
          <a:prstGeom prst="rect">
            <a:avLst/>
          </a:prstGeom>
          <a:noFill/>
          <a:ln/>
        </p:spPr>
        <p:txBody>
          <a:bodyPr wrap="square" lIns="0" tIns="0" rIns="0" bIns="0" rtlCol="0" anchor="ctr"/>
          <a:lstStyle/>
          <a:p>
            <a:pPr marL="0" indent="0">
              <a:buNone/>
            </a:pPr>
            <a:r>
              <a:rPr lang="en-US" sz="1050" b="1" dirty="0">
                <a:solidFill>
                  <a:srgbClr val="FFFFFF"/>
                </a:solidFill>
              </a:rPr>
              <a:t>sudo su - root</a:t>
            </a:r>
            <a:endParaRPr lang="en-US" sz="1050" dirty="0"/>
          </a:p>
        </p:txBody>
      </p:sp>
      <p:sp>
        <p:nvSpPr>
          <p:cNvPr id="33" name="Text 31"/>
          <p:cNvSpPr/>
          <p:nvPr/>
        </p:nvSpPr>
        <p:spPr>
          <a:xfrm>
            <a:off x="4828032" y="3154680"/>
            <a:ext cx="1792224" cy="502920"/>
          </a:xfrm>
          <a:prstGeom prst="rect">
            <a:avLst/>
          </a:prstGeom>
          <a:noFill/>
          <a:ln/>
        </p:spPr>
        <p:txBody>
          <a:bodyPr wrap="square" lIns="0" tIns="0" rIns="0" bIns="0" rtlCol="0" anchor="ctr"/>
          <a:lstStyle/>
          <a:p>
            <a:pPr marL="0" indent="0">
              <a:buNone/>
            </a:pPr>
            <a:r>
              <a:rPr lang="en-US" sz="1100" dirty="0">
                <a:solidFill>
                  <a:srgbClr val="B0B0B0"/>
                </a:solidFill>
              </a:rPr>
              <a:t>executed by backup</a:t>
            </a:r>
            <a:endParaRPr lang="en-US" sz="1100" dirty="0"/>
          </a:p>
        </p:txBody>
      </p:sp>
      <p:sp>
        <p:nvSpPr>
          <p:cNvPr id="34" name="Shape 32"/>
          <p:cNvSpPr/>
          <p:nvPr/>
        </p:nvSpPr>
        <p:spPr>
          <a:xfrm>
            <a:off x="6894576" y="2423160"/>
            <a:ext cx="2011680" cy="2331720"/>
          </a:xfrm>
          <a:prstGeom prst="roundRect">
            <a:avLst>
              <a:gd name="adj" fmla="val 3636"/>
            </a:avLst>
          </a:prstGeom>
          <a:solidFill>
            <a:srgbClr val="131313"/>
          </a:solidFill>
          <a:ln w="6350">
            <a:solidFill>
              <a:srgbClr val="2A2A2A"/>
            </a:solidFill>
            <a:prstDash val="solid"/>
          </a:ln>
          <a:effectLst>
            <a:outerShdw blurRad="76200" dist="25400" dir="2700000" algn="bl" rotWithShape="0">
              <a:srgbClr val="000000">
                <a:alpha val="30000"/>
              </a:srgbClr>
            </a:outerShdw>
          </a:effectLst>
        </p:spPr>
      </p:sp>
      <p:sp>
        <p:nvSpPr>
          <p:cNvPr id="35" name="Shape 33"/>
          <p:cNvSpPr/>
          <p:nvPr/>
        </p:nvSpPr>
        <p:spPr>
          <a:xfrm>
            <a:off x="6894576" y="2423160"/>
            <a:ext cx="2011680" cy="45720"/>
          </a:xfrm>
          <a:prstGeom prst="rect">
            <a:avLst/>
          </a:prstGeom>
          <a:solidFill>
            <a:srgbClr val="00C8FF"/>
          </a:solidFill>
          <a:ln/>
        </p:spPr>
      </p:sp>
      <p:sp>
        <p:nvSpPr>
          <p:cNvPr id="36" name="Text 34"/>
          <p:cNvSpPr/>
          <p:nvPr/>
        </p:nvSpPr>
        <p:spPr>
          <a:xfrm>
            <a:off x="7004304" y="2505456"/>
            <a:ext cx="1828800" cy="219456"/>
          </a:xfrm>
          <a:prstGeom prst="rect">
            <a:avLst/>
          </a:prstGeom>
          <a:noFill/>
          <a:ln/>
        </p:spPr>
        <p:txBody>
          <a:bodyPr wrap="square" lIns="0" tIns="0" rIns="0" bIns="0" rtlCol="0" anchor="ctr"/>
          <a:lstStyle/>
          <a:p>
            <a:pPr marL="0" indent="0">
              <a:buNone/>
            </a:pPr>
            <a:r>
              <a:rPr lang="en-US" sz="900" b="1" dirty="0">
                <a:solidFill>
                  <a:srgbClr val="00C8FF"/>
                </a:solidFill>
                <a:latin typeface="Courier New" pitchFamily="34" charset="0"/>
                <a:ea typeface="Courier New" pitchFamily="34" charset="-122"/>
                <a:cs typeface="Courier New" pitchFamily="34" charset="-120"/>
              </a:rPr>
              <a:t>21:14:52</a:t>
            </a:r>
            <a:endParaRPr lang="en-US" sz="900" dirty="0"/>
          </a:p>
        </p:txBody>
      </p:sp>
      <p:sp>
        <p:nvSpPr>
          <p:cNvPr id="37" name="Shape 35"/>
          <p:cNvSpPr/>
          <p:nvPr/>
        </p:nvSpPr>
        <p:spPr>
          <a:xfrm>
            <a:off x="7004304" y="2743200"/>
            <a:ext cx="1792224" cy="18288"/>
          </a:xfrm>
          <a:prstGeom prst="rect">
            <a:avLst/>
          </a:prstGeom>
          <a:solidFill>
            <a:srgbClr val="3A3A3A"/>
          </a:solidFill>
          <a:ln/>
        </p:spPr>
      </p:sp>
      <p:sp>
        <p:nvSpPr>
          <p:cNvPr id="38" name="Text 36"/>
          <p:cNvSpPr/>
          <p:nvPr/>
        </p:nvSpPr>
        <p:spPr>
          <a:xfrm>
            <a:off x="7004304" y="2798064"/>
            <a:ext cx="1792224" cy="320040"/>
          </a:xfrm>
          <a:prstGeom prst="rect">
            <a:avLst/>
          </a:prstGeom>
          <a:noFill/>
          <a:ln/>
        </p:spPr>
        <p:txBody>
          <a:bodyPr wrap="square" lIns="0" tIns="0" rIns="0" bIns="0" rtlCol="0" anchor="ctr"/>
          <a:lstStyle/>
          <a:p>
            <a:pPr marL="0" indent="0">
              <a:buNone/>
            </a:pPr>
            <a:r>
              <a:rPr lang="en-US" sz="1050" b="1" dirty="0">
                <a:solidFill>
                  <a:srgbClr val="FFFFFF"/>
                </a:solidFill>
              </a:rPr>
              <a:t>New cron job written</a:t>
            </a:r>
            <a:endParaRPr lang="en-US" sz="1050" dirty="0"/>
          </a:p>
        </p:txBody>
      </p:sp>
      <p:sp>
        <p:nvSpPr>
          <p:cNvPr id="39" name="Text 37"/>
          <p:cNvSpPr/>
          <p:nvPr/>
        </p:nvSpPr>
        <p:spPr>
          <a:xfrm>
            <a:off x="7004304" y="3154680"/>
            <a:ext cx="1792224" cy="502920"/>
          </a:xfrm>
          <a:prstGeom prst="rect">
            <a:avLst/>
          </a:prstGeom>
          <a:noFill/>
          <a:ln/>
        </p:spPr>
        <p:txBody>
          <a:bodyPr wrap="square" lIns="0" tIns="0" rIns="0" bIns="0" rtlCol="0" anchor="ctr"/>
          <a:lstStyle/>
          <a:p>
            <a:pPr marL="0" indent="0">
              <a:buNone/>
            </a:pPr>
            <a:r>
              <a:rPr lang="en-US" sz="1100" dirty="0">
                <a:solidFill>
                  <a:srgbClr val="B0B0B0"/>
                </a:solidFill>
              </a:rPr>
              <a:t>/etc/cron.d/update (FIM)</a:t>
            </a:r>
            <a:endParaRPr lang="en-US" sz="1100" dirty="0"/>
          </a:p>
        </p:txBody>
      </p:sp>
      <p:sp>
        <p:nvSpPr>
          <p:cNvPr id="40" name="Text 38"/>
          <p:cNvSpPr/>
          <p:nvPr/>
        </p:nvSpPr>
        <p:spPr>
          <a:xfrm>
            <a:off x="365760" y="4828032"/>
            <a:ext cx="8412480" cy="201168"/>
          </a:xfrm>
          <a:prstGeom prst="rect">
            <a:avLst/>
          </a:prstGeom>
          <a:noFill/>
          <a:ln/>
        </p:spPr>
        <p:txBody>
          <a:bodyPr wrap="square" lIns="0" tIns="0" rIns="0" bIns="0" rtlCol="0" anchor="ctr"/>
          <a:lstStyle/>
          <a:p>
            <a:pPr marL="0" indent="0" algn="ctr">
              <a:buNone/>
            </a:pPr>
            <a:r>
              <a:rPr lang="en-US" sz="900" i="1" dirty="0">
                <a:solidFill>
                  <a:srgbClr val="707070"/>
                </a:solidFill>
              </a:rPr>
              <a:t>Each event alone is just data. Together they are the story of an attacker. Building this timeline is the core of log analysis.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AUTOMATED DEFENSE</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ACTIVE RESPONSE</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From detection to automated action</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4069080" cy="2377440"/>
          </a:xfrm>
          <a:prstGeom prst="roundRect">
            <a:avLst>
              <a:gd name="adj" fmla="val 3077"/>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9" name="Text 7"/>
          <p:cNvSpPr/>
          <p:nvPr/>
        </p:nvSpPr>
        <p:spPr>
          <a:xfrm>
            <a:off x="502920" y="1234440"/>
            <a:ext cx="3749040" cy="228600"/>
          </a:xfrm>
          <a:prstGeom prst="rect">
            <a:avLst/>
          </a:prstGeom>
          <a:noFill/>
          <a:ln/>
        </p:spPr>
        <p:txBody>
          <a:bodyPr wrap="square" lIns="0" tIns="0" rIns="0" bIns="0" rtlCol="0" anchor="ctr"/>
          <a:lstStyle/>
          <a:p>
            <a:pPr marL="0" indent="0">
              <a:buNone/>
            </a:pPr>
            <a:r>
              <a:rPr lang="en-US" sz="1000" b="1" kern="0" spc="100" dirty="0">
                <a:solidFill>
                  <a:srgbClr val="00C8FF"/>
                </a:solidFill>
              </a:rPr>
              <a:t>Detection vs Response</a:t>
            </a:r>
            <a:endParaRPr lang="en-US" sz="1000" dirty="0"/>
          </a:p>
        </p:txBody>
      </p:sp>
      <p:sp>
        <p:nvSpPr>
          <p:cNvPr id="10" name="Text 8"/>
          <p:cNvSpPr/>
          <p:nvPr/>
        </p:nvSpPr>
        <p:spPr>
          <a:xfrm>
            <a:off x="502920" y="1508760"/>
            <a:ext cx="3703320" cy="1783080"/>
          </a:xfrm>
          <a:prstGeom prst="rect">
            <a:avLst/>
          </a:prstGeom>
          <a:noFill/>
          <a:ln/>
        </p:spPr>
        <p:txBody>
          <a:bodyPr wrap="square" lIns="0" tIns="0" rIns="0" bIns="0" rtlCol="0" anchor="ctr"/>
          <a:lstStyle/>
          <a:p>
            <a:pPr marL="0" indent="0">
              <a:spcAft>
                <a:spcPts val="500"/>
              </a:spcAft>
              <a:buNone/>
            </a:pPr>
            <a:r>
              <a:rPr lang="en-US" sz="1100" dirty="0">
                <a:solidFill>
                  <a:srgbClr val="B0B0B0"/>
                </a:solidFill>
              </a:rPr>
              <a:t>Until now Wazuh detects and alerts. A human reviews and decides what to do. That takes minutes.</a:t>
            </a:r>
            <a:endParaRPr lang="en-US" sz="1100" dirty="0"/>
          </a:p>
          <a:p>
            <a:pPr marL="0" indent="0">
              <a:spcAft>
                <a:spcPts val="500"/>
              </a:spcAft>
              <a:buNone/>
            </a:pPr>
            <a:endParaRPr lang="en-US" sz="1100" dirty="0"/>
          </a:p>
          <a:p>
            <a:pPr marL="0" indent="0">
              <a:spcAft>
                <a:spcPts val="500"/>
              </a:spcAft>
              <a:buNone/>
            </a:pPr>
            <a:r>
              <a:rPr lang="en-US" sz="1100" dirty="0">
                <a:solidFill>
                  <a:srgbClr val="B0B0B0"/>
                </a:solidFill>
              </a:rPr>
              <a:t>Active response changes that. When a rule fires at a certain threshold, Wazuh executes a predefined action automatically. The most common: block the attacking IP at the firewall before the attack succeeds.</a:t>
            </a:r>
            <a:endParaRPr lang="en-US" sz="1100" dirty="0"/>
          </a:p>
          <a:p>
            <a:pPr marL="0" indent="0">
              <a:spcAft>
                <a:spcPts val="500"/>
              </a:spcAft>
              <a:buNone/>
            </a:pPr>
            <a:endParaRPr lang="en-US" sz="1100" dirty="0"/>
          </a:p>
          <a:p>
            <a:pPr marL="0" indent="0">
              <a:spcAft>
                <a:spcPts val="500"/>
              </a:spcAft>
              <a:buNone/>
            </a:pPr>
            <a:r>
              <a:rPr lang="en-US" sz="1100" dirty="0">
                <a:solidFill>
                  <a:srgbClr val="B0B0B0"/>
                </a:solidFill>
              </a:rPr>
              <a:t>This week: auto-block after 5 failed SSH attempts. The block applies to iptables on Ubuntu and lifts after a timeout.</a:t>
            </a:r>
            <a:endParaRPr lang="en-US" sz="1100" dirty="0"/>
          </a:p>
        </p:txBody>
      </p:sp>
      <p:sp>
        <p:nvSpPr>
          <p:cNvPr id="11" name="Shape 9"/>
          <p:cNvSpPr/>
          <p:nvPr/>
        </p:nvSpPr>
        <p:spPr>
          <a:xfrm>
            <a:off x="502920" y="3584448"/>
            <a:ext cx="3703320" cy="475488"/>
          </a:xfrm>
          <a:prstGeom prst="roundRect">
            <a:avLst>
              <a:gd name="adj" fmla="val 15385"/>
            </a:avLst>
          </a:prstGeom>
          <a:solidFill>
            <a:srgbClr val="0A1A20"/>
          </a:solidFill>
          <a:ln w="6350">
            <a:solidFill>
              <a:srgbClr val="2A2A2A"/>
            </a:solidFill>
            <a:prstDash val="solid"/>
          </a:ln>
          <a:effectLst>
            <a:outerShdw blurRad="76200" dist="25400" dir="2700000" algn="bl" rotWithShape="0">
              <a:srgbClr val="000000">
                <a:alpha val="30000"/>
              </a:srgbClr>
            </a:outerShdw>
          </a:effectLst>
        </p:spPr>
      </p:sp>
      <p:sp>
        <p:nvSpPr>
          <p:cNvPr id="12" name="Text 10"/>
          <p:cNvSpPr/>
          <p:nvPr/>
        </p:nvSpPr>
        <p:spPr>
          <a:xfrm>
            <a:off x="640080" y="3657600"/>
            <a:ext cx="3474720" cy="320040"/>
          </a:xfrm>
          <a:prstGeom prst="rect">
            <a:avLst/>
          </a:prstGeom>
          <a:noFill/>
          <a:ln/>
        </p:spPr>
        <p:txBody>
          <a:bodyPr wrap="square" lIns="0" tIns="0" rIns="0" bIns="0" rtlCol="0" anchor="ctr"/>
          <a:lstStyle/>
          <a:p>
            <a:pPr marL="0" indent="0" algn="ctr">
              <a:buNone/>
            </a:pPr>
            <a:r>
              <a:rPr lang="en-US" sz="1300" b="1" dirty="0">
                <a:solidFill>
                  <a:srgbClr val="00CC77"/>
                </a:solidFill>
              </a:rPr>
              <a:t>Response time: minutes → seconds</a:t>
            </a:r>
            <a:endParaRPr lang="en-US" sz="1300" dirty="0"/>
          </a:p>
        </p:txBody>
      </p:sp>
      <p:sp>
        <p:nvSpPr>
          <p:cNvPr id="13" name="Shape 11"/>
          <p:cNvSpPr/>
          <p:nvPr/>
        </p:nvSpPr>
        <p:spPr>
          <a:xfrm>
            <a:off x="4526280" y="1115568"/>
            <a:ext cx="4251960" cy="2971800"/>
          </a:xfrm>
          <a:prstGeom prst="roundRect">
            <a:avLst>
              <a:gd name="adj" fmla="val 2462"/>
            </a:avLst>
          </a:prstGeom>
          <a:solidFill>
            <a:srgbClr val="0D0D0D"/>
          </a:solidFill>
          <a:ln w="6350">
            <a:solidFill>
              <a:srgbClr val="2A2A2A"/>
            </a:solidFill>
            <a:prstDash val="solid"/>
          </a:ln>
          <a:effectLst>
            <a:outerShdw blurRad="76200" dist="25400" dir="2700000" algn="bl" rotWithShape="0">
              <a:srgbClr val="000000">
                <a:alpha val="30000"/>
              </a:srgbClr>
            </a:outerShdw>
          </a:effectLst>
        </p:spPr>
      </p:sp>
      <p:sp>
        <p:nvSpPr>
          <p:cNvPr id="14" name="Text 12"/>
          <p:cNvSpPr/>
          <p:nvPr/>
        </p:nvSpPr>
        <p:spPr>
          <a:xfrm>
            <a:off x="4681728" y="1234440"/>
            <a:ext cx="3931920" cy="228600"/>
          </a:xfrm>
          <a:prstGeom prst="rect">
            <a:avLst/>
          </a:prstGeom>
          <a:noFill/>
          <a:ln/>
        </p:spPr>
        <p:txBody>
          <a:bodyPr wrap="square" lIns="0" tIns="0" rIns="0" bIns="0" rtlCol="0" anchor="ctr"/>
          <a:lstStyle/>
          <a:p>
            <a:pPr marL="0" indent="0">
              <a:buNone/>
            </a:pPr>
            <a:r>
              <a:rPr lang="en-US" sz="1000" b="1" kern="0" spc="100" dirty="0">
                <a:solidFill>
                  <a:srgbClr val="FF4444"/>
                </a:solidFill>
              </a:rPr>
              <a:t>The risks you need to understand</a:t>
            </a:r>
            <a:endParaRPr lang="en-US" sz="1000" dirty="0"/>
          </a:p>
        </p:txBody>
      </p:sp>
      <p:sp>
        <p:nvSpPr>
          <p:cNvPr id="15" name="Shape 13"/>
          <p:cNvSpPr/>
          <p:nvPr/>
        </p:nvSpPr>
        <p:spPr>
          <a:xfrm>
            <a:off x="4663440" y="1645920"/>
            <a:ext cx="45720" cy="164592"/>
          </a:xfrm>
          <a:prstGeom prst="rect">
            <a:avLst/>
          </a:prstGeom>
          <a:solidFill>
            <a:srgbClr val="FF4444"/>
          </a:solidFill>
          <a:ln/>
        </p:spPr>
      </p:sp>
      <p:sp>
        <p:nvSpPr>
          <p:cNvPr id="16" name="Text 14"/>
          <p:cNvSpPr/>
          <p:nvPr/>
        </p:nvSpPr>
        <p:spPr>
          <a:xfrm>
            <a:off x="4791456" y="1572768"/>
            <a:ext cx="3840480" cy="201168"/>
          </a:xfrm>
          <a:prstGeom prst="rect">
            <a:avLst/>
          </a:prstGeom>
          <a:noFill/>
          <a:ln/>
        </p:spPr>
        <p:txBody>
          <a:bodyPr wrap="square" lIns="0" tIns="0" rIns="0" bIns="0" rtlCol="0" anchor="ctr"/>
          <a:lstStyle/>
          <a:p>
            <a:pPr marL="0" indent="0">
              <a:buNone/>
            </a:pPr>
            <a:r>
              <a:rPr lang="en-US" sz="1000" b="1" dirty="0">
                <a:solidFill>
                  <a:srgbClr val="FFFFFF"/>
                </a:solidFill>
              </a:rPr>
              <a:t>Legitimate users blocked</a:t>
            </a:r>
            <a:endParaRPr lang="en-US" sz="1000" dirty="0"/>
          </a:p>
        </p:txBody>
      </p:sp>
      <p:sp>
        <p:nvSpPr>
          <p:cNvPr id="17" name="Text 15"/>
          <p:cNvSpPr/>
          <p:nvPr/>
        </p:nvSpPr>
        <p:spPr>
          <a:xfrm>
            <a:off x="4791456" y="1783080"/>
            <a:ext cx="3840480" cy="292608"/>
          </a:xfrm>
          <a:prstGeom prst="rect">
            <a:avLst/>
          </a:prstGeom>
          <a:noFill/>
          <a:ln/>
        </p:spPr>
        <p:txBody>
          <a:bodyPr wrap="square" lIns="0" tIns="0" rIns="0" bIns="0" rtlCol="0" anchor="ctr"/>
          <a:lstStyle/>
          <a:p>
            <a:pPr marL="0" indent="0">
              <a:buNone/>
            </a:pPr>
            <a:r>
              <a:rPr lang="en-US" sz="850" dirty="0">
                <a:solidFill>
                  <a:srgbClr val="B0B0B0"/>
                </a:solidFill>
              </a:rPr>
              <a:t>A user who fails 5 logins gets locked out. An automated script does the same.</a:t>
            </a:r>
            <a:endParaRPr lang="en-US" sz="850" dirty="0"/>
          </a:p>
        </p:txBody>
      </p:sp>
      <p:sp>
        <p:nvSpPr>
          <p:cNvPr id="18" name="Shape 16"/>
          <p:cNvSpPr/>
          <p:nvPr/>
        </p:nvSpPr>
        <p:spPr>
          <a:xfrm>
            <a:off x="4663440" y="2258568"/>
            <a:ext cx="45720" cy="164592"/>
          </a:xfrm>
          <a:prstGeom prst="rect">
            <a:avLst/>
          </a:prstGeom>
          <a:solidFill>
            <a:srgbClr val="FF4444"/>
          </a:solidFill>
          <a:ln/>
        </p:spPr>
      </p:sp>
      <p:sp>
        <p:nvSpPr>
          <p:cNvPr id="19" name="Text 17"/>
          <p:cNvSpPr/>
          <p:nvPr/>
        </p:nvSpPr>
        <p:spPr>
          <a:xfrm>
            <a:off x="4791456" y="2185416"/>
            <a:ext cx="3840480" cy="201168"/>
          </a:xfrm>
          <a:prstGeom prst="rect">
            <a:avLst/>
          </a:prstGeom>
          <a:noFill/>
          <a:ln/>
        </p:spPr>
        <p:txBody>
          <a:bodyPr wrap="square" lIns="0" tIns="0" rIns="0" bIns="0" rtlCol="0" anchor="ctr"/>
          <a:lstStyle/>
          <a:p>
            <a:pPr marL="0" indent="0">
              <a:buNone/>
            </a:pPr>
            <a:r>
              <a:rPr lang="en-US" sz="1000" b="1" dirty="0">
                <a:solidFill>
                  <a:srgbClr val="FFFFFF"/>
                </a:solidFill>
              </a:rPr>
              <a:t>IP spoofing</a:t>
            </a:r>
            <a:endParaRPr lang="en-US" sz="1000" dirty="0"/>
          </a:p>
        </p:txBody>
      </p:sp>
      <p:sp>
        <p:nvSpPr>
          <p:cNvPr id="20" name="Text 18"/>
          <p:cNvSpPr/>
          <p:nvPr/>
        </p:nvSpPr>
        <p:spPr>
          <a:xfrm>
            <a:off x="4791456" y="2395728"/>
            <a:ext cx="3840480" cy="292608"/>
          </a:xfrm>
          <a:prstGeom prst="rect">
            <a:avLst/>
          </a:prstGeom>
          <a:noFill/>
          <a:ln/>
        </p:spPr>
        <p:txBody>
          <a:bodyPr wrap="square" lIns="0" tIns="0" rIns="0" bIns="0" rtlCol="0" anchor="ctr"/>
          <a:lstStyle/>
          <a:p>
            <a:pPr marL="0" indent="0">
              <a:buNone/>
            </a:pPr>
            <a:r>
              <a:rPr lang="en-US" sz="850" dirty="0">
                <a:solidFill>
                  <a:srgbClr val="B0B0B0"/>
                </a:solidFill>
              </a:rPr>
              <a:t>Attacker spoofs a critical server's IP. Your system blocks the server, causing an outage.</a:t>
            </a:r>
            <a:endParaRPr lang="en-US" sz="850" dirty="0"/>
          </a:p>
        </p:txBody>
      </p:sp>
      <p:sp>
        <p:nvSpPr>
          <p:cNvPr id="21" name="Shape 19"/>
          <p:cNvSpPr/>
          <p:nvPr/>
        </p:nvSpPr>
        <p:spPr>
          <a:xfrm>
            <a:off x="4663440" y="2871216"/>
            <a:ext cx="45720" cy="164592"/>
          </a:xfrm>
          <a:prstGeom prst="rect">
            <a:avLst/>
          </a:prstGeom>
          <a:solidFill>
            <a:srgbClr val="FF4444"/>
          </a:solidFill>
          <a:ln/>
        </p:spPr>
      </p:sp>
      <p:sp>
        <p:nvSpPr>
          <p:cNvPr id="22" name="Text 20"/>
          <p:cNvSpPr/>
          <p:nvPr/>
        </p:nvSpPr>
        <p:spPr>
          <a:xfrm>
            <a:off x="4791456" y="2798064"/>
            <a:ext cx="3840480" cy="201168"/>
          </a:xfrm>
          <a:prstGeom prst="rect">
            <a:avLst/>
          </a:prstGeom>
          <a:noFill/>
          <a:ln/>
        </p:spPr>
        <p:txBody>
          <a:bodyPr wrap="square" lIns="0" tIns="0" rIns="0" bIns="0" rtlCol="0" anchor="ctr"/>
          <a:lstStyle/>
          <a:p>
            <a:pPr marL="0" indent="0">
              <a:buNone/>
            </a:pPr>
            <a:r>
              <a:rPr lang="en-US" sz="1000" b="1" dirty="0">
                <a:solidFill>
                  <a:srgbClr val="FFFFFF"/>
                </a:solidFill>
              </a:rPr>
              <a:t>Response storms</a:t>
            </a:r>
            <a:endParaRPr lang="en-US" sz="1000" dirty="0"/>
          </a:p>
        </p:txBody>
      </p:sp>
      <p:sp>
        <p:nvSpPr>
          <p:cNvPr id="23" name="Text 21"/>
          <p:cNvSpPr/>
          <p:nvPr/>
        </p:nvSpPr>
        <p:spPr>
          <a:xfrm>
            <a:off x="4791456" y="3008376"/>
            <a:ext cx="3840480" cy="292608"/>
          </a:xfrm>
          <a:prstGeom prst="rect">
            <a:avLst/>
          </a:prstGeom>
          <a:noFill/>
          <a:ln/>
        </p:spPr>
        <p:txBody>
          <a:bodyPr wrap="square" lIns="0" tIns="0" rIns="0" bIns="0" rtlCol="0" anchor="ctr"/>
          <a:lstStyle/>
          <a:p>
            <a:pPr marL="0" indent="0">
              <a:buNone/>
            </a:pPr>
            <a:r>
              <a:rPr lang="en-US" sz="850" dirty="0">
                <a:solidFill>
                  <a:srgbClr val="B0B0B0"/>
                </a:solidFill>
              </a:rPr>
              <a:t>Misconfig creates a feedback loop. A block triggers an alert triggers a block.</a:t>
            </a:r>
            <a:endParaRPr lang="en-US" sz="850" dirty="0"/>
          </a:p>
        </p:txBody>
      </p:sp>
      <p:sp>
        <p:nvSpPr>
          <p:cNvPr id="24" name="Shape 22"/>
          <p:cNvSpPr/>
          <p:nvPr/>
        </p:nvSpPr>
        <p:spPr>
          <a:xfrm>
            <a:off x="4663440" y="3483864"/>
            <a:ext cx="45720" cy="164592"/>
          </a:xfrm>
          <a:prstGeom prst="rect">
            <a:avLst/>
          </a:prstGeom>
          <a:solidFill>
            <a:srgbClr val="FF4444"/>
          </a:solidFill>
          <a:ln/>
        </p:spPr>
      </p:sp>
      <p:sp>
        <p:nvSpPr>
          <p:cNvPr id="25" name="Text 23"/>
          <p:cNvSpPr/>
          <p:nvPr/>
        </p:nvSpPr>
        <p:spPr>
          <a:xfrm>
            <a:off x="4791456" y="3410712"/>
            <a:ext cx="3840480" cy="201168"/>
          </a:xfrm>
          <a:prstGeom prst="rect">
            <a:avLst/>
          </a:prstGeom>
          <a:noFill/>
          <a:ln/>
        </p:spPr>
        <p:txBody>
          <a:bodyPr wrap="square" lIns="0" tIns="0" rIns="0" bIns="0" rtlCol="0" anchor="ctr"/>
          <a:lstStyle/>
          <a:p>
            <a:pPr marL="0" indent="0">
              <a:buNone/>
            </a:pPr>
            <a:r>
              <a:rPr lang="en-US" sz="1000" b="1" dirty="0">
                <a:solidFill>
                  <a:srgbClr val="FFFFFF"/>
                </a:solidFill>
              </a:rPr>
              <a:t>No undo plan</a:t>
            </a:r>
            <a:endParaRPr lang="en-US" sz="1000" dirty="0"/>
          </a:p>
        </p:txBody>
      </p:sp>
      <p:sp>
        <p:nvSpPr>
          <p:cNvPr id="26" name="Text 24"/>
          <p:cNvSpPr/>
          <p:nvPr/>
        </p:nvSpPr>
        <p:spPr>
          <a:xfrm>
            <a:off x="4791456" y="3621024"/>
            <a:ext cx="3840480" cy="292608"/>
          </a:xfrm>
          <a:prstGeom prst="rect">
            <a:avLst/>
          </a:prstGeom>
          <a:noFill/>
          <a:ln/>
        </p:spPr>
        <p:txBody>
          <a:bodyPr wrap="square" lIns="0" tIns="0" rIns="0" bIns="0" rtlCol="0" anchor="ctr"/>
          <a:lstStyle/>
          <a:p>
            <a:pPr marL="0" indent="0">
              <a:buNone/>
            </a:pPr>
            <a:r>
              <a:rPr lang="en-US" sz="850" dirty="0">
                <a:solidFill>
                  <a:srgbClr val="B0B0B0"/>
                </a:solidFill>
              </a:rPr>
              <a:t>Every active response in production needs an exception list and a reversal process.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MECHANISM</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HOW WAZUH ACTIVE RESPONSE WORKS</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full chain from rule trigger to iptables block</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292608" y="1115568"/>
            <a:ext cx="1572768" cy="1508760"/>
          </a:xfrm>
          <a:prstGeom prst="roundRect">
            <a:avLst>
              <a:gd name="adj" fmla="val 4848"/>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9" name="Shape 7"/>
          <p:cNvSpPr/>
          <p:nvPr/>
        </p:nvSpPr>
        <p:spPr>
          <a:xfrm>
            <a:off x="822960" y="1188720"/>
            <a:ext cx="512064" cy="512064"/>
          </a:xfrm>
          <a:prstGeom prst="roundRect">
            <a:avLst>
              <a:gd name="adj" fmla="val 50000"/>
            </a:avLst>
          </a:prstGeom>
          <a:solidFill>
            <a:srgbClr val="007A9E"/>
          </a:solidFill>
          <a:ln w="12700">
            <a:solidFill>
              <a:srgbClr val="007A9E"/>
            </a:solidFill>
            <a:prstDash val="solid"/>
          </a:ln>
        </p:spPr>
      </p:sp>
      <p:sp>
        <p:nvSpPr>
          <p:cNvPr id="10" name="Text 8"/>
          <p:cNvSpPr/>
          <p:nvPr/>
        </p:nvSpPr>
        <p:spPr>
          <a:xfrm>
            <a:off x="822960" y="1188720"/>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1</a:t>
            </a:r>
            <a:endParaRPr lang="en-US" sz="1600" dirty="0"/>
          </a:p>
        </p:txBody>
      </p:sp>
      <p:sp>
        <p:nvSpPr>
          <p:cNvPr id="11" name="Text 9"/>
          <p:cNvSpPr/>
          <p:nvPr/>
        </p:nvSpPr>
        <p:spPr>
          <a:xfrm>
            <a:off x="384048" y="1792224"/>
            <a:ext cx="1389888" cy="274320"/>
          </a:xfrm>
          <a:prstGeom prst="rect">
            <a:avLst/>
          </a:prstGeom>
          <a:noFill/>
          <a:ln/>
        </p:spPr>
        <p:txBody>
          <a:bodyPr wrap="square" lIns="0" tIns="0" rIns="0" bIns="0" rtlCol="0" anchor="ctr"/>
          <a:lstStyle/>
          <a:p>
            <a:pPr marL="0" indent="0" algn="ctr">
              <a:buNone/>
            </a:pPr>
            <a:r>
              <a:rPr lang="en-US" sz="1000" b="1" dirty="0">
                <a:solidFill>
                  <a:srgbClr val="00C8FF"/>
                </a:solidFill>
              </a:rPr>
              <a:t>Rule fires</a:t>
            </a:r>
            <a:endParaRPr lang="en-US" sz="1000" dirty="0"/>
          </a:p>
        </p:txBody>
      </p:sp>
      <p:sp>
        <p:nvSpPr>
          <p:cNvPr id="12" name="Text 10"/>
          <p:cNvSpPr/>
          <p:nvPr/>
        </p:nvSpPr>
        <p:spPr>
          <a:xfrm>
            <a:off x="384048" y="2103120"/>
            <a:ext cx="1389888" cy="475488"/>
          </a:xfrm>
          <a:prstGeom prst="rect">
            <a:avLst/>
          </a:prstGeom>
          <a:noFill/>
          <a:ln/>
        </p:spPr>
        <p:txBody>
          <a:bodyPr wrap="square" lIns="0" tIns="0" rIns="0" bIns="0" rtlCol="0" anchor="ctr"/>
          <a:lstStyle/>
          <a:p>
            <a:pPr marL="0" indent="0" algn="ctr">
              <a:buNone/>
            </a:pPr>
            <a:r>
              <a:rPr lang="en-US" sz="1050" dirty="0">
                <a:solidFill>
                  <a:srgbClr val="B0B0B0"/>
                </a:solidFill>
              </a:rPr>
              <a:t>Brute force threshold crossed on the Manager</a:t>
            </a:r>
            <a:endParaRPr lang="en-US" sz="1050" dirty="0"/>
          </a:p>
        </p:txBody>
      </p:sp>
      <p:sp>
        <p:nvSpPr>
          <p:cNvPr id="13" name="Text 11"/>
          <p:cNvSpPr/>
          <p:nvPr/>
        </p:nvSpPr>
        <p:spPr>
          <a:xfrm>
            <a:off x="1865376"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14" name="Shape 12"/>
          <p:cNvSpPr/>
          <p:nvPr/>
        </p:nvSpPr>
        <p:spPr>
          <a:xfrm>
            <a:off x="2011680" y="1115568"/>
            <a:ext cx="1572768" cy="1508760"/>
          </a:xfrm>
          <a:prstGeom prst="roundRect">
            <a:avLst>
              <a:gd name="adj" fmla="val 4848"/>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15" name="Shape 13"/>
          <p:cNvSpPr/>
          <p:nvPr/>
        </p:nvSpPr>
        <p:spPr>
          <a:xfrm>
            <a:off x="2542032" y="1188720"/>
            <a:ext cx="512064" cy="512064"/>
          </a:xfrm>
          <a:prstGeom prst="roundRect">
            <a:avLst>
              <a:gd name="adj" fmla="val 50000"/>
            </a:avLst>
          </a:prstGeom>
          <a:solidFill>
            <a:srgbClr val="007A9E"/>
          </a:solidFill>
          <a:ln w="12700">
            <a:solidFill>
              <a:srgbClr val="007A9E"/>
            </a:solidFill>
            <a:prstDash val="solid"/>
          </a:ln>
        </p:spPr>
      </p:sp>
      <p:sp>
        <p:nvSpPr>
          <p:cNvPr id="16" name="Text 14"/>
          <p:cNvSpPr/>
          <p:nvPr/>
        </p:nvSpPr>
        <p:spPr>
          <a:xfrm>
            <a:off x="2542032" y="1188720"/>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2</a:t>
            </a:r>
            <a:endParaRPr lang="en-US" sz="1600" dirty="0"/>
          </a:p>
        </p:txBody>
      </p:sp>
      <p:sp>
        <p:nvSpPr>
          <p:cNvPr id="17" name="Text 15"/>
          <p:cNvSpPr/>
          <p:nvPr/>
        </p:nvSpPr>
        <p:spPr>
          <a:xfrm>
            <a:off x="2103120" y="1792224"/>
            <a:ext cx="1389888" cy="274320"/>
          </a:xfrm>
          <a:prstGeom prst="rect">
            <a:avLst/>
          </a:prstGeom>
          <a:noFill/>
          <a:ln/>
        </p:spPr>
        <p:txBody>
          <a:bodyPr wrap="square" lIns="0" tIns="0" rIns="0" bIns="0" rtlCol="0" anchor="ctr"/>
          <a:lstStyle/>
          <a:p>
            <a:pPr marL="0" indent="0" algn="ctr">
              <a:buNone/>
            </a:pPr>
            <a:r>
              <a:rPr lang="en-US" sz="1000" b="1" dirty="0">
                <a:solidFill>
                  <a:srgbClr val="00C8FF"/>
                </a:solidFill>
              </a:rPr>
              <a:t>Command issued</a:t>
            </a:r>
            <a:endParaRPr lang="en-US" sz="1000" dirty="0"/>
          </a:p>
        </p:txBody>
      </p:sp>
      <p:sp>
        <p:nvSpPr>
          <p:cNvPr id="18" name="Text 16"/>
          <p:cNvSpPr/>
          <p:nvPr/>
        </p:nvSpPr>
        <p:spPr>
          <a:xfrm>
            <a:off x="2103120" y="2103120"/>
            <a:ext cx="1389888" cy="475488"/>
          </a:xfrm>
          <a:prstGeom prst="rect">
            <a:avLst/>
          </a:prstGeom>
          <a:noFill/>
          <a:ln/>
        </p:spPr>
        <p:txBody>
          <a:bodyPr wrap="square" lIns="0" tIns="0" rIns="0" bIns="0" rtlCol="0" anchor="ctr"/>
          <a:lstStyle/>
          <a:p>
            <a:pPr marL="0" indent="0" algn="ctr">
              <a:buNone/>
            </a:pPr>
            <a:r>
              <a:rPr lang="en-US" sz="1050" dirty="0">
                <a:solidFill>
                  <a:srgbClr val="B0B0B0"/>
                </a:solidFill>
              </a:rPr>
              <a:t>Manager sends firewall-drop command to the agent</a:t>
            </a:r>
            <a:endParaRPr lang="en-US" sz="1050" dirty="0"/>
          </a:p>
        </p:txBody>
      </p:sp>
      <p:sp>
        <p:nvSpPr>
          <p:cNvPr id="19" name="Text 17"/>
          <p:cNvSpPr/>
          <p:nvPr/>
        </p:nvSpPr>
        <p:spPr>
          <a:xfrm>
            <a:off x="3584448"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20" name="Shape 18"/>
          <p:cNvSpPr/>
          <p:nvPr/>
        </p:nvSpPr>
        <p:spPr>
          <a:xfrm>
            <a:off x="3730752" y="1115568"/>
            <a:ext cx="1572768" cy="1508760"/>
          </a:xfrm>
          <a:prstGeom prst="roundRect">
            <a:avLst>
              <a:gd name="adj" fmla="val 4848"/>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21" name="Shape 19"/>
          <p:cNvSpPr/>
          <p:nvPr/>
        </p:nvSpPr>
        <p:spPr>
          <a:xfrm>
            <a:off x="4261104" y="1188720"/>
            <a:ext cx="512064" cy="512064"/>
          </a:xfrm>
          <a:prstGeom prst="roundRect">
            <a:avLst>
              <a:gd name="adj" fmla="val 50000"/>
            </a:avLst>
          </a:prstGeom>
          <a:solidFill>
            <a:srgbClr val="007A9E"/>
          </a:solidFill>
          <a:ln w="12700">
            <a:solidFill>
              <a:srgbClr val="007A9E"/>
            </a:solidFill>
            <a:prstDash val="solid"/>
          </a:ln>
        </p:spPr>
      </p:sp>
      <p:sp>
        <p:nvSpPr>
          <p:cNvPr id="22" name="Text 20"/>
          <p:cNvSpPr/>
          <p:nvPr/>
        </p:nvSpPr>
        <p:spPr>
          <a:xfrm>
            <a:off x="4261104" y="1188720"/>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3</a:t>
            </a:r>
            <a:endParaRPr lang="en-US" sz="1600" dirty="0"/>
          </a:p>
        </p:txBody>
      </p:sp>
      <p:sp>
        <p:nvSpPr>
          <p:cNvPr id="23" name="Text 21"/>
          <p:cNvSpPr/>
          <p:nvPr/>
        </p:nvSpPr>
        <p:spPr>
          <a:xfrm>
            <a:off x="3822192" y="1792224"/>
            <a:ext cx="1389888" cy="274320"/>
          </a:xfrm>
          <a:prstGeom prst="rect">
            <a:avLst/>
          </a:prstGeom>
          <a:noFill/>
          <a:ln/>
        </p:spPr>
        <p:txBody>
          <a:bodyPr wrap="square" lIns="0" tIns="0" rIns="0" bIns="0" rtlCol="0" anchor="ctr"/>
          <a:lstStyle/>
          <a:p>
            <a:pPr marL="0" indent="0" algn="ctr">
              <a:buNone/>
            </a:pPr>
            <a:r>
              <a:rPr lang="en-US" sz="1000" b="1" dirty="0">
                <a:solidFill>
                  <a:srgbClr val="00C8FF"/>
                </a:solidFill>
              </a:rPr>
              <a:t>Script runs</a:t>
            </a:r>
            <a:endParaRPr lang="en-US" sz="1000" dirty="0"/>
          </a:p>
        </p:txBody>
      </p:sp>
      <p:sp>
        <p:nvSpPr>
          <p:cNvPr id="24" name="Text 22"/>
          <p:cNvSpPr/>
          <p:nvPr/>
        </p:nvSpPr>
        <p:spPr>
          <a:xfrm>
            <a:off x="3822192" y="2103120"/>
            <a:ext cx="1389888" cy="475488"/>
          </a:xfrm>
          <a:prstGeom prst="rect">
            <a:avLst/>
          </a:prstGeom>
          <a:noFill/>
          <a:ln/>
        </p:spPr>
        <p:txBody>
          <a:bodyPr wrap="square" lIns="0" tIns="0" rIns="0" bIns="0" rtlCol="0" anchor="ctr"/>
          <a:lstStyle/>
          <a:p>
            <a:pPr marL="0" indent="0" algn="ctr">
              <a:buNone/>
            </a:pPr>
            <a:r>
              <a:rPr lang="en-US" sz="1050" dirty="0">
                <a:solidFill>
                  <a:srgbClr val="B0B0B0"/>
                </a:solidFill>
              </a:rPr>
              <a:t>Agent executes firewall-drop from active-response/bin/</a:t>
            </a:r>
            <a:endParaRPr lang="en-US" sz="1050" dirty="0"/>
          </a:p>
        </p:txBody>
      </p:sp>
      <p:sp>
        <p:nvSpPr>
          <p:cNvPr id="25" name="Text 23"/>
          <p:cNvSpPr/>
          <p:nvPr/>
        </p:nvSpPr>
        <p:spPr>
          <a:xfrm>
            <a:off x="5303520"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26" name="Shape 24"/>
          <p:cNvSpPr/>
          <p:nvPr/>
        </p:nvSpPr>
        <p:spPr>
          <a:xfrm>
            <a:off x="5449824" y="1115568"/>
            <a:ext cx="1572768" cy="1508760"/>
          </a:xfrm>
          <a:prstGeom prst="roundRect">
            <a:avLst>
              <a:gd name="adj" fmla="val 4848"/>
            </a:avLst>
          </a:prstGeom>
          <a:solidFill>
            <a:srgbClr val="141414"/>
          </a:solidFill>
          <a:ln w="6350">
            <a:solidFill>
              <a:srgbClr val="2A2A2A"/>
            </a:solidFill>
            <a:prstDash val="solid"/>
          </a:ln>
          <a:effectLst>
            <a:outerShdw blurRad="76200" dist="25400" dir="2700000" algn="bl" rotWithShape="0">
              <a:srgbClr val="000000">
                <a:alpha val="30000"/>
              </a:srgbClr>
            </a:outerShdw>
          </a:effectLst>
        </p:spPr>
      </p:sp>
      <p:sp>
        <p:nvSpPr>
          <p:cNvPr id="27" name="Shape 25"/>
          <p:cNvSpPr/>
          <p:nvPr/>
        </p:nvSpPr>
        <p:spPr>
          <a:xfrm>
            <a:off x="5980176" y="1188720"/>
            <a:ext cx="512064" cy="512064"/>
          </a:xfrm>
          <a:prstGeom prst="roundRect">
            <a:avLst>
              <a:gd name="adj" fmla="val 50000"/>
            </a:avLst>
          </a:prstGeom>
          <a:solidFill>
            <a:srgbClr val="007A9E"/>
          </a:solidFill>
          <a:ln w="12700">
            <a:solidFill>
              <a:srgbClr val="007A9E"/>
            </a:solidFill>
            <a:prstDash val="solid"/>
          </a:ln>
        </p:spPr>
      </p:sp>
      <p:sp>
        <p:nvSpPr>
          <p:cNvPr id="28" name="Text 26"/>
          <p:cNvSpPr/>
          <p:nvPr/>
        </p:nvSpPr>
        <p:spPr>
          <a:xfrm>
            <a:off x="5980176" y="1188720"/>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4</a:t>
            </a:r>
            <a:endParaRPr lang="en-US" sz="1600" dirty="0"/>
          </a:p>
        </p:txBody>
      </p:sp>
      <p:sp>
        <p:nvSpPr>
          <p:cNvPr id="29" name="Text 27"/>
          <p:cNvSpPr/>
          <p:nvPr/>
        </p:nvSpPr>
        <p:spPr>
          <a:xfrm>
            <a:off x="5541264" y="1792224"/>
            <a:ext cx="1389888" cy="274320"/>
          </a:xfrm>
          <a:prstGeom prst="rect">
            <a:avLst/>
          </a:prstGeom>
          <a:noFill/>
          <a:ln/>
        </p:spPr>
        <p:txBody>
          <a:bodyPr wrap="square" lIns="0" tIns="0" rIns="0" bIns="0" rtlCol="0" anchor="ctr"/>
          <a:lstStyle/>
          <a:p>
            <a:pPr marL="0" indent="0" algn="ctr">
              <a:buNone/>
            </a:pPr>
            <a:r>
              <a:rPr lang="en-US" sz="1000" b="1" dirty="0">
                <a:solidFill>
                  <a:srgbClr val="00C8FF"/>
                </a:solidFill>
              </a:rPr>
              <a:t>iptables block</a:t>
            </a:r>
            <a:endParaRPr lang="en-US" sz="1000" dirty="0"/>
          </a:p>
        </p:txBody>
      </p:sp>
      <p:sp>
        <p:nvSpPr>
          <p:cNvPr id="30" name="Text 28"/>
          <p:cNvSpPr/>
          <p:nvPr/>
        </p:nvSpPr>
        <p:spPr>
          <a:xfrm>
            <a:off x="5541264" y="2103120"/>
            <a:ext cx="1389888" cy="475488"/>
          </a:xfrm>
          <a:prstGeom prst="rect">
            <a:avLst/>
          </a:prstGeom>
          <a:noFill/>
          <a:ln/>
        </p:spPr>
        <p:txBody>
          <a:bodyPr wrap="square" lIns="0" tIns="0" rIns="0" bIns="0" rtlCol="0" anchor="ctr"/>
          <a:lstStyle/>
          <a:p>
            <a:pPr marL="0" indent="0" algn="ctr">
              <a:buNone/>
            </a:pPr>
            <a:r>
              <a:rPr lang="en-US" sz="1050" dirty="0">
                <a:solidFill>
                  <a:srgbClr val="B0B0B0"/>
                </a:solidFill>
              </a:rPr>
              <a:t>DROP rule added for the attacking IP on Ubuntu Server</a:t>
            </a:r>
            <a:endParaRPr lang="en-US" sz="1050" dirty="0"/>
          </a:p>
        </p:txBody>
      </p:sp>
      <p:sp>
        <p:nvSpPr>
          <p:cNvPr id="31" name="Text 29"/>
          <p:cNvSpPr/>
          <p:nvPr/>
        </p:nvSpPr>
        <p:spPr>
          <a:xfrm>
            <a:off x="7022592" y="1417320"/>
            <a:ext cx="146304" cy="274320"/>
          </a:xfrm>
          <a:prstGeom prst="rect">
            <a:avLst/>
          </a:prstGeom>
          <a:noFill/>
          <a:ln/>
        </p:spPr>
        <p:txBody>
          <a:bodyPr wrap="square" lIns="0" tIns="0" rIns="0" bIns="0" rtlCol="0" anchor="ctr"/>
          <a:lstStyle/>
          <a:p>
            <a:pPr marL="0" indent="0" algn="ctr">
              <a:buNone/>
            </a:pPr>
            <a:r>
              <a:rPr lang="en-US" sz="1400" dirty="0">
                <a:solidFill>
                  <a:srgbClr val="3A3A3A"/>
                </a:solidFill>
              </a:rPr>
              <a:t>→</a:t>
            </a:r>
            <a:endParaRPr lang="en-US" sz="1400" dirty="0"/>
          </a:p>
        </p:txBody>
      </p:sp>
      <p:sp>
        <p:nvSpPr>
          <p:cNvPr id="32" name="Shape 30"/>
          <p:cNvSpPr/>
          <p:nvPr/>
        </p:nvSpPr>
        <p:spPr>
          <a:xfrm>
            <a:off x="7168896" y="1115568"/>
            <a:ext cx="1572768" cy="1508760"/>
          </a:xfrm>
          <a:prstGeom prst="roundRect">
            <a:avLst>
              <a:gd name="adj" fmla="val 4848"/>
            </a:avLst>
          </a:prstGeom>
          <a:solidFill>
            <a:srgbClr val="0A1F18"/>
          </a:solidFill>
          <a:ln w="6350">
            <a:solidFill>
              <a:srgbClr val="2A2A2A"/>
            </a:solidFill>
            <a:prstDash val="solid"/>
          </a:ln>
          <a:effectLst>
            <a:outerShdw blurRad="76200" dist="25400" dir="2700000" algn="bl" rotWithShape="0">
              <a:srgbClr val="000000">
                <a:alpha val="30000"/>
              </a:srgbClr>
            </a:outerShdw>
          </a:effectLst>
        </p:spPr>
      </p:sp>
      <p:sp>
        <p:nvSpPr>
          <p:cNvPr id="33" name="Shape 31"/>
          <p:cNvSpPr/>
          <p:nvPr/>
        </p:nvSpPr>
        <p:spPr>
          <a:xfrm>
            <a:off x="7699248" y="1188720"/>
            <a:ext cx="512064" cy="512064"/>
          </a:xfrm>
          <a:prstGeom prst="roundRect">
            <a:avLst>
              <a:gd name="adj" fmla="val 50000"/>
            </a:avLst>
          </a:prstGeom>
          <a:solidFill>
            <a:srgbClr val="00CC77"/>
          </a:solidFill>
          <a:ln w="12700">
            <a:solidFill>
              <a:srgbClr val="00CC77"/>
            </a:solidFill>
            <a:prstDash val="solid"/>
          </a:ln>
        </p:spPr>
      </p:sp>
      <p:sp>
        <p:nvSpPr>
          <p:cNvPr id="34" name="Text 32"/>
          <p:cNvSpPr/>
          <p:nvPr/>
        </p:nvSpPr>
        <p:spPr>
          <a:xfrm>
            <a:off x="7699248" y="1188720"/>
            <a:ext cx="512064" cy="512064"/>
          </a:xfrm>
          <a:prstGeom prst="rect">
            <a:avLst/>
          </a:prstGeom>
          <a:noFill/>
          <a:ln/>
        </p:spPr>
        <p:txBody>
          <a:bodyPr wrap="square" lIns="0" tIns="0" rIns="0" bIns="0" rtlCol="0" anchor="ctr"/>
          <a:lstStyle/>
          <a:p>
            <a:pPr marL="0" indent="0" algn="ctr">
              <a:buNone/>
            </a:pPr>
            <a:r>
              <a:rPr lang="en-US" sz="1600" b="1" dirty="0">
                <a:solidFill>
                  <a:srgbClr val="0D0D0D"/>
                </a:solidFill>
              </a:rPr>
              <a:t>5</a:t>
            </a:r>
            <a:endParaRPr lang="en-US" sz="1600" dirty="0"/>
          </a:p>
        </p:txBody>
      </p:sp>
      <p:sp>
        <p:nvSpPr>
          <p:cNvPr id="35" name="Text 33"/>
          <p:cNvSpPr/>
          <p:nvPr/>
        </p:nvSpPr>
        <p:spPr>
          <a:xfrm>
            <a:off x="7260336" y="1792224"/>
            <a:ext cx="1389888" cy="274320"/>
          </a:xfrm>
          <a:prstGeom prst="rect">
            <a:avLst/>
          </a:prstGeom>
          <a:noFill/>
          <a:ln/>
        </p:spPr>
        <p:txBody>
          <a:bodyPr wrap="square" lIns="0" tIns="0" rIns="0" bIns="0" rtlCol="0" anchor="ctr"/>
          <a:lstStyle/>
          <a:p>
            <a:pPr marL="0" indent="0" algn="ctr">
              <a:buNone/>
            </a:pPr>
            <a:r>
              <a:rPr lang="en-US" sz="1000" b="1" dirty="0">
                <a:solidFill>
                  <a:srgbClr val="00CC77"/>
                </a:solidFill>
              </a:rPr>
              <a:t>Logged + alerted</a:t>
            </a:r>
            <a:endParaRPr lang="en-US" sz="1000" dirty="0"/>
          </a:p>
        </p:txBody>
      </p:sp>
      <p:sp>
        <p:nvSpPr>
          <p:cNvPr id="36" name="Text 34"/>
          <p:cNvSpPr/>
          <p:nvPr/>
        </p:nvSpPr>
        <p:spPr>
          <a:xfrm>
            <a:off x="7260336" y="2103120"/>
            <a:ext cx="1389888" cy="475488"/>
          </a:xfrm>
          <a:prstGeom prst="rect">
            <a:avLst/>
          </a:prstGeom>
          <a:noFill/>
          <a:ln/>
        </p:spPr>
        <p:txBody>
          <a:bodyPr wrap="square" lIns="0" tIns="0" rIns="0" bIns="0" rtlCol="0" anchor="ctr"/>
          <a:lstStyle/>
          <a:p>
            <a:pPr marL="0" indent="0" algn="ctr">
              <a:buNone/>
            </a:pPr>
            <a:r>
              <a:rPr lang="en-US" sz="1050" dirty="0">
                <a:solidFill>
                  <a:srgbClr val="B0B0B0"/>
                </a:solidFill>
              </a:rPr>
              <a:t>Response logged. Dashboard alert shows the action taken.</a:t>
            </a:r>
            <a:endParaRPr lang="en-US" sz="1050" dirty="0"/>
          </a:p>
        </p:txBody>
      </p:sp>
      <p:sp>
        <p:nvSpPr>
          <p:cNvPr id="37" name="Shape 35"/>
          <p:cNvSpPr/>
          <p:nvPr/>
        </p:nvSpPr>
        <p:spPr>
          <a:xfrm>
            <a:off x="320040" y="2788920"/>
            <a:ext cx="8503920" cy="1938528"/>
          </a:xfrm>
          <a:prstGeom prst="roundRect">
            <a:avLst>
              <a:gd name="adj" fmla="val 3774"/>
            </a:avLst>
          </a:prstGeom>
          <a:solidFill>
            <a:srgbClr val="080808"/>
          </a:solidFill>
          <a:ln w="6350">
            <a:solidFill>
              <a:srgbClr val="2A2A2A"/>
            </a:solidFill>
            <a:prstDash val="solid"/>
          </a:ln>
          <a:effectLst>
            <a:outerShdw blurRad="76200" dist="25400" dir="2700000" algn="bl" rotWithShape="0">
              <a:srgbClr val="000000">
                <a:alpha val="30000"/>
              </a:srgbClr>
            </a:outerShdw>
          </a:effectLst>
        </p:spPr>
      </p:sp>
      <p:sp>
        <p:nvSpPr>
          <p:cNvPr id="38" name="Text 36"/>
          <p:cNvSpPr/>
          <p:nvPr/>
        </p:nvSpPr>
        <p:spPr>
          <a:xfrm>
            <a:off x="502920" y="2880360"/>
            <a:ext cx="4572000" cy="201168"/>
          </a:xfrm>
          <a:prstGeom prst="rect">
            <a:avLst/>
          </a:prstGeom>
          <a:noFill/>
          <a:ln/>
        </p:spPr>
        <p:txBody>
          <a:bodyPr wrap="square" lIns="0" tIns="0" rIns="0" bIns="0" rtlCol="0" anchor="ctr"/>
          <a:lstStyle/>
          <a:p>
            <a:pPr marL="0" indent="0">
              <a:buNone/>
            </a:pPr>
            <a:r>
              <a:rPr lang="en-US" sz="900" b="1" kern="0" spc="100" dirty="0">
                <a:solidFill>
                  <a:srgbClr val="00C8FF"/>
                </a:solidFill>
              </a:rPr>
              <a:t>ossec.conf config block:</a:t>
            </a:r>
            <a:endParaRPr lang="en-US" sz="900" dirty="0"/>
          </a:p>
        </p:txBody>
      </p:sp>
      <p:sp>
        <p:nvSpPr>
          <p:cNvPr id="39" name="Text 37"/>
          <p:cNvSpPr/>
          <p:nvPr/>
        </p:nvSpPr>
        <p:spPr>
          <a:xfrm>
            <a:off x="502920" y="3108960"/>
            <a:ext cx="4572000"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&lt;active-response&gt;</a:t>
            </a:r>
            <a:endParaRPr lang="en-US" sz="950" dirty="0"/>
          </a:p>
        </p:txBody>
      </p:sp>
      <p:sp>
        <p:nvSpPr>
          <p:cNvPr id="40" name="Text 38"/>
          <p:cNvSpPr/>
          <p:nvPr/>
        </p:nvSpPr>
        <p:spPr>
          <a:xfrm>
            <a:off x="502920" y="3310128"/>
            <a:ext cx="4572000"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&lt;command&gt;firewall-drop&lt;/command&gt;</a:t>
            </a:r>
            <a:endParaRPr lang="en-US" sz="950" dirty="0"/>
          </a:p>
        </p:txBody>
      </p:sp>
      <p:sp>
        <p:nvSpPr>
          <p:cNvPr id="41" name="Text 39"/>
          <p:cNvSpPr/>
          <p:nvPr/>
        </p:nvSpPr>
        <p:spPr>
          <a:xfrm>
            <a:off x="502920" y="3511296"/>
            <a:ext cx="4572000"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&lt;location&gt;local&lt;/location&gt;</a:t>
            </a:r>
            <a:endParaRPr lang="en-US" sz="950" dirty="0"/>
          </a:p>
        </p:txBody>
      </p:sp>
      <p:sp>
        <p:nvSpPr>
          <p:cNvPr id="42" name="Text 40"/>
          <p:cNvSpPr/>
          <p:nvPr/>
        </p:nvSpPr>
        <p:spPr>
          <a:xfrm>
            <a:off x="502920" y="3712464"/>
            <a:ext cx="4572000"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&lt;rules_id&gt;100002&lt;/rules_id&gt;</a:t>
            </a:r>
            <a:endParaRPr lang="en-US" sz="950" dirty="0"/>
          </a:p>
        </p:txBody>
      </p:sp>
      <p:sp>
        <p:nvSpPr>
          <p:cNvPr id="43" name="Text 41"/>
          <p:cNvSpPr/>
          <p:nvPr/>
        </p:nvSpPr>
        <p:spPr>
          <a:xfrm>
            <a:off x="502920" y="3913632"/>
            <a:ext cx="4572000"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  &lt;timeout&gt;300&lt;/timeout&gt;</a:t>
            </a:r>
            <a:endParaRPr lang="en-US" sz="950" dirty="0"/>
          </a:p>
        </p:txBody>
      </p:sp>
      <p:sp>
        <p:nvSpPr>
          <p:cNvPr id="44" name="Text 42"/>
          <p:cNvSpPr/>
          <p:nvPr/>
        </p:nvSpPr>
        <p:spPr>
          <a:xfrm>
            <a:off x="502920" y="4114800"/>
            <a:ext cx="4572000" cy="201168"/>
          </a:xfrm>
          <a:prstGeom prst="rect">
            <a:avLst/>
          </a:prstGeom>
          <a:noFill/>
          <a:ln/>
        </p:spPr>
        <p:txBody>
          <a:bodyPr wrap="square" lIns="0" tIns="0" rIns="0" bIns="0" rtlCol="0" anchor="ctr"/>
          <a:lstStyle/>
          <a:p>
            <a:pPr marL="0" indent="0">
              <a:buNone/>
            </a:pPr>
            <a:r>
              <a:rPr lang="en-US" sz="950" dirty="0">
                <a:solidFill>
                  <a:srgbClr val="C586C0"/>
                </a:solidFill>
                <a:latin typeface="Courier New" pitchFamily="34" charset="0"/>
                <a:ea typeface="Courier New" pitchFamily="34" charset="-122"/>
                <a:cs typeface="Courier New" pitchFamily="34" charset="-120"/>
              </a:rPr>
              <a:t>&lt;/active-response&gt;</a:t>
            </a:r>
            <a:endParaRPr lang="en-US" sz="950" dirty="0"/>
          </a:p>
        </p:txBody>
      </p:sp>
      <p:sp>
        <p:nvSpPr>
          <p:cNvPr id="45" name="Text 43"/>
          <p:cNvSpPr/>
          <p:nvPr/>
        </p:nvSpPr>
        <p:spPr>
          <a:xfrm>
            <a:off x="5212080" y="3520440"/>
            <a:ext cx="3337560" cy="822960"/>
          </a:xfrm>
          <a:prstGeom prst="rect">
            <a:avLst/>
          </a:prstGeom>
          <a:noFill/>
          <a:ln/>
        </p:spPr>
        <p:txBody>
          <a:bodyPr wrap="square" lIns="0" tIns="0" rIns="0" bIns="0" rtlCol="0" anchor="ctr"/>
          <a:lstStyle/>
          <a:p>
            <a:pPr marL="0" indent="0">
              <a:buNone/>
            </a:pPr>
            <a:r>
              <a:rPr lang="en-US" sz="1050" i="1" dirty="0">
                <a:solidFill>
                  <a:srgbClr val="B0B0B0"/>
                </a:solidFill>
              </a:rPr>
              <a:t>timeout=300 means block lifts after 5 minutes. Use a short timeout while testing so you can retrigger.</a:t>
            </a:r>
            <a:endParaRPr lang="en-US" sz="1050" dirty="0"/>
          </a:p>
        </p:txBody>
      </p:sp>
      <p:sp>
        <p:nvSpPr>
          <p:cNvPr id="46" name="Shape 44"/>
          <p:cNvSpPr/>
          <p:nvPr/>
        </p:nvSpPr>
        <p:spPr>
          <a:xfrm>
            <a:off x="5074920" y="3520440"/>
            <a:ext cx="54864" cy="822960"/>
          </a:xfrm>
          <a:prstGeom prst="rect">
            <a:avLst/>
          </a:prstGeom>
          <a:solidFill>
            <a:srgbClr val="00C8FF"/>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4960620"/>
            <a:ext cx="9144000" cy="182880"/>
          </a:xfrm>
          <a:prstGeom prst="rect">
            <a:avLst/>
          </a:prstGeom>
          <a:solidFill>
            <a:srgbClr val="2A2A2A"/>
          </a:solidFill>
          <a:ln/>
        </p:spPr>
      </p:sp>
      <p:sp>
        <p:nvSpPr>
          <p:cNvPr id="3" name="Text 1"/>
          <p:cNvSpPr/>
          <p:nvPr/>
        </p:nvSpPr>
        <p:spPr>
          <a:xfrm>
            <a:off x="274320" y="4965192"/>
            <a:ext cx="4572000" cy="137160"/>
          </a:xfrm>
          <a:prstGeom prst="rect">
            <a:avLst/>
          </a:prstGeom>
          <a:noFill/>
          <a:ln/>
        </p:spPr>
        <p:txBody>
          <a:bodyPr wrap="square" lIns="0" tIns="0" rIns="0" bIns="0" rtlCol="0" anchor="ctr"/>
          <a:lstStyle/>
          <a:p>
            <a:pPr marL="0" indent="0" algn="l">
              <a:buNone/>
            </a:pPr>
            <a:r>
              <a:rPr lang="en-US" sz="700" dirty="0">
                <a:solidFill>
                  <a:srgbClr val="707070"/>
                </a:solidFill>
              </a:rPr>
              <a:t>Cyberster Blue Team  ·  Week 2 Live Session</a:t>
            </a:r>
            <a:endParaRPr lang="en-US" sz="700" dirty="0"/>
          </a:p>
        </p:txBody>
      </p:sp>
      <p:sp>
        <p:nvSpPr>
          <p:cNvPr id="4" name="Text 2"/>
          <p:cNvSpPr/>
          <p:nvPr/>
        </p:nvSpPr>
        <p:spPr>
          <a:xfrm>
            <a:off x="4572000" y="4965192"/>
            <a:ext cx="4297680" cy="137160"/>
          </a:xfrm>
          <a:prstGeom prst="rect">
            <a:avLst/>
          </a:prstGeom>
          <a:noFill/>
          <a:ln/>
        </p:spPr>
        <p:txBody>
          <a:bodyPr wrap="square" lIns="0" tIns="0" rIns="0" bIns="0" rtlCol="0" anchor="ctr"/>
          <a:lstStyle/>
          <a:p>
            <a:pPr marL="0" indent="0" algn="r">
              <a:buNone/>
            </a:pPr>
            <a:r>
              <a:rPr lang="en-US" sz="700" b="1" dirty="0">
                <a:solidFill>
                  <a:srgbClr val="007A9E"/>
                </a:solidFill>
              </a:rPr>
              <a:t>YOUR WEEK</a:t>
            </a:r>
            <a:endParaRPr lang="en-US" sz="700" dirty="0"/>
          </a:p>
        </p:txBody>
      </p:sp>
      <p:sp>
        <p:nvSpPr>
          <p:cNvPr id="5" name="Text 3"/>
          <p:cNvSpPr/>
          <p:nvPr/>
        </p:nvSpPr>
        <p:spPr>
          <a:xfrm>
            <a:off x="365760" y="201168"/>
            <a:ext cx="3657600" cy="201168"/>
          </a:xfrm>
          <a:prstGeom prst="rect">
            <a:avLst/>
          </a:prstGeom>
          <a:noFill/>
          <a:ln/>
        </p:spPr>
        <p:txBody>
          <a:bodyPr wrap="square" lIns="0" tIns="0" rIns="0" bIns="0" rtlCol="0" anchor="ctr"/>
          <a:lstStyle/>
          <a:p>
            <a:pPr marL="0" indent="0">
              <a:buNone/>
            </a:pPr>
            <a:r>
              <a:rPr lang="en-US" sz="750" b="1" kern="0" spc="300" dirty="0">
                <a:solidFill>
                  <a:srgbClr val="00C8FF"/>
                </a:solidFill>
              </a:rPr>
              <a:t>WEEK 2 TASKS AT A GLANCE</a:t>
            </a:r>
            <a:endParaRPr lang="en-US" sz="750" dirty="0"/>
          </a:p>
        </p:txBody>
      </p:sp>
      <p:sp>
        <p:nvSpPr>
          <p:cNvPr id="6" name="Text 4"/>
          <p:cNvSpPr/>
          <p:nvPr/>
        </p:nvSpPr>
        <p:spPr>
          <a:xfrm>
            <a:off x="365760" y="420624"/>
            <a:ext cx="841248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you are building over the next seven days</a:t>
            </a:r>
            <a:endParaRPr lang="en-US" sz="2800" dirty="0"/>
          </a:p>
        </p:txBody>
      </p:sp>
      <p:sp>
        <p:nvSpPr>
          <p:cNvPr id="7" name="Shape 5"/>
          <p:cNvSpPr/>
          <p:nvPr/>
        </p:nvSpPr>
        <p:spPr>
          <a:xfrm>
            <a:off x="365760" y="987552"/>
            <a:ext cx="8412480" cy="18288"/>
          </a:xfrm>
          <a:prstGeom prst="rect">
            <a:avLst/>
          </a:prstGeom>
          <a:solidFill>
            <a:srgbClr val="3A3A3A"/>
          </a:solidFill>
          <a:ln/>
        </p:spPr>
      </p:sp>
      <p:sp>
        <p:nvSpPr>
          <p:cNvPr id="8" name="Shape 6"/>
          <p:cNvSpPr/>
          <p:nvPr/>
        </p:nvSpPr>
        <p:spPr>
          <a:xfrm>
            <a:off x="320040" y="1115568"/>
            <a:ext cx="2029968" cy="3694176"/>
          </a:xfrm>
          <a:prstGeom prst="roundRect">
            <a:avLst>
              <a:gd name="adj" fmla="val 3604"/>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9" name="Shape 7"/>
          <p:cNvSpPr/>
          <p:nvPr/>
        </p:nvSpPr>
        <p:spPr>
          <a:xfrm>
            <a:off x="320040" y="1115568"/>
            <a:ext cx="2029968" cy="54864"/>
          </a:xfrm>
          <a:prstGeom prst="rect">
            <a:avLst/>
          </a:prstGeom>
          <a:solidFill>
            <a:srgbClr val="00C8FF"/>
          </a:solidFill>
          <a:ln/>
        </p:spPr>
      </p:sp>
      <p:sp>
        <p:nvSpPr>
          <p:cNvPr id="10" name="Text 8"/>
          <p:cNvSpPr/>
          <p:nvPr/>
        </p:nvSpPr>
        <p:spPr>
          <a:xfrm>
            <a:off x="448056" y="1234440"/>
            <a:ext cx="1783080" cy="475488"/>
          </a:xfrm>
          <a:prstGeom prst="rect">
            <a:avLst/>
          </a:prstGeom>
          <a:noFill/>
          <a:ln/>
        </p:spPr>
        <p:txBody>
          <a:bodyPr wrap="square" lIns="0" tIns="0" rIns="0" bIns="0" rtlCol="0" anchor="ctr"/>
          <a:lstStyle/>
          <a:p>
            <a:pPr marL="0" indent="0">
              <a:buNone/>
            </a:pPr>
            <a:r>
              <a:rPr lang="en-US" sz="950" b="1" dirty="0">
                <a:solidFill>
                  <a:srgbClr val="00C8FF"/>
                </a:solidFill>
              </a:rPr>
              <a:t>Days 8–9  ·  FIM Setup</a:t>
            </a:r>
            <a:endParaRPr lang="en-US" sz="950" dirty="0"/>
          </a:p>
        </p:txBody>
      </p:sp>
      <p:sp>
        <p:nvSpPr>
          <p:cNvPr id="11" name="Shape 9"/>
          <p:cNvSpPr/>
          <p:nvPr/>
        </p:nvSpPr>
        <p:spPr>
          <a:xfrm>
            <a:off x="448056" y="1755648"/>
            <a:ext cx="1773936" cy="18288"/>
          </a:xfrm>
          <a:prstGeom prst="rect">
            <a:avLst/>
          </a:prstGeom>
          <a:solidFill>
            <a:srgbClr val="3A3A3A"/>
          </a:solidFill>
          <a:ln/>
        </p:spPr>
      </p:sp>
      <p:sp>
        <p:nvSpPr>
          <p:cNvPr id="12" name="Shape 10"/>
          <p:cNvSpPr/>
          <p:nvPr/>
        </p:nvSpPr>
        <p:spPr>
          <a:xfrm>
            <a:off x="448056" y="1883664"/>
            <a:ext cx="146304" cy="146304"/>
          </a:xfrm>
          <a:prstGeom prst="roundRect">
            <a:avLst>
              <a:gd name="adj" fmla="val 50000"/>
            </a:avLst>
          </a:prstGeom>
          <a:solidFill>
            <a:srgbClr val="00C8FF"/>
          </a:solidFill>
          <a:ln w="12700">
            <a:solidFill>
              <a:srgbClr val="00C8FF"/>
            </a:solidFill>
            <a:prstDash val="solid"/>
          </a:ln>
        </p:spPr>
      </p:sp>
      <p:sp>
        <p:nvSpPr>
          <p:cNvPr id="13" name="Text 11"/>
          <p:cNvSpPr/>
          <p:nvPr/>
        </p:nvSpPr>
        <p:spPr>
          <a:xfrm>
            <a:off x="649224" y="1847088"/>
            <a:ext cx="1600200" cy="475488"/>
          </a:xfrm>
          <a:prstGeom prst="rect">
            <a:avLst/>
          </a:prstGeom>
          <a:noFill/>
          <a:ln/>
        </p:spPr>
        <p:txBody>
          <a:bodyPr wrap="square" lIns="0" tIns="0" rIns="0" bIns="0" rtlCol="0" anchor="ctr"/>
          <a:lstStyle/>
          <a:p>
            <a:pPr marL="0" indent="0">
              <a:buNone/>
            </a:pPr>
            <a:r>
              <a:rPr lang="en-US" sz="850" dirty="0">
                <a:solidFill>
                  <a:srgbClr val="B0B0B0"/>
                </a:solidFill>
              </a:rPr>
              <a:t>Configure syscheck: /etc, /var/log, System32</a:t>
            </a:r>
            <a:endParaRPr lang="en-US" sz="850" dirty="0"/>
          </a:p>
        </p:txBody>
      </p:sp>
      <p:sp>
        <p:nvSpPr>
          <p:cNvPr id="14" name="Shape 12"/>
          <p:cNvSpPr/>
          <p:nvPr/>
        </p:nvSpPr>
        <p:spPr>
          <a:xfrm>
            <a:off x="448056" y="2542032"/>
            <a:ext cx="146304" cy="146304"/>
          </a:xfrm>
          <a:prstGeom prst="roundRect">
            <a:avLst>
              <a:gd name="adj" fmla="val 50000"/>
            </a:avLst>
          </a:prstGeom>
          <a:solidFill>
            <a:srgbClr val="00C8FF"/>
          </a:solidFill>
          <a:ln w="12700">
            <a:solidFill>
              <a:srgbClr val="00C8FF"/>
            </a:solidFill>
            <a:prstDash val="solid"/>
          </a:ln>
        </p:spPr>
      </p:sp>
      <p:sp>
        <p:nvSpPr>
          <p:cNvPr id="15" name="Text 13"/>
          <p:cNvSpPr/>
          <p:nvPr/>
        </p:nvSpPr>
        <p:spPr>
          <a:xfrm>
            <a:off x="649224" y="2505456"/>
            <a:ext cx="1600200" cy="475488"/>
          </a:xfrm>
          <a:prstGeom prst="rect">
            <a:avLst/>
          </a:prstGeom>
          <a:noFill/>
          <a:ln/>
        </p:spPr>
        <p:txBody>
          <a:bodyPr wrap="square" lIns="0" tIns="0" rIns="0" bIns="0" rtlCol="0" anchor="ctr"/>
          <a:lstStyle/>
          <a:p>
            <a:pPr marL="0" indent="0">
              <a:buNone/>
            </a:pPr>
            <a:r>
              <a:rPr lang="en-US" sz="850" dirty="0">
                <a:solidFill>
                  <a:srgbClr val="B0B0B0"/>
                </a:solidFill>
              </a:rPr>
              <a:t>Set realtime + report_changes</a:t>
            </a:r>
            <a:endParaRPr lang="en-US" sz="850" dirty="0"/>
          </a:p>
        </p:txBody>
      </p:sp>
      <p:sp>
        <p:nvSpPr>
          <p:cNvPr id="16" name="Shape 14"/>
          <p:cNvSpPr/>
          <p:nvPr/>
        </p:nvSpPr>
        <p:spPr>
          <a:xfrm>
            <a:off x="448056" y="3200400"/>
            <a:ext cx="146304" cy="146304"/>
          </a:xfrm>
          <a:prstGeom prst="roundRect">
            <a:avLst>
              <a:gd name="adj" fmla="val 50000"/>
            </a:avLst>
          </a:prstGeom>
          <a:solidFill>
            <a:srgbClr val="00C8FF"/>
          </a:solidFill>
          <a:ln w="12700">
            <a:solidFill>
              <a:srgbClr val="00C8FF"/>
            </a:solidFill>
            <a:prstDash val="solid"/>
          </a:ln>
        </p:spPr>
      </p:sp>
      <p:sp>
        <p:nvSpPr>
          <p:cNvPr id="17" name="Text 15"/>
          <p:cNvSpPr/>
          <p:nvPr/>
        </p:nvSpPr>
        <p:spPr>
          <a:xfrm>
            <a:off x="649224" y="3163824"/>
            <a:ext cx="1600200" cy="475488"/>
          </a:xfrm>
          <a:prstGeom prst="rect">
            <a:avLst/>
          </a:prstGeom>
          <a:noFill/>
          <a:ln/>
        </p:spPr>
        <p:txBody>
          <a:bodyPr wrap="square" lIns="0" tIns="0" rIns="0" bIns="0" rtlCol="0" anchor="ctr"/>
          <a:lstStyle/>
          <a:p>
            <a:pPr marL="0" indent="0">
              <a:buNone/>
            </a:pPr>
            <a:r>
              <a:rPr lang="en-US" sz="850" dirty="0">
                <a:solidFill>
                  <a:srgbClr val="B0B0B0"/>
                </a:solidFill>
              </a:rPr>
              <a:t>Generate test file events, observe alerts</a:t>
            </a:r>
            <a:endParaRPr lang="en-US" sz="850" dirty="0"/>
          </a:p>
        </p:txBody>
      </p:sp>
      <p:sp>
        <p:nvSpPr>
          <p:cNvPr id="18" name="Shape 16"/>
          <p:cNvSpPr/>
          <p:nvPr/>
        </p:nvSpPr>
        <p:spPr>
          <a:xfrm>
            <a:off x="448056" y="3858768"/>
            <a:ext cx="146304" cy="146304"/>
          </a:xfrm>
          <a:prstGeom prst="roundRect">
            <a:avLst>
              <a:gd name="adj" fmla="val 50000"/>
            </a:avLst>
          </a:prstGeom>
          <a:solidFill>
            <a:srgbClr val="00C8FF"/>
          </a:solidFill>
          <a:ln w="12700">
            <a:solidFill>
              <a:srgbClr val="00C8FF"/>
            </a:solidFill>
            <a:prstDash val="solid"/>
          </a:ln>
        </p:spPr>
      </p:sp>
      <p:sp>
        <p:nvSpPr>
          <p:cNvPr id="19" name="Text 17"/>
          <p:cNvSpPr/>
          <p:nvPr/>
        </p:nvSpPr>
        <p:spPr>
          <a:xfrm>
            <a:off x="649224" y="3822192"/>
            <a:ext cx="1600200" cy="475488"/>
          </a:xfrm>
          <a:prstGeom prst="rect">
            <a:avLst/>
          </a:prstGeom>
          <a:noFill/>
          <a:ln/>
        </p:spPr>
        <p:txBody>
          <a:bodyPr wrap="square" lIns="0" tIns="0" rIns="0" bIns="0" rtlCol="0" anchor="ctr"/>
          <a:lstStyle/>
          <a:p>
            <a:pPr marL="0" indent="0">
              <a:buNone/>
            </a:pPr>
            <a:r>
              <a:rPr lang="en-US" sz="850" dirty="0">
                <a:solidFill>
                  <a:srgbClr val="B0B0B0"/>
                </a:solidFill>
              </a:rPr>
              <a:t>Identify who changed what and when</a:t>
            </a:r>
            <a:endParaRPr lang="en-US" sz="850" dirty="0"/>
          </a:p>
        </p:txBody>
      </p:sp>
      <p:sp>
        <p:nvSpPr>
          <p:cNvPr id="20" name="Shape 18"/>
          <p:cNvSpPr/>
          <p:nvPr/>
        </p:nvSpPr>
        <p:spPr>
          <a:xfrm>
            <a:off x="2496312" y="1115568"/>
            <a:ext cx="2029968" cy="3694176"/>
          </a:xfrm>
          <a:prstGeom prst="roundRect">
            <a:avLst>
              <a:gd name="adj" fmla="val 3604"/>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21" name="Shape 19"/>
          <p:cNvSpPr/>
          <p:nvPr/>
        </p:nvSpPr>
        <p:spPr>
          <a:xfrm>
            <a:off x="2496312" y="1115568"/>
            <a:ext cx="2029968" cy="54864"/>
          </a:xfrm>
          <a:prstGeom prst="rect">
            <a:avLst/>
          </a:prstGeom>
          <a:solidFill>
            <a:srgbClr val="FF8C00"/>
          </a:solidFill>
          <a:ln/>
        </p:spPr>
      </p:sp>
      <p:sp>
        <p:nvSpPr>
          <p:cNvPr id="22" name="Text 20"/>
          <p:cNvSpPr/>
          <p:nvPr/>
        </p:nvSpPr>
        <p:spPr>
          <a:xfrm>
            <a:off x="2624328" y="1234440"/>
            <a:ext cx="1783080" cy="475488"/>
          </a:xfrm>
          <a:prstGeom prst="rect">
            <a:avLst/>
          </a:prstGeom>
          <a:noFill/>
          <a:ln/>
        </p:spPr>
        <p:txBody>
          <a:bodyPr wrap="square" lIns="0" tIns="0" rIns="0" bIns="0" rtlCol="0" anchor="ctr"/>
          <a:lstStyle/>
          <a:p>
            <a:pPr marL="0" indent="0">
              <a:buNone/>
            </a:pPr>
            <a:r>
              <a:rPr lang="en-US" sz="950" b="1" dirty="0">
                <a:solidFill>
                  <a:srgbClr val="FF8C00"/>
                </a:solidFill>
              </a:rPr>
              <a:t>Days 10–11  ·  Custom Rules</a:t>
            </a:r>
            <a:endParaRPr lang="en-US" sz="950" dirty="0"/>
          </a:p>
        </p:txBody>
      </p:sp>
      <p:sp>
        <p:nvSpPr>
          <p:cNvPr id="23" name="Shape 21"/>
          <p:cNvSpPr/>
          <p:nvPr/>
        </p:nvSpPr>
        <p:spPr>
          <a:xfrm>
            <a:off x="2624328" y="1755648"/>
            <a:ext cx="1773936" cy="18288"/>
          </a:xfrm>
          <a:prstGeom prst="rect">
            <a:avLst/>
          </a:prstGeom>
          <a:solidFill>
            <a:srgbClr val="3A3A3A"/>
          </a:solidFill>
          <a:ln/>
        </p:spPr>
      </p:sp>
      <p:sp>
        <p:nvSpPr>
          <p:cNvPr id="24" name="Shape 22"/>
          <p:cNvSpPr/>
          <p:nvPr/>
        </p:nvSpPr>
        <p:spPr>
          <a:xfrm>
            <a:off x="2624328" y="1883664"/>
            <a:ext cx="146304" cy="146304"/>
          </a:xfrm>
          <a:prstGeom prst="roundRect">
            <a:avLst>
              <a:gd name="adj" fmla="val 50000"/>
            </a:avLst>
          </a:prstGeom>
          <a:solidFill>
            <a:srgbClr val="FF8C00"/>
          </a:solidFill>
          <a:ln w="12700">
            <a:solidFill>
              <a:srgbClr val="FF8C00"/>
            </a:solidFill>
            <a:prstDash val="solid"/>
          </a:ln>
        </p:spPr>
      </p:sp>
      <p:sp>
        <p:nvSpPr>
          <p:cNvPr id="25" name="Text 23"/>
          <p:cNvSpPr/>
          <p:nvPr/>
        </p:nvSpPr>
        <p:spPr>
          <a:xfrm>
            <a:off x="2825496" y="1847088"/>
            <a:ext cx="1600200" cy="475488"/>
          </a:xfrm>
          <a:prstGeom prst="rect">
            <a:avLst/>
          </a:prstGeom>
          <a:noFill/>
          <a:ln/>
        </p:spPr>
        <p:txBody>
          <a:bodyPr wrap="square" lIns="0" tIns="0" rIns="0" bIns="0" rtlCol="0" anchor="ctr"/>
          <a:lstStyle/>
          <a:p>
            <a:pPr marL="0" indent="0">
              <a:buNone/>
            </a:pPr>
            <a:r>
              <a:rPr lang="en-US" sz="850" dirty="0">
                <a:solidFill>
                  <a:srgbClr val="B0B0B0"/>
                </a:solidFill>
              </a:rPr>
              <a:t>Understand decoder + rule chain</a:t>
            </a:r>
            <a:endParaRPr lang="en-US" sz="850" dirty="0"/>
          </a:p>
        </p:txBody>
      </p:sp>
      <p:sp>
        <p:nvSpPr>
          <p:cNvPr id="26" name="Shape 24"/>
          <p:cNvSpPr/>
          <p:nvPr/>
        </p:nvSpPr>
        <p:spPr>
          <a:xfrm>
            <a:off x="2624328" y="2542032"/>
            <a:ext cx="146304" cy="146304"/>
          </a:xfrm>
          <a:prstGeom prst="roundRect">
            <a:avLst>
              <a:gd name="adj" fmla="val 50000"/>
            </a:avLst>
          </a:prstGeom>
          <a:solidFill>
            <a:srgbClr val="FF8C00"/>
          </a:solidFill>
          <a:ln w="12700">
            <a:solidFill>
              <a:srgbClr val="FF8C00"/>
            </a:solidFill>
            <a:prstDash val="solid"/>
          </a:ln>
        </p:spPr>
      </p:sp>
      <p:sp>
        <p:nvSpPr>
          <p:cNvPr id="27" name="Text 25"/>
          <p:cNvSpPr/>
          <p:nvPr/>
        </p:nvSpPr>
        <p:spPr>
          <a:xfrm>
            <a:off x="2825496" y="2505456"/>
            <a:ext cx="1600200" cy="475488"/>
          </a:xfrm>
          <a:prstGeom prst="rect">
            <a:avLst/>
          </a:prstGeom>
          <a:noFill/>
          <a:ln/>
        </p:spPr>
        <p:txBody>
          <a:bodyPr wrap="square" lIns="0" tIns="0" rIns="0" bIns="0" rtlCol="0" anchor="ctr"/>
          <a:lstStyle/>
          <a:p>
            <a:pPr marL="0" indent="0">
              <a:buNone/>
            </a:pPr>
            <a:r>
              <a:rPr lang="en-US" sz="850" dirty="0">
                <a:solidFill>
                  <a:srgbClr val="B0B0B0"/>
                </a:solidFill>
              </a:rPr>
              <a:t>Write 3 rules: user creation, SSH brute force, USB insert</a:t>
            </a:r>
            <a:endParaRPr lang="en-US" sz="850" dirty="0"/>
          </a:p>
        </p:txBody>
      </p:sp>
      <p:sp>
        <p:nvSpPr>
          <p:cNvPr id="28" name="Shape 26"/>
          <p:cNvSpPr/>
          <p:nvPr/>
        </p:nvSpPr>
        <p:spPr>
          <a:xfrm>
            <a:off x="2624328" y="3200400"/>
            <a:ext cx="146304" cy="146304"/>
          </a:xfrm>
          <a:prstGeom prst="roundRect">
            <a:avLst>
              <a:gd name="adj" fmla="val 50000"/>
            </a:avLst>
          </a:prstGeom>
          <a:solidFill>
            <a:srgbClr val="FF8C00"/>
          </a:solidFill>
          <a:ln w="12700">
            <a:solidFill>
              <a:srgbClr val="FF8C00"/>
            </a:solidFill>
            <a:prstDash val="solid"/>
          </a:ln>
        </p:spPr>
      </p:sp>
      <p:sp>
        <p:nvSpPr>
          <p:cNvPr id="29" name="Text 27"/>
          <p:cNvSpPr/>
          <p:nvPr/>
        </p:nvSpPr>
        <p:spPr>
          <a:xfrm>
            <a:off x="2825496" y="3163824"/>
            <a:ext cx="1600200" cy="475488"/>
          </a:xfrm>
          <a:prstGeom prst="rect">
            <a:avLst/>
          </a:prstGeom>
          <a:noFill/>
          <a:ln/>
        </p:spPr>
        <p:txBody>
          <a:bodyPr wrap="square" lIns="0" tIns="0" rIns="0" bIns="0" rtlCol="0" anchor="ctr"/>
          <a:lstStyle/>
          <a:p>
            <a:pPr marL="0" indent="0">
              <a:buNone/>
            </a:pPr>
            <a:r>
              <a:rPr lang="en-US" sz="850" dirty="0">
                <a:solidFill>
                  <a:srgbClr val="B0B0B0"/>
                </a:solidFill>
              </a:rPr>
              <a:t>Test by triggering each condition</a:t>
            </a:r>
            <a:endParaRPr lang="en-US" sz="850" dirty="0"/>
          </a:p>
        </p:txBody>
      </p:sp>
      <p:sp>
        <p:nvSpPr>
          <p:cNvPr id="30" name="Shape 28"/>
          <p:cNvSpPr/>
          <p:nvPr/>
        </p:nvSpPr>
        <p:spPr>
          <a:xfrm>
            <a:off x="2624328" y="3858768"/>
            <a:ext cx="146304" cy="146304"/>
          </a:xfrm>
          <a:prstGeom prst="roundRect">
            <a:avLst>
              <a:gd name="adj" fmla="val 50000"/>
            </a:avLst>
          </a:prstGeom>
          <a:solidFill>
            <a:srgbClr val="FF8C00"/>
          </a:solidFill>
          <a:ln w="12700">
            <a:solidFill>
              <a:srgbClr val="FF8C00"/>
            </a:solidFill>
            <a:prstDash val="solid"/>
          </a:ln>
        </p:spPr>
      </p:sp>
      <p:sp>
        <p:nvSpPr>
          <p:cNvPr id="31" name="Text 29"/>
          <p:cNvSpPr/>
          <p:nvPr/>
        </p:nvSpPr>
        <p:spPr>
          <a:xfrm>
            <a:off x="2825496" y="3822192"/>
            <a:ext cx="1600200" cy="475488"/>
          </a:xfrm>
          <a:prstGeom prst="rect">
            <a:avLst/>
          </a:prstGeom>
          <a:noFill/>
          <a:ln/>
        </p:spPr>
        <p:txBody>
          <a:bodyPr wrap="square" lIns="0" tIns="0" rIns="0" bIns="0" rtlCol="0" anchor="ctr"/>
          <a:lstStyle/>
          <a:p>
            <a:pPr marL="0" indent="0">
              <a:buNone/>
            </a:pPr>
            <a:r>
              <a:rPr lang="en-US" sz="850" dirty="0">
                <a:solidFill>
                  <a:srgbClr val="B0B0B0"/>
                </a:solidFill>
              </a:rPr>
              <a:t>Tune false positives, document changes</a:t>
            </a:r>
            <a:endParaRPr lang="en-US" sz="850" dirty="0"/>
          </a:p>
        </p:txBody>
      </p:sp>
      <p:sp>
        <p:nvSpPr>
          <p:cNvPr id="32" name="Shape 30"/>
          <p:cNvSpPr/>
          <p:nvPr/>
        </p:nvSpPr>
        <p:spPr>
          <a:xfrm>
            <a:off x="4672584" y="1115568"/>
            <a:ext cx="2029968" cy="3694176"/>
          </a:xfrm>
          <a:prstGeom prst="roundRect">
            <a:avLst>
              <a:gd name="adj" fmla="val 3604"/>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33" name="Shape 31"/>
          <p:cNvSpPr/>
          <p:nvPr/>
        </p:nvSpPr>
        <p:spPr>
          <a:xfrm>
            <a:off x="4672584" y="1115568"/>
            <a:ext cx="2029968" cy="54864"/>
          </a:xfrm>
          <a:prstGeom prst="rect">
            <a:avLst/>
          </a:prstGeom>
          <a:solidFill>
            <a:srgbClr val="FFD700"/>
          </a:solidFill>
          <a:ln/>
        </p:spPr>
      </p:sp>
      <p:sp>
        <p:nvSpPr>
          <p:cNvPr id="34" name="Text 32"/>
          <p:cNvSpPr/>
          <p:nvPr/>
        </p:nvSpPr>
        <p:spPr>
          <a:xfrm>
            <a:off x="4800600" y="1234440"/>
            <a:ext cx="1783080" cy="475488"/>
          </a:xfrm>
          <a:prstGeom prst="rect">
            <a:avLst/>
          </a:prstGeom>
          <a:noFill/>
          <a:ln/>
        </p:spPr>
        <p:txBody>
          <a:bodyPr wrap="square" lIns="0" tIns="0" rIns="0" bIns="0" rtlCol="0" anchor="ctr"/>
          <a:lstStyle/>
          <a:p>
            <a:pPr marL="0" indent="0">
              <a:buNone/>
            </a:pPr>
            <a:r>
              <a:rPr lang="en-US" sz="950" b="1" dirty="0">
                <a:solidFill>
                  <a:srgbClr val="FFD700"/>
                </a:solidFill>
              </a:rPr>
              <a:t>Days 12–13  ·  Log Analysis</a:t>
            </a:r>
            <a:endParaRPr lang="en-US" sz="950" dirty="0"/>
          </a:p>
        </p:txBody>
      </p:sp>
      <p:sp>
        <p:nvSpPr>
          <p:cNvPr id="35" name="Shape 33"/>
          <p:cNvSpPr/>
          <p:nvPr/>
        </p:nvSpPr>
        <p:spPr>
          <a:xfrm>
            <a:off x="4800600" y="1755648"/>
            <a:ext cx="1773936" cy="18288"/>
          </a:xfrm>
          <a:prstGeom prst="rect">
            <a:avLst/>
          </a:prstGeom>
          <a:solidFill>
            <a:srgbClr val="3A3A3A"/>
          </a:solidFill>
          <a:ln/>
        </p:spPr>
      </p:sp>
      <p:sp>
        <p:nvSpPr>
          <p:cNvPr id="36" name="Shape 34"/>
          <p:cNvSpPr/>
          <p:nvPr/>
        </p:nvSpPr>
        <p:spPr>
          <a:xfrm>
            <a:off x="4800600" y="1883664"/>
            <a:ext cx="146304" cy="146304"/>
          </a:xfrm>
          <a:prstGeom prst="roundRect">
            <a:avLst>
              <a:gd name="adj" fmla="val 50000"/>
            </a:avLst>
          </a:prstGeom>
          <a:solidFill>
            <a:srgbClr val="FFD700"/>
          </a:solidFill>
          <a:ln w="12700">
            <a:solidFill>
              <a:srgbClr val="FFD700"/>
            </a:solidFill>
            <a:prstDash val="solid"/>
          </a:ln>
        </p:spPr>
      </p:sp>
      <p:sp>
        <p:nvSpPr>
          <p:cNvPr id="37" name="Text 35"/>
          <p:cNvSpPr/>
          <p:nvPr/>
        </p:nvSpPr>
        <p:spPr>
          <a:xfrm>
            <a:off x="5001768" y="1847088"/>
            <a:ext cx="1600200" cy="475488"/>
          </a:xfrm>
          <a:prstGeom prst="rect">
            <a:avLst/>
          </a:prstGeom>
          <a:noFill/>
          <a:ln/>
        </p:spPr>
        <p:txBody>
          <a:bodyPr wrap="square" lIns="0" tIns="0" rIns="0" bIns="0" rtlCol="0" anchor="ctr"/>
          <a:lstStyle/>
          <a:p>
            <a:pPr marL="0" indent="0">
              <a:buNone/>
            </a:pPr>
            <a:r>
              <a:rPr lang="en-US" sz="850" dirty="0">
                <a:solidFill>
                  <a:srgbClr val="B0B0B0"/>
                </a:solidFill>
              </a:rPr>
              <a:t>Analyse auth.log, syslog, Windows Event Log</a:t>
            </a:r>
            <a:endParaRPr lang="en-US" sz="850" dirty="0"/>
          </a:p>
        </p:txBody>
      </p:sp>
      <p:sp>
        <p:nvSpPr>
          <p:cNvPr id="38" name="Shape 36"/>
          <p:cNvSpPr/>
          <p:nvPr/>
        </p:nvSpPr>
        <p:spPr>
          <a:xfrm>
            <a:off x="4800600" y="2542032"/>
            <a:ext cx="146304" cy="146304"/>
          </a:xfrm>
          <a:prstGeom prst="roundRect">
            <a:avLst>
              <a:gd name="adj" fmla="val 50000"/>
            </a:avLst>
          </a:prstGeom>
          <a:solidFill>
            <a:srgbClr val="FFD700"/>
          </a:solidFill>
          <a:ln w="12700">
            <a:solidFill>
              <a:srgbClr val="FFD700"/>
            </a:solidFill>
            <a:prstDash val="solid"/>
          </a:ln>
        </p:spPr>
      </p:sp>
      <p:sp>
        <p:nvSpPr>
          <p:cNvPr id="39" name="Text 37"/>
          <p:cNvSpPr/>
          <p:nvPr/>
        </p:nvSpPr>
        <p:spPr>
          <a:xfrm>
            <a:off x="5001768" y="2505456"/>
            <a:ext cx="1600200" cy="475488"/>
          </a:xfrm>
          <a:prstGeom prst="rect">
            <a:avLst/>
          </a:prstGeom>
          <a:noFill/>
          <a:ln/>
        </p:spPr>
        <p:txBody>
          <a:bodyPr wrap="square" lIns="0" tIns="0" rIns="0" bIns="0" rtlCol="0" anchor="ctr"/>
          <a:lstStyle/>
          <a:p>
            <a:pPr marL="0" indent="0">
              <a:buNone/>
            </a:pPr>
            <a:r>
              <a:rPr lang="en-US" sz="850" dirty="0">
                <a:solidFill>
                  <a:srgbClr val="B0B0B0"/>
                </a:solidFill>
              </a:rPr>
              <a:t>Find 4625, 4672, 4720 events</a:t>
            </a:r>
            <a:endParaRPr lang="en-US" sz="850" dirty="0"/>
          </a:p>
        </p:txBody>
      </p:sp>
      <p:sp>
        <p:nvSpPr>
          <p:cNvPr id="40" name="Shape 38"/>
          <p:cNvSpPr/>
          <p:nvPr/>
        </p:nvSpPr>
        <p:spPr>
          <a:xfrm>
            <a:off x="4800600" y="3200400"/>
            <a:ext cx="146304" cy="146304"/>
          </a:xfrm>
          <a:prstGeom prst="roundRect">
            <a:avLst>
              <a:gd name="adj" fmla="val 50000"/>
            </a:avLst>
          </a:prstGeom>
          <a:solidFill>
            <a:srgbClr val="FFD700"/>
          </a:solidFill>
          <a:ln w="12700">
            <a:solidFill>
              <a:srgbClr val="FFD700"/>
            </a:solidFill>
            <a:prstDash val="solid"/>
          </a:ln>
        </p:spPr>
      </p:sp>
      <p:sp>
        <p:nvSpPr>
          <p:cNvPr id="41" name="Text 39"/>
          <p:cNvSpPr/>
          <p:nvPr/>
        </p:nvSpPr>
        <p:spPr>
          <a:xfrm>
            <a:off x="5001768" y="3163824"/>
            <a:ext cx="1600200" cy="475488"/>
          </a:xfrm>
          <a:prstGeom prst="rect">
            <a:avLst/>
          </a:prstGeom>
          <a:noFill/>
          <a:ln/>
        </p:spPr>
        <p:txBody>
          <a:bodyPr wrap="square" lIns="0" tIns="0" rIns="0" bIns="0" rtlCol="0" anchor="ctr"/>
          <a:lstStyle/>
          <a:p>
            <a:pPr marL="0" indent="0">
              <a:buNone/>
            </a:pPr>
            <a:r>
              <a:rPr lang="en-US" sz="850" dirty="0">
                <a:solidFill>
                  <a:srgbClr val="B0B0B0"/>
                </a:solidFill>
              </a:rPr>
              <a:t>Correlate across agents in Threat Hunting</a:t>
            </a:r>
            <a:endParaRPr lang="en-US" sz="850" dirty="0"/>
          </a:p>
        </p:txBody>
      </p:sp>
      <p:sp>
        <p:nvSpPr>
          <p:cNvPr id="42" name="Shape 40"/>
          <p:cNvSpPr/>
          <p:nvPr/>
        </p:nvSpPr>
        <p:spPr>
          <a:xfrm>
            <a:off x="4800600" y="3858768"/>
            <a:ext cx="146304" cy="146304"/>
          </a:xfrm>
          <a:prstGeom prst="roundRect">
            <a:avLst>
              <a:gd name="adj" fmla="val 50000"/>
            </a:avLst>
          </a:prstGeom>
          <a:solidFill>
            <a:srgbClr val="FFD700"/>
          </a:solidFill>
          <a:ln w="12700">
            <a:solidFill>
              <a:srgbClr val="FFD700"/>
            </a:solidFill>
            <a:prstDash val="solid"/>
          </a:ln>
        </p:spPr>
      </p:sp>
      <p:sp>
        <p:nvSpPr>
          <p:cNvPr id="43" name="Text 41"/>
          <p:cNvSpPr/>
          <p:nvPr/>
        </p:nvSpPr>
        <p:spPr>
          <a:xfrm>
            <a:off x="5001768" y="3822192"/>
            <a:ext cx="1600200" cy="475488"/>
          </a:xfrm>
          <a:prstGeom prst="rect">
            <a:avLst/>
          </a:prstGeom>
          <a:noFill/>
          <a:ln/>
        </p:spPr>
        <p:txBody>
          <a:bodyPr wrap="square" lIns="0" tIns="0" rIns="0" bIns="0" rtlCol="0" anchor="ctr"/>
          <a:lstStyle/>
          <a:p>
            <a:pPr marL="0" indent="0">
              <a:buNone/>
            </a:pPr>
            <a:r>
              <a:rPr lang="en-US" sz="850" dirty="0">
                <a:solidFill>
                  <a:srgbClr val="B0B0B0"/>
                </a:solidFill>
              </a:rPr>
              <a:t>Build suspicious activity timeline, export CSV</a:t>
            </a:r>
            <a:endParaRPr lang="en-US" sz="850" dirty="0"/>
          </a:p>
        </p:txBody>
      </p:sp>
      <p:sp>
        <p:nvSpPr>
          <p:cNvPr id="44" name="Shape 42"/>
          <p:cNvSpPr/>
          <p:nvPr/>
        </p:nvSpPr>
        <p:spPr>
          <a:xfrm>
            <a:off x="6848856" y="1115568"/>
            <a:ext cx="2029968" cy="3694176"/>
          </a:xfrm>
          <a:prstGeom prst="roundRect">
            <a:avLst>
              <a:gd name="adj" fmla="val 3604"/>
            </a:avLst>
          </a:prstGeom>
          <a:solidFill>
            <a:srgbClr val="111111"/>
          </a:solidFill>
          <a:ln w="6350">
            <a:solidFill>
              <a:srgbClr val="2A2A2A"/>
            </a:solidFill>
            <a:prstDash val="solid"/>
          </a:ln>
          <a:effectLst>
            <a:outerShdw blurRad="76200" dist="25400" dir="2700000" algn="bl" rotWithShape="0">
              <a:srgbClr val="000000">
                <a:alpha val="30000"/>
              </a:srgbClr>
            </a:outerShdw>
          </a:effectLst>
        </p:spPr>
      </p:sp>
      <p:sp>
        <p:nvSpPr>
          <p:cNvPr id="45" name="Shape 43"/>
          <p:cNvSpPr/>
          <p:nvPr/>
        </p:nvSpPr>
        <p:spPr>
          <a:xfrm>
            <a:off x="6848856" y="1115568"/>
            <a:ext cx="2029968" cy="54864"/>
          </a:xfrm>
          <a:prstGeom prst="rect">
            <a:avLst/>
          </a:prstGeom>
          <a:solidFill>
            <a:srgbClr val="00CC77"/>
          </a:solidFill>
          <a:ln/>
        </p:spPr>
      </p:sp>
      <p:sp>
        <p:nvSpPr>
          <p:cNvPr id="46" name="Text 44"/>
          <p:cNvSpPr/>
          <p:nvPr/>
        </p:nvSpPr>
        <p:spPr>
          <a:xfrm>
            <a:off x="6976872" y="1234440"/>
            <a:ext cx="1783080" cy="475488"/>
          </a:xfrm>
          <a:prstGeom prst="rect">
            <a:avLst/>
          </a:prstGeom>
          <a:noFill/>
          <a:ln/>
        </p:spPr>
        <p:txBody>
          <a:bodyPr wrap="square" lIns="0" tIns="0" rIns="0" bIns="0" rtlCol="0" anchor="ctr"/>
          <a:lstStyle/>
          <a:p>
            <a:pPr marL="0" indent="0">
              <a:buNone/>
            </a:pPr>
            <a:r>
              <a:rPr lang="en-US" sz="950" b="1" dirty="0">
                <a:solidFill>
                  <a:srgbClr val="00CC77"/>
                </a:solidFill>
              </a:rPr>
              <a:t>Day 14  ·  Active Response</a:t>
            </a:r>
            <a:endParaRPr lang="en-US" sz="950" dirty="0"/>
          </a:p>
        </p:txBody>
      </p:sp>
      <p:sp>
        <p:nvSpPr>
          <p:cNvPr id="47" name="Shape 45"/>
          <p:cNvSpPr/>
          <p:nvPr/>
        </p:nvSpPr>
        <p:spPr>
          <a:xfrm>
            <a:off x="6976872" y="1755648"/>
            <a:ext cx="1773936" cy="18288"/>
          </a:xfrm>
          <a:prstGeom prst="rect">
            <a:avLst/>
          </a:prstGeom>
          <a:solidFill>
            <a:srgbClr val="3A3A3A"/>
          </a:solidFill>
          <a:ln/>
        </p:spPr>
      </p:sp>
      <p:sp>
        <p:nvSpPr>
          <p:cNvPr id="48" name="Shape 46"/>
          <p:cNvSpPr/>
          <p:nvPr/>
        </p:nvSpPr>
        <p:spPr>
          <a:xfrm>
            <a:off x="6976872" y="1883664"/>
            <a:ext cx="146304" cy="146304"/>
          </a:xfrm>
          <a:prstGeom prst="roundRect">
            <a:avLst>
              <a:gd name="adj" fmla="val 50000"/>
            </a:avLst>
          </a:prstGeom>
          <a:solidFill>
            <a:srgbClr val="00CC77"/>
          </a:solidFill>
          <a:ln w="12700">
            <a:solidFill>
              <a:srgbClr val="00CC77"/>
            </a:solidFill>
            <a:prstDash val="solid"/>
          </a:ln>
        </p:spPr>
      </p:sp>
      <p:sp>
        <p:nvSpPr>
          <p:cNvPr id="49" name="Text 47"/>
          <p:cNvSpPr/>
          <p:nvPr/>
        </p:nvSpPr>
        <p:spPr>
          <a:xfrm>
            <a:off x="7178040" y="1847088"/>
            <a:ext cx="1600200" cy="475488"/>
          </a:xfrm>
          <a:prstGeom prst="rect">
            <a:avLst/>
          </a:prstGeom>
          <a:noFill/>
          <a:ln/>
        </p:spPr>
        <p:txBody>
          <a:bodyPr wrap="square" lIns="0" tIns="0" rIns="0" bIns="0" rtlCol="0" anchor="ctr"/>
          <a:lstStyle/>
          <a:p>
            <a:pPr marL="0" indent="0">
              <a:buNone/>
            </a:pPr>
            <a:r>
              <a:rPr lang="en-US" sz="850" dirty="0">
                <a:solidFill>
                  <a:srgbClr val="B0B0B0"/>
                </a:solidFill>
              </a:rPr>
              <a:t>Configure auto-block after 5 SSH failures</a:t>
            </a:r>
            <a:endParaRPr lang="en-US" sz="850" dirty="0"/>
          </a:p>
        </p:txBody>
      </p:sp>
      <p:sp>
        <p:nvSpPr>
          <p:cNvPr id="50" name="Shape 48"/>
          <p:cNvSpPr/>
          <p:nvPr/>
        </p:nvSpPr>
        <p:spPr>
          <a:xfrm>
            <a:off x="6976872" y="2542032"/>
            <a:ext cx="146304" cy="146304"/>
          </a:xfrm>
          <a:prstGeom prst="roundRect">
            <a:avLst>
              <a:gd name="adj" fmla="val 50000"/>
            </a:avLst>
          </a:prstGeom>
          <a:solidFill>
            <a:srgbClr val="00CC77"/>
          </a:solidFill>
          <a:ln w="12700">
            <a:solidFill>
              <a:srgbClr val="00CC77"/>
            </a:solidFill>
            <a:prstDash val="solid"/>
          </a:ln>
        </p:spPr>
      </p:sp>
      <p:sp>
        <p:nvSpPr>
          <p:cNvPr id="51" name="Text 49"/>
          <p:cNvSpPr/>
          <p:nvPr/>
        </p:nvSpPr>
        <p:spPr>
          <a:xfrm>
            <a:off x="7178040" y="2505456"/>
            <a:ext cx="1600200" cy="475488"/>
          </a:xfrm>
          <a:prstGeom prst="rect">
            <a:avLst/>
          </a:prstGeom>
          <a:noFill/>
          <a:ln/>
        </p:spPr>
        <p:txBody>
          <a:bodyPr wrap="square" lIns="0" tIns="0" rIns="0" bIns="0" rtlCol="0" anchor="ctr"/>
          <a:lstStyle/>
          <a:p>
            <a:pPr marL="0" indent="0">
              <a:buNone/>
            </a:pPr>
            <a:r>
              <a:rPr lang="en-US" sz="850" dirty="0">
                <a:solidFill>
                  <a:srgbClr val="B0B0B0"/>
                </a:solidFill>
              </a:rPr>
              <a:t>Brute force from Kali → verify iptables block</a:t>
            </a:r>
            <a:endParaRPr lang="en-US" sz="850" dirty="0"/>
          </a:p>
        </p:txBody>
      </p:sp>
      <p:sp>
        <p:nvSpPr>
          <p:cNvPr id="52" name="Shape 50"/>
          <p:cNvSpPr/>
          <p:nvPr/>
        </p:nvSpPr>
        <p:spPr>
          <a:xfrm>
            <a:off x="6976872" y="3200400"/>
            <a:ext cx="146304" cy="146304"/>
          </a:xfrm>
          <a:prstGeom prst="roundRect">
            <a:avLst>
              <a:gd name="adj" fmla="val 50000"/>
            </a:avLst>
          </a:prstGeom>
          <a:solidFill>
            <a:srgbClr val="00CC77"/>
          </a:solidFill>
          <a:ln w="12700">
            <a:solidFill>
              <a:srgbClr val="00CC77"/>
            </a:solidFill>
            <a:prstDash val="solid"/>
          </a:ln>
        </p:spPr>
      </p:sp>
      <p:sp>
        <p:nvSpPr>
          <p:cNvPr id="53" name="Text 51"/>
          <p:cNvSpPr/>
          <p:nvPr/>
        </p:nvSpPr>
        <p:spPr>
          <a:xfrm>
            <a:off x="7178040" y="3163824"/>
            <a:ext cx="1600200" cy="475488"/>
          </a:xfrm>
          <a:prstGeom prst="rect">
            <a:avLst/>
          </a:prstGeom>
          <a:noFill/>
          <a:ln/>
        </p:spPr>
        <p:txBody>
          <a:bodyPr wrap="square" lIns="0" tIns="0" rIns="0" bIns="0" rtlCol="0" anchor="ctr"/>
          <a:lstStyle/>
          <a:p>
            <a:pPr marL="0" indent="0">
              <a:buNone/>
            </a:pPr>
            <a:r>
              <a:rPr lang="en-US" sz="850" dirty="0">
                <a:solidFill>
                  <a:srgbClr val="B0B0B0"/>
                </a:solidFill>
              </a:rPr>
              <a:t>Confirm block in dashboard and firewall</a:t>
            </a:r>
            <a:endParaRPr lang="en-US" sz="850" dirty="0"/>
          </a:p>
        </p:txBody>
      </p:sp>
      <p:sp>
        <p:nvSpPr>
          <p:cNvPr id="54" name="Shape 52"/>
          <p:cNvSpPr/>
          <p:nvPr/>
        </p:nvSpPr>
        <p:spPr>
          <a:xfrm>
            <a:off x="6976872" y="3858768"/>
            <a:ext cx="146304" cy="146304"/>
          </a:xfrm>
          <a:prstGeom prst="roundRect">
            <a:avLst>
              <a:gd name="adj" fmla="val 50000"/>
            </a:avLst>
          </a:prstGeom>
          <a:solidFill>
            <a:srgbClr val="00CC77"/>
          </a:solidFill>
          <a:ln w="12700">
            <a:solidFill>
              <a:srgbClr val="00CC77"/>
            </a:solidFill>
            <a:prstDash val="solid"/>
          </a:ln>
        </p:spPr>
      </p:sp>
      <p:sp>
        <p:nvSpPr>
          <p:cNvPr id="55" name="Text 53"/>
          <p:cNvSpPr/>
          <p:nvPr/>
        </p:nvSpPr>
        <p:spPr>
          <a:xfrm>
            <a:off x="7178040" y="3822192"/>
            <a:ext cx="1600200" cy="475488"/>
          </a:xfrm>
          <a:prstGeom prst="rect">
            <a:avLst/>
          </a:prstGeom>
          <a:noFill/>
          <a:ln/>
        </p:spPr>
        <p:txBody>
          <a:bodyPr wrap="square" lIns="0" tIns="0" rIns="0" bIns="0" rtlCol="0" anchor="ctr"/>
          <a:lstStyle/>
          <a:p>
            <a:pPr marL="0" indent="0">
              <a:buNone/>
            </a:pPr>
            <a:r>
              <a:rPr lang="en-US" sz="850" dirty="0">
                <a:solidFill>
                  <a:srgbClr val="B0B0B0"/>
                </a:solidFill>
              </a:rPr>
              <a:t>Document workflow + write risk analysis</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00C8FF"/>
          </a:solidFill>
          <a:ln/>
        </p:spPr>
      </p:sp>
      <p:sp>
        <p:nvSpPr>
          <p:cNvPr id="3" name="Shape 1"/>
          <p:cNvSpPr/>
          <p:nvPr/>
        </p:nvSpPr>
        <p:spPr>
          <a:xfrm>
            <a:off x="457200" y="0"/>
            <a:ext cx="9144" cy="5143500"/>
          </a:xfrm>
          <a:prstGeom prst="rect">
            <a:avLst/>
          </a:prstGeom>
          <a:solidFill>
            <a:srgbClr val="2A2A2A"/>
          </a:solidFill>
          <a:ln/>
        </p:spPr>
      </p:sp>
      <p:sp>
        <p:nvSpPr>
          <p:cNvPr id="4" name="Shape 2"/>
          <p:cNvSpPr/>
          <p:nvPr/>
        </p:nvSpPr>
        <p:spPr>
          <a:xfrm>
            <a:off x="1874520" y="0"/>
            <a:ext cx="9144" cy="5143500"/>
          </a:xfrm>
          <a:prstGeom prst="rect">
            <a:avLst/>
          </a:prstGeom>
          <a:solidFill>
            <a:srgbClr val="2A2A2A"/>
          </a:solidFill>
          <a:ln/>
        </p:spPr>
      </p:sp>
      <p:sp>
        <p:nvSpPr>
          <p:cNvPr id="5" name="Shape 3"/>
          <p:cNvSpPr/>
          <p:nvPr/>
        </p:nvSpPr>
        <p:spPr>
          <a:xfrm>
            <a:off x="3291840" y="0"/>
            <a:ext cx="9144" cy="5143500"/>
          </a:xfrm>
          <a:prstGeom prst="rect">
            <a:avLst/>
          </a:prstGeom>
          <a:solidFill>
            <a:srgbClr val="2A2A2A"/>
          </a:solidFill>
          <a:ln/>
        </p:spPr>
      </p:sp>
      <p:sp>
        <p:nvSpPr>
          <p:cNvPr id="6" name="Shape 4"/>
          <p:cNvSpPr/>
          <p:nvPr/>
        </p:nvSpPr>
        <p:spPr>
          <a:xfrm>
            <a:off x="4709160" y="0"/>
            <a:ext cx="9144" cy="5143500"/>
          </a:xfrm>
          <a:prstGeom prst="rect">
            <a:avLst/>
          </a:prstGeom>
          <a:solidFill>
            <a:srgbClr val="2A2A2A"/>
          </a:solidFill>
          <a:ln/>
        </p:spPr>
      </p:sp>
      <p:sp>
        <p:nvSpPr>
          <p:cNvPr id="7" name="Shape 5"/>
          <p:cNvSpPr/>
          <p:nvPr/>
        </p:nvSpPr>
        <p:spPr>
          <a:xfrm>
            <a:off x="6126480" y="0"/>
            <a:ext cx="9144" cy="5143500"/>
          </a:xfrm>
          <a:prstGeom prst="rect">
            <a:avLst/>
          </a:prstGeom>
          <a:solidFill>
            <a:srgbClr val="2A2A2A"/>
          </a:solidFill>
          <a:ln/>
        </p:spPr>
      </p:sp>
      <p:sp>
        <p:nvSpPr>
          <p:cNvPr id="8" name="Shape 6"/>
          <p:cNvSpPr/>
          <p:nvPr/>
        </p:nvSpPr>
        <p:spPr>
          <a:xfrm>
            <a:off x="7543800" y="0"/>
            <a:ext cx="9144" cy="5143500"/>
          </a:xfrm>
          <a:prstGeom prst="rect">
            <a:avLst/>
          </a:prstGeom>
          <a:solidFill>
            <a:srgbClr val="2A2A2A"/>
          </a:solidFill>
          <a:ln/>
        </p:spPr>
      </p:sp>
      <p:sp>
        <p:nvSpPr>
          <p:cNvPr id="9" name="Shape 7"/>
          <p:cNvSpPr/>
          <p:nvPr/>
        </p:nvSpPr>
        <p:spPr>
          <a:xfrm>
            <a:off x="457200" y="731520"/>
            <a:ext cx="8412480" cy="9144"/>
          </a:xfrm>
          <a:prstGeom prst="rect">
            <a:avLst/>
          </a:prstGeom>
          <a:solidFill>
            <a:srgbClr val="2A2A2A"/>
          </a:solidFill>
          <a:ln/>
        </p:spPr>
      </p:sp>
      <p:sp>
        <p:nvSpPr>
          <p:cNvPr id="10" name="Shape 8"/>
          <p:cNvSpPr/>
          <p:nvPr/>
        </p:nvSpPr>
        <p:spPr>
          <a:xfrm>
            <a:off x="457200" y="1645920"/>
            <a:ext cx="8412480" cy="9144"/>
          </a:xfrm>
          <a:prstGeom prst="rect">
            <a:avLst/>
          </a:prstGeom>
          <a:solidFill>
            <a:srgbClr val="2A2A2A"/>
          </a:solidFill>
          <a:ln/>
        </p:spPr>
      </p:sp>
      <p:sp>
        <p:nvSpPr>
          <p:cNvPr id="11" name="Shape 9"/>
          <p:cNvSpPr/>
          <p:nvPr/>
        </p:nvSpPr>
        <p:spPr>
          <a:xfrm>
            <a:off x="457200" y="2560320"/>
            <a:ext cx="8412480" cy="9144"/>
          </a:xfrm>
          <a:prstGeom prst="rect">
            <a:avLst/>
          </a:prstGeom>
          <a:solidFill>
            <a:srgbClr val="2A2A2A"/>
          </a:solidFill>
          <a:ln/>
        </p:spPr>
      </p:sp>
      <p:sp>
        <p:nvSpPr>
          <p:cNvPr id="12" name="Shape 10"/>
          <p:cNvSpPr/>
          <p:nvPr/>
        </p:nvSpPr>
        <p:spPr>
          <a:xfrm>
            <a:off x="457200" y="3474720"/>
            <a:ext cx="8412480" cy="9144"/>
          </a:xfrm>
          <a:prstGeom prst="rect">
            <a:avLst/>
          </a:prstGeom>
          <a:solidFill>
            <a:srgbClr val="2A2A2A"/>
          </a:solidFill>
          <a:ln/>
        </p:spPr>
      </p:sp>
      <p:sp>
        <p:nvSpPr>
          <p:cNvPr id="13" name="Shape 11"/>
          <p:cNvSpPr/>
          <p:nvPr/>
        </p:nvSpPr>
        <p:spPr>
          <a:xfrm>
            <a:off x="457200" y="4389120"/>
            <a:ext cx="8412480" cy="9144"/>
          </a:xfrm>
          <a:prstGeom prst="rect">
            <a:avLst/>
          </a:prstGeom>
          <a:solidFill>
            <a:srgbClr val="2A2A2A"/>
          </a:solidFill>
          <a:ln/>
        </p:spPr>
      </p:sp>
      <p:sp>
        <p:nvSpPr>
          <p:cNvPr id="14" name="Text 12"/>
          <p:cNvSpPr/>
          <p:nvPr/>
        </p:nvSpPr>
        <p:spPr>
          <a:xfrm>
            <a:off x="457200" y="685800"/>
            <a:ext cx="841248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Let's get to work.</a:t>
            </a:r>
            <a:endParaRPr lang="en-US" sz="5200" dirty="0"/>
          </a:p>
        </p:txBody>
      </p:sp>
      <p:sp>
        <p:nvSpPr>
          <p:cNvPr id="15" name="Shape 13"/>
          <p:cNvSpPr/>
          <p:nvPr/>
        </p:nvSpPr>
        <p:spPr>
          <a:xfrm>
            <a:off x="457200" y="1737360"/>
            <a:ext cx="8412480" cy="18288"/>
          </a:xfrm>
          <a:prstGeom prst="rect">
            <a:avLst/>
          </a:prstGeom>
          <a:solidFill>
            <a:srgbClr val="3A3A3A"/>
          </a:solidFill>
          <a:ln/>
        </p:spPr>
      </p:sp>
      <p:sp>
        <p:nvSpPr>
          <p:cNvPr id="16" name="Shape 14"/>
          <p:cNvSpPr/>
          <p:nvPr/>
        </p:nvSpPr>
        <p:spPr>
          <a:xfrm>
            <a:off x="457200" y="1947672"/>
            <a:ext cx="54864" cy="256032"/>
          </a:xfrm>
          <a:prstGeom prst="rect">
            <a:avLst/>
          </a:prstGeom>
          <a:solidFill>
            <a:srgbClr val="00C8FF"/>
          </a:solidFill>
          <a:ln/>
        </p:spPr>
      </p:sp>
      <p:sp>
        <p:nvSpPr>
          <p:cNvPr id="17" name="Text 15"/>
          <p:cNvSpPr/>
          <p:nvPr/>
        </p:nvSpPr>
        <p:spPr>
          <a:xfrm>
            <a:off x="658368" y="1874520"/>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Task brief is in the group.</a:t>
            </a:r>
            <a:endParaRPr lang="en-US" sz="1300" dirty="0"/>
          </a:p>
        </p:txBody>
      </p:sp>
      <p:sp>
        <p:nvSpPr>
          <p:cNvPr id="18" name="Text 16"/>
          <p:cNvSpPr/>
          <p:nvPr/>
        </p:nvSpPr>
        <p:spPr>
          <a:xfrm>
            <a:off x="658368" y="2148840"/>
            <a:ext cx="7772400" cy="256032"/>
          </a:xfrm>
          <a:prstGeom prst="rect">
            <a:avLst/>
          </a:prstGeom>
          <a:noFill/>
          <a:ln/>
        </p:spPr>
        <p:txBody>
          <a:bodyPr wrap="square" lIns="0" tIns="0" rIns="0" bIns="0" rtlCol="0" anchor="ctr"/>
          <a:lstStyle/>
          <a:p>
            <a:pPr marL="0" indent="0">
              <a:buNone/>
            </a:pPr>
            <a:r>
              <a:rPr lang="en-US" sz="1100" dirty="0">
                <a:solidFill>
                  <a:srgbClr val="B0B0B0"/>
                </a:solidFill>
              </a:rPr>
              <a:t>Read it in full before starting Day 8.</a:t>
            </a:r>
            <a:endParaRPr lang="en-US" sz="1100" dirty="0"/>
          </a:p>
        </p:txBody>
      </p:sp>
      <p:sp>
        <p:nvSpPr>
          <p:cNvPr id="19" name="Shape 17"/>
          <p:cNvSpPr/>
          <p:nvPr/>
        </p:nvSpPr>
        <p:spPr>
          <a:xfrm>
            <a:off x="457200" y="2642616"/>
            <a:ext cx="54864" cy="256032"/>
          </a:xfrm>
          <a:prstGeom prst="rect">
            <a:avLst/>
          </a:prstGeom>
          <a:solidFill>
            <a:srgbClr val="00C8FF"/>
          </a:solidFill>
          <a:ln/>
        </p:spPr>
      </p:sp>
      <p:sp>
        <p:nvSpPr>
          <p:cNvPr id="20" name="Text 18"/>
          <p:cNvSpPr/>
          <p:nvPr/>
        </p:nvSpPr>
        <p:spPr>
          <a:xfrm>
            <a:off x="658368" y="2569464"/>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Week 1 lab must be stable first.</a:t>
            </a:r>
            <a:endParaRPr lang="en-US" sz="1300" dirty="0"/>
          </a:p>
        </p:txBody>
      </p:sp>
      <p:sp>
        <p:nvSpPr>
          <p:cNvPr id="21" name="Text 19"/>
          <p:cNvSpPr/>
          <p:nvPr/>
        </p:nvSpPr>
        <p:spPr>
          <a:xfrm>
            <a:off x="658368" y="2843784"/>
            <a:ext cx="7772400" cy="256032"/>
          </a:xfrm>
          <a:prstGeom prst="rect">
            <a:avLst/>
          </a:prstGeom>
          <a:noFill/>
          <a:ln/>
        </p:spPr>
        <p:txBody>
          <a:bodyPr wrap="square" lIns="0" tIns="0" rIns="0" bIns="0" rtlCol="0" anchor="ctr"/>
          <a:lstStyle/>
          <a:p>
            <a:pPr marL="0" indent="0">
              <a:buNone/>
            </a:pPr>
            <a:r>
              <a:rPr lang="en-US" sz="1100" dirty="0">
                <a:solidFill>
                  <a:srgbClr val="B0B0B0"/>
                </a:solidFill>
              </a:rPr>
              <a:t>Fix anything that is still broken.</a:t>
            </a:r>
            <a:endParaRPr lang="en-US" sz="1100" dirty="0"/>
          </a:p>
        </p:txBody>
      </p:sp>
      <p:sp>
        <p:nvSpPr>
          <p:cNvPr id="22" name="Shape 20"/>
          <p:cNvSpPr/>
          <p:nvPr/>
        </p:nvSpPr>
        <p:spPr>
          <a:xfrm>
            <a:off x="457200" y="3337560"/>
            <a:ext cx="54864" cy="256032"/>
          </a:xfrm>
          <a:prstGeom prst="rect">
            <a:avLst/>
          </a:prstGeom>
          <a:solidFill>
            <a:srgbClr val="00C8FF"/>
          </a:solidFill>
          <a:ln/>
        </p:spPr>
      </p:sp>
      <p:sp>
        <p:nvSpPr>
          <p:cNvPr id="23" name="Text 21"/>
          <p:cNvSpPr/>
          <p:nvPr/>
        </p:nvSpPr>
        <p:spPr>
          <a:xfrm>
            <a:off x="658368" y="3264408"/>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Custom rule IDs stay above 100000.</a:t>
            </a:r>
            <a:endParaRPr lang="en-US" sz="1300" dirty="0"/>
          </a:p>
        </p:txBody>
      </p:sp>
      <p:sp>
        <p:nvSpPr>
          <p:cNvPr id="24" name="Text 22"/>
          <p:cNvSpPr/>
          <p:nvPr/>
        </p:nvSpPr>
        <p:spPr>
          <a:xfrm>
            <a:off x="658368" y="3538728"/>
            <a:ext cx="7772400" cy="256032"/>
          </a:xfrm>
          <a:prstGeom prst="rect">
            <a:avLst/>
          </a:prstGeom>
          <a:noFill/>
          <a:ln/>
        </p:spPr>
        <p:txBody>
          <a:bodyPr wrap="square" lIns="0" tIns="0" rIns="0" bIns="0" rtlCol="0" anchor="ctr"/>
          <a:lstStyle/>
          <a:p>
            <a:pPr marL="0" indent="0">
              <a:buNone/>
            </a:pPr>
            <a:r>
              <a:rPr lang="en-US" sz="1100" dirty="0">
                <a:solidFill>
                  <a:srgbClr val="B0B0B0"/>
                </a:solidFill>
              </a:rPr>
              <a:t>No exceptions.</a:t>
            </a:r>
            <a:endParaRPr lang="en-US" sz="1100" dirty="0"/>
          </a:p>
        </p:txBody>
      </p:sp>
      <p:sp>
        <p:nvSpPr>
          <p:cNvPr id="25" name="Shape 23"/>
          <p:cNvSpPr/>
          <p:nvPr/>
        </p:nvSpPr>
        <p:spPr>
          <a:xfrm>
            <a:off x="457200" y="4032504"/>
            <a:ext cx="54864" cy="256032"/>
          </a:xfrm>
          <a:prstGeom prst="rect">
            <a:avLst/>
          </a:prstGeom>
          <a:solidFill>
            <a:srgbClr val="00C8FF"/>
          </a:solidFill>
          <a:ln/>
        </p:spPr>
      </p:sp>
      <p:sp>
        <p:nvSpPr>
          <p:cNvPr id="26" name="Text 24"/>
          <p:cNvSpPr/>
          <p:nvPr/>
        </p:nvSpPr>
        <p:spPr>
          <a:xfrm>
            <a:off x="658368" y="3959352"/>
            <a:ext cx="4114800" cy="274320"/>
          </a:xfrm>
          <a:prstGeom prst="rect">
            <a:avLst/>
          </a:prstGeom>
          <a:noFill/>
          <a:ln/>
        </p:spPr>
        <p:txBody>
          <a:bodyPr wrap="square" lIns="0" tIns="0" rIns="0" bIns="0" rtlCol="0" anchor="ctr"/>
          <a:lstStyle/>
          <a:p>
            <a:pPr marL="0" indent="0">
              <a:buNone/>
            </a:pPr>
            <a:r>
              <a:rPr lang="en-US" sz="1300" b="1" dirty="0">
                <a:solidFill>
                  <a:srgbClr val="FFFFFF"/>
                </a:solidFill>
              </a:rPr>
              <a:t>Questions go in the group chat,</a:t>
            </a:r>
            <a:endParaRPr lang="en-US" sz="1300" dirty="0"/>
          </a:p>
        </p:txBody>
      </p:sp>
      <p:sp>
        <p:nvSpPr>
          <p:cNvPr id="27" name="Text 25"/>
          <p:cNvSpPr/>
          <p:nvPr/>
        </p:nvSpPr>
        <p:spPr>
          <a:xfrm>
            <a:off x="658368" y="4233672"/>
            <a:ext cx="7772400" cy="256032"/>
          </a:xfrm>
          <a:prstGeom prst="rect">
            <a:avLst/>
          </a:prstGeom>
          <a:noFill/>
          <a:ln/>
        </p:spPr>
        <p:txBody>
          <a:bodyPr wrap="square" lIns="0" tIns="0" rIns="0" bIns="0" rtlCol="0" anchor="ctr"/>
          <a:lstStyle/>
          <a:p>
            <a:pPr marL="0" indent="0">
              <a:buNone/>
            </a:pPr>
            <a:r>
              <a:rPr lang="en-US" sz="1100" dirty="0">
                <a:solidFill>
                  <a:srgbClr val="B0B0B0"/>
                </a:solidFill>
              </a:rPr>
              <a:t>not private messages.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2174</Words>
  <Application>Microsoft Office PowerPoint</Application>
  <PresentationFormat>On-screen Show (16:9)</PresentationFormat>
  <Paragraphs>297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Cyberster Blue Team Internship — Week 2 Live Session</dc:title>
  <dc:subject>PptxGenJS Presentation</dc:subject>
  <dc:creator>PptxGenJS</dc:creator>
  <cp:lastModifiedBy>Abdullah Zia</cp:lastModifiedBy>
  <cp:revision>3</cp:revision>
  <dcterms:created xsi:type="dcterms:W3CDTF">2026-06-28T11:41:02Z</dcterms:created>
  <dcterms:modified xsi:type="dcterms:W3CDTF">2026-06-28T12:22:15Z</dcterms:modified>
</cp:coreProperties>
</file>