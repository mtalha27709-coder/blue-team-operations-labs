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6438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0" cy="5143500"/>
          </a:xfrm>
          <a:prstGeom prst="line">
            <a:avLst/>
          </a:prstGeom>
          <a:noFill/>
          <a:ln w="12700">
            <a:solidFill>
              <a:srgbClr val="161B22"/>
            </a:solidFill>
            <a:prstDash val="solid"/>
          </a:ln>
        </p:spPr>
      </p:sp>
      <p:sp>
        <p:nvSpPr>
          <p:cNvPr id="3" name="Shape 1"/>
          <p:cNvSpPr/>
          <p:nvPr/>
        </p:nvSpPr>
        <p:spPr>
          <a:xfrm>
            <a:off x="502920" y="0"/>
            <a:ext cx="0" cy="5143500"/>
          </a:xfrm>
          <a:prstGeom prst="line">
            <a:avLst/>
          </a:prstGeom>
          <a:noFill/>
          <a:ln w="12700">
            <a:solidFill>
              <a:srgbClr val="161B22"/>
            </a:solidFill>
            <a:prstDash val="solid"/>
          </a:ln>
        </p:spPr>
      </p:sp>
      <p:sp>
        <p:nvSpPr>
          <p:cNvPr id="4" name="Shape 2"/>
          <p:cNvSpPr/>
          <p:nvPr/>
        </p:nvSpPr>
        <p:spPr>
          <a:xfrm>
            <a:off x="1005840" y="0"/>
            <a:ext cx="0" cy="5143500"/>
          </a:xfrm>
          <a:prstGeom prst="line">
            <a:avLst/>
          </a:prstGeom>
          <a:noFill/>
          <a:ln w="12700">
            <a:solidFill>
              <a:srgbClr val="161B22"/>
            </a:solidFill>
            <a:prstDash val="solid"/>
          </a:ln>
        </p:spPr>
      </p:sp>
      <p:sp>
        <p:nvSpPr>
          <p:cNvPr id="5" name="Shape 3"/>
          <p:cNvSpPr/>
          <p:nvPr/>
        </p:nvSpPr>
        <p:spPr>
          <a:xfrm>
            <a:off x="1508760" y="0"/>
            <a:ext cx="0" cy="5143500"/>
          </a:xfrm>
          <a:prstGeom prst="line">
            <a:avLst/>
          </a:prstGeom>
          <a:noFill/>
          <a:ln w="12700">
            <a:solidFill>
              <a:srgbClr val="161B22"/>
            </a:solidFill>
            <a:prstDash val="solid"/>
          </a:ln>
        </p:spPr>
      </p:sp>
      <p:sp>
        <p:nvSpPr>
          <p:cNvPr id="6" name="Shape 4"/>
          <p:cNvSpPr/>
          <p:nvPr/>
        </p:nvSpPr>
        <p:spPr>
          <a:xfrm>
            <a:off x="2011680" y="0"/>
            <a:ext cx="0" cy="5143500"/>
          </a:xfrm>
          <a:prstGeom prst="line">
            <a:avLst/>
          </a:prstGeom>
          <a:noFill/>
          <a:ln w="12700">
            <a:solidFill>
              <a:srgbClr val="161B22"/>
            </a:solidFill>
            <a:prstDash val="solid"/>
          </a:ln>
        </p:spPr>
      </p:sp>
      <p:sp>
        <p:nvSpPr>
          <p:cNvPr id="7" name="Shape 5"/>
          <p:cNvSpPr/>
          <p:nvPr/>
        </p:nvSpPr>
        <p:spPr>
          <a:xfrm>
            <a:off x="2514600" y="0"/>
            <a:ext cx="0" cy="5143500"/>
          </a:xfrm>
          <a:prstGeom prst="line">
            <a:avLst/>
          </a:prstGeom>
          <a:noFill/>
          <a:ln w="12700">
            <a:solidFill>
              <a:srgbClr val="161B22"/>
            </a:solidFill>
            <a:prstDash val="solid"/>
          </a:ln>
        </p:spPr>
      </p:sp>
      <p:sp>
        <p:nvSpPr>
          <p:cNvPr id="8" name="Shape 6"/>
          <p:cNvSpPr/>
          <p:nvPr/>
        </p:nvSpPr>
        <p:spPr>
          <a:xfrm>
            <a:off x="3017520" y="0"/>
            <a:ext cx="0" cy="5143500"/>
          </a:xfrm>
          <a:prstGeom prst="line">
            <a:avLst/>
          </a:prstGeom>
          <a:noFill/>
          <a:ln w="12700">
            <a:solidFill>
              <a:srgbClr val="161B22"/>
            </a:solidFill>
            <a:prstDash val="solid"/>
          </a:ln>
        </p:spPr>
      </p:sp>
      <p:sp>
        <p:nvSpPr>
          <p:cNvPr id="9" name="Shape 7"/>
          <p:cNvSpPr/>
          <p:nvPr/>
        </p:nvSpPr>
        <p:spPr>
          <a:xfrm>
            <a:off x="3520440" y="0"/>
            <a:ext cx="0" cy="5143500"/>
          </a:xfrm>
          <a:prstGeom prst="line">
            <a:avLst/>
          </a:prstGeom>
          <a:noFill/>
          <a:ln w="12700">
            <a:solidFill>
              <a:srgbClr val="161B22"/>
            </a:solidFill>
            <a:prstDash val="solid"/>
          </a:ln>
        </p:spPr>
      </p:sp>
      <p:sp>
        <p:nvSpPr>
          <p:cNvPr id="10" name="Shape 8"/>
          <p:cNvSpPr/>
          <p:nvPr/>
        </p:nvSpPr>
        <p:spPr>
          <a:xfrm>
            <a:off x="4023360" y="0"/>
            <a:ext cx="0" cy="5143500"/>
          </a:xfrm>
          <a:prstGeom prst="line">
            <a:avLst/>
          </a:prstGeom>
          <a:noFill/>
          <a:ln w="12700">
            <a:solidFill>
              <a:srgbClr val="161B22"/>
            </a:solidFill>
            <a:prstDash val="solid"/>
          </a:ln>
        </p:spPr>
      </p:sp>
      <p:sp>
        <p:nvSpPr>
          <p:cNvPr id="11" name="Shape 9"/>
          <p:cNvSpPr/>
          <p:nvPr/>
        </p:nvSpPr>
        <p:spPr>
          <a:xfrm>
            <a:off x="4526280" y="0"/>
            <a:ext cx="0" cy="5143500"/>
          </a:xfrm>
          <a:prstGeom prst="line">
            <a:avLst/>
          </a:prstGeom>
          <a:noFill/>
          <a:ln w="12700">
            <a:solidFill>
              <a:srgbClr val="161B22"/>
            </a:solidFill>
            <a:prstDash val="solid"/>
          </a:ln>
        </p:spPr>
      </p:sp>
      <p:sp>
        <p:nvSpPr>
          <p:cNvPr id="12" name="Shape 10"/>
          <p:cNvSpPr/>
          <p:nvPr/>
        </p:nvSpPr>
        <p:spPr>
          <a:xfrm>
            <a:off x="5029200" y="0"/>
            <a:ext cx="0" cy="5143500"/>
          </a:xfrm>
          <a:prstGeom prst="line">
            <a:avLst/>
          </a:prstGeom>
          <a:noFill/>
          <a:ln w="12700">
            <a:solidFill>
              <a:srgbClr val="161B22"/>
            </a:solidFill>
            <a:prstDash val="solid"/>
          </a:ln>
        </p:spPr>
      </p:sp>
      <p:sp>
        <p:nvSpPr>
          <p:cNvPr id="13" name="Shape 11"/>
          <p:cNvSpPr/>
          <p:nvPr/>
        </p:nvSpPr>
        <p:spPr>
          <a:xfrm>
            <a:off x="5532120" y="0"/>
            <a:ext cx="0" cy="5143500"/>
          </a:xfrm>
          <a:prstGeom prst="line">
            <a:avLst/>
          </a:prstGeom>
          <a:noFill/>
          <a:ln w="12700">
            <a:solidFill>
              <a:srgbClr val="161B22"/>
            </a:solidFill>
            <a:prstDash val="solid"/>
          </a:ln>
        </p:spPr>
      </p:sp>
      <p:sp>
        <p:nvSpPr>
          <p:cNvPr id="14" name="Shape 12"/>
          <p:cNvSpPr/>
          <p:nvPr/>
        </p:nvSpPr>
        <p:spPr>
          <a:xfrm>
            <a:off x="6035040" y="0"/>
            <a:ext cx="0" cy="5143500"/>
          </a:xfrm>
          <a:prstGeom prst="line">
            <a:avLst/>
          </a:prstGeom>
          <a:noFill/>
          <a:ln w="12700">
            <a:solidFill>
              <a:srgbClr val="161B22"/>
            </a:solidFill>
            <a:prstDash val="solid"/>
          </a:ln>
        </p:spPr>
      </p:sp>
      <p:sp>
        <p:nvSpPr>
          <p:cNvPr id="15" name="Shape 13"/>
          <p:cNvSpPr/>
          <p:nvPr/>
        </p:nvSpPr>
        <p:spPr>
          <a:xfrm>
            <a:off x="6537960" y="0"/>
            <a:ext cx="0" cy="5143500"/>
          </a:xfrm>
          <a:prstGeom prst="line">
            <a:avLst/>
          </a:prstGeom>
          <a:noFill/>
          <a:ln w="12700">
            <a:solidFill>
              <a:srgbClr val="161B22"/>
            </a:solidFill>
            <a:prstDash val="solid"/>
          </a:ln>
        </p:spPr>
      </p:sp>
      <p:sp>
        <p:nvSpPr>
          <p:cNvPr id="16" name="Shape 14"/>
          <p:cNvSpPr/>
          <p:nvPr/>
        </p:nvSpPr>
        <p:spPr>
          <a:xfrm>
            <a:off x="7040880" y="0"/>
            <a:ext cx="0" cy="5143500"/>
          </a:xfrm>
          <a:prstGeom prst="line">
            <a:avLst/>
          </a:prstGeom>
          <a:noFill/>
          <a:ln w="12700">
            <a:solidFill>
              <a:srgbClr val="161B22"/>
            </a:solidFill>
            <a:prstDash val="solid"/>
          </a:ln>
        </p:spPr>
      </p:sp>
      <p:sp>
        <p:nvSpPr>
          <p:cNvPr id="17" name="Shape 15"/>
          <p:cNvSpPr/>
          <p:nvPr/>
        </p:nvSpPr>
        <p:spPr>
          <a:xfrm>
            <a:off x="7543800" y="0"/>
            <a:ext cx="0" cy="5143500"/>
          </a:xfrm>
          <a:prstGeom prst="line">
            <a:avLst/>
          </a:prstGeom>
          <a:noFill/>
          <a:ln w="12700">
            <a:solidFill>
              <a:srgbClr val="161B22"/>
            </a:solidFill>
            <a:prstDash val="solid"/>
          </a:ln>
        </p:spPr>
      </p:sp>
      <p:sp>
        <p:nvSpPr>
          <p:cNvPr id="18" name="Shape 16"/>
          <p:cNvSpPr/>
          <p:nvPr/>
        </p:nvSpPr>
        <p:spPr>
          <a:xfrm>
            <a:off x="8046720" y="0"/>
            <a:ext cx="0" cy="5143500"/>
          </a:xfrm>
          <a:prstGeom prst="line">
            <a:avLst/>
          </a:prstGeom>
          <a:noFill/>
          <a:ln w="12700">
            <a:solidFill>
              <a:srgbClr val="161B22"/>
            </a:solidFill>
            <a:prstDash val="solid"/>
          </a:ln>
        </p:spPr>
      </p:sp>
      <p:sp>
        <p:nvSpPr>
          <p:cNvPr id="19" name="Shape 17"/>
          <p:cNvSpPr/>
          <p:nvPr/>
        </p:nvSpPr>
        <p:spPr>
          <a:xfrm>
            <a:off x="8549640" y="0"/>
            <a:ext cx="0" cy="5143500"/>
          </a:xfrm>
          <a:prstGeom prst="line">
            <a:avLst/>
          </a:prstGeom>
          <a:noFill/>
          <a:ln w="12700">
            <a:solidFill>
              <a:srgbClr val="161B22"/>
            </a:solidFill>
            <a:prstDash val="solid"/>
          </a:ln>
        </p:spPr>
      </p:sp>
      <p:sp>
        <p:nvSpPr>
          <p:cNvPr id="20" name="Shape 18"/>
          <p:cNvSpPr/>
          <p:nvPr/>
        </p:nvSpPr>
        <p:spPr>
          <a:xfrm>
            <a:off x="9052560" y="0"/>
            <a:ext cx="0" cy="5143500"/>
          </a:xfrm>
          <a:prstGeom prst="line">
            <a:avLst/>
          </a:prstGeom>
          <a:noFill/>
          <a:ln w="12700">
            <a:solidFill>
              <a:srgbClr val="161B22"/>
            </a:solidFill>
            <a:prstDash val="solid"/>
          </a:ln>
        </p:spPr>
      </p:sp>
      <p:sp>
        <p:nvSpPr>
          <p:cNvPr id="21" name="Shape 19"/>
          <p:cNvSpPr/>
          <p:nvPr/>
        </p:nvSpPr>
        <p:spPr>
          <a:xfrm>
            <a:off x="9555480" y="0"/>
            <a:ext cx="0" cy="5143500"/>
          </a:xfrm>
          <a:prstGeom prst="line">
            <a:avLst/>
          </a:prstGeom>
          <a:noFill/>
          <a:ln w="12700">
            <a:solidFill>
              <a:srgbClr val="161B22"/>
            </a:solidFill>
            <a:prstDash val="solid"/>
          </a:ln>
        </p:spPr>
      </p:sp>
      <p:sp>
        <p:nvSpPr>
          <p:cNvPr id="22" name="Shape 20"/>
          <p:cNvSpPr/>
          <p:nvPr/>
        </p:nvSpPr>
        <p:spPr>
          <a:xfrm>
            <a:off x="0" y="1645920"/>
            <a:ext cx="9144000" cy="2194560"/>
          </a:xfrm>
          <a:prstGeom prst="rect">
            <a:avLst/>
          </a:prstGeom>
          <a:solidFill>
            <a:srgbClr val="161B22"/>
          </a:solidFill>
          <a:ln w="12700">
            <a:solidFill>
              <a:srgbClr val="30363D"/>
            </a:solidFill>
            <a:prstDash val="solid"/>
          </a:ln>
        </p:spPr>
      </p:sp>
      <p:sp>
        <p:nvSpPr>
          <p:cNvPr id="23" name="Shape 21"/>
          <p:cNvSpPr/>
          <p:nvPr/>
        </p:nvSpPr>
        <p:spPr>
          <a:xfrm>
            <a:off x="0" y="1645920"/>
            <a:ext cx="109728" cy="2194560"/>
          </a:xfrm>
          <a:prstGeom prst="rect">
            <a:avLst/>
          </a:prstGeom>
          <a:solidFill>
            <a:srgbClr val="00FF88"/>
          </a:solidFill>
          <a:ln w="12700">
            <a:solidFill>
              <a:srgbClr val="00FF88"/>
            </a:solidFill>
            <a:prstDash val="solid"/>
          </a:ln>
        </p:spPr>
      </p:sp>
      <p:sp>
        <p:nvSpPr>
          <p:cNvPr id="24" name="Text 22"/>
          <p:cNvSpPr/>
          <p:nvPr/>
        </p:nvSpPr>
        <p:spPr>
          <a:xfrm>
            <a:off x="457200" y="457200"/>
            <a:ext cx="8229600" cy="457200"/>
          </a:xfrm>
          <a:prstGeom prst="rect">
            <a:avLst/>
          </a:prstGeom>
          <a:noFill/>
          <a:ln/>
        </p:spPr>
        <p:txBody>
          <a:bodyPr wrap="square" lIns="0" tIns="0" rIns="0" bIns="0" rtlCol="0" anchor="ctr"/>
          <a:lstStyle/>
          <a:p>
            <a:pPr marL="0" indent="0">
              <a:buNone/>
            </a:pPr>
            <a:r>
              <a:rPr lang="en-US" sz="1300" b="1" kern="0" spc="600" dirty="0">
                <a:solidFill>
                  <a:srgbClr val="00FF88"/>
                </a:solidFill>
                <a:latin typeface="Calibri" pitchFamily="34" charset="0"/>
                <a:ea typeface="Calibri" pitchFamily="34" charset="-122"/>
                <a:cs typeface="Calibri" pitchFamily="34" charset="-120"/>
              </a:rPr>
              <a:t>WEEK 5</a:t>
            </a:r>
            <a:endParaRPr lang="en-US" sz="1300" dirty="0"/>
          </a:p>
        </p:txBody>
      </p:sp>
      <p:sp>
        <p:nvSpPr>
          <p:cNvPr id="25" name="Text 23"/>
          <p:cNvSpPr/>
          <p:nvPr/>
        </p:nvSpPr>
        <p:spPr>
          <a:xfrm>
            <a:off x="457200" y="1737360"/>
            <a:ext cx="8229600" cy="822960"/>
          </a:xfrm>
          <a:prstGeom prst="rect">
            <a:avLst/>
          </a:prstGeom>
          <a:noFill/>
          <a:ln/>
        </p:spPr>
        <p:txBody>
          <a:bodyPr wrap="square" lIns="0" tIns="0" rIns="0" bIns="0" rtlCol="0" anchor="ctr"/>
          <a:lstStyle/>
          <a:p>
            <a:pPr marL="0" indent="0">
              <a:buNone/>
            </a:pPr>
            <a:r>
              <a:rPr lang="en-US" sz="4000" b="1" dirty="0">
                <a:solidFill>
                  <a:srgbClr val="F0F6FC"/>
                </a:solidFill>
                <a:latin typeface="Calibri" pitchFamily="34" charset="0"/>
                <a:ea typeface="Calibri" pitchFamily="34" charset="-122"/>
                <a:cs typeface="Calibri" pitchFamily="34" charset="-120"/>
              </a:rPr>
              <a:t>Malware Analysis</a:t>
            </a:r>
            <a:endParaRPr lang="en-US" sz="4000" dirty="0"/>
          </a:p>
        </p:txBody>
      </p:sp>
      <p:sp>
        <p:nvSpPr>
          <p:cNvPr id="26" name="Text 24"/>
          <p:cNvSpPr/>
          <p:nvPr/>
        </p:nvSpPr>
        <p:spPr>
          <a:xfrm>
            <a:off x="457200" y="2606040"/>
            <a:ext cx="8229600" cy="365760"/>
          </a:xfrm>
          <a:prstGeom prst="rect">
            <a:avLst/>
          </a:prstGeom>
          <a:noFill/>
          <a:ln/>
        </p:spPr>
        <p:txBody>
          <a:bodyPr wrap="square" lIns="0" tIns="0" rIns="0" bIns="0" rtlCol="0" anchor="ctr"/>
          <a:lstStyle/>
          <a:p>
            <a:pPr marL="0" indent="0">
              <a:buNone/>
            </a:pPr>
            <a:r>
              <a:rPr lang="en-US" sz="1300" dirty="0">
                <a:solidFill>
                  <a:srgbClr val="8B949E"/>
                </a:solidFill>
                <a:latin typeface="Calibri" pitchFamily="34" charset="0"/>
                <a:ea typeface="Calibri" pitchFamily="34" charset="-122"/>
                <a:cs typeface="Calibri" pitchFamily="34" charset="-120"/>
              </a:rPr>
              <a:t>Static &amp; Dynamic Analysis | Sandbox Environments | Threat Reporting</a:t>
            </a:r>
            <a:endParaRPr lang="en-US" sz="1300" dirty="0"/>
          </a:p>
        </p:txBody>
      </p:sp>
      <p:sp>
        <p:nvSpPr>
          <p:cNvPr id="27" name="Text 25"/>
          <p:cNvSpPr/>
          <p:nvPr/>
        </p:nvSpPr>
        <p:spPr>
          <a:xfrm>
            <a:off x="457200" y="4389120"/>
            <a:ext cx="8229600" cy="365760"/>
          </a:xfrm>
          <a:prstGeom prst="rect">
            <a:avLst/>
          </a:prstGeom>
          <a:noFill/>
          <a:ln/>
        </p:spPr>
        <p:txBody>
          <a:bodyPr wrap="square" lIns="0" tIns="0" rIns="0" bIns="0" rtlCol="0" anchor="ctr"/>
          <a:lstStyle/>
          <a:p>
            <a:pPr marL="0" indent="0" algn="ctr">
              <a:buNone/>
            </a:pPr>
            <a:r>
              <a:rPr lang="en-US" sz="1000" dirty="0">
                <a:solidFill>
                  <a:srgbClr val="8B949E"/>
                </a:solidFill>
                <a:latin typeface="Calibri" pitchFamily="34" charset="0"/>
                <a:ea typeface="Calibri" pitchFamily="34" charset="-122"/>
                <a:cs typeface="Calibri" pitchFamily="34" charset="-120"/>
              </a:rPr>
              <a:t>Cyberster Program  |  Instructor-Led Session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61B22"/>
          </a:solidFill>
          <a:ln w="12700">
            <a:solidFill>
              <a:srgbClr val="161B22"/>
            </a:solidFill>
            <a:prstDash val="solid"/>
          </a:ln>
        </p:spPr>
      </p:sp>
      <p:sp>
        <p:nvSpPr>
          <p:cNvPr id="3" name="Shape 1"/>
          <p:cNvSpPr/>
          <p:nvPr/>
        </p:nvSpPr>
        <p:spPr>
          <a:xfrm>
            <a:off x="0" y="685800"/>
            <a:ext cx="9144000" cy="36576"/>
          </a:xfrm>
          <a:prstGeom prst="rect">
            <a:avLst/>
          </a:prstGeom>
          <a:solidFill>
            <a:srgbClr val="00FF88"/>
          </a:solidFill>
          <a:ln w="12700">
            <a:solidFill>
              <a:srgbClr val="00FF88"/>
            </a:solidFill>
            <a:prstDash val="solid"/>
          </a:ln>
        </p:spPr>
      </p:sp>
      <p:sp>
        <p:nvSpPr>
          <p:cNvPr id="4" name="Text 2"/>
          <p:cNvSpPr/>
          <p:nvPr/>
        </p:nvSpPr>
        <p:spPr>
          <a:xfrm>
            <a:off x="320040" y="64008"/>
            <a:ext cx="8503920" cy="548640"/>
          </a:xfrm>
          <a:prstGeom prst="rect">
            <a:avLst/>
          </a:prstGeom>
          <a:noFill/>
          <a:ln/>
        </p:spPr>
        <p:txBody>
          <a:bodyPr wrap="square" lIns="0" tIns="0" rIns="0" bIns="0" rtlCol="0" anchor="ctr"/>
          <a:lstStyle/>
          <a:p>
            <a:pPr marL="0" indent="0">
              <a:buNone/>
            </a:pPr>
            <a:r>
              <a:rPr lang="en-US" sz="2200" b="1" dirty="0">
                <a:solidFill>
                  <a:srgbClr val="F0F6FC"/>
                </a:solidFill>
                <a:latin typeface="Calibri" pitchFamily="34" charset="0"/>
                <a:ea typeface="Calibri" pitchFamily="34" charset="-122"/>
                <a:cs typeface="Calibri" pitchFamily="34" charset="-120"/>
              </a:rPr>
              <a:t>Session Overview</a:t>
            </a:r>
            <a:endParaRPr lang="en-US" sz="2200" dirty="0"/>
          </a:p>
        </p:txBody>
      </p:sp>
      <p:sp>
        <p:nvSpPr>
          <p:cNvPr id="6" name="Shape 4"/>
          <p:cNvSpPr/>
          <p:nvPr/>
        </p:nvSpPr>
        <p:spPr>
          <a:xfrm>
            <a:off x="274320" y="960120"/>
            <a:ext cx="4160520" cy="1005840"/>
          </a:xfrm>
          <a:prstGeom prst="rect">
            <a:avLst/>
          </a:prstGeom>
          <a:solidFill>
            <a:srgbClr val="161B22"/>
          </a:solidFill>
          <a:ln w="12700">
            <a:solidFill>
              <a:srgbClr val="30363D"/>
            </a:solidFill>
            <a:prstDash val="solid"/>
          </a:ln>
        </p:spPr>
      </p:sp>
      <p:sp>
        <p:nvSpPr>
          <p:cNvPr id="7" name="Text 5"/>
          <p:cNvSpPr/>
          <p:nvPr/>
        </p:nvSpPr>
        <p:spPr>
          <a:xfrm>
            <a:off x="411480" y="1051560"/>
            <a:ext cx="548640" cy="365760"/>
          </a:xfrm>
          <a:prstGeom prst="rect">
            <a:avLst/>
          </a:prstGeom>
          <a:noFill/>
          <a:ln/>
        </p:spPr>
        <p:txBody>
          <a:bodyPr wrap="square" lIns="0" tIns="0" rIns="0" bIns="0" rtlCol="0" anchor="ctr"/>
          <a:lstStyle/>
          <a:p>
            <a:pPr marL="0" indent="0">
              <a:buNone/>
            </a:pPr>
            <a:r>
              <a:rPr lang="en-US" sz="2000" b="1" dirty="0">
                <a:solidFill>
                  <a:srgbClr val="00FF88"/>
                </a:solidFill>
                <a:latin typeface="Calibri" pitchFamily="34" charset="0"/>
                <a:ea typeface="Calibri" pitchFamily="34" charset="-122"/>
                <a:cs typeface="Calibri" pitchFamily="34" charset="-120"/>
              </a:rPr>
              <a:t>01</a:t>
            </a:r>
            <a:endParaRPr lang="en-US" sz="2000" dirty="0"/>
          </a:p>
        </p:txBody>
      </p:sp>
      <p:sp>
        <p:nvSpPr>
          <p:cNvPr id="8" name="Text 6"/>
          <p:cNvSpPr/>
          <p:nvPr/>
        </p:nvSpPr>
        <p:spPr>
          <a:xfrm>
            <a:off x="960120" y="1051560"/>
            <a:ext cx="3291840" cy="320040"/>
          </a:xfrm>
          <a:prstGeom prst="rect">
            <a:avLst/>
          </a:prstGeom>
          <a:noFill/>
          <a:ln/>
        </p:spPr>
        <p:txBody>
          <a:bodyPr wrap="square" lIns="0" tIns="0" rIns="0" bIns="0" rtlCol="0" anchor="ctr"/>
          <a:lstStyle/>
          <a:p>
            <a:pPr marL="0" indent="0">
              <a:buNone/>
            </a:pPr>
            <a:r>
              <a:rPr lang="en-US" sz="1200" b="1" dirty="0">
                <a:solidFill>
                  <a:srgbClr val="F0F6FC"/>
                </a:solidFill>
                <a:latin typeface="Calibri" pitchFamily="34" charset="0"/>
                <a:ea typeface="Calibri" pitchFamily="34" charset="-122"/>
                <a:cs typeface="Calibri" pitchFamily="34" charset="-120"/>
              </a:rPr>
              <a:t>What is Malware?</a:t>
            </a:r>
            <a:endParaRPr lang="en-US" sz="1200" dirty="0"/>
          </a:p>
        </p:txBody>
      </p:sp>
      <p:sp>
        <p:nvSpPr>
          <p:cNvPr id="9" name="Text 7"/>
          <p:cNvSpPr/>
          <p:nvPr/>
        </p:nvSpPr>
        <p:spPr>
          <a:xfrm>
            <a:off x="960120" y="1417320"/>
            <a:ext cx="3291840" cy="365760"/>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Types, families, and how they behave</a:t>
            </a:r>
            <a:endParaRPr lang="en-US" sz="950" dirty="0"/>
          </a:p>
        </p:txBody>
      </p:sp>
      <p:sp>
        <p:nvSpPr>
          <p:cNvPr id="10" name="Shape 8"/>
          <p:cNvSpPr/>
          <p:nvPr/>
        </p:nvSpPr>
        <p:spPr>
          <a:xfrm>
            <a:off x="274320" y="2194560"/>
            <a:ext cx="4160520" cy="1005840"/>
          </a:xfrm>
          <a:prstGeom prst="rect">
            <a:avLst/>
          </a:prstGeom>
          <a:solidFill>
            <a:srgbClr val="161B22"/>
          </a:solidFill>
          <a:ln w="12700">
            <a:solidFill>
              <a:srgbClr val="30363D"/>
            </a:solidFill>
            <a:prstDash val="solid"/>
          </a:ln>
        </p:spPr>
      </p:sp>
      <p:sp>
        <p:nvSpPr>
          <p:cNvPr id="11" name="Text 9"/>
          <p:cNvSpPr/>
          <p:nvPr/>
        </p:nvSpPr>
        <p:spPr>
          <a:xfrm>
            <a:off x="411480" y="2286000"/>
            <a:ext cx="548640" cy="365760"/>
          </a:xfrm>
          <a:prstGeom prst="rect">
            <a:avLst/>
          </a:prstGeom>
          <a:noFill/>
          <a:ln/>
        </p:spPr>
        <p:txBody>
          <a:bodyPr wrap="square" lIns="0" tIns="0" rIns="0" bIns="0" rtlCol="0" anchor="ctr"/>
          <a:lstStyle/>
          <a:p>
            <a:pPr marL="0" indent="0">
              <a:buNone/>
            </a:pPr>
            <a:r>
              <a:rPr lang="en-US" sz="2000" b="1" dirty="0">
                <a:solidFill>
                  <a:srgbClr val="00FF88"/>
                </a:solidFill>
                <a:latin typeface="Calibri" pitchFamily="34" charset="0"/>
                <a:ea typeface="Calibri" pitchFamily="34" charset="-122"/>
                <a:cs typeface="Calibri" pitchFamily="34" charset="-120"/>
              </a:rPr>
              <a:t>02</a:t>
            </a:r>
            <a:endParaRPr lang="en-US" sz="2000" dirty="0"/>
          </a:p>
        </p:txBody>
      </p:sp>
      <p:sp>
        <p:nvSpPr>
          <p:cNvPr id="12" name="Text 10"/>
          <p:cNvSpPr/>
          <p:nvPr/>
        </p:nvSpPr>
        <p:spPr>
          <a:xfrm>
            <a:off x="960120" y="2286000"/>
            <a:ext cx="3291840" cy="320040"/>
          </a:xfrm>
          <a:prstGeom prst="rect">
            <a:avLst/>
          </a:prstGeom>
          <a:noFill/>
          <a:ln/>
        </p:spPr>
        <p:txBody>
          <a:bodyPr wrap="square" lIns="0" tIns="0" rIns="0" bIns="0" rtlCol="0" anchor="ctr"/>
          <a:lstStyle/>
          <a:p>
            <a:pPr marL="0" indent="0">
              <a:buNone/>
            </a:pPr>
            <a:r>
              <a:rPr lang="en-US" sz="1200" b="1" dirty="0">
                <a:solidFill>
                  <a:srgbClr val="F0F6FC"/>
                </a:solidFill>
                <a:latin typeface="Calibri" pitchFamily="34" charset="0"/>
                <a:ea typeface="Calibri" pitchFamily="34" charset="-122"/>
                <a:cs typeface="Calibri" pitchFamily="34" charset="-120"/>
              </a:rPr>
              <a:t>Static Analysis</a:t>
            </a:r>
            <a:endParaRPr lang="en-US" sz="1200" dirty="0"/>
          </a:p>
        </p:txBody>
      </p:sp>
      <p:sp>
        <p:nvSpPr>
          <p:cNvPr id="13" name="Text 11"/>
          <p:cNvSpPr/>
          <p:nvPr/>
        </p:nvSpPr>
        <p:spPr>
          <a:xfrm>
            <a:off x="960120" y="2651760"/>
            <a:ext cx="3291840" cy="365760"/>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Examining files without executing them</a:t>
            </a:r>
            <a:endParaRPr lang="en-US" sz="950" dirty="0"/>
          </a:p>
        </p:txBody>
      </p:sp>
      <p:sp>
        <p:nvSpPr>
          <p:cNvPr id="14" name="Shape 12"/>
          <p:cNvSpPr/>
          <p:nvPr/>
        </p:nvSpPr>
        <p:spPr>
          <a:xfrm>
            <a:off x="274320" y="3429000"/>
            <a:ext cx="4160520" cy="1005840"/>
          </a:xfrm>
          <a:prstGeom prst="rect">
            <a:avLst/>
          </a:prstGeom>
          <a:solidFill>
            <a:srgbClr val="161B22"/>
          </a:solidFill>
          <a:ln w="12700">
            <a:solidFill>
              <a:srgbClr val="30363D"/>
            </a:solidFill>
            <a:prstDash val="solid"/>
          </a:ln>
        </p:spPr>
      </p:sp>
      <p:sp>
        <p:nvSpPr>
          <p:cNvPr id="15" name="Text 13"/>
          <p:cNvSpPr/>
          <p:nvPr/>
        </p:nvSpPr>
        <p:spPr>
          <a:xfrm>
            <a:off x="411480" y="3520440"/>
            <a:ext cx="548640" cy="365760"/>
          </a:xfrm>
          <a:prstGeom prst="rect">
            <a:avLst/>
          </a:prstGeom>
          <a:noFill/>
          <a:ln/>
        </p:spPr>
        <p:txBody>
          <a:bodyPr wrap="square" lIns="0" tIns="0" rIns="0" bIns="0" rtlCol="0" anchor="ctr"/>
          <a:lstStyle/>
          <a:p>
            <a:pPr marL="0" indent="0">
              <a:buNone/>
            </a:pPr>
            <a:r>
              <a:rPr lang="en-US" sz="2000" b="1" dirty="0">
                <a:solidFill>
                  <a:srgbClr val="00FF88"/>
                </a:solidFill>
                <a:latin typeface="Calibri" pitchFamily="34" charset="0"/>
                <a:ea typeface="Calibri" pitchFamily="34" charset="-122"/>
                <a:cs typeface="Calibri" pitchFamily="34" charset="-120"/>
              </a:rPr>
              <a:t>03</a:t>
            </a:r>
            <a:endParaRPr lang="en-US" sz="2000" dirty="0"/>
          </a:p>
        </p:txBody>
      </p:sp>
      <p:sp>
        <p:nvSpPr>
          <p:cNvPr id="16" name="Text 14"/>
          <p:cNvSpPr/>
          <p:nvPr/>
        </p:nvSpPr>
        <p:spPr>
          <a:xfrm>
            <a:off x="960120" y="3520440"/>
            <a:ext cx="3291840" cy="320040"/>
          </a:xfrm>
          <a:prstGeom prst="rect">
            <a:avLst/>
          </a:prstGeom>
          <a:noFill/>
          <a:ln/>
        </p:spPr>
        <p:txBody>
          <a:bodyPr wrap="square" lIns="0" tIns="0" rIns="0" bIns="0" rtlCol="0" anchor="ctr"/>
          <a:lstStyle/>
          <a:p>
            <a:pPr marL="0" indent="0">
              <a:buNone/>
            </a:pPr>
            <a:r>
              <a:rPr lang="en-US" sz="1200" b="1" dirty="0">
                <a:solidFill>
                  <a:srgbClr val="F0F6FC"/>
                </a:solidFill>
                <a:latin typeface="Calibri" pitchFamily="34" charset="0"/>
                <a:ea typeface="Calibri" pitchFamily="34" charset="-122"/>
                <a:cs typeface="Calibri" pitchFamily="34" charset="-120"/>
              </a:rPr>
              <a:t>Dynamic Analysis</a:t>
            </a:r>
            <a:endParaRPr lang="en-US" sz="1200" dirty="0"/>
          </a:p>
        </p:txBody>
      </p:sp>
      <p:sp>
        <p:nvSpPr>
          <p:cNvPr id="17" name="Text 15"/>
          <p:cNvSpPr/>
          <p:nvPr/>
        </p:nvSpPr>
        <p:spPr>
          <a:xfrm>
            <a:off x="960120" y="3886200"/>
            <a:ext cx="3291840" cy="365760"/>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Running malware safely in a sandbox</a:t>
            </a:r>
            <a:endParaRPr lang="en-US" sz="950" dirty="0"/>
          </a:p>
        </p:txBody>
      </p:sp>
      <p:sp>
        <p:nvSpPr>
          <p:cNvPr id="18" name="Shape 16"/>
          <p:cNvSpPr/>
          <p:nvPr/>
        </p:nvSpPr>
        <p:spPr>
          <a:xfrm>
            <a:off x="4754880" y="960120"/>
            <a:ext cx="4160520" cy="1005840"/>
          </a:xfrm>
          <a:prstGeom prst="rect">
            <a:avLst/>
          </a:prstGeom>
          <a:solidFill>
            <a:srgbClr val="161B22"/>
          </a:solidFill>
          <a:ln w="12700">
            <a:solidFill>
              <a:srgbClr val="30363D"/>
            </a:solidFill>
            <a:prstDash val="solid"/>
          </a:ln>
        </p:spPr>
      </p:sp>
      <p:sp>
        <p:nvSpPr>
          <p:cNvPr id="19" name="Text 17"/>
          <p:cNvSpPr/>
          <p:nvPr/>
        </p:nvSpPr>
        <p:spPr>
          <a:xfrm>
            <a:off x="4892040" y="1051560"/>
            <a:ext cx="548640" cy="365760"/>
          </a:xfrm>
          <a:prstGeom prst="rect">
            <a:avLst/>
          </a:prstGeom>
          <a:noFill/>
          <a:ln/>
        </p:spPr>
        <p:txBody>
          <a:bodyPr wrap="square" lIns="0" tIns="0" rIns="0" bIns="0" rtlCol="0" anchor="ctr"/>
          <a:lstStyle/>
          <a:p>
            <a:pPr marL="0" indent="0">
              <a:buNone/>
            </a:pPr>
            <a:r>
              <a:rPr lang="en-US" sz="2000" b="1" dirty="0">
                <a:solidFill>
                  <a:srgbClr val="00FF88"/>
                </a:solidFill>
                <a:latin typeface="Calibri" pitchFamily="34" charset="0"/>
                <a:ea typeface="Calibri" pitchFamily="34" charset="-122"/>
                <a:cs typeface="Calibri" pitchFamily="34" charset="-120"/>
              </a:rPr>
              <a:t>04</a:t>
            </a:r>
            <a:endParaRPr lang="en-US" sz="2000" dirty="0"/>
          </a:p>
        </p:txBody>
      </p:sp>
      <p:sp>
        <p:nvSpPr>
          <p:cNvPr id="20" name="Text 18"/>
          <p:cNvSpPr/>
          <p:nvPr/>
        </p:nvSpPr>
        <p:spPr>
          <a:xfrm>
            <a:off x="5440680" y="1051560"/>
            <a:ext cx="3291840" cy="320040"/>
          </a:xfrm>
          <a:prstGeom prst="rect">
            <a:avLst/>
          </a:prstGeom>
          <a:noFill/>
          <a:ln/>
        </p:spPr>
        <p:txBody>
          <a:bodyPr wrap="square" lIns="0" tIns="0" rIns="0" bIns="0" rtlCol="0" anchor="ctr"/>
          <a:lstStyle/>
          <a:p>
            <a:pPr marL="0" indent="0">
              <a:buNone/>
            </a:pPr>
            <a:r>
              <a:rPr lang="en-US" sz="1200" b="1" dirty="0" err="1">
                <a:solidFill>
                  <a:srgbClr val="F0F6FC"/>
                </a:solidFill>
                <a:latin typeface="Calibri" pitchFamily="34" charset="0"/>
                <a:ea typeface="Calibri" pitchFamily="34" charset="-122"/>
                <a:cs typeface="Calibri" pitchFamily="34" charset="-120"/>
              </a:rPr>
              <a:t>any.run</a:t>
            </a:r>
            <a:r>
              <a:rPr lang="en-US" sz="1200" b="1" dirty="0">
                <a:solidFill>
                  <a:srgbClr val="F0F6FC"/>
                </a:solidFill>
                <a:latin typeface="Calibri" pitchFamily="34" charset="0"/>
                <a:ea typeface="Calibri" pitchFamily="34" charset="-122"/>
                <a:cs typeface="Calibri" pitchFamily="34" charset="-120"/>
              </a:rPr>
              <a:t> Walkthrough</a:t>
            </a:r>
            <a:endParaRPr lang="en-US" sz="1200" dirty="0"/>
          </a:p>
        </p:txBody>
      </p:sp>
      <p:sp>
        <p:nvSpPr>
          <p:cNvPr id="21" name="Text 19"/>
          <p:cNvSpPr/>
          <p:nvPr/>
        </p:nvSpPr>
        <p:spPr>
          <a:xfrm>
            <a:off x="5440680" y="1417320"/>
            <a:ext cx="3291840" cy="365760"/>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Reading sandbox reports like a professional</a:t>
            </a:r>
            <a:endParaRPr lang="en-US" sz="950" dirty="0"/>
          </a:p>
        </p:txBody>
      </p:sp>
      <p:sp>
        <p:nvSpPr>
          <p:cNvPr id="22" name="Shape 20"/>
          <p:cNvSpPr/>
          <p:nvPr/>
        </p:nvSpPr>
        <p:spPr>
          <a:xfrm>
            <a:off x="4754880" y="2194560"/>
            <a:ext cx="4160520" cy="1005840"/>
          </a:xfrm>
          <a:prstGeom prst="rect">
            <a:avLst/>
          </a:prstGeom>
          <a:solidFill>
            <a:srgbClr val="161B22"/>
          </a:solidFill>
          <a:ln w="12700">
            <a:solidFill>
              <a:srgbClr val="30363D"/>
            </a:solidFill>
            <a:prstDash val="solid"/>
          </a:ln>
        </p:spPr>
      </p:sp>
      <p:sp>
        <p:nvSpPr>
          <p:cNvPr id="23" name="Text 21"/>
          <p:cNvSpPr/>
          <p:nvPr/>
        </p:nvSpPr>
        <p:spPr>
          <a:xfrm>
            <a:off x="4892040" y="2286000"/>
            <a:ext cx="548640" cy="365760"/>
          </a:xfrm>
          <a:prstGeom prst="rect">
            <a:avLst/>
          </a:prstGeom>
          <a:noFill/>
          <a:ln/>
        </p:spPr>
        <p:txBody>
          <a:bodyPr wrap="square" lIns="0" tIns="0" rIns="0" bIns="0" rtlCol="0" anchor="ctr"/>
          <a:lstStyle/>
          <a:p>
            <a:pPr marL="0" indent="0">
              <a:buNone/>
            </a:pPr>
            <a:r>
              <a:rPr lang="en-US" sz="2000" b="1" dirty="0">
                <a:solidFill>
                  <a:srgbClr val="00FF88"/>
                </a:solidFill>
                <a:latin typeface="Calibri" pitchFamily="34" charset="0"/>
                <a:ea typeface="Calibri" pitchFamily="34" charset="-122"/>
                <a:cs typeface="Calibri" pitchFamily="34" charset="-120"/>
              </a:rPr>
              <a:t>05</a:t>
            </a:r>
            <a:endParaRPr lang="en-US" sz="2000" dirty="0"/>
          </a:p>
        </p:txBody>
      </p:sp>
      <p:sp>
        <p:nvSpPr>
          <p:cNvPr id="24" name="Text 22"/>
          <p:cNvSpPr/>
          <p:nvPr/>
        </p:nvSpPr>
        <p:spPr>
          <a:xfrm>
            <a:off x="5440680" y="2286000"/>
            <a:ext cx="3291840" cy="320040"/>
          </a:xfrm>
          <a:prstGeom prst="rect">
            <a:avLst/>
          </a:prstGeom>
          <a:noFill/>
          <a:ln/>
        </p:spPr>
        <p:txBody>
          <a:bodyPr wrap="square" lIns="0" tIns="0" rIns="0" bIns="0" rtlCol="0" anchor="ctr"/>
          <a:lstStyle/>
          <a:p>
            <a:pPr marL="0" indent="0">
              <a:buNone/>
            </a:pPr>
            <a:r>
              <a:rPr lang="en-US" sz="1200" b="1" dirty="0">
                <a:solidFill>
                  <a:srgbClr val="F0F6FC"/>
                </a:solidFill>
                <a:latin typeface="Calibri" pitchFamily="34" charset="0"/>
                <a:ea typeface="Calibri" pitchFamily="34" charset="-122"/>
                <a:cs typeface="Calibri" pitchFamily="34" charset="-120"/>
              </a:rPr>
              <a:t>Reporting</a:t>
            </a:r>
            <a:endParaRPr lang="en-US" sz="1200" dirty="0"/>
          </a:p>
        </p:txBody>
      </p:sp>
      <p:sp>
        <p:nvSpPr>
          <p:cNvPr id="25" name="Text 23"/>
          <p:cNvSpPr/>
          <p:nvPr/>
        </p:nvSpPr>
        <p:spPr>
          <a:xfrm>
            <a:off x="5440680" y="2651760"/>
            <a:ext cx="3291840" cy="365760"/>
          </a:xfrm>
          <a:prstGeom prst="rect">
            <a:avLst/>
          </a:prstGeom>
          <a:noFill/>
          <a:ln/>
        </p:spPr>
        <p:txBody>
          <a:bodyPr wrap="square" lIns="0" tIns="0" rIns="0" bIns="0" rtlCol="0" anchor="ctr"/>
          <a:lstStyle/>
          <a:p>
            <a:pPr marL="0" indent="0">
              <a:buNone/>
            </a:pPr>
            <a:r>
              <a:rPr lang="en-US" sz="950" dirty="0">
                <a:solidFill>
                  <a:srgbClr val="8B949E"/>
                </a:solidFill>
                <a:latin typeface="Calibri" pitchFamily="34" charset="0"/>
                <a:ea typeface="Calibri" pitchFamily="34" charset="-122"/>
                <a:cs typeface="Calibri" pitchFamily="34" charset="-120"/>
              </a:rPr>
              <a:t>Documenting your findings properly</a:t>
            </a:r>
            <a:endParaRPr lang="en-US" sz="950" dirty="0"/>
          </a:p>
        </p:txBody>
      </p:sp>
      <p:sp>
        <p:nvSpPr>
          <p:cNvPr id="28" name="Text 26"/>
          <p:cNvSpPr/>
          <p:nvPr/>
        </p:nvSpPr>
        <p:spPr>
          <a:xfrm>
            <a:off x="5440680" y="3520440"/>
            <a:ext cx="3291840" cy="320040"/>
          </a:xfrm>
          <a:prstGeom prst="rect">
            <a:avLst/>
          </a:prstGeom>
          <a:noFill/>
          <a:ln/>
        </p:spPr>
        <p:txBody>
          <a:bodyPr wrap="square" lIns="0" tIns="0" rIns="0" bIns="0" rtlCol="0" anchor="ctr"/>
          <a:lstStyle/>
          <a:p>
            <a:pPr marL="0" indent="0">
              <a:buNone/>
            </a:pP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61B22"/>
          </a:solidFill>
          <a:ln w="12700">
            <a:solidFill>
              <a:srgbClr val="161B22"/>
            </a:solidFill>
            <a:prstDash val="solid"/>
          </a:ln>
        </p:spPr>
      </p:sp>
      <p:sp>
        <p:nvSpPr>
          <p:cNvPr id="3" name="Shape 1"/>
          <p:cNvSpPr/>
          <p:nvPr/>
        </p:nvSpPr>
        <p:spPr>
          <a:xfrm>
            <a:off x="0" y="685800"/>
            <a:ext cx="9144000" cy="36576"/>
          </a:xfrm>
          <a:prstGeom prst="rect">
            <a:avLst/>
          </a:prstGeom>
          <a:solidFill>
            <a:srgbClr val="00FF88"/>
          </a:solidFill>
          <a:ln w="12700">
            <a:solidFill>
              <a:srgbClr val="00FF88"/>
            </a:solidFill>
            <a:prstDash val="solid"/>
          </a:ln>
        </p:spPr>
      </p:sp>
      <p:sp>
        <p:nvSpPr>
          <p:cNvPr id="4" name="Text 2"/>
          <p:cNvSpPr/>
          <p:nvPr/>
        </p:nvSpPr>
        <p:spPr>
          <a:xfrm>
            <a:off x="320040" y="64008"/>
            <a:ext cx="8503920" cy="548640"/>
          </a:xfrm>
          <a:prstGeom prst="rect">
            <a:avLst/>
          </a:prstGeom>
          <a:noFill/>
          <a:ln/>
        </p:spPr>
        <p:txBody>
          <a:bodyPr wrap="square" lIns="0" tIns="0" rIns="0" bIns="0" rtlCol="0" anchor="ctr"/>
          <a:lstStyle/>
          <a:p>
            <a:pPr marL="0" indent="0">
              <a:buNone/>
            </a:pPr>
            <a:r>
              <a:rPr lang="en-US" sz="2200" b="1" dirty="0">
                <a:solidFill>
                  <a:srgbClr val="F0F6FC"/>
                </a:solidFill>
                <a:latin typeface="Calibri" pitchFamily="34" charset="0"/>
                <a:ea typeface="Calibri" pitchFamily="34" charset="-122"/>
                <a:cs typeface="Calibri" pitchFamily="34" charset="-120"/>
              </a:rPr>
              <a:t>What is Malware?</a:t>
            </a:r>
            <a:endParaRPr lang="en-US" sz="2200" dirty="0"/>
          </a:p>
        </p:txBody>
      </p:sp>
      <p:sp>
        <p:nvSpPr>
          <p:cNvPr id="6" name="Shape 4"/>
          <p:cNvSpPr/>
          <p:nvPr/>
        </p:nvSpPr>
        <p:spPr>
          <a:xfrm>
            <a:off x="228600" y="914400"/>
            <a:ext cx="2743200" cy="1645920"/>
          </a:xfrm>
          <a:prstGeom prst="rect">
            <a:avLst/>
          </a:prstGeom>
          <a:solidFill>
            <a:srgbClr val="161B22"/>
          </a:solidFill>
          <a:ln w="12700">
            <a:solidFill>
              <a:srgbClr val="30363D"/>
            </a:solidFill>
            <a:prstDash val="solid"/>
          </a:ln>
          <a:effectLst>
            <a:outerShdw blurRad="101600" dist="38100" dir="8100000" algn="bl" rotWithShape="0">
              <a:srgbClr val="000000">
                <a:alpha val="30000"/>
              </a:srgbClr>
            </a:outerShdw>
          </a:effectLst>
        </p:spPr>
      </p:sp>
      <p:sp>
        <p:nvSpPr>
          <p:cNvPr id="7" name="Shape 5"/>
          <p:cNvSpPr/>
          <p:nvPr/>
        </p:nvSpPr>
        <p:spPr>
          <a:xfrm>
            <a:off x="228600" y="914400"/>
            <a:ext cx="2743200" cy="54864"/>
          </a:xfrm>
          <a:prstGeom prst="rect">
            <a:avLst/>
          </a:prstGeom>
          <a:solidFill>
            <a:srgbClr val="FF4757"/>
          </a:solidFill>
          <a:ln w="12700">
            <a:solidFill>
              <a:srgbClr val="FF4757"/>
            </a:solidFill>
            <a:prstDash val="solid"/>
          </a:ln>
        </p:spPr>
      </p:sp>
      <p:sp>
        <p:nvSpPr>
          <p:cNvPr id="8" name="Text 6"/>
          <p:cNvSpPr/>
          <p:nvPr/>
        </p:nvSpPr>
        <p:spPr>
          <a:xfrm>
            <a:off x="365760" y="1051560"/>
            <a:ext cx="2468880" cy="347472"/>
          </a:xfrm>
          <a:prstGeom prst="rect">
            <a:avLst/>
          </a:prstGeom>
          <a:noFill/>
          <a:ln/>
        </p:spPr>
        <p:txBody>
          <a:bodyPr wrap="square" lIns="0" tIns="0" rIns="0" bIns="0" rtlCol="0" anchor="ctr"/>
          <a:lstStyle/>
          <a:p>
            <a:pPr marL="0" indent="0">
              <a:buNone/>
            </a:pPr>
            <a:r>
              <a:rPr lang="en-US" sz="1400" b="1" dirty="0">
                <a:solidFill>
                  <a:srgbClr val="FF4757"/>
                </a:solidFill>
                <a:latin typeface="Calibri" pitchFamily="34" charset="0"/>
                <a:ea typeface="Calibri" pitchFamily="34" charset="-122"/>
                <a:cs typeface="Calibri" pitchFamily="34" charset="-120"/>
              </a:rPr>
              <a:t>Trojan</a:t>
            </a:r>
            <a:endParaRPr lang="en-US" sz="1400" dirty="0"/>
          </a:p>
        </p:txBody>
      </p:sp>
      <p:sp>
        <p:nvSpPr>
          <p:cNvPr id="9" name="Text 7"/>
          <p:cNvSpPr/>
          <p:nvPr/>
        </p:nvSpPr>
        <p:spPr>
          <a:xfrm>
            <a:off x="365760" y="1283674"/>
            <a:ext cx="2468880" cy="1005840"/>
          </a:xfrm>
          <a:prstGeom prst="rect">
            <a:avLst/>
          </a:prstGeom>
          <a:noFill/>
          <a:ln/>
        </p:spPr>
        <p:txBody>
          <a:bodyPr wrap="square" lIns="0" tIns="0" rIns="0" bIns="0" rtlCol="0" anchor="ctr"/>
          <a:lstStyle/>
          <a:p>
            <a:pPr marL="0" indent="0">
              <a:buNone/>
            </a:pPr>
            <a:r>
              <a:rPr lang="en-US" sz="1200" dirty="0">
                <a:solidFill>
                  <a:srgbClr val="8B949E"/>
                </a:solidFill>
                <a:latin typeface="Calibri" pitchFamily="34" charset="0"/>
                <a:ea typeface="Calibri" pitchFamily="34" charset="-122"/>
                <a:cs typeface="Calibri" pitchFamily="34" charset="-120"/>
              </a:rPr>
              <a:t>Disguises itself as legitimate software. Once installed, opens backdoors or steals data.</a:t>
            </a:r>
            <a:endParaRPr lang="en-US" sz="1200" dirty="0"/>
          </a:p>
        </p:txBody>
      </p:sp>
      <p:sp>
        <p:nvSpPr>
          <p:cNvPr id="10" name="Shape 8"/>
          <p:cNvSpPr/>
          <p:nvPr/>
        </p:nvSpPr>
        <p:spPr>
          <a:xfrm>
            <a:off x="3154680" y="914400"/>
            <a:ext cx="2743200" cy="1645920"/>
          </a:xfrm>
          <a:prstGeom prst="rect">
            <a:avLst/>
          </a:prstGeom>
          <a:solidFill>
            <a:srgbClr val="161B22"/>
          </a:solidFill>
          <a:ln w="12700">
            <a:solidFill>
              <a:srgbClr val="30363D"/>
            </a:solidFill>
            <a:prstDash val="solid"/>
          </a:ln>
          <a:effectLst>
            <a:outerShdw blurRad="101600" dist="38100" dir="8100000" algn="bl" rotWithShape="0">
              <a:srgbClr val="000000">
                <a:alpha val="30000"/>
              </a:srgbClr>
            </a:outerShdw>
          </a:effectLst>
        </p:spPr>
      </p:sp>
      <p:sp>
        <p:nvSpPr>
          <p:cNvPr id="11" name="Shape 9"/>
          <p:cNvSpPr/>
          <p:nvPr/>
        </p:nvSpPr>
        <p:spPr>
          <a:xfrm>
            <a:off x="3154680" y="914400"/>
            <a:ext cx="2743200" cy="54864"/>
          </a:xfrm>
          <a:prstGeom prst="rect">
            <a:avLst/>
          </a:prstGeom>
          <a:solidFill>
            <a:srgbClr val="FFA502"/>
          </a:solidFill>
          <a:ln w="12700">
            <a:solidFill>
              <a:srgbClr val="FFA502"/>
            </a:solidFill>
            <a:prstDash val="solid"/>
          </a:ln>
        </p:spPr>
      </p:sp>
      <p:sp>
        <p:nvSpPr>
          <p:cNvPr id="12" name="Text 10"/>
          <p:cNvSpPr/>
          <p:nvPr/>
        </p:nvSpPr>
        <p:spPr>
          <a:xfrm>
            <a:off x="3291840" y="1051560"/>
            <a:ext cx="2468880" cy="347472"/>
          </a:xfrm>
          <a:prstGeom prst="rect">
            <a:avLst/>
          </a:prstGeom>
          <a:noFill/>
          <a:ln/>
        </p:spPr>
        <p:txBody>
          <a:bodyPr wrap="square" lIns="0" tIns="0" rIns="0" bIns="0" rtlCol="0" anchor="ctr"/>
          <a:lstStyle/>
          <a:p>
            <a:pPr marL="0" indent="0">
              <a:buNone/>
            </a:pPr>
            <a:r>
              <a:rPr lang="en-US" sz="1400" b="1" dirty="0">
                <a:solidFill>
                  <a:srgbClr val="FFA502"/>
                </a:solidFill>
                <a:latin typeface="Calibri" pitchFamily="34" charset="0"/>
                <a:ea typeface="Calibri" pitchFamily="34" charset="-122"/>
                <a:cs typeface="Calibri" pitchFamily="34" charset="-120"/>
              </a:rPr>
              <a:t>Infostealer</a:t>
            </a:r>
            <a:endParaRPr lang="en-US" sz="1400" dirty="0"/>
          </a:p>
        </p:txBody>
      </p:sp>
      <p:sp>
        <p:nvSpPr>
          <p:cNvPr id="13" name="Text 11"/>
          <p:cNvSpPr/>
          <p:nvPr/>
        </p:nvSpPr>
        <p:spPr>
          <a:xfrm>
            <a:off x="3291840" y="1192238"/>
            <a:ext cx="2468880" cy="1005840"/>
          </a:xfrm>
          <a:prstGeom prst="rect">
            <a:avLst/>
          </a:prstGeom>
          <a:noFill/>
          <a:ln/>
        </p:spPr>
        <p:txBody>
          <a:bodyPr wrap="square" lIns="0" tIns="0" rIns="0" bIns="0" rtlCol="0" anchor="ctr"/>
          <a:lstStyle/>
          <a:p>
            <a:pPr marL="0" indent="0">
              <a:buNone/>
            </a:pPr>
            <a:r>
              <a:rPr lang="en-US" sz="1200" dirty="0">
                <a:solidFill>
                  <a:srgbClr val="8B949E"/>
                </a:solidFill>
                <a:latin typeface="Calibri" pitchFamily="34" charset="0"/>
                <a:ea typeface="Calibri" pitchFamily="34" charset="-122"/>
                <a:cs typeface="Calibri" pitchFamily="34" charset="-120"/>
              </a:rPr>
              <a:t>Silently harvests credentials, banking info, browser data, and keystrokes.</a:t>
            </a:r>
            <a:endParaRPr lang="en-US" sz="1200" dirty="0"/>
          </a:p>
        </p:txBody>
      </p:sp>
      <p:sp>
        <p:nvSpPr>
          <p:cNvPr id="14" name="Shape 12"/>
          <p:cNvSpPr/>
          <p:nvPr/>
        </p:nvSpPr>
        <p:spPr>
          <a:xfrm>
            <a:off x="6080760" y="914400"/>
            <a:ext cx="2743200" cy="1645920"/>
          </a:xfrm>
          <a:prstGeom prst="rect">
            <a:avLst/>
          </a:prstGeom>
          <a:solidFill>
            <a:srgbClr val="161B22"/>
          </a:solidFill>
          <a:ln w="12700">
            <a:solidFill>
              <a:srgbClr val="30363D"/>
            </a:solidFill>
            <a:prstDash val="solid"/>
          </a:ln>
          <a:effectLst>
            <a:outerShdw blurRad="101600" dist="38100" dir="8100000" algn="bl" rotWithShape="0">
              <a:srgbClr val="000000">
                <a:alpha val="30000"/>
              </a:srgbClr>
            </a:outerShdw>
          </a:effectLst>
        </p:spPr>
      </p:sp>
      <p:sp>
        <p:nvSpPr>
          <p:cNvPr id="15" name="Shape 13"/>
          <p:cNvSpPr/>
          <p:nvPr/>
        </p:nvSpPr>
        <p:spPr>
          <a:xfrm>
            <a:off x="6080760" y="914400"/>
            <a:ext cx="2743200" cy="54864"/>
          </a:xfrm>
          <a:prstGeom prst="rect">
            <a:avLst/>
          </a:prstGeom>
          <a:solidFill>
            <a:srgbClr val="A78BFA"/>
          </a:solidFill>
          <a:ln w="12700">
            <a:solidFill>
              <a:srgbClr val="A78BFA"/>
            </a:solidFill>
            <a:prstDash val="solid"/>
          </a:ln>
        </p:spPr>
      </p:sp>
      <p:sp>
        <p:nvSpPr>
          <p:cNvPr id="16" name="Text 14"/>
          <p:cNvSpPr/>
          <p:nvPr/>
        </p:nvSpPr>
        <p:spPr>
          <a:xfrm>
            <a:off x="6217920" y="1051560"/>
            <a:ext cx="2468880" cy="347472"/>
          </a:xfrm>
          <a:prstGeom prst="rect">
            <a:avLst/>
          </a:prstGeom>
          <a:noFill/>
          <a:ln/>
        </p:spPr>
        <p:txBody>
          <a:bodyPr wrap="square" lIns="0" tIns="0" rIns="0" bIns="0" rtlCol="0" anchor="ctr"/>
          <a:lstStyle/>
          <a:p>
            <a:pPr marL="0" indent="0">
              <a:buNone/>
            </a:pPr>
            <a:r>
              <a:rPr lang="en-US" sz="1400" b="1" dirty="0">
                <a:solidFill>
                  <a:srgbClr val="A78BFA"/>
                </a:solidFill>
                <a:latin typeface="Calibri" pitchFamily="34" charset="0"/>
                <a:ea typeface="Calibri" pitchFamily="34" charset="-122"/>
                <a:cs typeface="Calibri" pitchFamily="34" charset="-120"/>
              </a:rPr>
              <a:t>RAT</a:t>
            </a:r>
            <a:endParaRPr lang="en-US" sz="1400" dirty="0"/>
          </a:p>
        </p:txBody>
      </p:sp>
      <p:sp>
        <p:nvSpPr>
          <p:cNvPr id="17" name="Text 15"/>
          <p:cNvSpPr/>
          <p:nvPr/>
        </p:nvSpPr>
        <p:spPr>
          <a:xfrm>
            <a:off x="6217920" y="1192238"/>
            <a:ext cx="2468880" cy="1005840"/>
          </a:xfrm>
          <a:prstGeom prst="rect">
            <a:avLst/>
          </a:prstGeom>
          <a:noFill/>
          <a:ln/>
        </p:spPr>
        <p:txBody>
          <a:bodyPr wrap="square" lIns="0" tIns="0" rIns="0" bIns="0" rtlCol="0" anchor="ctr"/>
          <a:lstStyle/>
          <a:p>
            <a:pPr marL="0" indent="0">
              <a:buNone/>
            </a:pPr>
            <a:r>
              <a:rPr lang="en-US" sz="1200" dirty="0">
                <a:solidFill>
                  <a:srgbClr val="8B949E"/>
                </a:solidFill>
                <a:latin typeface="Calibri" pitchFamily="34" charset="0"/>
                <a:ea typeface="Calibri" pitchFamily="34" charset="-122"/>
                <a:cs typeface="Calibri" pitchFamily="34" charset="-120"/>
              </a:rPr>
              <a:t>Remote Access Trojan gives an attacker full control of your machine.</a:t>
            </a:r>
            <a:endParaRPr lang="en-US" sz="1200" dirty="0"/>
          </a:p>
        </p:txBody>
      </p:sp>
      <p:sp>
        <p:nvSpPr>
          <p:cNvPr id="18" name="Shape 16"/>
          <p:cNvSpPr/>
          <p:nvPr/>
        </p:nvSpPr>
        <p:spPr>
          <a:xfrm>
            <a:off x="228600" y="2788920"/>
            <a:ext cx="2743200" cy="1645920"/>
          </a:xfrm>
          <a:prstGeom prst="rect">
            <a:avLst/>
          </a:prstGeom>
          <a:solidFill>
            <a:srgbClr val="161B22"/>
          </a:solidFill>
          <a:ln w="12700">
            <a:solidFill>
              <a:srgbClr val="30363D"/>
            </a:solidFill>
            <a:prstDash val="solid"/>
          </a:ln>
          <a:effectLst>
            <a:outerShdw blurRad="101600" dist="38100" dir="8100000" algn="bl" rotWithShape="0">
              <a:srgbClr val="000000">
                <a:alpha val="30000"/>
              </a:srgbClr>
            </a:outerShdw>
          </a:effectLst>
        </p:spPr>
      </p:sp>
      <p:sp>
        <p:nvSpPr>
          <p:cNvPr id="19" name="Shape 17"/>
          <p:cNvSpPr/>
          <p:nvPr/>
        </p:nvSpPr>
        <p:spPr>
          <a:xfrm>
            <a:off x="228600" y="2788920"/>
            <a:ext cx="2743200" cy="54864"/>
          </a:xfrm>
          <a:prstGeom prst="rect">
            <a:avLst/>
          </a:prstGeom>
          <a:solidFill>
            <a:srgbClr val="F59E0B"/>
          </a:solidFill>
          <a:ln w="12700">
            <a:solidFill>
              <a:srgbClr val="F59E0B"/>
            </a:solidFill>
            <a:prstDash val="solid"/>
          </a:ln>
        </p:spPr>
      </p:sp>
      <p:sp>
        <p:nvSpPr>
          <p:cNvPr id="20" name="Text 18"/>
          <p:cNvSpPr/>
          <p:nvPr/>
        </p:nvSpPr>
        <p:spPr>
          <a:xfrm>
            <a:off x="365760" y="2926080"/>
            <a:ext cx="2468880" cy="347472"/>
          </a:xfrm>
          <a:prstGeom prst="rect">
            <a:avLst/>
          </a:prstGeom>
          <a:noFill/>
          <a:ln/>
        </p:spPr>
        <p:txBody>
          <a:bodyPr wrap="square" lIns="0" tIns="0" rIns="0" bIns="0" rtlCol="0" anchor="ctr"/>
          <a:lstStyle/>
          <a:p>
            <a:pPr marL="0" indent="0">
              <a:buNone/>
            </a:pPr>
            <a:r>
              <a:rPr lang="en-US" sz="1400" b="1" dirty="0">
                <a:solidFill>
                  <a:srgbClr val="F59E0B"/>
                </a:solidFill>
                <a:latin typeface="Calibri" pitchFamily="34" charset="0"/>
                <a:ea typeface="Calibri" pitchFamily="34" charset="-122"/>
                <a:cs typeface="Calibri" pitchFamily="34" charset="-120"/>
              </a:rPr>
              <a:t>Ransomware</a:t>
            </a:r>
            <a:endParaRPr lang="en-US" sz="1400" dirty="0"/>
          </a:p>
        </p:txBody>
      </p:sp>
      <p:sp>
        <p:nvSpPr>
          <p:cNvPr id="21" name="Text 19"/>
          <p:cNvSpPr/>
          <p:nvPr/>
        </p:nvSpPr>
        <p:spPr>
          <a:xfrm>
            <a:off x="365760" y="3066758"/>
            <a:ext cx="2468880" cy="1005840"/>
          </a:xfrm>
          <a:prstGeom prst="rect">
            <a:avLst/>
          </a:prstGeom>
          <a:noFill/>
          <a:ln/>
        </p:spPr>
        <p:txBody>
          <a:bodyPr wrap="square" lIns="0" tIns="0" rIns="0" bIns="0" rtlCol="0" anchor="ctr"/>
          <a:lstStyle/>
          <a:p>
            <a:pPr marL="0" indent="0">
              <a:buNone/>
            </a:pPr>
            <a:r>
              <a:rPr lang="en-US" sz="1200" dirty="0">
                <a:solidFill>
                  <a:srgbClr val="8B949E"/>
                </a:solidFill>
                <a:latin typeface="Calibri" pitchFamily="34" charset="0"/>
                <a:ea typeface="Calibri" pitchFamily="34" charset="-122"/>
                <a:cs typeface="Calibri" pitchFamily="34" charset="-120"/>
              </a:rPr>
              <a:t>Encrypts victim files and demands payment for decryption keys.</a:t>
            </a:r>
            <a:endParaRPr lang="en-US" sz="1200" dirty="0"/>
          </a:p>
        </p:txBody>
      </p:sp>
      <p:sp>
        <p:nvSpPr>
          <p:cNvPr id="22" name="Shape 20"/>
          <p:cNvSpPr/>
          <p:nvPr/>
        </p:nvSpPr>
        <p:spPr>
          <a:xfrm>
            <a:off x="3154680" y="2788920"/>
            <a:ext cx="2743200" cy="1645920"/>
          </a:xfrm>
          <a:prstGeom prst="rect">
            <a:avLst/>
          </a:prstGeom>
          <a:solidFill>
            <a:srgbClr val="161B22"/>
          </a:solidFill>
          <a:ln w="12700">
            <a:solidFill>
              <a:srgbClr val="30363D"/>
            </a:solidFill>
            <a:prstDash val="solid"/>
          </a:ln>
          <a:effectLst>
            <a:outerShdw blurRad="101600" dist="38100" dir="8100000" algn="bl" rotWithShape="0">
              <a:srgbClr val="000000">
                <a:alpha val="30000"/>
              </a:srgbClr>
            </a:outerShdw>
          </a:effectLst>
        </p:spPr>
      </p:sp>
      <p:sp>
        <p:nvSpPr>
          <p:cNvPr id="23" name="Shape 21"/>
          <p:cNvSpPr/>
          <p:nvPr/>
        </p:nvSpPr>
        <p:spPr>
          <a:xfrm>
            <a:off x="3154680" y="2788920"/>
            <a:ext cx="2743200" cy="54864"/>
          </a:xfrm>
          <a:prstGeom prst="rect">
            <a:avLst/>
          </a:prstGeom>
          <a:solidFill>
            <a:srgbClr val="34D399"/>
          </a:solidFill>
          <a:ln w="12700">
            <a:solidFill>
              <a:srgbClr val="34D399"/>
            </a:solidFill>
            <a:prstDash val="solid"/>
          </a:ln>
        </p:spPr>
      </p:sp>
      <p:sp>
        <p:nvSpPr>
          <p:cNvPr id="24" name="Text 22"/>
          <p:cNvSpPr/>
          <p:nvPr/>
        </p:nvSpPr>
        <p:spPr>
          <a:xfrm>
            <a:off x="3291840" y="2926080"/>
            <a:ext cx="2468880" cy="347472"/>
          </a:xfrm>
          <a:prstGeom prst="rect">
            <a:avLst/>
          </a:prstGeom>
          <a:noFill/>
          <a:ln/>
        </p:spPr>
        <p:txBody>
          <a:bodyPr wrap="square" lIns="0" tIns="0" rIns="0" bIns="0" rtlCol="0" anchor="ctr"/>
          <a:lstStyle/>
          <a:p>
            <a:pPr marL="0" indent="0">
              <a:buNone/>
            </a:pPr>
            <a:r>
              <a:rPr lang="en-US" sz="1400" b="1" dirty="0">
                <a:solidFill>
                  <a:srgbClr val="34D399"/>
                </a:solidFill>
                <a:latin typeface="Calibri" pitchFamily="34" charset="0"/>
                <a:ea typeface="Calibri" pitchFamily="34" charset="-122"/>
                <a:cs typeface="Calibri" pitchFamily="34" charset="-120"/>
              </a:rPr>
              <a:t>Worm</a:t>
            </a:r>
            <a:endParaRPr lang="en-US" sz="1400" dirty="0"/>
          </a:p>
        </p:txBody>
      </p:sp>
      <p:sp>
        <p:nvSpPr>
          <p:cNvPr id="25" name="Text 23"/>
          <p:cNvSpPr/>
          <p:nvPr/>
        </p:nvSpPr>
        <p:spPr>
          <a:xfrm>
            <a:off x="3291840" y="3066758"/>
            <a:ext cx="2468880" cy="1005840"/>
          </a:xfrm>
          <a:prstGeom prst="rect">
            <a:avLst/>
          </a:prstGeom>
          <a:noFill/>
          <a:ln/>
        </p:spPr>
        <p:txBody>
          <a:bodyPr wrap="square" lIns="0" tIns="0" rIns="0" bIns="0" rtlCol="0" anchor="ctr"/>
          <a:lstStyle/>
          <a:p>
            <a:pPr marL="0" indent="0">
              <a:buNone/>
            </a:pPr>
            <a:r>
              <a:rPr lang="en-US" sz="1200" dirty="0">
                <a:solidFill>
                  <a:srgbClr val="8B949E"/>
                </a:solidFill>
                <a:latin typeface="Calibri" pitchFamily="34" charset="0"/>
                <a:ea typeface="Calibri" pitchFamily="34" charset="-122"/>
                <a:cs typeface="Calibri" pitchFamily="34" charset="-120"/>
              </a:rPr>
              <a:t>Self-replicates across networks without user interaction.</a:t>
            </a:r>
            <a:endParaRPr lang="en-US" sz="1200" dirty="0"/>
          </a:p>
        </p:txBody>
      </p:sp>
      <p:sp>
        <p:nvSpPr>
          <p:cNvPr id="26" name="Shape 24"/>
          <p:cNvSpPr/>
          <p:nvPr/>
        </p:nvSpPr>
        <p:spPr>
          <a:xfrm>
            <a:off x="6080760" y="2788920"/>
            <a:ext cx="2743200" cy="1645920"/>
          </a:xfrm>
          <a:prstGeom prst="rect">
            <a:avLst/>
          </a:prstGeom>
          <a:solidFill>
            <a:srgbClr val="161B22"/>
          </a:solidFill>
          <a:ln w="12700">
            <a:solidFill>
              <a:srgbClr val="30363D"/>
            </a:solidFill>
            <a:prstDash val="solid"/>
          </a:ln>
          <a:effectLst>
            <a:outerShdw blurRad="101600" dist="38100" dir="8100000" algn="bl" rotWithShape="0">
              <a:srgbClr val="000000">
                <a:alpha val="30000"/>
              </a:srgbClr>
            </a:outerShdw>
          </a:effectLst>
        </p:spPr>
      </p:sp>
      <p:sp>
        <p:nvSpPr>
          <p:cNvPr id="27" name="Shape 25"/>
          <p:cNvSpPr/>
          <p:nvPr/>
        </p:nvSpPr>
        <p:spPr>
          <a:xfrm>
            <a:off x="6080760" y="2788920"/>
            <a:ext cx="2743200" cy="54864"/>
          </a:xfrm>
          <a:prstGeom prst="rect">
            <a:avLst/>
          </a:prstGeom>
          <a:solidFill>
            <a:srgbClr val="60A5FA"/>
          </a:solidFill>
          <a:ln w="12700">
            <a:solidFill>
              <a:srgbClr val="60A5FA"/>
            </a:solidFill>
            <a:prstDash val="solid"/>
          </a:ln>
        </p:spPr>
      </p:sp>
      <p:sp>
        <p:nvSpPr>
          <p:cNvPr id="28" name="Text 26"/>
          <p:cNvSpPr/>
          <p:nvPr/>
        </p:nvSpPr>
        <p:spPr>
          <a:xfrm>
            <a:off x="6217920" y="2926080"/>
            <a:ext cx="2468880" cy="347472"/>
          </a:xfrm>
          <a:prstGeom prst="rect">
            <a:avLst/>
          </a:prstGeom>
          <a:noFill/>
          <a:ln/>
        </p:spPr>
        <p:txBody>
          <a:bodyPr wrap="square" lIns="0" tIns="0" rIns="0" bIns="0" rtlCol="0" anchor="ctr"/>
          <a:lstStyle/>
          <a:p>
            <a:pPr marL="0" indent="0">
              <a:buNone/>
            </a:pPr>
            <a:r>
              <a:rPr lang="en-US" sz="1400" b="1" dirty="0">
                <a:solidFill>
                  <a:srgbClr val="60A5FA"/>
                </a:solidFill>
                <a:latin typeface="Calibri" pitchFamily="34" charset="0"/>
                <a:ea typeface="Calibri" pitchFamily="34" charset="-122"/>
                <a:cs typeface="Calibri" pitchFamily="34" charset="-120"/>
              </a:rPr>
              <a:t>Rootkit</a:t>
            </a:r>
            <a:endParaRPr lang="en-US" sz="1400" dirty="0"/>
          </a:p>
        </p:txBody>
      </p:sp>
      <p:sp>
        <p:nvSpPr>
          <p:cNvPr id="29" name="Text 27"/>
          <p:cNvSpPr/>
          <p:nvPr/>
        </p:nvSpPr>
        <p:spPr>
          <a:xfrm>
            <a:off x="6217920" y="3066758"/>
            <a:ext cx="2468880" cy="1005840"/>
          </a:xfrm>
          <a:prstGeom prst="rect">
            <a:avLst/>
          </a:prstGeom>
          <a:noFill/>
          <a:ln/>
        </p:spPr>
        <p:txBody>
          <a:bodyPr wrap="square" lIns="0" tIns="0" rIns="0" bIns="0" rtlCol="0" anchor="ctr"/>
          <a:lstStyle/>
          <a:p>
            <a:pPr marL="0" indent="0">
              <a:buNone/>
            </a:pPr>
            <a:r>
              <a:rPr lang="en-US" sz="1200" dirty="0">
                <a:solidFill>
                  <a:srgbClr val="8B949E"/>
                </a:solidFill>
                <a:latin typeface="Calibri" pitchFamily="34" charset="0"/>
                <a:ea typeface="Calibri" pitchFamily="34" charset="-122"/>
                <a:cs typeface="Calibri" pitchFamily="34" charset="-120"/>
              </a:rPr>
              <a:t>Hides itself deep in the OS to maintain persistent, stealthy access.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61B22"/>
          </a:solidFill>
          <a:ln w="12700">
            <a:solidFill>
              <a:srgbClr val="161B22"/>
            </a:solidFill>
            <a:prstDash val="solid"/>
          </a:ln>
        </p:spPr>
      </p:sp>
      <p:sp>
        <p:nvSpPr>
          <p:cNvPr id="3" name="Shape 1"/>
          <p:cNvSpPr/>
          <p:nvPr/>
        </p:nvSpPr>
        <p:spPr>
          <a:xfrm>
            <a:off x="0" y="685800"/>
            <a:ext cx="9144000" cy="36576"/>
          </a:xfrm>
          <a:prstGeom prst="rect">
            <a:avLst/>
          </a:prstGeom>
          <a:solidFill>
            <a:srgbClr val="00FF88"/>
          </a:solidFill>
          <a:ln w="12700">
            <a:solidFill>
              <a:srgbClr val="00FF88"/>
            </a:solidFill>
            <a:prstDash val="solid"/>
          </a:ln>
        </p:spPr>
      </p:sp>
      <p:sp>
        <p:nvSpPr>
          <p:cNvPr id="4" name="Text 2"/>
          <p:cNvSpPr/>
          <p:nvPr/>
        </p:nvSpPr>
        <p:spPr>
          <a:xfrm>
            <a:off x="320040" y="64008"/>
            <a:ext cx="8503920" cy="548640"/>
          </a:xfrm>
          <a:prstGeom prst="rect">
            <a:avLst/>
          </a:prstGeom>
          <a:noFill/>
          <a:ln/>
        </p:spPr>
        <p:txBody>
          <a:bodyPr wrap="square" lIns="0" tIns="0" rIns="0" bIns="0" rtlCol="0" anchor="ctr"/>
          <a:lstStyle/>
          <a:p>
            <a:pPr marL="0" indent="0">
              <a:buNone/>
            </a:pPr>
            <a:r>
              <a:rPr lang="en-US" sz="2200" b="1" dirty="0">
                <a:solidFill>
                  <a:srgbClr val="F0F6FC"/>
                </a:solidFill>
                <a:latin typeface="Calibri" pitchFamily="34" charset="0"/>
                <a:ea typeface="Calibri" pitchFamily="34" charset="-122"/>
                <a:cs typeface="Calibri" pitchFamily="34" charset="-120"/>
              </a:rPr>
              <a:t>Static Analysis</a:t>
            </a:r>
            <a:endParaRPr lang="en-US" sz="2200" dirty="0"/>
          </a:p>
        </p:txBody>
      </p:sp>
      <p:sp>
        <p:nvSpPr>
          <p:cNvPr id="6" name="Text 4"/>
          <p:cNvSpPr/>
          <p:nvPr/>
        </p:nvSpPr>
        <p:spPr>
          <a:xfrm>
            <a:off x="320040" y="868680"/>
            <a:ext cx="8503920" cy="320040"/>
          </a:xfrm>
          <a:prstGeom prst="rect">
            <a:avLst/>
          </a:prstGeom>
          <a:noFill/>
          <a:ln/>
        </p:spPr>
        <p:txBody>
          <a:bodyPr wrap="square" lIns="0" tIns="0" rIns="0" bIns="0" rtlCol="0" anchor="ctr"/>
          <a:lstStyle/>
          <a:p>
            <a:pPr marL="0" indent="0">
              <a:buNone/>
            </a:pPr>
            <a:r>
              <a:rPr lang="en-US" sz="1300" b="1" dirty="0">
                <a:solidFill>
                  <a:srgbClr val="00FF88"/>
                </a:solidFill>
                <a:latin typeface="Calibri" pitchFamily="34" charset="0"/>
                <a:ea typeface="Calibri" pitchFamily="34" charset="-122"/>
                <a:cs typeface="Calibri" pitchFamily="34" charset="-120"/>
              </a:rPr>
              <a:t>What is Static Analysis?</a:t>
            </a:r>
            <a:endParaRPr lang="en-US" sz="1300" dirty="0"/>
          </a:p>
        </p:txBody>
      </p:sp>
      <p:sp>
        <p:nvSpPr>
          <p:cNvPr id="7" name="Text 5"/>
          <p:cNvSpPr/>
          <p:nvPr/>
        </p:nvSpPr>
        <p:spPr>
          <a:xfrm>
            <a:off x="320040" y="1188720"/>
            <a:ext cx="8503920" cy="502920"/>
          </a:xfrm>
          <a:prstGeom prst="rect">
            <a:avLst/>
          </a:prstGeom>
          <a:noFill/>
          <a:ln/>
        </p:spPr>
        <p:txBody>
          <a:bodyPr wrap="square" lIns="0" tIns="0" rIns="0" bIns="0" rtlCol="0" anchor="ctr"/>
          <a:lstStyle/>
          <a:p>
            <a:pPr marL="0" indent="0">
              <a:buNone/>
            </a:pPr>
            <a:r>
              <a:rPr lang="en-US" sz="1200" dirty="0">
                <a:solidFill>
                  <a:srgbClr val="8B949E"/>
                </a:solidFill>
                <a:latin typeface="Calibri" pitchFamily="34" charset="0"/>
                <a:ea typeface="Calibri" pitchFamily="34" charset="-122"/>
                <a:cs typeface="Calibri" pitchFamily="34" charset="-120"/>
              </a:rPr>
              <a:t>You study a file the same way a forensic examiner would study a document — looking at its structure, metadata, and embedded content without ever opening it in its intended application. This keeps you safe.</a:t>
            </a:r>
            <a:endParaRPr lang="en-US" sz="1200" dirty="0"/>
          </a:p>
        </p:txBody>
      </p:sp>
      <p:sp>
        <p:nvSpPr>
          <p:cNvPr id="8" name="Shape 6"/>
          <p:cNvSpPr/>
          <p:nvPr/>
        </p:nvSpPr>
        <p:spPr>
          <a:xfrm>
            <a:off x="274320" y="1874520"/>
            <a:ext cx="4160520" cy="1188720"/>
          </a:xfrm>
          <a:prstGeom prst="rect">
            <a:avLst/>
          </a:prstGeom>
          <a:solidFill>
            <a:srgbClr val="161B22"/>
          </a:solidFill>
          <a:ln w="12700">
            <a:solidFill>
              <a:srgbClr val="30363D"/>
            </a:solidFill>
            <a:prstDash val="solid"/>
          </a:ln>
          <a:effectLst>
            <a:outerShdw blurRad="101600" dist="38100" dir="8100000" algn="bl" rotWithShape="0">
              <a:srgbClr val="000000">
                <a:alpha val="30000"/>
              </a:srgbClr>
            </a:outerShdw>
          </a:effectLst>
        </p:spPr>
      </p:sp>
      <p:sp>
        <p:nvSpPr>
          <p:cNvPr id="9" name="Shape 7"/>
          <p:cNvSpPr/>
          <p:nvPr/>
        </p:nvSpPr>
        <p:spPr>
          <a:xfrm>
            <a:off x="274320" y="1874520"/>
            <a:ext cx="54864" cy="1188720"/>
          </a:xfrm>
          <a:prstGeom prst="rect">
            <a:avLst/>
          </a:prstGeom>
          <a:solidFill>
            <a:srgbClr val="60A5FA"/>
          </a:solidFill>
          <a:ln w="12700">
            <a:solidFill>
              <a:srgbClr val="60A5FA"/>
            </a:solidFill>
            <a:prstDash val="solid"/>
          </a:ln>
        </p:spPr>
      </p:sp>
      <p:sp>
        <p:nvSpPr>
          <p:cNvPr id="10" name="Text 8"/>
          <p:cNvSpPr/>
          <p:nvPr/>
        </p:nvSpPr>
        <p:spPr>
          <a:xfrm>
            <a:off x="411480" y="1965960"/>
            <a:ext cx="3931920" cy="274320"/>
          </a:xfrm>
          <a:prstGeom prst="rect">
            <a:avLst/>
          </a:prstGeom>
          <a:noFill/>
          <a:ln/>
        </p:spPr>
        <p:txBody>
          <a:bodyPr wrap="square" lIns="0" tIns="0" rIns="0" bIns="0" rtlCol="0" anchor="ctr"/>
          <a:lstStyle/>
          <a:p>
            <a:pPr marL="0" indent="0">
              <a:buNone/>
            </a:pPr>
            <a:r>
              <a:rPr lang="en-US" sz="1100" b="1" dirty="0">
                <a:solidFill>
                  <a:srgbClr val="F0F6FC"/>
                </a:solidFill>
                <a:latin typeface="Calibri" pitchFamily="34" charset="0"/>
                <a:ea typeface="Calibri" pitchFamily="34" charset="-122"/>
                <a:cs typeface="Calibri" pitchFamily="34" charset="-120"/>
              </a:rPr>
              <a:t>ExifTool</a:t>
            </a:r>
            <a:endParaRPr lang="en-US" sz="1100" dirty="0"/>
          </a:p>
        </p:txBody>
      </p:sp>
      <p:sp>
        <p:nvSpPr>
          <p:cNvPr id="11" name="Text 9"/>
          <p:cNvSpPr/>
          <p:nvPr/>
        </p:nvSpPr>
        <p:spPr>
          <a:xfrm>
            <a:off x="432582" y="2116482"/>
            <a:ext cx="3931920" cy="731520"/>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Reads metadata from executables: compiler version, timestamps, author info, and PE header details. Often reveals whether a file was built recently or has been modified.</a:t>
            </a:r>
            <a:endParaRPr lang="en-US" sz="1100" dirty="0"/>
          </a:p>
        </p:txBody>
      </p:sp>
      <p:sp>
        <p:nvSpPr>
          <p:cNvPr id="12" name="Shape 10"/>
          <p:cNvSpPr/>
          <p:nvPr/>
        </p:nvSpPr>
        <p:spPr>
          <a:xfrm>
            <a:off x="4754880" y="1874520"/>
            <a:ext cx="4160520" cy="1188720"/>
          </a:xfrm>
          <a:prstGeom prst="rect">
            <a:avLst/>
          </a:prstGeom>
          <a:solidFill>
            <a:srgbClr val="161B22"/>
          </a:solidFill>
          <a:ln w="12700">
            <a:solidFill>
              <a:srgbClr val="30363D"/>
            </a:solidFill>
            <a:prstDash val="solid"/>
          </a:ln>
          <a:effectLst>
            <a:outerShdw blurRad="101600" dist="38100" dir="8100000" algn="bl" rotWithShape="0">
              <a:srgbClr val="000000">
                <a:alpha val="30000"/>
              </a:srgbClr>
            </a:outerShdw>
          </a:effectLst>
        </p:spPr>
      </p:sp>
      <p:sp>
        <p:nvSpPr>
          <p:cNvPr id="13" name="Shape 11"/>
          <p:cNvSpPr/>
          <p:nvPr/>
        </p:nvSpPr>
        <p:spPr>
          <a:xfrm>
            <a:off x="4754880" y="1874520"/>
            <a:ext cx="54864" cy="1188720"/>
          </a:xfrm>
          <a:prstGeom prst="rect">
            <a:avLst/>
          </a:prstGeom>
          <a:solidFill>
            <a:srgbClr val="34D399"/>
          </a:solidFill>
          <a:ln w="12700">
            <a:solidFill>
              <a:srgbClr val="34D399"/>
            </a:solidFill>
            <a:prstDash val="solid"/>
          </a:ln>
        </p:spPr>
      </p:sp>
      <p:sp>
        <p:nvSpPr>
          <p:cNvPr id="14" name="Text 12"/>
          <p:cNvSpPr/>
          <p:nvPr/>
        </p:nvSpPr>
        <p:spPr>
          <a:xfrm>
            <a:off x="4892040" y="1965960"/>
            <a:ext cx="3931920" cy="274320"/>
          </a:xfrm>
          <a:prstGeom prst="rect">
            <a:avLst/>
          </a:prstGeom>
          <a:noFill/>
          <a:ln/>
        </p:spPr>
        <p:txBody>
          <a:bodyPr wrap="square" lIns="0" tIns="0" rIns="0" bIns="0" rtlCol="0" anchor="ctr"/>
          <a:lstStyle/>
          <a:p>
            <a:pPr marL="0" indent="0">
              <a:buNone/>
            </a:pPr>
            <a:r>
              <a:rPr lang="en-US" sz="1100" b="1" dirty="0">
                <a:solidFill>
                  <a:srgbClr val="F0F6FC"/>
                </a:solidFill>
                <a:latin typeface="Calibri" pitchFamily="34" charset="0"/>
                <a:ea typeface="Calibri" pitchFamily="34" charset="-122"/>
                <a:cs typeface="Calibri" pitchFamily="34" charset="-120"/>
              </a:rPr>
              <a:t>Binwalk</a:t>
            </a:r>
            <a:endParaRPr lang="en-US" sz="1100" dirty="0"/>
          </a:p>
        </p:txBody>
      </p:sp>
      <p:sp>
        <p:nvSpPr>
          <p:cNvPr id="15" name="Text 13"/>
          <p:cNvSpPr/>
          <p:nvPr/>
        </p:nvSpPr>
        <p:spPr>
          <a:xfrm>
            <a:off x="4913142" y="2116482"/>
            <a:ext cx="3931920" cy="731520"/>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Scans a binary for embedded files, firmware images, and compressed archives. A PE file hiding a ZIP or another executable inside is a major red flag.</a:t>
            </a:r>
            <a:endParaRPr lang="en-US" sz="1100" dirty="0"/>
          </a:p>
        </p:txBody>
      </p:sp>
      <p:sp>
        <p:nvSpPr>
          <p:cNvPr id="16" name="Shape 14"/>
          <p:cNvSpPr/>
          <p:nvPr/>
        </p:nvSpPr>
        <p:spPr>
          <a:xfrm>
            <a:off x="274320" y="3291840"/>
            <a:ext cx="4160520" cy="1188720"/>
          </a:xfrm>
          <a:prstGeom prst="rect">
            <a:avLst/>
          </a:prstGeom>
          <a:solidFill>
            <a:srgbClr val="161B22"/>
          </a:solidFill>
          <a:ln w="12700">
            <a:solidFill>
              <a:srgbClr val="30363D"/>
            </a:solidFill>
            <a:prstDash val="solid"/>
          </a:ln>
          <a:effectLst>
            <a:outerShdw blurRad="101600" dist="38100" dir="8100000" algn="bl" rotWithShape="0">
              <a:srgbClr val="000000">
                <a:alpha val="30000"/>
              </a:srgbClr>
            </a:outerShdw>
          </a:effectLst>
        </p:spPr>
      </p:sp>
      <p:sp>
        <p:nvSpPr>
          <p:cNvPr id="17" name="Shape 15"/>
          <p:cNvSpPr/>
          <p:nvPr/>
        </p:nvSpPr>
        <p:spPr>
          <a:xfrm>
            <a:off x="274320" y="3291840"/>
            <a:ext cx="54864" cy="1188720"/>
          </a:xfrm>
          <a:prstGeom prst="rect">
            <a:avLst/>
          </a:prstGeom>
          <a:solidFill>
            <a:srgbClr val="FFA502"/>
          </a:solidFill>
          <a:ln w="12700">
            <a:solidFill>
              <a:srgbClr val="FFA502"/>
            </a:solidFill>
            <a:prstDash val="solid"/>
          </a:ln>
        </p:spPr>
      </p:sp>
      <p:sp>
        <p:nvSpPr>
          <p:cNvPr id="18" name="Text 16"/>
          <p:cNvSpPr/>
          <p:nvPr/>
        </p:nvSpPr>
        <p:spPr>
          <a:xfrm>
            <a:off x="411480" y="3383280"/>
            <a:ext cx="3931920" cy="274320"/>
          </a:xfrm>
          <a:prstGeom prst="rect">
            <a:avLst/>
          </a:prstGeom>
          <a:noFill/>
          <a:ln/>
        </p:spPr>
        <p:txBody>
          <a:bodyPr wrap="square" lIns="0" tIns="0" rIns="0" bIns="0" rtlCol="0" anchor="ctr"/>
          <a:lstStyle/>
          <a:p>
            <a:pPr marL="0" indent="0">
              <a:buNone/>
            </a:pPr>
            <a:r>
              <a:rPr lang="en-US" sz="1100" b="1" dirty="0">
                <a:solidFill>
                  <a:srgbClr val="F0F6FC"/>
                </a:solidFill>
                <a:latin typeface="Calibri" pitchFamily="34" charset="0"/>
                <a:ea typeface="Calibri" pitchFamily="34" charset="-122"/>
                <a:cs typeface="Calibri" pitchFamily="34" charset="-120"/>
              </a:rPr>
              <a:t>file command</a:t>
            </a:r>
            <a:endParaRPr lang="en-US" sz="1100" dirty="0"/>
          </a:p>
        </p:txBody>
      </p:sp>
      <p:sp>
        <p:nvSpPr>
          <p:cNvPr id="19" name="Text 17"/>
          <p:cNvSpPr/>
          <p:nvPr/>
        </p:nvSpPr>
        <p:spPr>
          <a:xfrm>
            <a:off x="432582" y="3533802"/>
            <a:ext cx="3931920" cy="731520"/>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Identifies what a file actually is based on its magic bytes, not its extension. A file named .txt could actually be a PE32 Windows executable.</a:t>
            </a:r>
            <a:endParaRPr lang="en-US" sz="1100" dirty="0"/>
          </a:p>
        </p:txBody>
      </p:sp>
      <p:sp>
        <p:nvSpPr>
          <p:cNvPr id="20" name="Shape 18"/>
          <p:cNvSpPr/>
          <p:nvPr/>
        </p:nvSpPr>
        <p:spPr>
          <a:xfrm>
            <a:off x="4754880" y="3291840"/>
            <a:ext cx="4160520" cy="1188720"/>
          </a:xfrm>
          <a:prstGeom prst="rect">
            <a:avLst/>
          </a:prstGeom>
          <a:solidFill>
            <a:srgbClr val="161B22"/>
          </a:solidFill>
          <a:ln w="12700">
            <a:solidFill>
              <a:srgbClr val="30363D"/>
            </a:solidFill>
            <a:prstDash val="solid"/>
          </a:ln>
          <a:effectLst>
            <a:outerShdw blurRad="101600" dist="38100" dir="8100000" algn="bl" rotWithShape="0">
              <a:srgbClr val="000000">
                <a:alpha val="30000"/>
              </a:srgbClr>
            </a:outerShdw>
          </a:effectLst>
        </p:spPr>
      </p:sp>
      <p:sp>
        <p:nvSpPr>
          <p:cNvPr id="21" name="Shape 19"/>
          <p:cNvSpPr/>
          <p:nvPr/>
        </p:nvSpPr>
        <p:spPr>
          <a:xfrm>
            <a:off x="4754880" y="3291840"/>
            <a:ext cx="54864" cy="1188720"/>
          </a:xfrm>
          <a:prstGeom prst="rect">
            <a:avLst/>
          </a:prstGeom>
          <a:solidFill>
            <a:srgbClr val="A78BFA"/>
          </a:solidFill>
          <a:ln w="12700">
            <a:solidFill>
              <a:srgbClr val="A78BFA"/>
            </a:solidFill>
            <a:prstDash val="solid"/>
          </a:ln>
        </p:spPr>
      </p:sp>
      <p:sp>
        <p:nvSpPr>
          <p:cNvPr id="22" name="Text 20"/>
          <p:cNvSpPr/>
          <p:nvPr/>
        </p:nvSpPr>
        <p:spPr>
          <a:xfrm>
            <a:off x="4892040" y="3383280"/>
            <a:ext cx="3931920" cy="274320"/>
          </a:xfrm>
          <a:prstGeom prst="rect">
            <a:avLst/>
          </a:prstGeom>
          <a:noFill/>
          <a:ln/>
        </p:spPr>
        <p:txBody>
          <a:bodyPr wrap="square" lIns="0" tIns="0" rIns="0" bIns="0" rtlCol="0" anchor="ctr"/>
          <a:lstStyle/>
          <a:p>
            <a:pPr marL="0" indent="0">
              <a:buNone/>
            </a:pPr>
            <a:r>
              <a:rPr lang="en-US" sz="1100" b="1" dirty="0">
                <a:solidFill>
                  <a:srgbClr val="F0F6FC"/>
                </a:solidFill>
                <a:latin typeface="Calibri" pitchFamily="34" charset="0"/>
                <a:ea typeface="Calibri" pitchFamily="34" charset="-122"/>
                <a:cs typeface="Calibri" pitchFamily="34" charset="-120"/>
              </a:rPr>
              <a:t>strings</a:t>
            </a:r>
            <a:endParaRPr lang="en-US" sz="1100" dirty="0"/>
          </a:p>
        </p:txBody>
      </p:sp>
      <p:sp>
        <p:nvSpPr>
          <p:cNvPr id="23" name="Text 21"/>
          <p:cNvSpPr/>
          <p:nvPr/>
        </p:nvSpPr>
        <p:spPr>
          <a:xfrm>
            <a:off x="4913142" y="3533802"/>
            <a:ext cx="3931920" cy="731520"/>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Extracts readable text embedded in a binary: URLs, registry keys, error messages, hardcoded commands. A goldmine for early indicators.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61B22"/>
          </a:solidFill>
          <a:ln w="12700">
            <a:solidFill>
              <a:srgbClr val="161B22"/>
            </a:solidFill>
            <a:prstDash val="solid"/>
          </a:ln>
        </p:spPr>
      </p:sp>
      <p:sp>
        <p:nvSpPr>
          <p:cNvPr id="3" name="Shape 1"/>
          <p:cNvSpPr/>
          <p:nvPr/>
        </p:nvSpPr>
        <p:spPr>
          <a:xfrm>
            <a:off x="0" y="685800"/>
            <a:ext cx="9144000" cy="36576"/>
          </a:xfrm>
          <a:prstGeom prst="rect">
            <a:avLst/>
          </a:prstGeom>
          <a:solidFill>
            <a:srgbClr val="00FF88"/>
          </a:solidFill>
          <a:ln w="12700">
            <a:solidFill>
              <a:srgbClr val="00FF88"/>
            </a:solidFill>
            <a:prstDash val="solid"/>
          </a:ln>
        </p:spPr>
      </p:sp>
      <p:sp>
        <p:nvSpPr>
          <p:cNvPr id="4" name="Text 2"/>
          <p:cNvSpPr/>
          <p:nvPr/>
        </p:nvSpPr>
        <p:spPr>
          <a:xfrm>
            <a:off x="320040" y="64008"/>
            <a:ext cx="8503920" cy="548640"/>
          </a:xfrm>
          <a:prstGeom prst="rect">
            <a:avLst/>
          </a:prstGeom>
          <a:noFill/>
          <a:ln/>
        </p:spPr>
        <p:txBody>
          <a:bodyPr wrap="square" lIns="0" tIns="0" rIns="0" bIns="0" rtlCol="0" anchor="ctr"/>
          <a:lstStyle/>
          <a:p>
            <a:pPr marL="0" indent="0">
              <a:buNone/>
            </a:pPr>
            <a:r>
              <a:rPr lang="en-US" sz="2200" b="1" dirty="0">
                <a:solidFill>
                  <a:srgbClr val="F0F6FC"/>
                </a:solidFill>
                <a:latin typeface="Calibri" pitchFamily="34" charset="0"/>
                <a:ea typeface="Calibri" pitchFamily="34" charset="-122"/>
                <a:cs typeface="Calibri" pitchFamily="34" charset="-120"/>
              </a:rPr>
              <a:t>Dynamic Analysis</a:t>
            </a:r>
            <a:endParaRPr lang="en-US" sz="2200" dirty="0"/>
          </a:p>
        </p:txBody>
      </p:sp>
      <p:sp>
        <p:nvSpPr>
          <p:cNvPr id="6" name="Text 4"/>
          <p:cNvSpPr/>
          <p:nvPr/>
        </p:nvSpPr>
        <p:spPr>
          <a:xfrm>
            <a:off x="320040" y="868680"/>
            <a:ext cx="8503920" cy="320040"/>
          </a:xfrm>
          <a:prstGeom prst="rect">
            <a:avLst/>
          </a:prstGeom>
          <a:noFill/>
          <a:ln/>
        </p:spPr>
        <p:txBody>
          <a:bodyPr wrap="square" lIns="0" tIns="0" rIns="0" bIns="0" rtlCol="0" anchor="ctr"/>
          <a:lstStyle/>
          <a:p>
            <a:pPr marL="0" indent="0">
              <a:buNone/>
            </a:pPr>
            <a:r>
              <a:rPr lang="en-US" sz="1300" b="1" dirty="0">
                <a:solidFill>
                  <a:srgbClr val="00FF88"/>
                </a:solidFill>
                <a:latin typeface="Calibri" pitchFamily="34" charset="0"/>
                <a:ea typeface="Calibri" pitchFamily="34" charset="-122"/>
                <a:cs typeface="Calibri" pitchFamily="34" charset="-120"/>
              </a:rPr>
              <a:t>Sandbox Analysis Concept</a:t>
            </a:r>
            <a:endParaRPr lang="en-US" sz="1300" dirty="0"/>
          </a:p>
        </p:txBody>
      </p:sp>
      <p:sp>
        <p:nvSpPr>
          <p:cNvPr id="7" name="Shape 5"/>
          <p:cNvSpPr/>
          <p:nvPr/>
        </p:nvSpPr>
        <p:spPr>
          <a:xfrm>
            <a:off x="457200" y="1371600"/>
            <a:ext cx="1828800" cy="1005840"/>
          </a:xfrm>
          <a:prstGeom prst="rect">
            <a:avLst/>
          </a:prstGeom>
          <a:solidFill>
            <a:srgbClr val="161B22"/>
          </a:solidFill>
          <a:ln w="12700">
            <a:solidFill>
              <a:srgbClr val="30363D"/>
            </a:solidFill>
            <a:prstDash val="solid"/>
          </a:ln>
          <a:effectLst>
            <a:outerShdw blurRad="101600" dist="38100" dir="8100000" algn="bl" rotWithShape="0">
              <a:srgbClr val="000000">
                <a:alpha val="30000"/>
              </a:srgbClr>
            </a:outerShdw>
          </a:effectLst>
        </p:spPr>
      </p:sp>
      <p:sp>
        <p:nvSpPr>
          <p:cNvPr id="8" name="Shape 6"/>
          <p:cNvSpPr/>
          <p:nvPr/>
        </p:nvSpPr>
        <p:spPr>
          <a:xfrm>
            <a:off x="457200" y="1371600"/>
            <a:ext cx="1828800" cy="45720"/>
          </a:xfrm>
          <a:prstGeom prst="rect">
            <a:avLst/>
          </a:prstGeom>
          <a:solidFill>
            <a:srgbClr val="60A5FA"/>
          </a:solidFill>
          <a:ln w="12700">
            <a:solidFill>
              <a:srgbClr val="60A5FA"/>
            </a:solidFill>
            <a:prstDash val="solid"/>
          </a:ln>
        </p:spPr>
      </p:sp>
      <p:sp>
        <p:nvSpPr>
          <p:cNvPr id="9" name="Text 7"/>
          <p:cNvSpPr/>
          <p:nvPr/>
        </p:nvSpPr>
        <p:spPr>
          <a:xfrm>
            <a:off x="457200" y="1444752"/>
            <a:ext cx="1828800" cy="320040"/>
          </a:xfrm>
          <a:prstGeom prst="rect">
            <a:avLst/>
          </a:prstGeom>
          <a:noFill/>
          <a:ln/>
        </p:spPr>
        <p:txBody>
          <a:bodyPr wrap="square" lIns="0" tIns="0" rIns="0" bIns="0" rtlCol="0" anchor="ctr"/>
          <a:lstStyle/>
          <a:p>
            <a:pPr marL="0" indent="0" algn="ctr">
              <a:buNone/>
            </a:pPr>
            <a:r>
              <a:rPr lang="en-US" sz="2000" b="1" dirty="0">
                <a:solidFill>
                  <a:srgbClr val="60A5FA"/>
                </a:solidFill>
                <a:latin typeface="Calibri" pitchFamily="34" charset="0"/>
                <a:ea typeface="Calibri" pitchFamily="34" charset="-122"/>
                <a:cs typeface="Calibri" pitchFamily="34" charset="-120"/>
              </a:rPr>
              <a:t>01</a:t>
            </a:r>
            <a:endParaRPr lang="en-US" sz="2000" dirty="0"/>
          </a:p>
        </p:txBody>
      </p:sp>
      <p:sp>
        <p:nvSpPr>
          <p:cNvPr id="10" name="Text 8"/>
          <p:cNvSpPr/>
          <p:nvPr/>
        </p:nvSpPr>
        <p:spPr>
          <a:xfrm>
            <a:off x="457200" y="1993392"/>
            <a:ext cx="1828800" cy="320040"/>
          </a:xfrm>
          <a:prstGeom prst="rect">
            <a:avLst/>
          </a:prstGeom>
          <a:noFill/>
          <a:ln/>
        </p:spPr>
        <p:txBody>
          <a:bodyPr wrap="square" lIns="0" tIns="0" rIns="0" bIns="0" rtlCol="0" anchor="ctr"/>
          <a:lstStyle/>
          <a:p>
            <a:pPr marL="0" indent="0" algn="ctr">
              <a:buNone/>
            </a:pPr>
            <a:r>
              <a:rPr lang="en-US" sz="1000" dirty="0">
                <a:solidFill>
                  <a:srgbClr val="F0F6FC"/>
                </a:solidFill>
                <a:latin typeface="Calibri" pitchFamily="34" charset="0"/>
                <a:ea typeface="Calibri" pitchFamily="34" charset="-122"/>
                <a:cs typeface="Calibri" pitchFamily="34" charset="-120"/>
              </a:rPr>
              <a:t>Upload Sample</a:t>
            </a:r>
            <a:endParaRPr lang="en-US" sz="1000" dirty="0"/>
          </a:p>
        </p:txBody>
      </p:sp>
      <p:sp>
        <p:nvSpPr>
          <p:cNvPr id="11" name="Text 9"/>
          <p:cNvSpPr/>
          <p:nvPr/>
        </p:nvSpPr>
        <p:spPr>
          <a:xfrm>
            <a:off x="2331720" y="1645920"/>
            <a:ext cx="228600" cy="457200"/>
          </a:xfrm>
          <a:prstGeom prst="rect">
            <a:avLst/>
          </a:prstGeom>
          <a:noFill/>
          <a:ln/>
        </p:spPr>
        <p:txBody>
          <a:bodyPr wrap="square" lIns="0" tIns="0" rIns="0" bIns="0" rtlCol="0" anchor="ctr"/>
          <a:lstStyle/>
          <a:p>
            <a:pPr marL="0" indent="0">
              <a:buNone/>
            </a:pPr>
            <a:r>
              <a:rPr lang="en-US" sz="1800" dirty="0">
                <a:solidFill>
                  <a:srgbClr val="8B949E"/>
                </a:solidFill>
                <a:latin typeface="Calibri" pitchFamily="34" charset="0"/>
                <a:ea typeface="Calibri" pitchFamily="34" charset="-122"/>
                <a:cs typeface="Calibri" pitchFamily="34" charset="-120"/>
              </a:rPr>
              <a:t>→</a:t>
            </a:r>
            <a:endParaRPr lang="en-US" sz="1800" dirty="0"/>
          </a:p>
        </p:txBody>
      </p:sp>
      <p:sp>
        <p:nvSpPr>
          <p:cNvPr id="12" name="Shape 10"/>
          <p:cNvSpPr/>
          <p:nvPr/>
        </p:nvSpPr>
        <p:spPr>
          <a:xfrm>
            <a:off x="2560320" y="1371600"/>
            <a:ext cx="1828800" cy="1005840"/>
          </a:xfrm>
          <a:prstGeom prst="rect">
            <a:avLst/>
          </a:prstGeom>
          <a:solidFill>
            <a:srgbClr val="161B22"/>
          </a:solidFill>
          <a:ln w="12700">
            <a:solidFill>
              <a:srgbClr val="30363D"/>
            </a:solidFill>
            <a:prstDash val="solid"/>
          </a:ln>
          <a:effectLst>
            <a:outerShdw blurRad="101600" dist="38100" dir="8100000" algn="bl" rotWithShape="0">
              <a:srgbClr val="000000">
                <a:alpha val="30000"/>
              </a:srgbClr>
            </a:outerShdw>
          </a:effectLst>
        </p:spPr>
      </p:sp>
      <p:sp>
        <p:nvSpPr>
          <p:cNvPr id="13" name="Shape 11"/>
          <p:cNvSpPr/>
          <p:nvPr/>
        </p:nvSpPr>
        <p:spPr>
          <a:xfrm>
            <a:off x="2560320" y="1371600"/>
            <a:ext cx="1828800" cy="45720"/>
          </a:xfrm>
          <a:prstGeom prst="rect">
            <a:avLst/>
          </a:prstGeom>
          <a:solidFill>
            <a:srgbClr val="FFA502"/>
          </a:solidFill>
          <a:ln w="12700">
            <a:solidFill>
              <a:srgbClr val="FFA502"/>
            </a:solidFill>
            <a:prstDash val="solid"/>
          </a:ln>
        </p:spPr>
      </p:sp>
      <p:sp>
        <p:nvSpPr>
          <p:cNvPr id="14" name="Text 12"/>
          <p:cNvSpPr/>
          <p:nvPr/>
        </p:nvSpPr>
        <p:spPr>
          <a:xfrm>
            <a:off x="2560320" y="1444752"/>
            <a:ext cx="1828800" cy="320040"/>
          </a:xfrm>
          <a:prstGeom prst="rect">
            <a:avLst/>
          </a:prstGeom>
          <a:noFill/>
          <a:ln/>
        </p:spPr>
        <p:txBody>
          <a:bodyPr wrap="square" lIns="0" tIns="0" rIns="0" bIns="0" rtlCol="0" anchor="ctr"/>
          <a:lstStyle/>
          <a:p>
            <a:pPr marL="0" indent="0" algn="ctr">
              <a:buNone/>
            </a:pPr>
            <a:r>
              <a:rPr lang="en-US" sz="2000" b="1" dirty="0">
                <a:solidFill>
                  <a:srgbClr val="FFA502"/>
                </a:solidFill>
                <a:latin typeface="Calibri" pitchFamily="34" charset="0"/>
                <a:ea typeface="Calibri" pitchFamily="34" charset="-122"/>
                <a:cs typeface="Calibri" pitchFamily="34" charset="-120"/>
              </a:rPr>
              <a:t>02</a:t>
            </a:r>
            <a:endParaRPr lang="en-US" sz="2000" dirty="0"/>
          </a:p>
        </p:txBody>
      </p:sp>
      <p:sp>
        <p:nvSpPr>
          <p:cNvPr id="15" name="Text 13"/>
          <p:cNvSpPr/>
          <p:nvPr/>
        </p:nvSpPr>
        <p:spPr>
          <a:xfrm>
            <a:off x="2560320" y="1993392"/>
            <a:ext cx="1828800" cy="320040"/>
          </a:xfrm>
          <a:prstGeom prst="rect">
            <a:avLst/>
          </a:prstGeom>
          <a:noFill/>
          <a:ln/>
        </p:spPr>
        <p:txBody>
          <a:bodyPr wrap="square" lIns="0" tIns="0" rIns="0" bIns="0" rtlCol="0" anchor="ctr"/>
          <a:lstStyle/>
          <a:p>
            <a:pPr marL="0" indent="0" algn="ctr">
              <a:buNone/>
            </a:pPr>
            <a:r>
              <a:rPr lang="en-US" sz="1000" dirty="0">
                <a:solidFill>
                  <a:srgbClr val="F0F6FC"/>
                </a:solidFill>
                <a:latin typeface="Calibri" pitchFamily="34" charset="0"/>
                <a:ea typeface="Calibri" pitchFamily="34" charset="-122"/>
                <a:cs typeface="Calibri" pitchFamily="34" charset="-120"/>
              </a:rPr>
              <a:t>Sandbox Executes</a:t>
            </a:r>
            <a:endParaRPr lang="en-US" sz="1000" dirty="0"/>
          </a:p>
        </p:txBody>
      </p:sp>
      <p:sp>
        <p:nvSpPr>
          <p:cNvPr id="16" name="Text 14"/>
          <p:cNvSpPr/>
          <p:nvPr/>
        </p:nvSpPr>
        <p:spPr>
          <a:xfrm>
            <a:off x="4434840" y="1645920"/>
            <a:ext cx="228600" cy="457200"/>
          </a:xfrm>
          <a:prstGeom prst="rect">
            <a:avLst/>
          </a:prstGeom>
          <a:noFill/>
          <a:ln/>
        </p:spPr>
        <p:txBody>
          <a:bodyPr wrap="square" lIns="0" tIns="0" rIns="0" bIns="0" rtlCol="0" anchor="ctr"/>
          <a:lstStyle/>
          <a:p>
            <a:pPr marL="0" indent="0">
              <a:buNone/>
            </a:pPr>
            <a:r>
              <a:rPr lang="en-US" sz="1800" dirty="0">
                <a:solidFill>
                  <a:srgbClr val="8B949E"/>
                </a:solidFill>
                <a:latin typeface="Calibri" pitchFamily="34" charset="0"/>
                <a:ea typeface="Calibri" pitchFamily="34" charset="-122"/>
                <a:cs typeface="Calibri" pitchFamily="34" charset="-120"/>
              </a:rPr>
              <a:t>→</a:t>
            </a:r>
            <a:endParaRPr lang="en-US" sz="1800" dirty="0"/>
          </a:p>
        </p:txBody>
      </p:sp>
      <p:sp>
        <p:nvSpPr>
          <p:cNvPr id="17" name="Shape 15"/>
          <p:cNvSpPr/>
          <p:nvPr/>
        </p:nvSpPr>
        <p:spPr>
          <a:xfrm>
            <a:off x="4663440" y="1371600"/>
            <a:ext cx="1828800" cy="1005840"/>
          </a:xfrm>
          <a:prstGeom prst="rect">
            <a:avLst/>
          </a:prstGeom>
          <a:solidFill>
            <a:srgbClr val="161B22"/>
          </a:solidFill>
          <a:ln w="12700">
            <a:solidFill>
              <a:srgbClr val="30363D"/>
            </a:solidFill>
            <a:prstDash val="solid"/>
          </a:ln>
          <a:effectLst>
            <a:outerShdw blurRad="101600" dist="38100" dir="8100000" algn="bl" rotWithShape="0">
              <a:srgbClr val="000000">
                <a:alpha val="30000"/>
              </a:srgbClr>
            </a:outerShdw>
          </a:effectLst>
        </p:spPr>
      </p:sp>
      <p:sp>
        <p:nvSpPr>
          <p:cNvPr id="18" name="Shape 16"/>
          <p:cNvSpPr/>
          <p:nvPr/>
        </p:nvSpPr>
        <p:spPr>
          <a:xfrm>
            <a:off x="4663440" y="1371600"/>
            <a:ext cx="1828800" cy="45720"/>
          </a:xfrm>
          <a:prstGeom prst="rect">
            <a:avLst/>
          </a:prstGeom>
          <a:solidFill>
            <a:srgbClr val="A78BFA"/>
          </a:solidFill>
          <a:ln w="12700">
            <a:solidFill>
              <a:srgbClr val="A78BFA"/>
            </a:solidFill>
            <a:prstDash val="solid"/>
          </a:ln>
        </p:spPr>
      </p:sp>
      <p:sp>
        <p:nvSpPr>
          <p:cNvPr id="19" name="Text 17"/>
          <p:cNvSpPr/>
          <p:nvPr/>
        </p:nvSpPr>
        <p:spPr>
          <a:xfrm>
            <a:off x="4663440" y="1444752"/>
            <a:ext cx="1828800" cy="320040"/>
          </a:xfrm>
          <a:prstGeom prst="rect">
            <a:avLst/>
          </a:prstGeom>
          <a:noFill/>
          <a:ln/>
        </p:spPr>
        <p:txBody>
          <a:bodyPr wrap="square" lIns="0" tIns="0" rIns="0" bIns="0" rtlCol="0" anchor="ctr"/>
          <a:lstStyle/>
          <a:p>
            <a:pPr marL="0" indent="0" algn="ctr">
              <a:buNone/>
            </a:pPr>
            <a:r>
              <a:rPr lang="en-US" sz="2000" b="1" dirty="0">
                <a:solidFill>
                  <a:srgbClr val="A78BFA"/>
                </a:solidFill>
                <a:latin typeface="Calibri" pitchFamily="34" charset="0"/>
                <a:ea typeface="Calibri" pitchFamily="34" charset="-122"/>
                <a:cs typeface="Calibri" pitchFamily="34" charset="-120"/>
              </a:rPr>
              <a:t>03</a:t>
            </a:r>
            <a:endParaRPr lang="en-US" sz="2000" dirty="0"/>
          </a:p>
        </p:txBody>
      </p:sp>
      <p:sp>
        <p:nvSpPr>
          <p:cNvPr id="20" name="Text 18"/>
          <p:cNvSpPr/>
          <p:nvPr/>
        </p:nvSpPr>
        <p:spPr>
          <a:xfrm>
            <a:off x="4663440" y="1993392"/>
            <a:ext cx="1828800" cy="320040"/>
          </a:xfrm>
          <a:prstGeom prst="rect">
            <a:avLst/>
          </a:prstGeom>
          <a:noFill/>
          <a:ln/>
        </p:spPr>
        <p:txBody>
          <a:bodyPr wrap="square" lIns="0" tIns="0" rIns="0" bIns="0" rtlCol="0" anchor="ctr"/>
          <a:lstStyle/>
          <a:p>
            <a:pPr marL="0" indent="0" algn="ctr">
              <a:buNone/>
            </a:pPr>
            <a:r>
              <a:rPr lang="en-US" sz="1000" dirty="0">
                <a:solidFill>
                  <a:srgbClr val="F0F6FC"/>
                </a:solidFill>
                <a:latin typeface="Calibri" pitchFamily="34" charset="0"/>
                <a:ea typeface="Calibri" pitchFamily="34" charset="-122"/>
                <a:cs typeface="Calibri" pitchFamily="34" charset="-120"/>
              </a:rPr>
              <a:t>Behavior Captured</a:t>
            </a:r>
            <a:endParaRPr lang="en-US" sz="1000" dirty="0"/>
          </a:p>
        </p:txBody>
      </p:sp>
      <p:sp>
        <p:nvSpPr>
          <p:cNvPr id="21" name="Text 19"/>
          <p:cNvSpPr/>
          <p:nvPr/>
        </p:nvSpPr>
        <p:spPr>
          <a:xfrm>
            <a:off x="6537960" y="1645920"/>
            <a:ext cx="228600" cy="457200"/>
          </a:xfrm>
          <a:prstGeom prst="rect">
            <a:avLst/>
          </a:prstGeom>
          <a:noFill/>
          <a:ln/>
        </p:spPr>
        <p:txBody>
          <a:bodyPr wrap="square" lIns="0" tIns="0" rIns="0" bIns="0" rtlCol="0" anchor="ctr"/>
          <a:lstStyle/>
          <a:p>
            <a:pPr marL="0" indent="0">
              <a:buNone/>
            </a:pPr>
            <a:r>
              <a:rPr lang="en-US" sz="1800" dirty="0">
                <a:solidFill>
                  <a:srgbClr val="8B949E"/>
                </a:solidFill>
                <a:latin typeface="Calibri" pitchFamily="34" charset="0"/>
                <a:ea typeface="Calibri" pitchFamily="34" charset="-122"/>
                <a:cs typeface="Calibri" pitchFamily="34" charset="-120"/>
              </a:rPr>
              <a:t>→</a:t>
            </a:r>
            <a:endParaRPr lang="en-US" sz="1800" dirty="0"/>
          </a:p>
        </p:txBody>
      </p:sp>
      <p:sp>
        <p:nvSpPr>
          <p:cNvPr id="22" name="Shape 20"/>
          <p:cNvSpPr/>
          <p:nvPr/>
        </p:nvSpPr>
        <p:spPr>
          <a:xfrm>
            <a:off x="6766560" y="1371600"/>
            <a:ext cx="1828800" cy="1005840"/>
          </a:xfrm>
          <a:prstGeom prst="rect">
            <a:avLst/>
          </a:prstGeom>
          <a:solidFill>
            <a:srgbClr val="161B22"/>
          </a:solidFill>
          <a:ln w="12700">
            <a:solidFill>
              <a:srgbClr val="30363D"/>
            </a:solidFill>
            <a:prstDash val="solid"/>
          </a:ln>
          <a:effectLst>
            <a:outerShdw blurRad="101600" dist="38100" dir="8100000" algn="bl" rotWithShape="0">
              <a:srgbClr val="000000">
                <a:alpha val="30000"/>
              </a:srgbClr>
            </a:outerShdw>
          </a:effectLst>
        </p:spPr>
      </p:sp>
      <p:sp>
        <p:nvSpPr>
          <p:cNvPr id="23" name="Shape 21"/>
          <p:cNvSpPr/>
          <p:nvPr/>
        </p:nvSpPr>
        <p:spPr>
          <a:xfrm>
            <a:off x="6766560" y="1371600"/>
            <a:ext cx="1828800" cy="45720"/>
          </a:xfrm>
          <a:prstGeom prst="rect">
            <a:avLst/>
          </a:prstGeom>
          <a:solidFill>
            <a:srgbClr val="34D399"/>
          </a:solidFill>
          <a:ln w="12700">
            <a:solidFill>
              <a:srgbClr val="34D399"/>
            </a:solidFill>
            <a:prstDash val="solid"/>
          </a:ln>
        </p:spPr>
      </p:sp>
      <p:sp>
        <p:nvSpPr>
          <p:cNvPr id="24" name="Text 22"/>
          <p:cNvSpPr/>
          <p:nvPr/>
        </p:nvSpPr>
        <p:spPr>
          <a:xfrm>
            <a:off x="6766560" y="1444752"/>
            <a:ext cx="1828800" cy="320040"/>
          </a:xfrm>
          <a:prstGeom prst="rect">
            <a:avLst/>
          </a:prstGeom>
          <a:noFill/>
          <a:ln/>
        </p:spPr>
        <p:txBody>
          <a:bodyPr wrap="square" lIns="0" tIns="0" rIns="0" bIns="0" rtlCol="0" anchor="ctr"/>
          <a:lstStyle/>
          <a:p>
            <a:pPr marL="0" indent="0" algn="ctr">
              <a:buNone/>
            </a:pPr>
            <a:r>
              <a:rPr lang="en-US" sz="2000" b="1" dirty="0">
                <a:solidFill>
                  <a:srgbClr val="34D399"/>
                </a:solidFill>
                <a:latin typeface="Calibri" pitchFamily="34" charset="0"/>
                <a:ea typeface="Calibri" pitchFamily="34" charset="-122"/>
                <a:cs typeface="Calibri" pitchFamily="34" charset="-120"/>
              </a:rPr>
              <a:t>04</a:t>
            </a:r>
            <a:endParaRPr lang="en-US" sz="2000" dirty="0"/>
          </a:p>
        </p:txBody>
      </p:sp>
      <p:sp>
        <p:nvSpPr>
          <p:cNvPr id="25" name="Text 23"/>
          <p:cNvSpPr/>
          <p:nvPr/>
        </p:nvSpPr>
        <p:spPr>
          <a:xfrm>
            <a:off x="6766560" y="1993392"/>
            <a:ext cx="1828800" cy="320040"/>
          </a:xfrm>
          <a:prstGeom prst="rect">
            <a:avLst/>
          </a:prstGeom>
          <a:noFill/>
          <a:ln/>
        </p:spPr>
        <p:txBody>
          <a:bodyPr wrap="square" lIns="0" tIns="0" rIns="0" bIns="0" rtlCol="0" anchor="ctr"/>
          <a:lstStyle/>
          <a:p>
            <a:pPr marL="0" indent="0" algn="ctr">
              <a:buNone/>
            </a:pPr>
            <a:r>
              <a:rPr lang="en-US" sz="1000" dirty="0">
                <a:solidFill>
                  <a:srgbClr val="F0F6FC"/>
                </a:solidFill>
                <a:latin typeface="Calibri" pitchFamily="34" charset="0"/>
                <a:ea typeface="Calibri" pitchFamily="34" charset="-122"/>
                <a:cs typeface="Calibri" pitchFamily="34" charset="-120"/>
              </a:rPr>
              <a:t>Report Generated</a:t>
            </a:r>
            <a:endParaRPr lang="en-US" sz="1000" dirty="0"/>
          </a:p>
        </p:txBody>
      </p:sp>
      <p:sp>
        <p:nvSpPr>
          <p:cNvPr id="26" name="Shape 24"/>
          <p:cNvSpPr/>
          <p:nvPr/>
        </p:nvSpPr>
        <p:spPr>
          <a:xfrm>
            <a:off x="274320" y="2651760"/>
            <a:ext cx="4160520" cy="1005840"/>
          </a:xfrm>
          <a:prstGeom prst="rect">
            <a:avLst/>
          </a:prstGeom>
          <a:solidFill>
            <a:srgbClr val="161B22"/>
          </a:solidFill>
          <a:ln w="12700">
            <a:solidFill>
              <a:srgbClr val="30363D"/>
            </a:solidFill>
            <a:prstDash val="solid"/>
          </a:ln>
          <a:effectLst>
            <a:outerShdw blurRad="101600" dist="38100" dir="8100000" algn="bl" rotWithShape="0">
              <a:srgbClr val="000000">
                <a:alpha val="30000"/>
              </a:srgbClr>
            </a:outerShdw>
          </a:effectLst>
        </p:spPr>
      </p:sp>
      <p:sp>
        <p:nvSpPr>
          <p:cNvPr id="27" name="Shape 25"/>
          <p:cNvSpPr/>
          <p:nvPr/>
        </p:nvSpPr>
        <p:spPr>
          <a:xfrm>
            <a:off x="274320" y="2651760"/>
            <a:ext cx="54864" cy="1005840"/>
          </a:xfrm>
          <a:prstGeom prst="rect">
            <a:avLst/>
          </a:prstGeom>
          <a:solidFill>
            <a:srgbClr val="00FF88"/>
          </a:solidFill>
          <a:ln w="12700">
            <a:solidFill>
              <a:srgbClr val="00FF88"/>
            </a:solidFill>
            <a:prstDash val="solid"/>
          </a:ln>
        </p:spPr>
      </p:sp>
      <p:sp>
        <p:nvSpPr>
          <p:cNvPr id="28" name="Text 26"/>
          <p:cNvSpPr/>
          <p:nvPr/>
        </p:nvSpPr>
        <p:spPr>
          <a:xfrm>
            <a:off x="411480" y="2743200"/>
            <a:ext cx="3931920" cy="274320"/>
          </a:xfrm>
          <a:prstGeom prst="rect">
            <a:avLst/>
          </a:prstGeom>
          <a:noFill/>
          <a:ln/>
        </p:spPr>
        <p:txBody>
          <a:bodyPr wrap="square" lIns="0" tIns="0" rIns="0" bIns="0" rtlCol="0" anchor="ctr"/>
          <a:lstStyle/>
          <a:p>
            <a:pPr marL="0" indent="0">
              <a:buNone/>
            </a:pPr>
            <a:r>
              <a:rPr lang="en-US" sz="1100" b="1" dirty="0">
                <a:solidFill>
                  <a:srgbClr val="F0F6FC"/>
                </a:solidFill>
                <a:latin typeface="Calibri" pitchFamily="34" charset="0"/>
                <a:ea typeface="Calibri" pitchFamily="34" charset="-122"/>
                <a:cs typeface="Calibri" pitchFamily="34" charset="-120"/>
              </a:rPr>
              <a:t>Why Sandboxes?</a:t>
            </a:r>
            <a:endParaRPr lang="en-US" sz="1100" dirty="0"/>
          </a:p>
        </p:txBody>
      </p:sp>
      <p:sp>
        <p:nvSpPr>
          <p:cNvPr id="29" name="Text 27"/>
          <p:cNvSpPr/>
          <p:nvPr/>
        </p:nvSpPr>
        <p:spPr>
          <a:xfrm>
            <a:off x="411480" y="2999232"/>
            <a:ext cx="3931920" cy="548640"/>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Running malware on your real machine would infect it. A sandbox is an isolated virtual environment that captures what the malware does and then throws it away.</a:t>
            </a:r>
            <a:endParaRPr lang="en-US" sz="1100" dirty="0"/>
          </a:p>
        </p:txBody>
      </p:sp>
      <p:sp>
        <p:nvSpPr>
          <p:cNvPr id="30" name="Shape 28"/>
          <p:cNvSpPr/>
          <p:nvPr/>
        </p:nvSpPr>
        <p:spPr>
          <a:xfrm>
            <a:off x="4754880" y="2651760"/>
            <a:ext cx="4160520" cy="1005840"/>
          </a:xfrm>
          <a:prstGeom prst="rect">
            <a:avLst/>
          </a:prstGeom>
          <a:solidFill>
            <a:srgbClr val="161B22"/>
          </a:solidFill>
          <a:ln w="12700">
            <a:solidFill>
              <a:srgbClr val="30363D"/>
            </a:solidFill>
            <a:prstDash val="solid"/>
          </a:ln>
          <a:effectLst>
            <a:outerShdw blurRad="101600" dist="38100" dir="8100000" algn="bl" rotWithShape="0">
              <a:srgbClr val="000000">
                <a:alpha val="30000"/>
              </a:srgbClr>
            </a:outerShdw>
          </a:effectLst>
        </p:spPr>
      </p:sp>
      <p:sp>
        <p:nvSpPr>
          <p:cNvPr id="31" name="Shape 29"/>
          <p:cNvSpPr/>
          <p:nvPr/>
        </p:nvSpPr>
        <p:spPr>
          <a:xfrm>
            <a:off x="4754880" y="2651760"/>
            <a:ext cx="54864" cy="1005840"/>
          </a:xfrm>
          <a:prstGeom prst="rect">
            <a:avLst/>
          </a:prstGeom>
          <a:solidFill>
            <a:srgbClr val="00FF88"/>
          </a:solidFill>
          <a:ln w="12700">
            <a:solidFill>
              <a:srgbClr val="00FF88"/>
            </a:solidFill>
            <a:prstDash val="solid"/>
          </a:ln>
        </p:spPr>
      </p:sp>
      <p:sp>
        <p:nvSpPr>
          <p:cNvPr id="32" name="Text 30"/>
          <p:cNvSpPr/>
          <p:nvPr/>
        </p:nvSpPr>
        <p:spPr>
          <a:xfrm>
            <a:off x="4892040" y="2743200"/>
            <a:ext cx="3931920" cy="274320"/>
          </a:xfrm>
          <a:prstGeom prst="rect">
            <a:avLst/>
          </a:prstGeom>
          <a:noFill/>
          <a:ln/>
        </p:spPr>
        <p:txBody>
          <a:bodyPr wrap="square" lIns="0" tIns="0" rIns="0" bIns="0" rtlCol="0" anchor="ctr"/>
          <a:lstStyle/>
          <a:p>
            <a:pPr marL="0" indent="0">
              <a:buNone/>
            </a:pPr>
            <a:r>
              <a:rPr lang="en-US" sz="1100" b="1" dirty="0">
                <a:solidFill>
                  <a:srgbClr val="F0F6FC"/>
                </a:solidFill>
                <a:latin typeface="Calibri" pitchFamily="34" charset="0"/>
                <a:ea typeface="Calibri" pitchFamily="34" charset="-122"/>
                <a:cs typeface="Calibri" pitchFamily="34" charset="-120"/>
              </a:rPr>
              <a:t>What Gets Recorded?</a:t>
            </a:r>
            <a:endParaRPr lang="en-US" sz="1100" dirty="0"/>
          </a:p>
        </p:txBody>
      </p:sp>
      <p:sp>
        <p:nvSpPr>
          <p:cNvPr id="33" name="Text 31"/>
          <p:cNvSpPr/>
          <p:nvPr/>
        </p:nvSpPr>
        <p:spPr>
          <a:xfrm>
            <a:off x="4892040" y="2999232"/>
            <a:ext cx="3931920" cy="548640"/>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File system changes, registry modifications, network connections, process creation, DNS queries, and API calls. Everything the malware touches is logged.</a:t>
            </a:r>
            <a:endParaRPr lang="en-US" sz="1100" dirty="0"/>
          </a:p>
        </p:txBody>
      </p:sp>
      <p:sp>
        <p:nvSpPr>
          <p:cNvPr id="34" name="Shape 32"/>
          <p:cNvSpPr/>
          <p:nvPr/>
        </p:nvSpPr>
        <p:spPr>
          <a:xfrm>
            <a:off x="274320" y="3840480"/>
            <a:ext cx="4160520" cy="1005840"/>
          </a:xfrm>
          <a:prstGeom prst="rect">
            <a:avLst/>
          </a:prstGeom>
          <a:solidFill>
            <a:srgbClr val="161B22"/>
          </a:solidFill>
          <a:ln w="12700">
            <a:solidFill>
              <a:srgbClr val="30363D"/>
            </a:solidFill>
            <a:prstDash val="solid"/>
          </a:ln>
          <a:effectLst>
            <a:outerShdw blurRad="101600" dist="38100" dir="8100000" algn="bl" rotWithShape="0">
              <a:srgbClr val="000000">
                <a:alpha val="30000"/>
              </a:srgbClr>
            </a:outerShdw>
          </a:effectLst>
        </p:spPr>
      </p:sp>
      <p:sp>
        <p:nvSpPr>
          <p:cNvPr id="35" name="Shape 33"/>
          <p:cNvSpPr/>
          <p:nvPr/>
        </p:nvSpPr>
        <p:spPr>
          <a:xfrm>
            <a:off x="274320" y="3840480"/>
            <a:ext cx="54864" cy="1005840"/>
          </a:xfrm>
          <a:prstGeom prst="rect">
            <a:avLst/>
          </a:prstGeom>
          <a:solidFill>
            <a:srgbClr val="00FF88"/>
          </a:solidFill>
          <a:ln w="12700">
            <a:solidFill>
              <a:srgbClr val="00FF88"/>
            </a:solidFill>
            <a:prstDash val="solid"/>
          </a:ln>
        </p:spPr>
      </p:sp>
      <p:sp>
        <p:nvSpPr>
          <p:cNvPr id="36" name="Text 34"/>
          <p:cNvSpPr/>
          <p:nvPr/>
        </p:nvSpPr>
        <p:spPr>
          <a:xfrm>
            <a:off x="411480" y="3931920"/>
            <a:ext cx="3931920" cy="274320"/>
          </a:xfrm>
          <a:prstGeom prst="rect">
            <a:avLst/>
          </a:prstGeom>
          <a:noFill/>
          <a:ln/>
        </p:spPr>
        <p:txBody>
          <a:bodyPr wrap="square" lIns="0" tIns="0" rIns="0" bIns="0" rtlCol="0" anchor="ctr"/>
          <a:lstStyle/>
          <a:p>
            <a:pPr marL="0" indent="0">
              <a:buNone/>
            </a:pPr>
            <a:r>
              <a:rPr lang="en-US" sz="1100" b="1" dirty="0">
                <a:solidFill>
                  <a:srgbClr val="F0F6FC"/>
                </a:solidFill>
                <a:latin typeface="Calibri" pitchFamily="34" charset="0"/>
                <a:ea typeface="Calibri" pitchFamily="34" charset="-122"/>
                <a:cs typeface="Calibri" pitchFamily="34" charset="-120"/>
              </a:rPr>
              <a:t>any.run</a:t>
            </a:r>
            <a:endParaRPr lang="en-US" sz="1100" dirty="0"/>
          </a:p>
        </p:txBody>
      </p:sp>
      <p:sp>
        <p:nvSpPr>
          <p:cNvPr id="37" name="Text 35"/>
          <p:cNvSpPr/>
          <p:nvPr/>
        </p:nvSpPr>
        <p:spPr>
          <a:xfrm>
            <a:off x="411480" y="4187952"/>
            <a:ext cx="3931920" cy="548640"/>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An interactive online sandbox where you upload a file, watch it execute in real time, and receive a structured threat report. Free tier is sufficient for training.</a:t>
            </a:r>
            <a:endParaRPr lang="en-US" sz="1100" dirty="0"/>
          </a:p>
        </p:txBody>
      </p:sp>
      <p:sp>
        <p:nvSpPr>
          <p:cNvPr id="38" name="Shape 36"/>
          <p:cNvSpPr/>
          <p:nvPr/>
        </p:nvSpPr>
        <p:spPr>
          <a:xfrm>
            <a:off x="4754880" y="3840480"/>
            <a:ext cx="4160520" cy="1005840"/>
          </a:xfrm>
          <a:prstGeom prst="rect">
            <a:avLst/>
          </a:prstGeom>
          <a:solidFill>
            <a:srgbClr val="161B22"/>
          </a:solidFill>
          <a:ln w="12700">
            <a:solidFill>
              <a:srgbClr val="30363D"/>
            </a:solidFill>
            <a:prstDash val="solid"/>
          </a:ln>
          <a:effectLst>
            <a:outerShdw blurRad="101600" dist="38100" dir="8100000" algn="bl" rotWithShape="0">
              <a:srgbClr val="000000">
                <a:alpha val="30000"/>
              </a:srgbClr>
            </a:outerShdw>
          </a:effectLst>
        </p:spPr>
      </p:sp>
      <p:sp>
        <p:nvSpPr>
          <p:cNvPr id="39" name="Shape 37"/>
          <p:cNvSpPr/>
          <p:nvPr/>
        </p:nvSpPr>
        <p:spPr>
          <a:xfrm>
            <a:off x="4754880" y="3840480"/>
            <a:ext cx="54864" cy="1005840"/>
          </a:xfrm>
          <a:prstGeom prst="rect">
            <a:avLst/>
          </a:prstGeom>
          <a:solidFill>
            <a:srgbClr val="00FF88"/>
          </a:solidFill>
          <a:ln w="12700">
            <a:solidFill>
              <a:srgbClr val="00FF88"/>
            </a:solidFill>
            <a:prstDash val="solid"/>
          </a:ln>
        </p:spPr>
      </p:sp>
      <p:sp>
        <p:nvSpPr>
          <p:cNvPr id="40" name="Text 38"/>
          <p:cNvSpPr/>
          <p:nvPr/>
        </p:nvSpPr>
        <p:spPr>
          <a:xfrm>
            <a:off x="4892040" y="3931920"/>
            <a:ext cx="3931920" cy="274320"/>
          </a:xfrm>
          <a:prstGeom prst="rect">
            <a:avLst/>
          </a:prstGeom>
          <a:noFill/>
          <a:ln/>
        </p:spPr>
        <p:txBody>
          <a:bodyPr wrap="square" lIns="0" tIns="0" rIns="0" bIns="0" rtlCol="0" anchor="ctr"/>
          <a:lstStyle/>
          <a:p>
            <a:pPr marL="0" indent="0">
              <a:buNone/>
            </a:pPr>
            <a:r>
              <a:rPr lang="en-US" sz="1100" b="1" dirty="0">
                <a:solidFill>
                  <a:srgbClr val="F0F6FC"/>
                </a:solidFill>
                <a:latin typeface="Calibri" pitchFamily="34" charset="0"/>
                <a:ea typeface="Calibri" pitchFamily="34" charset="-122"/>
                <a:cs typeface="Calibri" pitchFamily="34" charset="-120"/>
              </a:rPr>
              <a:t>Limitations</a:t>
            </a:r>
            <a:endParaRPr lang="en-US" sz="1100" dirty="0"/>
          </a:p>
        </p:txBody>
      </p:sp>
      <p:sp>
        <p:nvSpPr>
          <p:cNvPr id="41" name="Text 39"/>
          <p:cNvSpPr/>
          <p:nvPr/>
        </p:nvSpPr>
        <p:spPr>
          <a:xfrm>
            <a:off x="4892040" y="4131680"/>
            <a:ext cx="3931920" cy="548640"/>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Advanced malware detects sandboxes and stays dormant. Always correlate sandbox results with static analysis for a full picture.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61B22"/>
          </a:solidFill>
          <a:ln w="12700">
            <a:solidFill>
              <a:srgbClr val="161B22"/>
            </a:solidFill>
            <a:prstDash val="solid"/>
          </a:ln>
        </p:spPr>
      </p:sp>
      <p:sp>
        <p:nvSpPr>
          <p:cNvPr id="3" name="Shape 1"/>
          <p:cNvSpPr/>
          <p:nvPr/>
        </p:nvSpPr>
        <p:spPr>
          <a:xfrm>
            <a:off x="0" y="685800"/>
            <a:ext cx="9144000" cy="36576"/>
          </a:xfrm>
          <a:prstGeom prst="rect">
            <a:avLst/>
          </a:prstGeom>
          <a:solidFill>
            <a:srgbClr val="00FF88"/>
          </a:solidFill>
          <a:ln w="12700">
            <a:solidFill>
              <a:srgbClr val="00FF88"/>
            </a:solidFill>
            <a:prstDash val="solid"/>
          </a:ln>
        </p:spPr>
      </p:sp>
      <p:sp>
        <p:nvSpPr>
          <p:cNvPr id="4" name="Text 2"/>
          <p:cNvSpPr/>
          <p:nvPr/>
        </p:nvSpPr>
        <p:spPr>
          <a:xfrm>
            <a:off x="320040" y="64008"/>
            <a:ext cx="8503920" cy="548640"/>
          </a:xfrm>
          <a:prstGeom prst="rect">
            <a:avLst/>
          </a:prstGeom>
          <a:noFill/>
          <a:ln/>
        </p:spPr>
        <p:txBody>
          <a:bodyPr wrap="square" lIns="0" tIns="0" rIns="0" bIns="0" rtlCol="0" anchor="ctr"/>
          <a:lstStyle/>
          <a:p>
            <a:pPr marL="0" indent="0">
              <a:buNone/>
            </a:pPr>
            <a:r>
              <a:rPr lang="en-US" sz="2200" b="1" dirty="0">
                <a:solidFill>
                  <a:srgbClr val="F0F6FC"/>
                </a:solidFill>
                <a:latin typeface="Calibri" pitchFamily="34" charset="0"/>
                <a:ea typeface="Calibri" pitchFamily="34" charset="-122"/>
                <a:cs typeface="Calibri" pitchFamily="34" charset="-120"/>
              </a:rPr>
              <a:t>Static Analysis — Commands</a:t>
            </a:r>
            <a:endParaRPr lang="en-US" sz="2200" dirty="0"/>
          </a:p>
        </p:txBody>
      </p:sp>
      <p:sp>
        <p:nvSpPr>
          <p:cNvPr id="5" name="Text 3"/>
          <p:cNvSpPr/>
          <p:nvPr/>
        </p:nvSpPr>
        <p:spPr>
          <a:xfrm>
            <a:off x="320040" y="658368"/>
            <a:ext cx="8503920" cy="274320"/>
          </a:xfrm>
          <a:prstGeom prst="rect">
            <a:avLst/>
          </a:prstGeom>
          <a:noFill/>
          <a:ln/>
        </p:spPr>
        <p:txBody>
          <a:bodyPr wrap="square" lIns="0" tIns="0" rIns="0" bIns="0" rtlCol="0" anchor="ctr"/>
          <a:lstStyle/>
          <a:p>
            <a:pPr marL="0" indent="0">
              <a:buNone/>
            </a:pPr>
            <a:r>
              <a:rPr lang="en-US" sz="1000" dirty="0">
                <a:solidFill>
                  <a:srgbClr val="8B949E"/>
                </a:solidFill>
                <a:latin typeface="Calibri" pitchFamily="34" charset="0"/>
                <a:ea typeface="Calibri" pitchFamily="34" charset="-122"/>
                <a:cs typeface="Calibri" pitchFamily="34" charset="-120"/>
              </a:rPr>
              <a:t>What you will run during the live demo</a:t>
            </a:r>
            <a:endParaRPr lang="en-US" sz="1000" dirty="0"/>
          </a:p>
        </p:txBody>
      </p:sp>
      <p:sp>
        <p:nvSpPr>
          <p:cNvPr id="6" name="Text 4"/>
          <p:cNvSpPr/>
          <p:nvPr/>
        </p:nvSpPr>
        <p:spPr>
          <a:xfrm>
            <a:off x="320040" y="868680"/>
            <a:ext cx="8503920" cy="292608"/>
          </a:xfrm>
          <a:prstGeom prst="rect">
            <a:avLst/>
          </a:prstGeom>
          <a:noFill/>
          <a:ln/>
        </p:spPr>
        <p:txBody>
          <a:bodyPr wrap="square" lIns="0" tIns="0" rIns="0" bIns="0" rtlCol="0" anchor="ctr"/>
          <a:lstStyle/>
          <a:p>
            <a:pPr marL="0" indent="0">
              <a:buNone/>
            </a:pPr>
            <a:r>
              <a:rPr lang="en-US" sz="1100" b="1" dirty="0">
                <a:solidFill>
                  <a:srgbClr val="60A5FA"/>
                </a:solidFill>
                <a:latin typeface="Calibri" pitchFamily="34" charset="0"/>
                <a:ea typeface="Calibri" pitchFamily="34" charset="-122"/>
                <a:cs typeface="Calibri" pitchFamily="34" charset="-120"/>
              </a:rPr>
              <a:t>ExifTool — Metadata Extraction</a:t>
            </a:r>
            <a:endParaRPr lang="en-US" sz="1100" dirty="0"/>
          </a:p>
        </p:txBody>
      </p:sp>
      <p:sp>
        <p:nvSpPr>
          <p:cNvPr id="7" name="Shape 5"/>
          <p:cNvSpPr/>
          <p:nvPr/>
        </p:nvSpPr>
        <p:spPr>
          <a:xfrm>
            <a:off x="320040" y="1143000"/>
            <a:ext cx="8503920" cy="841248"/>
          </a:xfrm>
          <a:prstGeom prst="rect">
            <a:avLst/>
          </a:prstGeom>
          <a:solidFill>
            <a:srgbClr val="1C2128"/>
          </a:solidFill>
          <a:ln w="12700">
            <a:solidFill>
              <a:srgbClr val="30363D"/>
            </a:solidFill>
            <a:prstDash val="solid"/>
          </a:ln>
          <a:effectLst>
            <a:outerShdw blurRad="101600" dist="38100" dir="8100000" algn="bl" rotWithShape="0">
              <a:srgbClr val="000000">
                <a:alpha val="30000"/>
              </a:srgbClr>
            </a:outerShdw>
          </a:effectLst>
        </p:spPr>
      </p:sp>
      <p:sp>
        <p:nvSpPr>
          <p:cNvPr id="8" name="Shape 6"/>
          <p:cNvSpPr/>
          <p:nvPr/>
        </p:nvSpPr>
        <p:spPr>
          <a:xfrm>
            <a:off x="457200" y="1261872"/>
            <a:ext cx="91440" cy="91440"/>
          </a:xfrm>
          <a:prstGeom prst="ellipse">
            <a:avLst/>
          </a:prstGeom>
          <a:solidFill>
            <a:srgbClr val="FF5F56"/>
          </a:solidFill>
          <a:ln w="12700">
            <a:solidFill>
              <a:srgbClr val="FF5F56"/>
            </a:solidFill>
            <a:prstDash val="solid"/>
          </a:ln>
        </p:spPr>
      </p:sp>
      <p:sp>
        <p:nvSpPr>
          <p:cNvPr id="9" name="Shape 7"/>
          <p:cNvSpPr/>
          <p:nvPr/>
        </p:nvSpPr>
        <p:spPr>
          <a:xfrm>
            <a:off x="594360" y="1261872"/>
            <a:ext cx="91440" cy="91440"/>
          </a:xfrm>
          <a:prstGeom prst="ellipse">
            <a:avLst/>
          </a:prstGeom>
          <a:solidFill>
            <a:srgbClr val="FFBD2E"/>
          </a:solidFill>
          <a:ln w="12700">
            <a:solidFill>
              <a:srgbClr val="FFBD2E"/>
            </a:solidFill>
            <a:prstDash val="solid"/>
          </a:ln>
        </p:spPr>
      </p:sp>
      <p:sp>
        <p:nvSpPr>
          <p:cNvPr id="10" name="Shape 8"/>
          <p:cNvSpPr/>
          <p:nvPr/>
        </p:nvSpPr>
        <p:spPr>
          <a:xfrm>
            <a:off x="731520" y="1261872"/>
            <a:ext cx="91440" cy="91440"/>
          </a:xfrm>
          <a:prstGeom prst="ellipse">
            <a:avLst/>
          </a:prstGeom>
          <a:solidFill>
            <a:srgbClr val="27C93F"/>
          </a:solidFill>
          <a:ln w="12700">
            <a:solidFill>
              <a:srgbClr val="27C93F"/>
            </a:solidFill>
            <a:prstDash val="solid"/>
          </a:ln>
        </p:spPr>
      </p:sp>
      <p:sp>
        <p:nvSpPr>
          <p:cNvPr id="11" name="Text 9"/>
          <p:cNvSpPr/>
          <p:nvPr/>
        </p:nvSpPr>
        <p:spPr>
          <a:xfrm>
            <a:off x="411480" y="1435608"/>
            <a:ext cx="8321040" cy="457200"/>
          </a:xfrm>
          <a:prstGeom prst="rect">
            <a:avLst/>
          </a:prstGeom>
          <a:noFill/>
          <a:ln/>
        </p:spPr>
        <p:txBody>
          <a:bodyPr wrap="square" lIns="0" tIns="0" rIns="0" bIns="0" rtlCol="0" anchor="ctr"/>
          <a:lstStyle/>
          <a:p>
            <a:pPr marL="0" indent="0">
              <a:buNone/>
            </a:pPr>
            <a:r>
              <a:rPr lang="en-US" sz="950" dirty="0">
                <a:solidFill>
                  <a:srgbClr val="79C0FF"/>
                </a:solidFill>
                <a:latin typeface="Consolas" pitchFamily="34" charset="0"/>
                <a:ea typeface="Consolas" pitchFamily="34" charset="-122"/>
                <a:cs typeface="Consolas" pitchFamily="34" charset="-120"/>
              </a:rPr>
              <a:t>exiftool hostr.exe</a:t>
            </a:r>
            <a:endParaRPr lang="en-US" sz="950" dirty="0"/>
          </a:p>
          <a:p>
            <a:pPr marL="0" indent="0">
              <a:buNone/>
            </a:pPr>
            <a:r>
              <a:rPr lang="en-US" sz="950" dirty="0">
                <a:solidFill>
                  <a:srgbClr val="79C0FF"/>
                </a:solidFill>
                <a:latin typeface="Consolas" pitchFamily="34" charset="0"/>
                <a:ea typeface="Consolas" pitchFamily="34" charset="-122"/>
                <a:cs typeface="Consolas" pitchFamily="34" charset="-120"/>
              </a:rPr>
              <a:t>exiftool win33.exe</a:t>
            </a:r>
            <a:endParaRPr lang="en-US" sz="950" dirty="0"/>
          </a:p>
        </p:txBody>
      </p:sp>
      <p:sp>
        <p:nvSpPr>
          <p:cNvPr id="12" name="Text 10"/>
          <p:cNvSpPr/>
          <p:nvPr/>
        </p:nvSpPr>
        <p:spPr>
          <a:xfrm>
            <a:off x="320040" y="2103120"/>
            <a:ext cx="8503920" cy="292608"/>
          </a:xfrm>
          <a:prstGeom prst="rect">
            <a:avLst/>
          </a:prstGeom>
          <a:noFill/>
          <a:ln/>
        </p:spPr>
        <p:txBody>
          <a:bodyPr wrap="square" lIns="0" tIns="0" rIns="0" bIns="0" rtlCol="0" anchor="ctr"/>
          <a:lstStyle/>
          <a:p>
            <a:pPr marL="0" indent="0">
              <a:buNone/>
            </a:pPr>
            <a:r>
              <a:rPr lang="en-US" sz="1100" b="1" dirty="0">
                <a:solidFill>
                  <a:srgbClr val="34D399"/>
                </a:solidFill>
                <a:latin typeface="Calibri" pitchFamily="34" charset="0"/>
                <a:ea typeface="Calibri" pitchFamily="34" charset="-122"/>
                <a:cs typeface="Calibri" pitchFamily="34" charset="-120"/>
              </a:rPr>
              <a:t>Binwalk — Embedded File Detection</a:t>
            </a:r>
            <a:endParaRPr lang="en-US" sz="1100" dirty="0"/>
          </a:p>
        </p:txBody>
      </p:sp>
      <p:sp>
        <p:nvSpPr>
          <p:cNvPr id="13" name="Shape 11"/>
          <p:cNvSpPr/>
          <p:nvPr/>
        </p:nvSpPr>
        <p:spPr>
          <a:xfrm>
            <a:off x="320040" y="2377440"/>
            <a:ext cx="8503920" cy="841248"/>
          </a:xfrm>
          <a:prstGeom prst="rect">
            <a:avLst/>
          </a:prstGeom>
          <a:solidFill>
            <a:srgbClr val="1C2128"/>
          </a:solidFill>
          <a:ln w="12700">
            <a:solidFill>
              <a:srgbClr val="30363D"/>
            </a:solidFill>
            <a:prstDash val="solid"/>
          </a:ln>
          <a:effectLst>
            <a:outerShdw blurRad="101600" dist="38100" dir="8100000" algn="bl" rotWithShape="0">
              <a:srgbClr val="000000">
                <a:alpha val="30000"/>
              </a:srgbClr>
            </a:outerShdw>
          </a:effectLst>
        </p:spPr>
      </p:sp>
      <p:sp>
        <p:nvSpPr>
          <p:cNvPr id="14" name="Shape 12"/>
          <p:cNvSpPr/>
          <p:nvPr/>
        </p:nvSpPr>
        <p:spPr>
          <a:xfrm>
            <a:off x="457200" y="2496312"/>
            <a:ext cx="91440" cy="91440"/>
          </a:xfrm>
          <a:prstGeom prst="ellipse">
            <a:avLst/>
          </a:prstGeom>
          <a:solidFill>
            <a:srgbClr val="FF5F56"/>
          </a:solidFill>
          <a:ln w="12700">
            <a:solidFill>
              <a:srgbClr val="FF5F56"/>
            </a:solidFill>
            <a:prstDash val="solid"/>
          </a:ln>
        </p:spPr>
      </p:sp>
      <p:sp>
        <p:nvSpPr>
          <p:cNvPr id="15" name="Shape 13"/>
          <p:cNvSpPr/>
          <p:nvPr/>
        </p:nvSpPr>
        <p:spPr>
          <a:xfrm>
            <a:off x="594360" y="2496312"/>
            <a:ext cx="91440" cy="91440"/>
          </a:xfrm>
          <a:prstGeom prst="ellipse">
            <a:avLst/>
          </a:prstGeom>
          <a:solidFill>
            <a:srgbClr val="FFBD2E"/>
          </a:solidFill>
          <a:ln w="12700">
            <a:solidFill>
              <a:srgbClr val="FFBD2E"/>
            </a:solidFill>
            <a:prstDash val="solid"/>
          </a:ln>
        </p:spPr>
      </p:sp>
      <p:sp>
        <p:nvSpPr>
          <p:cNvPr id="16" name="Shape 14"/>
          <p:cNvSpPr/>
          <p:nvPr/>
        </p:nvSpPr>
        <p:spPr>
          <a:xfrm>
            <a:off x="731520" y="2496312"/>
            <a:ext cx="91440" cy="91440"/>
          </a:xfrm>
          <a:prstGeom prst="ellipse">
            <a:avLst/>
          </a:prstGeom>
          <a:solidFill>
            <a:srgbClr val="27C93F"/>
          </a:solidFill>
          <a:ln w="12700">
            <a:solidFill>
              <a:srgbClr val="27C93F"/>
            </a:solidFill>
            <a:prstDash val="solid"/>
          </a:ln>
        </p:spPr>
      </p:sp>
      <p:sp>
        <p:nvSpPr>
          <p:cNvPr id="17" name="Text 15"/>
          <p:cNvSpPr/>
          <p:nvPr/>
        </p:nvSpPr>
        <p:spPr>
          <a:xfrm>
            <a:off x="411480" y="2670048"/>
            <a:ext cx="8321040" cy="457200"/>
          </a:xfrm>
          <a:prstGeom prst="rect">
            <a:avLst/>
          </a:prstGeom>
          <a:noFill/>
          <a:ln/>
        </p:spPr>
        <p:txBody>
          <a:bodyPr wrap="square" lIns="0" tIns="0" rIns="0" bIns="0" rtlCol="0" anchor="ctr"/>
          <a:lstStyle/>
          <a:p>
            <a:pPr marL="0" indent="0">
              <a:buNone/>
            </a:pPr>
            <a:r>
              <a:rPr lang="en-US" sz="950" dirty="0">
                <a:solidFill>
                  <a:srgbClr val="79C0FF"/>
                </a:solidFill>
                <a:latin typeface="Consolas" pitchFamily="34" charset="0"/>
                <a:ea typeface="Consolas" pitchFamily="34" charset="-122"/>
                <a:cs typeface="Consolas" pitchFamily="34" charset="-120"/>
              </a:rPr>
              <a:t>binwalk hostr.exe</a:t>
            </a:r>
            <a:endParaRPr lang="en-US" sz="950" dirty="0"/>
          </a:p>
          <a:p>
            <a:pPr marL="0" indent="0">
              <a:buNone/>
            </a:pPr>
            <a:r>
              <a:rPr lang="en-US" sz="950" dirty="0">
                <a:solidFill>
                  <a:srgbClr val="79C0FF"/>
                </a:solidFill>
                <a:latin typeface="Consolas" pitchFamily="34" charset="0"/>
                <a:ea typeface="Consolas" pitchFamily="34" charset="-122"/>
                <a:cs typeface="Consolas" pitchFamily="34" charset="-120"/>
              </a:rPr>
              <a:t>binwalk win33.exe</a:t>
            </a:r>
            <a:endParaRPr lang="en-US" sz="950" dirty="0"/>
          </a:p>
        </p:txBody>
      </p:sp>
      <p:sp>
        <p:nvSpPr>
          <p:cNvPr id="18" name="Shape 16"/>
          <p:cNvSpPr/>
          <p:nvPr/>
        </p:nvSpPr>
        <p:spPr>
          <a:xfrm>
            <a:off x="274320" y="3337560"/>
            <a:ext cx="4160520" cy="1645920"/>
          </a:xfrm>
          <a:prstGeom prst="rect">
            <a:avLst/>
          </a:prstGeom>
          <a:solidFill>
            <a:srgbClr val="161B22"/>
          </a:solidFill>
          <a:ln w="12700">
            <a:solidFill>
              <a:srgbClr val="30363D"/>
            </a:solidFill>
            <a:prstDash val="solid"/>
          </a:ln>
        </p:spPr>
      </p:sp>
      <p:sp>
        <p:nvSpPr>
          <p:cNvPr id="19" name="Shape 17"/>
          <p:cNvSpPr/>
          <p:nvPr/>
        </p:nvSpPr>
        <p:spPr>
          <a:xfrm>
            <a:off x="274320" y="3337560"/>
            <a:ext cx="54864" cy="1645920"/>
          </a:xfrm>
          <a:prstGeom prst="rect">
            <a:avLst/>
          </a:prstGeom>
          <a:solidFill>
            <a:srgbClr val="60A5FA"/>
          </a:solidFill>
          <a:ln w="12700">
            <a:solidFill>
              <a:srgbClr val="60A5FA"/>
            </a:solidFill>
            <a:prstDash val="solid"/>
          </a:ln>
        </p:spPr>
      </p:sp>
      <p:sp>
        <p:nvSpPr>
          <p:cNvPr id="20" name="Text 18"/>
          <p:cNvSpPr/>
          <p:nvPr/>
        </p:nvSpPr>
        <p:spPr>
          <a:xfrm>
            <a:off x="411480" y="3401568"/>
            <a:ext cx="3931920" cy="292608"/>
          </a:xfrm>
          <a:prstGeom prst="rect">
            <a:avLst/>
          </a:prstGeom>
          <a:noFill/>
          <a:ln/>
        </p:spPr>
        <p:txBody>
          <a:bodyPr wrap="square" lIns="0" tIns="0" rIns="0" bIns="0" rtlCol="0" anchor="ctr"/>
          <a:lstStyle/>
          <a:p>
            <a:pPr marL="0" indent="0">
              <a:buNone/>
            </a:pPr>
            <a:r>
              <a:rPr lang="en-US" sz="1000" b="1" dirty="0">
                <a:solidFill>
                  <a:srgbClr val="60A5FA"/>
                </a:solidFill>
                <a:latin typeface="Calibri" pitchFamily="34" charset="0"/>
                <a:ea typeface="Calibri" pitchFamily="34" charset="-122"/>
                <a:cs typeface="Calibri" pitchFamily="34" charset="-120"/>
              </a:rPr>
              <a:t>What to look for in ExifTool output:</a:t>
            </a:r>
            <a:endParaRPr lang="en-US" sz="1000" dirty="0"/>
          </a:p>
        </p:txBody>
      </p:sp>
      <p:sp>
        <p:nvSpPr>
          <p:cNvPr id="21" name="Text 19"/>
          <p:cNvSpPr/>
          <p:nvPr/>
        </p:nvSpPr>
        <p:spPr>
          <a:xfrm>
            <a:off x="411480" y="3526766"/>
            <a:ext cx="3931920" cy="1143000"/>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 FileType (is it really a PE?)</a:t>
            </a:r>
            <a:endParaRPr lang="en-US" sz="1100" dirty="0"/>
          </a:p>
          <a:p>
            <a:pPr marL="0" indent="0">
              <a:buNone/>
            </a:pPr>
            <a:r>
              <a:rPr lang="en-US" sz="1100" dirty="0">
                <a:solidFill>
                  <a:srgbClr val="8B949E"/>
                </a:solidFill>
                <a:latin typeface="Calibri" pitchFamily="34" charset="0"/>
                <a:ea typeface="Calibri" pitchFamily="34" charset="-122"/>
                <a:cs typeface="Calibri" pitchFamily="34" charset="-120"/>
              </a:rPr>
              <a:t>• CompanyName / ProductName (fake branding)</a:t>
            </a:r>
            <a:endParaRPr lang="en-US" sz="1100" dirty="0"/>
          </a:p>
          <a:p>
            <a:pPr marL="0" indent="0">
              <a:buNone/>
            </a:pPr>
            <a:r>
              <a:rPr lang="en-US" sz="1100" dirty="0">
                <a:solidFill>
                  <a:srgbClr val="8B949E"/>
                </a:solidFill>
                <a:latin typeface="Calibri" pitchFamily="34" charset="0"/>
                <a:ea typeface="Calibri" pitchFamily="34" charset="-122"/>
                <a:cs typeface="Calibri" pitchFamily="34" charset="-120"/>
              </a:rPr>
              <a:t>• TimeStamp (was it compiled recently?)</a:t>
            </a:r>
            <a:endParaRPr lang="en-US" sz="1100" dirty="0"/>
          </a:p>
          <a:p>
            <a:pPr marL="0" indent="0">
              <a:buNone/>
            </a:pPr>
            <a:r>
              <a:rPr lang="en-US" sz="1100" dirty="0">
                <a:solidFill>
                  <a:srgbClr val="8B949E"/>
                </a:solidFill>
                <a:latin typeface="Calibri" pitchFamily="34" charset="0"/>
                <a:ea typeface="Calibri" pitchFamily="34" charset="-122"/>
                <a:cs typeface="Calibri" pitchFamily="34" charset="-120"/>
              </a:rPr>
              <a:t>• PEiD packer detection</a:t>
            </a:r>
            <a:endParaRPr lang="en-US" sz="1100" dirty="0"/>
          </a:p>
        </p:txBody>
      </p:sp>
      <p:sp>
        <p:nvSpPr>
          <p:cNvPr id="22" name="Shape 20"/>
          <p:cNvSpPr/>
          <p:nvPr/>
        </p:nvSpPr>
        <p:spPr>
          <a:xfrm>
            <a:off x="4754880" y="3337560"/>
            <a:ext cx="4160520" cy="1645920"/>
          </a:xfrm>
          <a:prstGeom prst="rect">
            <a:avLst/>
          </a:prstGeom>
          <a:solidFill>
            <a:srgbClr val="161B22"/>
          </a:solidFill>
          <a:ln w="12700">
            <a:solidFill>
              <a:srgbClr val="30363D"/>
            </a:solidFill>
            <a:prstDash val="solid"/>
          </a:ln>
        </p:spPr>
      </p:sp>
      <p:sp>
        <p:nvSpPr>
          <p:cNvPr id="23" name="Shape 21"/>
          <p:cNvSpPr/>
          <p:nvPr/>
        </p:nvSpPr>
        <p:spPr>
          <a:xfrm>
            <a:off x="4754880" y="3337560"/>
            <a:ext cx="54864" cy="1645920"/>
          </a:xfrm>
          <a:prstGeom prst="rect">
            <a:avLst/>
          </a:prstGeom>
          <a:solidFill>
            <a:srgbClr val="34D399"/>
          </a:solidFill>
          <a:ln w="12700">
            <a:solidFill>
              <a:srgbClr val="34D399"/>
            </a:solidFill>
            <a:prstDash val="solid"/>
          </a:ln>
        </p:spPr>
      </p:sp>
      <p:sp>
        <p:nvSpPr>
          <p:cNvPr id="24" name="Text 22"/>
          <p:cNvSpPr/>
          <p:nvPr/>
        </p:nvSpPr>
        <p:spPr>
          <a:xfrm>
            <a:off x="4892040" y="3401568"/>
            <a:ext cx="3931920" cy="292608"/>
          </a:xfrm>
          <a:prstGeom prst="rect">
            <a:avLst/>
          </a:prstGeom>
          <a:noFill/>
          <a:ln/>
        </p:spPr>
        <p:txBody>
          <a:bodyPr wrap="square" lIns="0" tIns="0" rIns="0" bIns="0" rtlCol="0" anchor="ctr"/>
          <a:lstStyle/>
          <a:p>
            <a:pPr marL="0" indent="0">
              <a:buNone/>
            </a:pPr>
            <a:r>
              <a:rPr lang="en-US" sz="1000" b="1" dirty="0">
                <a:solidFill>
                  <a:srgbClr val="34D399"/>
                </a:solidFill>
                <a:latin typeface="Calibri" pitchFamily="34" charset="0"/>
                <a:ea typeface="Calibri" pitchFamily="34" charset="-122"/>
                <a:cs typeface="Calibri" pitchFamily="34" charset="-120"/>
              </a:rPr>
              <a:t>What to look for in Binwalk output:</a:t>
            </a:r>
            <a:endParaRPr lang="en-US" sz="1000" dirty="0"/>
          </a:p>
        </p:txBody>
      </p:sp>
      <p:sp>
        <p:nvSpPr>
          <p:cNvPr id="25" name="Text 23"/>
          <p:cNvSpPr/>
          <p:nvPr/>
        </p:nvSpPr>
        <p:spPr>
          <a:xfrm>
            <a:off x="4892040" y="3526766"/>
            <a:ext cx="3931920" cy="1143000"/>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 Embedded ZIP or EXE files</a:t>
            </a:r>
            <a:endParaRPr lang="en-US" sz="1100" dirty="0"/>
          </a:p>
          <a:p>
            <a:pPr marL="0" indent="0">
              <a:buNone/>
            </a:pPr>
            <a:r>
              <a:rPr lang="en-US" sz="1100" dirty="0">
                <a:solidFill>
                  <a:srgbClr val="8B949E"/>
                </a:solidFill>
                <a:latin typeface="Calibri" pitchFamily="34" charset="0"/>
                <a:ea typeface="Calibri" pitchFamily="34" charset="-122"/>
                <a:cs typeface="Calibri" pitchFamily="34" charset="-120"/>
              </a:rPr>
              <a:t>• Compressed data sections</a:t>
            </a:r>
            <a:endParaRPr lang="en-US" sz="1100" dirty="0"/>
          </a:p>
          <a:p>
            <a:pPr marL="0" indent="0">
              <a:buNone/>
            </a:pPr>
            <a:r>
              <a:rPr lang="en-US" sz="1100" dirty="0">
                <a:solidFill>
                  <a:srgbClr val="8B949E"/>
                </a:solidFill>
                <a:latin typeface="Calibri" pitchFamily="34" charset="0"/>
                <a:ea typeface="Calibri" pitchFamily="34" charset="-122"/>
                <a:cs typeface="Calibri" pitchFamily="34" charset="-120"/>
              </a:rPr>
              <a:t>• Encrypted blobs</a:t>
            </a:r>
            <a:endParaRPr lang="en-US" sz="1100" dirty="0"/>
          </a:p>
          <a:p>
            <a:pPr marL="0" indent="0">
              <a:buNone/>
            </a:pPr>
            <a:r>
              <a:rPr lang="en-US" sz="1100" dirty="0">
                <a:solidFill>
                  <a:srgbClr val="8B949E"/>
                </a:solidFill>
                <a:latin typeface="Calibri" pitchFamily="34" charset="0"/>
                <a:ea typeface="Calibri" pitchFamily="34" charset="-122"/>
                <a:cs typeface="Calibri" pitchFamily="34" charset="-120"/>
              </a:rPr>
              <a:t>• PE headers inside the binary</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61B22"/>
          </a:solidFill>
          <a:ln w="12700">
            <a:solidFill>
              <a:srgbClr val="161B22"/>
            </a:solidFill>
            <a:prstDash val="solid"/>
          </a:ln>
        </p:spPr>
      </p:sp>
      <p:sp>
        <p:nvSpPr>
          <p:cNvPr id="3" name="Shape 1"/>
          <p:cNvSpPr/>
          <p:nvPr/>
        </p:nvSpPr>
        <p:spPr>
          <a:xfrm>
            <a:off x="0" y="685800"/>
            <a:ext cx="9144000" cy="36576"/>
          </a:xfrm>
          <a:prstGeom prst="rect">
            <a:avLst/>
          </a:prstGeom>
          <a:solidFill>
            <a:srgbClr val="00FF88"/>
          </a:solidFill>
          <a:ln w="12700">
            <a:solidFill>
              <a:srgbClr val="00FF88"/>
            </a:solidFill>
            <a:prstDash val="solid"/>
          </a:ln>
        </p:spPr>
      </p:sp>
      <p:sp>
        <p:nvSpPr>
          <p:cNvPr id="4" name="Text 2"/>
          <p:cNvSpPr/>
          <p:nvPr/>
        </p:nvSpPr>
        <p:spPr>
          <a:xfrm>
            <a:off x="320040" y="64008"/>
            <a:ext cx="8503920" cy="548640"/>
          </a:xfrm>
          <a:prstGeom prst="rect">
            <a:avLst/>
          </a:prstGeom>
          <a:noFill/>
          <a:ln/>
        </p:spPr>
        <p:txBody>
          <a:bodyPr wrap="square" lIns="0" tIns="0" rIns="0" bIns="0" rtlCol="0" anchor="ctr"/>
          <a:lstStyle/>
          <a:p>
            <a:pPr marL="0" indent="0">
              <a:buNone/>
            </a:pPr>
            <a:r>
              <a:rPr lang="en-US" sz="2200" b="1" dirty="0">
                <a:solidFill>
                  <a:srgbClr val="F0F6FC"/>
                </a:solidFill>
                <a:latin typeface="Calibri" pitchFamily="34" charset="0"/>
                <a:ea typeface="Calibri" pitchFamily="34" charset="-122"/>
                <a:cs typeface="Calibri" pitchFamily="34" charset="-120"/>
              </a:rPr>
              <a:t>any.run — Reading the Sandbox Report</a:t>
            </a:r>
            <a:endParaRPr lang="en-US" sz="2200" dirty="0"/>
          </a:p>
        </p:txBody>
      </p:sp>
      <p:sp>
        <p:nvSpPr>
          <p:cNvPr id="6" name="Shape 4"/>
          <p:cNvSpPr/>
          <p:nvPr/>
        </p:nvSpPr>
        <p:spPr>
          <a:xfrm>
            <a:off x="228600" y="896112"/>
            <a:ext cx="4160520" cy="1188720"/>
          </a:xfrm>
          <a:prstGeom prst="rect">
            <a:avLst/>
          </a:prstGeom>
          <a:solidFill>
            <a:srgbClr val="161B22"/>
          </a:solidFill>
          <a:ln w="12700">
            <a:solidFill>
              <a:srgbClr val="30363D"/>
            </a:solidFill>
            <a:prstDash val="solid"/>
          </a:ln>
          <a:effectLst>
            <a:outerShdw blurRad="101600" dist="38100" dir="8100000" algn="bl" rotWithShape="0">
              <a:srgbClr val="000000">
                <a:alpha val="30000"/>
              </a:srgbClr>
            </a:outerShdw>
          </a:effectLst>
        </p:spPr>
      </p:sp>
      <p:sp>
        <p:nvSpPr>
          <p:cNvPr id="7" name="Shape 5"/>
          <p:cNvSpPr/>
          <p:nvPr/>
        </p:nvSpPr>
        <p:spPr>
          <a:xfrm>
            <a:off x="228600" y="896112"/>
            <a:ext cx="54864" cy="1188720"/>
          </a:xfrm>
          <a:prstGeom prst="rect">
            <a:avLst/>
          </a:prstGeom>
          <a:solidFill>
            <a:srgbClr val="FF4757"/>
          </a:solidFill>
          <a:ln w="12700">
            <a:solidFill>
              <a:srgbClr val="FF4757"/>
            </a:solidFill>
            <a:prstDash val="solid"/>
          </a:ln>
        </p:spPr>
      </p:sp>
      <p:sp>
        <p:nvSpPr>
          <p:cNvPr id="8" name="Text 6"/>
          <p:cNvSpPr/>
          <p:nvPr/>
        </p:nvSpPr>
        <p:spPr>
          <a:xfrm>
            <a:off x="365760" y="987552"/>
            <a:ext cx="3931920" cy="274320"/>
          </a:xfrm>
          <a:prstGeom prst="rect">
            <a:avLst/>
          </a:prstGeom>
          <a:noFill/>
          <a:ln/>
        </p:spPr>
        <p:txBody>
          <a:bodyPr wrap="square" lIns="0" tIns="0" rIns="0" bIns="0" rtlCol="0" anchor="ctr"/>
          <a:lstStyle/>
          <a:p>
            <a:pPr marL="0" indent="0">
              <a:buNone/>
            </a:pPr>
            <a:r>
              <a:rPr lang="en-US" sz="1100" b="1" dirty="0">
                <a:solidFill>
                  <a:srgbClr val="F0F6FC"/>
                </a:solidFill>
                <a:latin typeface="Calibri" pitchFamily="34" charset="0"/>
                <a:ea typeface="Calibri" pitchFamily="34" charset="-122"/>
                <a:cs typeface="Calibri" pitchFamily="34" charset="-120"/>
              </a:rPr>
              <a:t>Verdict / Score</a:t>
            </a:r>
            <a:endParaRPr lang="en-US" sz="1100" dirty="0"/>
          </a:p>
        </p:txBody>
      </p:sp>
      <p:sp>
        <p:nvSpPr>
          <p:cNvPr id="9" name="Text 7"/>
          <p:cNvSpPr/>
          <p:nvPr/>
        </p:nvSpPr>
        <p:spPr>
          <a:xfrm>
            <a:off x="365760" y="1138074"/>
            <a:ext cx="3931920" cy="731520"/>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Top-level threat score (0-100). any.run highlights if the file is Malicious, Suspicious, or Clean. Always read the rationale.</a:t>
            </a:r>
            <a:endParaRPr lang="en-US" sz="1100" dirty="0"/>
          </a:p>
        </p:txBody>
      </p:sp>
      <p:sp>
        <p:nvSpPr>
          <p:cNvPr id="10" name="Shape 8"/>
          <p:cNvSpPr/>
          <p:nvPr/>
        </p:nvSpPr>
        <p:spPr>
          <a:xfrm>
            <a:off x="4709160" y="896112"/>
            <a:ext cx="4160520" cy="1188720"/>
          </a:xfrm>
          <a:prstGeom prst="rect">
            <a:avLst/>
          </a:prstGeom>
          <a:solidFill>
            <a:srgbClr val="161B22"/>
          </a:solidFill>
          <a:ln w="12700">
            <a:solidFill>
              <a:srgbClr val="30363D"/>
            </a:solidFill>
            <a:prstDash val="solid"/>
          </a:ln>
          <a:effectLst>
            <a:outerShdw blurRad="101600" dist="38100" dir="8100000" algn="bl" rotWithShape="0">
              <a:srgbClr val="000000">
                <a:alpha val="30000"/>
              </a:srgbClr>
            </a:outerShdw>
          </a:effectLst>
        </p:spPr>
      </p:sp>
      <p:sp>
        <p:nvSpPr>
          <p:cNvPr id="11" name="Shape 9"/>
          <p:cNvSpPr/>
          <p:nvPr/>
        </p:nvSpPr>
        <p:spPr>
          <a:xfrm>
            <a:off x="4709160" y="896112"/>
            <a:ext cx="54864" cy="1188720"/>
          </a:xfrm>
          <a:prstGeom prst="rect">
            <a:avLst/>
          </a:prstGeom>
          <a:solidFill>
            <a:srgbClr val="A78BFA"/>
          </a:solidFill>
          <a:ln w="12700">
            <a:solidFill>
              <a:srgbClr val="A78BFA"/>
            </a:solidFill>
            <a:prstDash val="solid"/>
          </a:ln>
        </p:spPr>
      </p:sp>
      <p:sp>
        <p:nvSpPr>
          <p:cNvPr id="12" name="Text 10"/>
          <p:cNvSpPr/>
          <p:nvPr/>
        </p:nvSpPr>
        <p:spPr>
          <a:xfrm>
            <a:off x="4846320" y="987552"/>
            <a:ext cx="3931920" cy="274320"/>
          </a:xfrm>
          <a:prstGeom prst="rect">
            <a:avLst/>
          </a:prstGeom>
          <a:noFill/>
          <a:ln/>
        </p:spPr>
        <p:txBody>
          <a:bodyPr wrap="square" lIns="0" tIns="0" rIns="0" bIns="0" rtlCol="0" anchor="ctr"/>
          <a:lstStyle/>
          <a:p>
            <a:pPr marL="0" indent="0">
              <a:buNone/>
            </a:pPr>
            <a:r>
              <a:rPr lang="en-US" sz="1100" b="1" dirty="0">
                <a:solidFill>
                  <a:srgbClr val="F0F6FC"/>
                </a:solidFill>
                <a:latin typeface="Calibri" pitchFamily="34" charset="0"/>
                <a:ea typeface="Calibri" pitchFamily="34" charset="-122"/>
                <a:cs typeface="Calibri" pitchFamily="34" charset="-120"/>
              </a:rPr>
              <a:t>Process Tree</a:t>
            </a:r>
            <a:endParaRPr lang="en-US" sz="1100" dirty="0"/>
          </a:p>
        </p:txBody>
      </p:sp>
      <p:sp>
        <p:nvSpPr>
          <p:cNvPr id="13" name="Text 11"/>
          <p:cNvSpPr/>
          <p:nvPr/>
        </p:nvSpPr>
        <p:spPr>
          <a:xfrm>
            <a:off x="4846320" y="1138074"/>
            <a:ext cx="3931920" cy="731520"/>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Shows every process spawned during execution. Look for cmd.exe, PowerShell, or unusual child processes — common malware persistence tricks.</a:t>
            </a:r>
            <a:endParaRPr lang="en-US" sz="1100" dirty="0"/>
          </a:p>
        </p:txBody>
      </p:sp>
      <p:sp>
        <p:nvSpPr>
          <p:cNvPr id="14" name="Shape 12"/>
          <p:cNvSpPr/>
          <p:nvPr/>
        </p:nvSpPr>
        <p:spPr>
          <a:xfrm>
            <a:off x="228600" y="2313432"/>
            <a:ext cx="4160520" cy="1188720"/>
          </a:xfrm>
          <a:prstGeom prst="rect">
            <a:avLst/>
          </a:prstGeom>
          <a:solidFill>
            <a:srgbClr val="161B22"/>
          </a:solidFill>
          <a:ln w="12700">
            <a:solidFill>
              <a:srgbClr val="30363D"/>
            </a:solidFill>
            <a:prstDash val="solid"/>
          </a:ln>
          <a:effectLst>
            <a:outerShdw blurRad="101600" dist="38100" dir="8100000" algn="bl" rotWithShape="0">
              <a:srgbClr val="000000">
                <a:alpha val="30000"/>
              </a:srgbClr>
            </a:outerShdw>
          </a:effectLst>
        </p:spPr>
      </p:sp>
      <p:sp>
        <p:nvSpPr>
          <p:cNvPr id="15" name="Shape 13"/>
          <p:cNvSpPr/>
          <p:nvPr/>
        </p:nvSpPr>
        <p:spPr>
          <a:xfrm>
            <a:off x="228600" y="2313432"/>
            <a:ext cx="54864" cy="1188720"/>
          </a:xfrm>
          <a:prstGeom prst="rect">
            <a:avLst/>
          </a:prstGeom>
          <a:solidFill>
            <a:srgbClr val="60A5FA"/>
          </a:solidFill>
          <a:ln w="12700">
            <a:solidFill>
              <a:srgbClr val="60A5FA"/>
            </a:solidFill>
            <a:prstDash val="solid"/>
          </a:ln>
        </p:spPr>
      </p:sp>
      <p:sp>
        <p:nvSpPr>
          <p:cNvPr id="16" name="Text 14"/>
          <p:cNvSpPr/>
          <p:nvPr/>
        </p:nvSpPr>
        <p:spPr>
          <a:xfrm>
            <a:off x="365760" y="2404872"/>
            <a:ext cx="3931920" cy="274320"/>
          </a:xfrm>
          <a:prstGeom prst="rect">
            <a:avLst/>
          </a:prstGeom>
          <a:noFill/>
          <a:ln/>
        </p:spPr>
        <p:txBody>
          <a:bodyPr wrap="square" lIns="0" tIns="0" rIns="0" bIns="0" rtlCol="0" anchor="ctr"/>
          <a:lstStyle/>
          <a:p>
            <a:pPr marL="0" indent="0">
              <a:buNone/>
            </a:pPr>
            <a:r>
              <a:rPr lang="en-US" sz="1100" b="1" dirty="0">
                <a:solidFill>
                  <a:srgbClr val="F0F6FC"/>
                </a:solidFill>
                <a:latin typeface="Calibri" pitchFamily="34" charset="0"/>
                <a:ea typeface="Calibri" pitchFamily="34" charset="-122"/>
                <a:cs typeface="Calibri" pitchFamily="34" charset="-120"/>
              </a:rPr>
              <a:t>Network Activity</a:t>
            </a:r>
            <a:endParaRPr lang="en-US" sz="1100" dirty="0"/>
          </a:p>
        </p:txBody>
      </p:sp>
      <p:sp>
        <p:nvSpPr>
          <p:cNvPr id="17" name="Text 15"/>
          <p:cNvSpPr/>
          <p:nvPr/>
        </p:nvSpPr>
        <p:spPr>
          <a:xfrm>
            <a:off x="365760" y="2555394"/>
            <a:ext cx="3931920" cy="731520"/>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All DNS queries, HTTP/HTTPS requests, and TCP connections. Note any IPs or domains. Check them against threat intel (VirusTotal, Shodan).</a:t>
            </a:r>
            <a:endParaRPr lang="en-US" sz="1100" dirty="0"/>
          </a:p>
        </p:txBody>
      </p:sp>
      <p:sp>
        <p:nvSpPr>
          <p:cNvPr id="18" name="Shape 16"/>
          <p:cNvSpPr/>
          <p:nvPr/>
        </p:nvSpPr>
        <p:spPr>
          <a:xfrm>
            <a:off x="4709160" y="2313432"/>
            <a:ext cx="4160520" cy="1188720"/>
          </a:xfrm>
          <a:prstGeom prst="rect">
            <a:avLst/>
          </a:prstGeom>
          <a:solidFill>
            <a:srgbClr val="161B22"/>
          </a:solidFill>
          <a:ln w="12700">
            <a:solidFill>
              <a:srgbClr val="30363D"/>
            </a:solidFill>
            <a:prstDash val="solid"/>
          </a:ln>
          <a:effectLst>
            <a:outerShdw blurRad="101600" dist="38100" dir="8100000" algn="bl" rotWithShape="0">
              <a:srgbClr val="000000">
                <a:alpha val="30000"/>
              </a:srgbClr>
            </a:outerShdw>
          </a:effectLst>
        </p:spPr>
      </p:sp>
      <p:sp>
        <p:nvSpPr>
          <p:cNvPr id="19" name="Shape 17"/>
          <p:cNvSpPr/>
          <p:nvPr/>
        </p:nvSpPr>
        <p:spPr>
          <a:xfrm>
            <a:off x="4709160" y="2313432"/>
            <a:ext cx="54864" cy="1188720"/>
          </a:xfrm>
          <a:prstGeom prst="rect">
            <a:avLst/>
          </a:prstGeom>
          <a:solidFill>
            <a:srgbClr val="34D399"/>
          </a:solidFill>
          <a:ln w="12700">
            <a:solidFill>
              <a:srgbClr val="34D399"/>
            </a:solidFill>
            <a:prstDash val="solid"/>
          </a:ln>
        </p:spPr>
      </p:sp>
      <p:sp>
        <p:nvSpPr>
          <p:cNvPr id="20" name="Text 18"/>
          <p:cNvSpPr/>
          <p:nvPr/>
        </p:nvSpPr>
        <p:spPr>
          <a:xfrm>
            <a:off x="4846320" y="2404872"/>
            <a:ext cx="3931920" cy="274320"/>
          </a:xfrm>
          <a:prstGeom prst="rect">
            <a:avLst/>
          </a:prstGeom>
          <a:noFill/>
          <a:ln/>
        </p:spPr>
        <p:txBody>
          <a:bodyPr wrap="square" lIns="0" tIns="0" rIns="0" bIns="0" rtlCol="0" anchor="ctr"/>
          <a:lstStyle/>
          <a:p>
            <a:pPr marL="0" indent="0">
              <a:buNone/>
            </a:pPr>
            <a:r>
              <a:rPr lang="en-US" sz="1100" b="1" dirty="0">
                <a:solidFill>
                  <a:srgbClr val="F0F6FC"/>
                </a:solidFill>
                <a:latin typeface="Calibri" pitchFamily="34" charset="0"/>
                <a:ea typeface="Calibri" pitchFamily="34" charset="-122"/>
                <a:cs typeface="Calibri" pitchFamily="34" charset="-120"/>
              </a:rPr>
              <a:t>File System Changes</a:t>
            </a:r>
            <a:endParaRPr lang="en-US" sz="1100" dirty="0"/>
          </a:p>
        </p:txBody>
      </p:sp>
      <p:sp>
        <p:nvSpPr>
          <p:cNvPr id="21" name="Text 19"/>
          <p:cNvSpPr/>
          <p:nvPr/>
        </p:nvSpPr>
        <p:spPr>
          <a:xfrm>
            <a:off x="4846320" y="2555394"/>
            <a:ext cx="3931920" cy="731520"/>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Files created, deleted, or modified. Malware often drops payloads in %TEMP%, %APPDATA%, or System32. Startup folders are a persistence signal.</a:t>
            </a:r>
            <a:endParaRPr lang="en-US" sz="1100" dirty="0"/>
          </a:p>
        </p:txBody>
      </p:sp>
      <p:sp>
        <p:nvSpPr>
          <p:cNvPr id="22" name="Shape 20"/>
          <p:cNvSpPr/>
          <p:nvPr/>
        </p:nvSpPr>
        <p:spPr>
          <a:xfrm>
            <a:off x="228600" y="3730752"/>
            <a:ext cx="4160520" cy="1188720"/>
          </a:xfrm>
          <a:prstGeom prst="rect">
            <a:avLst/>
          </a:prstGeom>
          <a:solidFill>
            <a:srgbClr val="161B22"/>
          </a:solidFill>
          <a:ln w="12700">
            <a:solidFill>
              <a:srgbClr val="30363D"/>
            </a:solidFill>
            <a:prstDash val="solid"/>
          </a:ln>
          <a:effectLst>
            <a:outerShdw blurRad="101600" dist="38100" dir="8100000" algn="bl" rotWithShape="0">
              <a:srgbClr val="000000">
                <a:alpha val="30000"/>
              </a:srgbClr>
            </a:outerShdw>
          </a:effectLst>
        </p:spPr>
      </p:sp>
      <p:sp>
        <p:nvSpPr>
          <p:cNvPr id="23" name="Shape 21"/>
          <p:cNvSpPr/>
          <p:nvPr/>
        </p:nvSpPr>
        <p:spPr>
          <a:xfrm>
            <a:off x="228600" y="3730752"/>
            <a:ext cx="54864" cy="1188720"/>
          </a:xfrm>
          <a:prstGeom prst="rect">
            <a:avLst/>
          </a:prstGeom>
          <a:solidFill>
            <a:srgbClr val="FFA502"/>
          </a:solidFill>
          <a:ln w="12700">
            <a:solidFill>
              <a:srgbClr val="FFA502"/>
            </a:solidFill>
            <a:prstDash val="solid"/>
          </a:ln>
        </p:spPr>
      </p:sp>
      <p:sp>
        <p:nvSpPr>
          <p:cNvPr id="24" name="Text 22"/>
          <p:cNvSpPr/>
          <p:nvPr/>
        </p:nvSpPr>
        <p:spPr>
          <a:xfrm>
            <a:off x="365760" y="3822192"/>
            <a:ext cx="3931920" cy="274320"/>
          </a:xfrm>
          <a:prstGeom prst="rect">
            <a:avLst/>
          </a:prstGeom>
          <a:noFill/>
          <a:ln/>
        </p:spPr>
        <p:txBody>
          <a:bodyPr wrap="square" lIns="0" tIns="0" rIns="0" bIns="0" rtlCol="0" anchor="ctr"/>
          <a:lstStyle/>
          <a:p>
            <a:pPr marL="0" indent="0">
              <a:buNone/>
            </a:pPr>
            <a:r>
              <a:rPr lang="en-US" sz="1100" b="1" dirty="0">
                <a:solidFill>
                  <a:srgbClr val="F0F6FC"/>
                </a:solidFill>
                <a:latin typeface="Calibri" pitchFamily="34" charset="0"/>
                <a:ea typeface="Calibri" pitchFamily="34" charset="-122"/>
                <a:cs typeface="Calibri" pitchFamily="34" charset="-120"/>
              </a:rPr>
              <a:t>Registry Modifications</a:t>
            </a:r>
            <a:endParaRPr lang="en-US" sz="1100" dirty="0"/>
          </a:p>
        </p:txBody>
      </p:sp>
      <p:sp>
        <p:nvSpPr>
          <p:cNvPr id="25" name="Text 23"/>
          <p:cNvSpPr/>
          <p:nvPr/>
        </p:nvSpPr>
        <p:spPr>
          <a:xfrm>
            <a:off x="365760" y="3972714"/>
            <a:ext cx="3931920" cy="731520"/>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Changes to Run keys mean persistence. HKCU\Software\Microsoft\Windows\CurrentVersion\Run is the most common persistence location.</a:t>
            </a:r>
            <a:endParaRPr lang="en-US" sz="1100" dirty="0"/>
          </a:p>
        </p:txBody>
      </p:sp>
      <p:sp>
        <p:nvSpPr>
          <p:cNvPr id="26" name="Shape 24"/>
          <p:cNvSpPr/>
          <p:nvPr/>
        </p:nvSpPr>
        <p:spPr>
          <a:xfrm>
            <a:off x="4709160" y="3730752"/>
            <a:ext cx="4160520" cy="1188720"/>
          </a:xfrm>
          <a:prstGeom prst="rect">
            <a:avLst/>
          </a:prstGeom>
          <a:solidFill>
            <a:srgbClr val="161B22"/>
          </a:solidFill>
          <a:ln w="12700">
            <a:solidFill>
              <a:srgbClr val="30363D"/>
            </a:solidFill>
            <a:prstDash val="solid"/>
          </a:ln>
          <a:effectLst>
            <a:outerShdw blurRad="101600" dist="38100" dir="8100000" algn="bl" rotWithShape="0">
              <a:srgbClr val="000000">
                <a:alpha val="30000"/>
              </a:srgbClr>
            </a:outerShdw>
          </a:effectLst>
        </p:spPr>
      </p:sp>
      <p:sp>
        <p:nvSpPr>
          <p:cNvPr id="27" name="Shape 25"/>
          <p:cNvSpPr/>
          <p:nvPr/>
        </p:nvSpPr>
        <p:spPr>
          <a:xfrm>
            <a:off x="4709160" y="3730752"/>
            <a:ext cx="54864" cy="1188720"/>
          </a:xfrm>
          <a:prstGeom prst="rect">
            <a:avLst/>
          </a:prstGeom>
          <a:solidFill>
            <a:srgbClr val="F472B6"/>
          </a:solidFill>
          <a:ln w="12700">
            <a:solidFill>
              <a:srgbClr val="F472B6"/>
            </a:solidFill>
            <a:prstDash val="solid"/>
          </a:ln>
        </p:spPr>
      </p:sp>
      <p:sp>
        <p:nvSpPr>
          <p:cNvPr id="28" name="Text 26"/>
          <p:cNvSpPr/>
          <p:nvPr/>
        </p:nvSpPr>
        <p:spPr>
          <a:xfrm>
            <a:off x="4846320" y="3822192"/>
            <a:ext cx="3931920" cy="274320"/>
          </a:xfrm>
          <a:prstGeom prst="rect">
            <a:avLst/>
          </a:prstGeom>
          <a:noFill/>
          <a:ln/>
        </p:spPr>
        <p:txBody>
          <a:bodyPr wrap="square" lIns="0" tIns="0" rIns="0" bIns="0" rtlCol="0" anchor="ctr"/>
          <a:lstStyle/>
          <a:p>
            <a:pPr marL="0" indent="0">
              <a:buNone/>
            </a:pPr>
            <a:r>
              <a:rPr lang="en-US" sz="1100" b="1" dirty="0">
                <a:solidFill>
                  <a:srgbClr val="F0F6FC"/>
                </a:solidFill>
                <a:latin typeface="Calibri" pitchFamily="34" charset="0"/>
                <a:ea typeface="Calibri" pitchFamily="34" charset="-122"/>
                <a:cs typeface="Calibri" pitchFamily="34" charset="-120"/>
              </a:rPr>
              <a:t>MITRE ATT&amp;CK Tags</a:t>
            </a:r>
            <a:endParaRPr lang="en-US" sz="1100" dirty="0"/>
          </a:p>
        </p:txBody>
      </p:sp>
      <p:sp>
        <p:nvSpPr>
          <p:cNvPr id="29" name="Text 27"/>
          <p:cNvSpPr/>
          <p:nvPr/>
        </p:nvSpPr>
        <p:spPr>
          <a:xfrm>
            <a:off x="4846320" y="3972714"/>
            <a:ext cx="3931920" cy="731520"/>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any.run maps behavior to the ATT&amp;CK framework. Techniques like T1055 (Process Injection) or T1071 (C2 Communication) tell you what the malware was trying to accomplish.</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61B22"/>
          </a:solidFill>
          <a:ln w="12700">
            <a:solidFill>
              <a:srgbClr val="161B22"/>
            </a:solidFill>
            <a:prstDash val="solid"/>
          </a:ln>
        </p:spPr>
      </p:sp>
      <p:sp>
        <p:nvSpPr>
          <p:cNvPr id="3" name="Shape 1"/>
          <p:cNvSpPr/>
          <p:nvPr/>
        </p:nvSpPr>
        <p:spPr>
          <a:xfrm>
            <a:off x="0" y="685800"/>
            <a:ext cx="9144000" cy="36576"/>
          </a:xfrm>
          <a:prstGeom prst="rect">
            <a:avLst/>
          </a:prstGeom>
          <a:solidFill>
            <a:srgbClr val="00FF88"/>
          </a:solidFill>
          <a:ln w="12700">
            <a:solidFill>
              <a:srgbClr val="00FF88"/>
            </a:solidFill>
            <a:prstDash val="solid"/>
          </a:ln>
        </p:spPr>
      </p:sp>
      <p:sp>
        <p:nvSpPr>
          <p:cNvPr id="4" name="Text 2"/>
          <p:cNvSpPr/>
          <p:nvPr/>
        </p:nvSpPr>
        <p:spPr>
          <a:xfrm>
            <a:off x="320040" y="64008"/>
            <a:ext cx="8503920" cy="548640"/>
          </a:xfrm>
          <a:prstGeom prst="rect">
            <a:avLst/>
          </a:prstGeom>
          <a:noFill/>
          <a:ln/>
        </p:spPr>
        <p:txBody>
          <a:bodyPr wrap="square" lIns="0" tIns="0" rIns="0" bIns="0" rtlCol="0" anchor="ctr"/>
          <a:lstStyle/>
          <a:p>
            <a:pPr marL="0" indent="0">
              <a:buNone/>
            </a:pPr>
            <a:r>
              <a:rPr lang="en-US" sz="2200" b="1" dirty="0">
                <a:solidFill>
                  <a:srgbClr val="F0F6FC"/>
                </a:solidFill>
                <a:latin typeface="Calibri" pitchFamily="34" charset="0"/>
                <a:ea typeface="Calibri" pitchFamily="34" charset="-122"/>
                <a:cs typeface="Calibri" pitchFamily="34" charset="-120"/>
              </a:rPr>
              <a:t>MITRE ATT&amp;CK Framework</a:t>
            </a:r>
            <a:endParaRPr lang="en-US" sz="2200" dirty="0"/>
          </a:p>
        </p:txBody>
      </p:sp>
      <p:sp>
        <p:nvSpPr>
          <p:cNvPr id="6" name="Text 4"/>
          <p:cNvSpPr/>
          <p:nvPr/>
        </p:nvSpPr>
        <p:spPr>
          <a:xfrm>
            <a:off x="320040" y="868680"/>
            <a:ext cx="8503920" cy="640080"/>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MITRE ATT&amp;CK is an open framework that documents how real threat actors operate. When you see a behavior in a sandbox report, ATT&amp;CK gives it a standardized name and ID so defenders and analysts speak the same language worldwide.</a:t>
            </a:r>
            <a:endParaRPr lang="en-US" sz="1100" dirty="0"/>
          </a:p>
        </p:txBody>
      </p:sp>
      <p:sp>
        <p:nvSpPr>
          <p:cNvPr id="7" name="Shape 5"/>
          <p:cNvSpPr/>
          <p:nvPr/>
        </p:nvSpPr>
        <p:spPr>
          <a:xfrm>
            <a:off x="228600" y="1691640"/>
            <a:ext cx="2743200" cy="1234440"/>
          </a:xfrm>
          <a:prstGeom prst="rect">
            <a:avLst/>
          </a:prstGeom>
          <a:solidFill>
            <a:srgbClr val="161B22"/>
          </a:solidFill>
          <a:ln w="12700">
            <a:solidFill>
              <a:srgbClr val="30363D"/>
            </a:solidFill>
            <a:prstDash val="solid"/>
          </a:ln>
          <a:effectLst>
            <a:outerShdw blurRad="101600" dist="38100" dir="8100000" algn="bl" rotWithShape="0">
              <a:srgbClr val="000000">
                <a:alpha val="30000"/>
              </a:srgbClr>
            </a:outerShdw>
          </a:effectLst>
        </p:spPr>
      </p:sp>
      <p:sp>
        <p:nvSpPr>
          <p:cNvPr id="8" name="Shape 6"/>
          <p:cNvSpPr/>
          <p:nvPr/>
        </p:nvSpPr>
        <p:spPr>
          <a:xfrm>
            <a:off x="228600" y="1691640"/>
            <a:ext cx="2743200" cy="45720"/>
          </a:xfrm>
          <a:prstGeom prst="rect">
            <a:avLst/>
          </a:prstGeom>
          <a:solidFill>
            <a:srgbClr val="FF4757"/>
          </a:solidFill>
          <a:ln w="12700">
            <a:solidFill>
              <a:srgbClr val="FF4757"/>
            </a:solidFill>
            <a:prstDash val="solid"/>
          </a:ln>
        </p:spPr>
      </p:sp>
      <p:sp>
        <p:nvSpPr>
          <p:cNvPr id="9" name="Text 7"/>
          <p:cNvSpPr/>
          <p:nvPr/>
        </p:nvSpPr>
        <p:spPr>
          <a:xfrm>
            <a:off x="338328" y="1783080"/>
            <a:ext cx="1097280" cy="274320"/>
          </a:xfrm>
          <a:prstGeom prst="rect">
            <a:avLst/>
          </a:prstGeom>
          <a:noFill/>
          <a:ln/>
        </p:spPr>
        <p:txBody>
          <a:bodyPr wrap="square" lIns="0" tIns="0" rIns="0" bIns="0" rtlCol="0" anchor="ctr"/>
          <a:lstStyle/>
          <a:p>
            <a:pPr marL="0" indent="0">
              <a:buNone/>
            </a:pPr>
            <a:r>
              <a:rPr lang="en-US" sz="1100" b="1" dirty="0">
                <a:solidFill>
                  <a:srgbClr val="FF4757"/>
                </a:solidFill>
                <a:latin typeface="Consolas" pitchFamily="34" charset="0"/>
                <a:ea typeface="Consolas" pitchFamily="34" charset="-122"/>
                <a:cs typeface="Consolas" pitchFamily="34" charset="-120"/>
              </a:rPr>
              <a:t>T1059</a:t>
            </a:r>
            <a:endParaRPr lang="en-US" sz="1100" dirty="0"/>
          </a:p>
        </p:txBody>
      </p:sp>
      <p:sp>
        <p:nvSpPr>
          <p:cNvPr id="10" name="Text 8"/>
          <p:cNvSpPr/>
          <p:nvPr/>
        </p:nvSpPr>
        <p:spPr>
          <a:xfrm>
            <a:off x="338328" y="2075688"/>
            <a:ext cx="2468880" cy="274320"/>
          </a:xfrm>
          <a:prstGeom prst="rect">
            <a:avLst/>
          </a:prstGeom>
          <a:noFill/>
          <a:ln/>
        </p:spPr>
        <p:txBody>
          <a:bodyPr wrap="square" lIns="0" tIns="0" rIns="0" bIns="0" rtlCol="0" anchor="ctr"/>
          <a:lstStyle/>
          <a:p>
            <a:pPr marL="0" indent="0">
              <a:buNone/>
            </a:pPr>
            <a:r>
              <a:rPr lang="en-US" sz="1100" b="1" dirty="0">
                <a:solidFill>
                  <a:srgbClr val="F0F6FC"/>
                </a:solidFill>
                <a:latin typeface="Calibri" pitchFamily="34" charset="0"/>
                <a:ea typeface="Calibri" pitchFamily="34" charset="-122"/>
                <a:cs typeface="Calibri" pitchFamily="34" charset="-120"/>
              </a:rPr>
              <a:t>Command Scripting</a:t>
            </a:r>
            <a:endParaRPr lang="en-US" sz="1100" dirty="0"/>
          </a:p>
        </p:txBody>
      </p:sp>
      <p:sp>
        <p:nvSpPr>
          <p:cNvPr id="11" name="Text 9"/>
          <p:cNvSpPr/>
          <p:nvPr/>
        </p:nvSpPr>
        <p:spPr>
          <a:xfrm>
            <a:off x="338328" y="2377440"/>
            <a:ext cx="2468880" cy="438912"/>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cmd.exe or PowerShell used to run commands</a:t>
            </a:r>
            <a:endParaRPr lang="en-US" sz="1100" dirty="0"/>
          </a:p>
        </p:txBody>
      </p:sp>
      <p:sp>
        <p:nvSpPr>
          <p:cNvPr id="12" name="Shape 10"/>
          <p:cNvSpPr/>
          <p:nvPr/>
        </p:nvSpPr>
        <p:spPr>
          <a:xfrm>
            <a:off x="3154680" y="1691640"/>
            <a:ext cx="2743200" cy="1234440"/>
          </a:xfrm>
          <a:prstGeom prst="rect">
            <a:avLst/>
          </a:prstGeom>
          <a:solidFill>
            <a:srgbClr val="161B22"/>
          </a:solidFill>
          <a:ln w="12700">
            <a:solidFill>
              <a:srgbClr val="30363D"/>
            </a:solidFill>
            <a:prstDash val="solid"/>
          </a:ln>
          <a:effectLst>
            <a:outerShdw blurRad="101600" dist="38100" dir="8100000" algn="bl" rotWithShape="0">
              <a:srgbClr val="000000">
                <a:alpha val="30000"/>
              </a:srgbClr>
            </a:outerShdw>
          </a:effectLst>
        </p:spPr>
      </p:sp>
      <p:sp>
        <p:nvSpPr>
          <p:cNvPr id="13" name="Shape 11"/>
          <p:cNvSpPr/>
          <p:nvPr/>
        </p:nvSpPr>
        <p:spPr>
          <a:xfrm>
            <a:off x="3154680" y="1691640"/>
            <a:ext cx="2743200" cy="45720"/>
          </a:xfrm>
          <a:prstGeom prst="rect">
            <a:avLst/>
          </a:prstGeom>
          <a:solidFill>
            <a:srgbClr val="60A5FA"/>
          </a:solidFill>
          <a:ln w="12700">
            <a:solidFill>
              <a:srgbClr val="60A5FA"/>
            </a:solidFill>
            <a:prstDash val="solid"/>
          </a:ln>
        </p:spPr>
      </p:sp>
      <p:sp>
        <p:nvSpPr>
          <p:cNvPr id="14" name="Text 12"/>
          <p:cNvSpPr/>
          <p:nvPr/>
        </p:nvSpPr>
        <p:spPr>
          <a:xfrm>
            <a:off x="3264408" y="1783080"/>
            <a:ext cx="1097280" cy="274320"/>
          </a:xfrm>
          <a:prstGeom prst="rect">
            <a:avLst/>
          </a:prstGeom>
          <a:noFill/>
          <a:ln/>
        </p:spPr>
        <p:txBody>
          <a:bodyPr wrap="square" lIns="0" tIns="0" rIns="0" bIns="0" rtlCol="0" anchor="ctr"/>
          <a:lstStyle/>
          <a:p>
            <a:pPr marL="0" indent="0">
              <a:buNone/>
            </a:pPr>
            <a:r>
              <a:rPr lang="en-US" sz="1100" b="1" dirty="0">
                <a:solidFill>
                  <a:srgbClr val="60A5FA"/>
                </a:solidFill>
                <a:latin typeface="Consolas" pitchFamily="34" charset="0"/>
                <a:ea typeface="Consolas" pitchFamily="34" charset="-122"/>
                <a:cs typeface="Consolas" pitchFamily="34" charset="-120"/>
              </a:rPr>
              <a:t>T1071</a:t>
            </a:r>
            <a:endParaRPr lang="en-US" sz="1100" dirty="0"/>
          </a:p>
        </p:txBody>
      </p:sp>
      <p:sp>
        <p:nvSpPr>
          <p:cNvPr id="15" name="Text 13"/>
          <p:cNvSpPr/>
          <p:nvPr/>
        </p:nvSpPr>
        <p:spPr>
          <a:xfrm>
            <a:off x="3264408" y="2075688"/>
            <a:ext cx="2468880" cy="274320"/>
          </a:xfrm>
          <a:prstGeom prst="rect">
            <a:avLst/>
          </a:prstGeom>
          <a:noFill/>
          <a:ln/>
        </p:spPr>
        <p:txBody>
          <a:bodyPr wrap="square" lIns="0" tIns="0" rIns="0" bIns="0" rtlCol="0" anchor="ctr"/>
          <a:lstStyle/>
          <a:p>
            <a:pPr marL="0" indent="0">
              <a:buNone/>
            </a:pPr>
            <a:r>
              <a:rPr lang="en-US" sz="1100" b="1" dirty="0">
                <a:solidFill>
                  <a:srgbClr val="F0F6FC"/>
                </a:solidFill>
                <a:latin typeface="Calibri" pitchFamily="34" charset="0"/>
                <a:ea typeface="Calibri" pitchFamily="34" charset="-122"/>
                <a:cs typeface="Calibri" pitchFamily="34" charset="-120"/>
              </a:rPr>
              <a:t>C2 Communication</a:t>
            </a:r>
            <a:endParaRPr lang="en-US" sz="1100" dirty="0"/>
          </a:p>
        </p:txBody>
      </p:sp>
      <p:sp>
        <p:nvSpPr>
          <p:cNvPr id="16" name="Text 14"/>
          <p:cNvSpPr/>
          <p:nvPr/>
        </p:nvSpPr>
        <p:spPr>
          <a:xfrm>
            <a:off x="3264408" y="2377440"/>
            <a:ext cx="2468880" cy="438912"/>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Beaconing to attacker infrastructure</a:t>
            </a:r>
            <a:endParaRPr lang="en-US" sz="1100" dirty="0"/>
          </a:p>
        </p:txBody>
      </p:sp>
      <p:sp>
        <p:nvSpPr>
          <p:cNvPr id="17" name="Shape 15"/>
          <p:cNvSpPr/>
          <p:nvPr/>
        </p:nvSpPr>
        <p:spPr>
          <a:xfrm>
            <a:off x="6080760" y="1691640"/>
            <a:ext cx="2743200" cy="1234440"/>
          </a:xfrm>
          <a:prstGeom prst="rect">
            <a:avLst/>
          </a:prstGeom>
          <a:solidFill>
            <a:srgbClr val="161B22"/>
          </a:solidFill>
          <a:ln w="12700">
            <a:solidFill>
              <a:srgbClr val="30363D"/>
            </a:solidFill>
            <a:prstDash val="solid"/>
          </a:ln>
          <a:effectLst>
            <a:outerShdw blurRad="101600" dist="38100" dir="8100000" algn="bl" rotWithShape="0">
              <a:srgbClr val="000000">
                <a:alpha val="30000"/>
              </a:srgbClr>
            </a:outerShdw>
          </a:effectLst>
        </p:spPr>
      </p:sp>
      <p:sp>
        <p:nvSpPr>
          <p:cNvPr id="18" name="Shape 16"/>
          <p:cNvSpPr/>
          <p:nvPr/>
        </p:nvSpPr>
        <p:spPr>
          <a:xfrm>
            <a:off x="6080760" y="1691640"/>
            <a:ext cx="2743200" cy="45720"/>
          </a:xfrm>
          <a:prstGeom prst="rect">
            <a:avLst/>
          </a:prstGeom>
          <a:solidFill>
            <a:srgbClr val="A78BFA"/>
          </a:solidFill>
          <a:ln w="12700">
            <a:solidFill>
              <a:srgbClr val="A78BFA"/>
            </a:solidFill>
            <a:prstDash val="solid"/>
          </a:ln>
        </p:spPr>
      </p:sp>
      <p:sp>
        <p:nvSpPr>
          <p:cNvPr id="19" name="Text 17"/>
          <p:cNvSpPr/>
          <p:nvPr/>
        </p:nvSpPr>
        <p:spPr>
          <a:xfrm>
            <a:off x="6190488" y="1783080"/>
            <a:ext cx="1097280" cy="274320"/>
          </a:xfrm>
          <a:prstGeom prst="rect">
            <a:avLst/>
          </a:prstGeom>
          <a:noFill/>
          <a:ln/>
        </p:spPr>
        <p:txBody>
          <a:bodyPr wrap="square" lIns="0" tIns="0" rIns="0" bIns="0" rtlCol="0" anchor="ctr"/>
          <a:lstStyle/>
          <a:p>
            <a:pPr marL="0" indent="0">
              <a:buNone/>
            </a:pPr>
            <a:r>
              <a:rPr lang="en-US" sz="1100" b="1" dirty="0">
                <a:solidFill>
                  <a:srgbClr val="A78BFA"/>
                </a:solidFill>
                <a:latin typeface="Consolas" pitchFamily="34" charset="0"/>
                <a:ea typeface="Consolas" pitchFamily="34" charset="-122"/>
                <a:cs typeface="Consolas" pitchFamily="34" charset="-120"/>
              </a:rPr>
              <a:t>T1055</a:t>
            </a:r>
            <a:endParaRPr lang="en-US" sz="1100" dirty="0"/>
          </a:p>
        </p:txBody>
      </p:sp>
      <p:sp>
        <p:nvSpPr>
          <p:cNvPr id="20" name="Text 18"/>
          <p:cNvSpPr/>
          <p:nvPr/>
        </p:nvSpPr>
        <p:spPr>
          <a:xfrm>
            <a:off x="6190488" y="2075688"/>
            <a:ext cx="2468880" cy="274320"/>
          </a:xfrm>
          <a:prstGeom prst="rect">
            <a:avLst/>
          </a:prstGeom>
          <a:noFill/>
          <a:ln/>
        </p:spPr>
        <p:txBody>
          <a:bodyPr wrap="square" lIns="0" tIns="0" rIns="0" bIns="0" rtlCol="0" anchor="ctr"/>
          <a:lstStyle/>
          <a:p>
            <a:pPr marL="0" indent="0">
              <a:buNone/>
            </a:pPr>
            <a:r>
              <a:rPr lang="en-US" sz="1100" b="1" dirty="0">
                <a:solidFill>
                  <a:srgbClr val="F0F6FC"/>
                </a:solidFill>
                <a:latin typeface="Calibri" pitchFamily="34" charset="0"/>
                <a:ea typeface="Calibri" pitchFamily="34" charset="-122"/>
                <a:cs typeface="Calibri" pitchFamily="34" charset="-120"/>
              </a:rPr>
              <a:t>Process Injection</a:t>
            </a:r>
            <a:endParaRPr lang="en-US" sz="1100" dirty="0"/>
          </a:p>
        </p:txBody>
      </p:sp>
      <p:sp>
        <p:nvSpPr>
          <p:cNvPr id="21" name="Text 19"/>
          <p:cNvSpPr/>
          <p:nvPr/>
        </p:nvSpPr>
        <p:spPr>
          <a:xfrm>
            <a:off x="6190488" y="2377440"/>
            <a:ext cx="2468880" cy="438912"/>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Injecting code into legitimate processes</a:t>
            </a:r>
            <a:endParaRPr lang="en-US" sz="1100" dirty="0"/>
          </a:p>
        </p:txBody>
      </p:sp>
      <p:sp>
        <p:nvSpPr>
          <p:cNvPr id="22" name="Shape 20"/>
          <p:cNvSpPr/>
          <p:nvPr/>
        </p:nvSpPr>
        <p:spPr>
          <a:xfrm>
            <a:off x="228600" y="3154680"/>
            <a:ext cx="2743200" cy="1234440"/>
          </a:xfrm>
          <a:prstGeom prst="rect">
            <a:avLst/>
          </a:prstGeom>
          <a:solidFill>
            <a:srgbClr val="161B22"/>
          </a:solidFill>
          <a:ln w="12700">
            <a:solidFill>
              <a:srgbClr val="30363D"/>
            </a:solidFill>
            <a:prstDash val="solid"/>
          </a:ln>
          <a:effectLst>
            <a:outerShdw blurRad="101600" dist="38100" dir="8100000" algn="bl" rotWithShape="0">
              <a:srgbClr val="000000">
                <a:alpha val="30000"/>
              </a:srgbClr>
            </a:outerShdw>
          </a:effectLst>
        </p:spPr>
      </p:sp>
      <p:sp>
        <p:nvSpPr>
          <p:cNvPr id="23" name="Shape 21"/>
          <p:cNvSpPr/>
          <p:nvPr/>
        </p:nvSpPr>
        <p:spPr>
          <a:xfrm>
            <a:off x="228600" y="3154680"/>
            <a:ext cx="2743200" cy="45720"/>
          </a:xfrm>
          <a:prstGeom prst="rect">
            <a:avLst/>
          </a:prstGeom>
          <a:solidFill>
            <a:srgbClr val="FFA502"/>
          </a:solidFill>
          <a:ln w="12700">
            <a:solidFill>
              <a:srgbClr val="FFA502"/>
            </a:solidFill>
            <a:prstDash val="solid"/>
          </a:ln>
        </p:spPr>
      </p:sp>
      <p:sp>
        <p:nvSpPr>
          <p:cNvPr id="24" name="Text 22"/>
          <p:cNvSpPr/>
          <p:nvPr/>
        </p:nvSpPr>
        <p:spPr>
          <a:xfrm>
            <a:off x="338328" y="3246120"/>
            <a:ext cx="1097280" cy="274320"/>
          </a:xfrm>
          <a:prstGeom prst="rect">
            <a:avLst/>
          </a:prstGeom>
          <a:noFill/>
          <a:ln/>
        </p:spPr>
        <p:txBody>
          <a:bodyPr wrap="square" lIns="0" tIns="0" rIns="0" bIns="0" rtlCol="0" anchor="ctr"/>
          <a:lstStyle/>
          <a:p>
            <a:pPr marL="0" indent="0">
              <a:buNone/>
            </a:pPr>
            <a:r>
              <a:rPr lang="en-US" sz="1100" b="1" dirty="0">
                <a:solidFill>
                  <a:srgbClr val="FFA502"/>
                </a:solidFill>
                <a:latin typeface="Consolas" pitchFamily="34" charset="0"/>
                <a:ea typeface="Consolas" pitchFamily="34" charset="-122"/>
                <a:cs typeface="Consolas" pitchFamily="34" charset="-120"/>
              </a:rPr>
              <a:t>T1547</a:t>
            </a:r>
            <a:endParaRPr lang="en-US" sz="1100" dirty="0"/>
          </a:p>
        </p:txBody>
      </p:sp>
      <p:sp>
        <p:nvSpPr>
          <p:cNvPr id="25" name="Text 23"/>
          <p:cNvSpPr/>
          <p:nvPr/>
        </p:nvSpPr>
        <p:spPr>
          <a:xfrm>
            <a:off x="338328" y="3538728"/>
            <a:ext cx="2468880" cy="274320"/>
          </a:xfrm>
          <a:prstGeom prst="rect">
            <a:avLst/>
          </a:prstGeom>
          <a:noFill/>
          <a:ln/>
        </p:spPr>
        <p:txBody>
          <a:bodyPr wrap="square" lIns="0" tIns="0" rIns="0" bIns="0" rtlCol="0" anchor="ctr"/>
          <a:lstStyle/>
          <a:p>
            <a:pPr marL="0" indent="0">
              <a:buNone/>
            </a:pPr>
            <a:r>
              <a:rPr lang="en-US" sz="1100" b="1" dirty="0">
                <a:solidFill>
                  <a:srgbClr val="F0F6FC"/>
                </a:solidFill>
                <a:latin typeface="Calibri" pitchFamily="34" charset="0"/>
                <a:ea typeface="Calibri" pitchFamily="34" charset="-122"/>
                <a:cs typeface="Calibri" pitchFamily="34" charset="-120"/>
              </a:rPr>
              <a:t>Boot Persistence</a:t>
            </a:r>
            <a:endParaRPr lang="en-US" sz="1100" dirty="0"/>
          </a:p>
        </p:txBody>
      </p:sp>
      <p:sp>
        <p:nvSpPr>
          <p:cNvPr id="26" name="Text 24"/>
          <p:cNvSpPr/>
          <p:nvPr/>
        </p:nvSpPr>
        <p:spPr>
          <a:xfrm>
            <a:off x="338328" y="3840480"/>
            <a:ext cx="2468880" cy="438912"/>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Registry Run keys for auto-start</a:t>
            </a:r>
            <a:endParaRPr lang="en-US" sz="1100" dirty="0"/>
          </a:p>
        </p:txBody>
      </p:sp>
      <p:sp>
        <p:nvSpPr>
          <p:cNvPr id="27" name="Shape 25"/>
          <p:cNvSpPr/>
          <p:nvPr/>
        </p:nvSpPr>
        <p:spPr>
          <a:xfrm>
            <a:off x="3154680" y="3154680"/>
            <a:ext cx="2743200" cy="1234440"/>
          </a:xfrm>
          <a:prstGeom prst="rect">
            <a:avLst/>
          </a:prstGeom>
          <a:solidFill>
            <a:srgbClr val="161B22"/>
          </a:solidFill>
          <a:ln w="12700">
            <a:solidFill>
              <a:srgbClr val="30363D"/>
            </a:solidFill>
            <a:prstDash val="solid"/>
          </a:ln>
          <a:effectLst>
            <a:outerShdw blurRad="101600" dist="38100" dir="8100000" algn="bl" rotWithShape="0">
              <a:srgbClr val="000000">
                <a:alpha val="30000"/>
              </a:srgbClr>
            </a:outerShdw>
          </a:effectLst>
        </p:spPr>
      </p:sp>
      <p:sp>
        <p:nvSpPr>
          <p:cNvPr id="28" name="Shape 26"/>
          <p:cNvSpPr/>
          <p:nvPr/>
        </p:nvSpPr>
        <p:spPr>
          <a:xfrm>
            <a:off x="3154680" y="3154680"/>
            <a:ext cx="2743200" cy="45720"/>
          </a:xfrm>
          <a:prstGeom prst="rect">
            <a:avLst/>
          </a:prstGeom>
          <a:solidFill>
            <a:srgbClr val="34D399"/>
          </a:solidFill>
          <a:ln w="12700">
            <a:solidFill>
              <a:srgbClr val="34D399"/>
            </a:solidFill>
            <a:prstDash val="solid"/>
          </a:ln>
        </p:spPr>
      </p:sp>
      <p:sp>
        <p:nvSpPr>
          <p:cNvPr id="29" name="Text 27"/>
          <p:cNvSpPr/>
          <p:nvPr/>
        </p:nvSpPr>
        <p:spPr>
          <a:xfrm>
            <a:off x="3264408" y="3246120"/>
            <a:ext cx="1097280" cy="274320"/>
          </a:xfrm>
          <a:prstGeom prst="rect">
            <a:avLst/>
          </a:prstGeom>
          <a:noFill/>
          <a:ln/>
        </p:spPr>
        <p:txBody>
          <a:bodyPr wrap="square" lIns="0" tIns="0" rIns="0" bIns="0" rtlCol="0" anchor="ctr"/>
          <a:lstStyle/>
          <a:p>
            <a:pPr marL="0" indent="0">
              <a:buNone/>
            </a:pPr>
            <a:r>
              <a:rPr lang="en-US" sz="1100" b="1" dirty="0">
                <a:solidFill>
                  <a:srgbClr val="34D399"/>
                </a:solidFill>
                <a:latin typeface="Consolas" pitchFamily="34" charset="0"/>
                <a:ea typeface="Consolas" pitchFamily="34" charset="-122"/>
                <a:cs typeface="Consolas" pitchFamily="34" charset="-120"/>
              </a:rPr>
              <a:t>T1027</a:t>
            </a:r>
            <a:endParaRPr lang="en-US" sz="1100" dirty="0"/>
          </a:p>
        </p:txBody>
      </p:sp>
      <p:sp>
        <p:nvSpPr>
          <p:cNvPr id="30" name="Text 28"/>
          <p:cNvSpPr/>
          <p:nvPr/>
        </p:nvSpPr>
        <p:spPr>
          <a:xfrm>
            <a:off x="3264408" y="3538728"/>
            <a:ext cx="2468880" cy="274320"/>
          </a:xfrm>
          <a:prstGeom prst="rect">
            <a:avLst/>
          </a:prstGeom>
          <a:noFill/>
          <a:ln/>
        </p:spPr>
        <p:txBody>
          <a:bodyPr wrap="square" lIns="0" tIns="0" rIns="0" bIns="0" rtlCol="0" anchor="ctr"/>
          <a:lstStyle/>
          <a:p>
            <a:pPr marL="0" indent="0">
              <a:buNone/>
            </a:pPr>
            <a:r>
              <a:rPr lang="en-US" sz="1100" b="1" dirty="0">
                <a:solidFill>
                  <a:srgbClr val="F0F6FC"/>
                </a:solidFill>
                <a:latin typeface="Calibri" pitchFamily="34" charset="0"/>
                <a:ea typeface="Calibri" pitchFamily="34" charset="-122"/>
                <a:cs typeface="Calibri" pitchFamily="34" charset="-120"/>
              </a:rPr>
              <a:t>Obfuscation</a:t>
            </a:r>
            <a:endParaRPr lang="en-US" sz="1100" dirty="0"/>
          </a:p>
        </p:txBody>
      </p:sp>
      <p:sp>
        <p:nvSpPr>
          <p:cNvPr id="31" name="Text 29"/>
          <p:cNvSpPr/>
          <p:nvPr/>
        </p:nvSpPr>
        <p:spPr>
          <a:xfrm>
            <a:off x="3264408" y="3840480"/>
            <a:ext cx="2468880" cy="438912"/>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Packed or encoded payload to evade AV</a:t>
            </a:r>
            <a:endParaRPr lang="en-US" sz="1100" dirty="0"/>
          </a:p>
        </p:txBody>
      </p:sp>
      <p:sp>
        <p:nvSpPr>
          <p:cNvPr id="32" name="Shape 30"/>
          <p:cNvSpPr/>
          <p:nvPr/>
        </p:nvSpPr>
        <p:spPr>
          <a:xfrm>
            <a:off x="6080760" y="3154680"/>
            <a:ext cx="2743200" cy="1234440"/>
          </a:xfrm>
          <a:prstGeom prst="rect">
            <a:avLst/>
          </a:prstGeom>
          <a:solidFill>
            <a:srgbClr val="161B22"/>
          </a:solidFill>
          <a:ln w="12700">
            <a:solidFill>
              <a:srgbClr val="30363D"/>
            </a:solidFill>
            <a:prstDash val="solid"/>
          </a:ln>
          <a:effectLst>
            <a:outerShdw blurRad="101600" dist="38100" dir="8100000" algn="bl" rotWithShape="0">
              <a:srgbClr val="000000">
                <a:alpha val="30000"/>
              </a:srgbClr>
            </a:outerShdw>
          </a:effectLst>
        </p:spPr>
      </p:sp>
      <p:sp>
        <p:nvSpPr>
          <p:cNvPr id="33" name="Shape 31"/>
          <p:cNvSpPr/>
          <p:nvPr/>
        </p:nvSpPr>
        <p:spPr>
          <a:xfrm>
            <a:off x="6080760" y="3154680"/>
            <a:ext cx="2743200" cy="45720"/>
          </a:xfrm>
          <a:prstGeom prst="rect">
            <a:avLst/>
          </a:prstGeom>
          <a:solidFill>
            <a:srgbClr val="F472B6"/>
          </a:solidFill>
          <a:ln w="12700">
            <a:solidFill>
              <a:srgbClr val="F472B6"/>
            </a:solidFill>
            <a:prstDash val="solid"/>
          </a:ln>
        </p:spPr>
      </p:sp>
      <p:sp>
        <p:nvSpPr>
          <p:cNvPr id="34" name="Text 32"/>
          <p:cNvSpPr/>
          <p:nvPr/>
        </p:nvSpPr>
        <p:spPr>
          <a:xfrm>
            <a:off x="6190488" y="3246120"/>
            <a:ext cx="1097280" cy="274320"/>
          </a:xfrm>
          <a:prstGeom prst="rect">
            <a:avLst/>
          </a:prstGeom>
          <a:noFill/>
          <a:ln/>
        </p:spPr>
        <p:txBody>
          <a:bodyPr wrap="square" lIns="0" tIns="0" rIns="0" bIns="0" rtlCol="0" anchor="ctr"/>
          <a:lstStyle/>
          <a:p>
            <a:pPr marL="0" indent="0">
              <a:buNone/>
            </a:pPr>
            <a:r>
              <a:rPr lang="en-US" sz="1100" b="1" dirty="0">
                <a:solidFill>
                  <a:srgbClr val="F472B6"/>
                </a:solidFill>
                <a:latin typeface="Consolas" pitchFamily="34" charset="0"/>
                <a:ea typeface="Consolas" pitchFamily="34" charset="-122"/>
                <a:cs typeface="Consolas" pitchFamily="34" charset="-120"/>
              </a:rPr>
              <a:t>T1082</a:t>
            </a:r>
            <a:endParaRPr lang="en-US" sz="1100" dirty="0"/>
          </a:p>
        </p:txBody>
      </p:sp>
      <p:sp>
        <p:nvSpPr>
          <p:cNvPr id="35" name="Text 33"/>
          <p:cNvSpPr/>
          <p:nvPr/>
        </p:nvSpPr>
        <p:spPr>
          <a:xfrm>
            <a:off x="6190488" y="3538728"/>
            <a:ext cx="2468880" cy="274320"/>
          </a:xfrm>
          <a:prstGeom prst="rect">
            <a:avLst/>
          </a:prstGeom>
          <a:noFill/>
          <a:ln/>
        </p:spPr>
        <p:txBody>
          <a:bodyPr wrap="square" lIns="0" tIns="0" rIns="0" bIns="0" rtlCol="0" anchor="ctr"/>
          <a:lstStyle/>
          <a:p>
            <a:pPr marL="0" indent="0">
              <a:buNone/>
            </a:pPr>
            <a:r>
              <a:rPr lang="en-US" sz="1100" b="1" dirty="0">
                <a:solidFill>
                  <a:srgbClr val="F0F6FC"/>
                </a:solidFill>
                <a:latin typeface="Calibri" pitchFamily="34" charset="0"/>
                <a:ea typeface="Calibri" pitchFamily="34" charset="-122"/>
                <a:cs typeface="Calibri" pitchFamily="34" charset="-120"/>
              </a:rPr>
              <a:t>System Discovery</a:t>
            </a:r>
            <a:endParaRPr lang="en-US" sz="1100" dirty="0"/>
          </a:p>
        </p:txBody>
      </p:sp>
      <p:sp>
        <p:nvSpPr>
          <p:cNvPr id="36" name="Text 34"/>
          <p:cNvSpPr/>
          <p:nvPr/>
        </p:nvSpPr>
        <p:spPr>
          <a:xfrm>
            <a:off x="6190488" y="3840480"/>
            <a:ext cx="2468880" cy="438912"/>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Malware fingerprinting the victim machine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61B22"/>
          </a:solidFill>
          <a:ln w="12700">
            <a:solidFill>
              <a:srgbClr val="161B22"/>
            </a:solidFill>
            <a:prstDash val="solid"/>
          </a:ln>
        </p:spPr>
      </p:sp>
      <p:sp>
        <p:nvSpPr>
          <p:cNvPr id="3" name="Shape 1"/>
          <p:cNvSpPr/>
          <p:nvPr/>
        </p:nvSpPr>
        <p:spPr>
          <a:xfrm>
            <a:off x="0" y="685800"/>
            <a:ext cx="9144000" cy="36576"/>
          </a:xfrm>
          <a:prstGeom prst="rect">
            <a:avLst/>
          </a:prstGeom>
          <a:solidFill>
            <a:srgbClr val="00FF88"/>
          </a:solidFill>
          <a:ln w="12700">
            <a:solidFill>
              <a:srgbClr val="00FF88"/>
            </a:solidFill>
            <a:prstDash val="solid"/>
          </a:ln>
        </p:spPr>
      </p:sp>
      <p:sp>
        <p:nvSpPr>
          <p:cNvPr id="4" name="Text 2"/>
          <p:cNvSpPr/>
          <p:nvPr/>
        </p:nvSpPr>
        <p:spPr>
          <a:xfrm>
            <a:off x="320040" y="64008"/>
            <a:ext cx="8503920" cy="548640"/>
          </a:xfrm>
          <a:prstGeom prst="rect">
            <a:avLst/>
          </a:prstGeom>
          <a:noFill/>
          <a:ln/>
        </p:spPr>
        <p:txBody>
          <a:bodyPr wrap="square" lIns="0" tIns="0" rIns="0" bIns="0" rtlCol="0" anchor="ctr"/>
          <a:lstStyle/>
          <a:p>
            <a:pPr marL="0" indent="0">
              <a:buNone/>
            </a:pPr>
            <a:r>
              <a:rPr lang="en-US" sz="2200" b="1" dirty="0">
                <a:solidFill>
                  <a:srgbClr val="F0F6FC"/>
                </a:solidFill>
                <a:latin typeface="Calibri" pitchFamily="34" charset="0"/>
                <a:ea typeface="Calibri" pitchFamily="34" charset="-122"/>
                <a:cs typeface="Calibri" pitchFamily="34" charset="-120"/>
              </a:rPr>
              <a:t>Indicators of Compromise (IOCs)</a:t>
            </a:r>
            <a:endParaRPr lang="en-US" sz="2200" dirty="0"/>
          </a:p>
        </p:txBody>
      </p:sp>
      <p:sp>
        <p:nvSpPr>
          <p:cNvPr id="6" name="Text 4"/>
          <p:cNvSpPr/>
          <p:nvPr/>
        </p:nvSpPr>
        <p:spPr>
          <a:xfrm>
            <a:off x="320040" y="812408"/>
            <a:ext cx="8503920" cy="594360"/>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IOCs are pieces of evidence that a system has been compromised. After your analysis, you will collect these and include them in your report. They are also shared with threat intelligence platforms so other defenders can block the same threat.</a:t>
            </a:r>
            <a:endParaRPr lang="en-US" sz="1100" dirty="0"/>
          </a:p>
        </p:txBody>
      </p:sp>
      <p:sp>
        <p:nvSpPr>
          <p:cNvPr id="7" name="Shape 5"/>
          <p:cNvSpPr/>
          <p:nvPr/>
        </p:nvSpPr>
        <p:spPr>
          <a:xfrm>
            <a:off x="228600" y="1691640"/>
            <a:ext cx="2743200" cy="1280160"/>
          </a:xfrm>
          <a:prstGeom prst="rect">
            <a:avLst/>
          </a:prstGeom>
          <a:solidFill>
            <a:srgbClr val="161B22"/>
          </a:solidFill>
          <a:ln w="12700">
            <a:solidFill>
              <a:srgbClr val="30363D"/>
            </a:solidFill>
            <a:prstDash val="solid"/>
          </a:ln>
          <a:effectLst>
            <a:outerShdw blurRad="101600" dist="38100" dir="8100000" algn="bl" rotWithShape="0">
              <a:srgbClr val="000000">
                <a:alpha val="30000"/>
              </a:srgbClr>
            </a:outerShdw>
          </a:effectLst>
        </p:spPr>
      </p:sp>
      <p:sp>
        <p:nvSpPr>
          <p:cNvPr id="8" name="Shape 6"/>
          <p:cNvSpPr/>
          <p:nvPr/>
        </p:nvSpPr>
        <p:spPr>
          <a:xfrm>
            <a:off x="228600" y="1691640"/>
            <a:ext cx="54864" cy="1280160"/>
          </a:xfrm>
          <a:prstGeom prst="rect">
            <a:avLst/>
          </a:prstGeom>
          <a:solidFill>
            <a:srgbClr val="60A5FA"/>
          </a:solidFill>
          <a:ln w="12700">
            <a:solidFill>
              <a:srgbClr val="60A5FA"/>
            </a:solidFill>
            <a:prstDash val="solid"/>
          </a:ln>
        </p:spPr>
      </p:sp>
      <p:sp>
        <p:nvSpPr>
          <p:cNvPr id="9" name="Text 7"/>
          <p:cNvSpPr/>
          <p:nvPr/>
        </p:nvSpPr>
        <p:spPr>
          <a:xfrm>
            <a:off x="365760" y="1764792"/>
            <a:ext cx="2468880" cy="274320"/>
          </a:xfrm>
          <a:prstGeom prst="rect">
            <a:avLst/>
          </a:prstGeom>
          <a:noFill/>
          <a:ln/>
        </p:spPr>
        <p:txBody>
          <a:bodyPr wrap="square" lIns="0" tIns="0" rIns="0" bIns="0" rtlCol="0" anchor="ctr"/>
          <a:lstStyle/>
          <a:p>
            <a:pPr marL="0" indent="0">
              <a:buNone/>
            </a:pPr>
            <a:r>
              <a:rPr lang="en-US" sz="1100" b="1" dirty="0">
                <a:solidFill>
                  <a:srgbClr val="60A5FA"/>
                </a:solidFill>
                <a:latin typeface="Calibri" pitchFamily="34" charset="0"/>
                <a:ea typeface="Calibri" pitchFamily="34" charset="-122"/>
                <a:cs typeface="Calibri" pitchFamily="34" charset="-120"/>
              </a:rPr>
              <a:t>File Hashes</a:t>
            </a:r>
            <a:endParaRPr lang="en-US" sz="1100" dirty="0"/>
          </a:p>
        </p:txBody>
      </p:sp>
      <p:sp>
        <p:nvSpPr>
          <p:cNvPr id="10" name="Text 8"/>
          <p:cNvSpPr/>
          <p:nvPr/>
        </p:nvSpPr>
        <p:spPr>
          <a:xfrm>
            <a:off x="365760" y="2075688"/>
            <a:ext cx="2468880" cy="228600"/>
          </a:xfrm>
          <a:prstGeom prst="rect">
            <a:avLst/>
          </a:prstGeom>
          <a:noFill/>
          <a:ln/>
        </p:spPr>
        <p:txBody>
          <a:bodyPr wrap="square" lIns="0" tIns="0" rIns="0" bIns="0" rtlCol="0" anchor="ctr"/>
          <a:lstStyle/>
          <a:p>
            <a:pPr marL="0" indent="0">
              <a:buNone/>
            </a:pPr>
            <a:r>
              <a:rPr lang="en-US" sz="850" dirty="0">
                <a:solidFill>
                  <a:srgbClr val="00FF88"/>
                </a:solidFill>
                <a:latin typeface="Consolas" pitchFamily="34" charset="0"/>
                <a:ea typeface="Consolas" pitchFamily="34" charset="-122"/>
                <a:cs typeface="Consolas" pitchFamily="34" charset="-120"/>
              </a:rPr>
              <a:t>MD5, SHA1, SHA256</a:t>
            </a:r>
            <a:endParaRPr lang="en-US" sz="850" dirty="0"/>
          </a:p>
        </p:txBody>
      </p:sp>
      <p:sp>
        <p:nvSpPr>
          <p:cNvPr id="11" name="Text 9"/>
          <p:cNvSpPr/>
          <p:nvPr/>
        </p:nvSpPr>
        <p:spPr>
          <a:xfrm>
            <a:off x="365760" y="2275448"/>
            <a:ext cx="2468880" cy="548640"/>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The fingerprint of a malicious file. Any copy of the file anywhere in the world will have the same hash.</a:t>
            </a:r>
            <a:endParaRPr lang="en-US" sz="1100" dirty="0"/>
          </a:p>
        </p:txBody>
      </p:sp>
      <p:sp>
        <p:nvSpPr>
          <p:cNvPr id="12" name="Shape 10"/>
          <p:cNvSpPr/>
          <p:nvPr/>
        </p:nvSpPr>
        <p:spPr>
          <a:xfrm>
            <a:off x="3154680" y="1691640"/>
            <a:ext cx="2743200" cy="1280160"/>
          </a:xfrm>
          <a:prstGeom prst="rect">
            <a:avLst/>
          </a:prstGeom>
          <a:solidFill>
            <a:srgbClr val="161B22"/>
          </a:solidFill>
          <a:ln w="12700">
            <a:solidFill>
              <a:srgbClr val="30363D"/>
            </a:solidFill>
            <a:prstDash val="solid"/>
          </a:ln>
          <a:effectLst>
            <a:outerShdw blurRad="101600" dist="38100" dir="8100000" algn="bl" rotWithShape="0">
              <a:srgbClr val="000000">
                <a:alpha val="30000"/>
              </a:srgbClr>
            </a:outerShdw>
          </a:effectLst>
        </p:spPr>
      </p:sp>
      <p:sp>
        <p:nvSpPr>
          <p:cNvPr id="13" name="Shape 11"/>
          <p:cNvSpPr/>
          <p:nvPr/>
        </p:nvSpPr>
        <p:spPr>
          <a:xfrm>
            <a:off x="3154680" y="1691640"/>
            <a:ext cx="54864" cy="1280160"/>
          </a:xfrm>
          <a:prstGeom prst="rect">
            <a:avLst/>
          </a:prstGeom>
          <a:solidFill>
            <a:srgbClr val="FF4757"/>
          </a:solidFill>
          <a:ln w="12700">
            <a:solidFill>
              <a:srgbClr val="FF4757"/>
            </a:solidFill>
            <a:prstDash val="solid"/>
          </a:ln>
        </p:spPr>
      </p:sp>
      <p:sp>
        <p:nvSpPr>
          <p:cNvPr id="14" name="Text 12"/>
          <p:cNvSpPr/>
          <p:nvPr/>
        </p:nvSpPr>
        <p:spPr>
          <a:xfrm>
            <a:off x="3291840" y="1764792"/>
            <a:ext cx="2468880" cy="274320"/>
          </a:xfrm>
          <a:prstGeom prst="rect">
            <a:avLst/>
          </a:prstGeom>
          <a:noFill/>
          <a:ln/>
        </p:spPr>
        <p:txBody>
          <a:bodyPr wrap="square" lIns="0" tIns="0" rIns="0" bIns="0" rtlCol="0" anchor="ctr"/>
          <a:lstStyle/>
          <a:p>
            <a:pPr marL="0" indent="0">
              <a:buNone/>
            </a:pPr>
            <a:r>
              <a:rPr lang="en-US" sz="1100" b="1" dirty="0">
                <a:solidFill>
                  <a:srgbClr val="FF4757"/>
                </a:solidFill>
                <a:latin typeface="Calibri" pitchFamily="34" charset="0"/>
                <a:ea typeface="Calibri" pitchFamily="34" charset="-122"/>
                <a:cs typeface="Calibri" pitchFamily="34" charset="-120"/>
              </a:rPr>
              <a:t>IP Addresses</a:t>
            </a:r>
            <a:endParaRPr lang="en-US" sz="1100" dirty="0"/>
          </a:p>
        </p:txBody>
      </p:sp>
      <p:sp>
        <p:nvSpPr>
          <p:cNvPr id="15" name="Text 13"/>
          <p:cNvSpPr/>
          <p:nvPr/>
        </p:nvSpPr>
        <p:spPr>
          <a:xfrm>
            <a:off x="3291840" y="2075688"/>
            <a:ext cx="2468880" cy="228600"/>
          </a:xfrm>
          <a:prstGeom prst="rect">
            <a:avLst/>
          </a:prstGeom>
          <a:noFill/>
          <a:ln/>
        </p:spPr>
        <p:txBody>
          <a:bodyPr wrap="square" lIns="0" tIns="0" rIns="0" bIns="0" rtlCol="0" anchor="ctr"/>
          <a:lstStyle/>
          <a:p>
            <a:pPr marL="0" indent="0">
              <a:buNone/>
            </a:pPr>
            <a:r>
              <a:rPr lang="en-US" sz="850" dirty="0">
                <a:solidFill>
                  <a:srgbClr val="00FF88"/>
                </a:solidFill>
                <a:latin typeface="Consolas" pitchFamily="34" charset="0"/>
                <a:ea typeface="Consolas" pitchFamily="34" charset="-122"/>
                <a:cs typeface="Consolas" pitchFamily="34" charset="-120"/>
              </a:rPr>
              <a:t>C2 server IPs</a:t>
            </a:r>
            <a:endParaRPr lang="en-US" sz="850" dirty="0"/>
          </a:p>
        </p:txBody>
      </p:sp>
      <p:sp>
        <p:nvSpPr>
          <p:cNvPr id="16" name="Text 14"/>
          <p:cNvSpPr/>
          <p:nvPr/>
        </p:nvSpPr>
        <p:spPr>
          <a:xfrm>
            <a:off x="3291840" y="2275448"/>
            <a:ext cx="2468880" cy="548640"/>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Attacker-controlled servers the malware connects to. Can be blocked at the firewall.</a:t>
            </a:r>
            <a:endParaRPr lang="en-US" sz="1100" dirty="0"/>
          </a:p>
        </p:txBody>
      </p:sp>
      <p:sp>
        <p:nvSpPr>
          <p:cNvPr id="17" name="Shape 15"/>
          <p:cNvSpPr/>
          <p:nvPr/>
        </p:nvSpPr>
        <p:spPr>
          <a:xfrm>
            <a:off x="6080760" y="1691640"/>
            <a:ext cx="2743200" cy="1280160"/>
          </a:xfrm>
          <a:prstGeom prst="rect">
            <a:avLst/>
          </a:prstGeom>
          <a:solidFill>
            <a:srgbClr val="161B22"/>
          </a:solidFill>
          <a:ln w="12700">
            <a:solidFill>
              <a:srgbClr val="30363D"/>
            </a:solidFill>
            <a:prstDash val="solid"/>
          </a:ln>
          <a:effectLst>
            <a:outerShdw blurRad="101600" dist="38100" dir="8100000" algn="bl" rotWithShape="0">
              <a:srgbClr val="000000">
                <a:alpha val="30000"/>
              </a:srgbClr>
            </a:outerShdw>
          </a:effectLst>
        </p:spPr>
      </p:sp>
      <p:sp>
        <p:nvSpPr>
          <p:cNvPr id="18" name="Shape 16"/>
          <p:cNvSpPr/>
          <p:nvPr/>
        </p:nvSpPr>
        <p:spPr>
          <a:xfrm>
            <a:off x="6080760" y="1691640"/>
            <a:ext cx="54864" cy="1280160"/>
          </a:xfrm>
          <a:prstGeom prst="rect">
            <a:avLst/>
          </a:prstGeom>
          <a:solidFill>
            <a:srgbClr val="FFA502"/>
          </a:solidFill>
          <a:ln w="12700">
            <a:solidFill>
              <a:srgbClr val="FFA502"/>
            </a:solidFill>
            <a:prstDash val="solid"/>
          </a:ln>
        </p:spPr>
      </p:sp>
      <p:sp>
        <p:nvSpPr>
          <p:cNvPr id="19" name="Text 17"/>
          <p:cNvSpPr/>
          <p:nvPr/>
        </p:nvSpPr>
        <p:spPr>
          <a:xfrm>
            <a:off x="6217920" y="1764792"/>
            <a:ext cx="2468880" cy="274320"/>
          </a:xfrm>
          <a:prstGeom prst="rect">
            <a:avLst/>
          </a:prstGeom>
          <a:noFill/>
          <a:ln/>
        </p:spPr>
        <p:txBody>
          <a:bodyPr wrap="square" lIns="0" tIns="0" rIns="0" bIns="0" rtlCol="0" anchor="ctr"/>
          <a:lstStyle/>
          <a:p>
            <a:pPr marL="0" indent="0">
              <a:buNone/>
            </a:pPr>
            <a:r>
              <a:rPr lang="en-US" sz="1100" b="1" dirty="0">
                <a:solidFill>
                  <a:srgbClr val="FFA502"/>
                </a:solidFill>
                <a:latin typeface="Calibri" pitchFamily="34" charset="0"/>
                <a:ea typeface="Calibri" pitchFamily="34" charset="-122"/>
                <a:cs typeface="Calibri" pitchFamily="34" charset="-120"/>
              </a:rPr>
              <a:t>Domains &amp; URLs</a:t>
            </a:r>
            <a:endParaRPr lang="en-US" sz="1100" dirty="0"/>
          </a:p>
        </p:txBody>
      </p:sp>
      <p:sp>
        <p:nvSpPr>
          <p:cNvPr id="20" name="Text 18"/>
          <p:cNvSpPr/>
          <p:nvPr/>
        </p:nvSpPr>
        <p:spPr>
          <a:xfrm>
            <a:off x="6217920" y="2075688"/>
            <a:ext cx="2468880" cy="228600"/>
          </a:xfrm>
          <a:prstGeom prst="rect">
            <a:avLst/>
          </a:prstGeom>
          <a:noFill/>
          <a:ln/>
        </p:spPr>
        <p:txBody>
          <a:bodyPr wrap="square" lIns="0" tIns="0" rIns="0" bIns="0" rtlCol="0" anchor="ctr"/>
          <a:lstStyle/>
          <a:p>
            <a:pPr marL="0" indent="0">
              <a:buNone/>
            </a:pPr>
            <a:r>
              <a:rPr lang="en-US" sz="850" dirty="0">
                <a:solidFill>
                  <a:srgbClr val="00FF88"/>
                </a:solidFill>
                <a:latin typeface="Consolas" pitchFamily="34" charset="0"/>
                <a:ea typeface="Consolas" pitchFamily="34" charset="-122"/>
                <a:cs typeface="Consolas" pitchFamily="34" charset="-120"/>
              </a:rPr>
              <a:t>C2 domains, download URLs</a:t>
            </a:r>
            <a:endParaRPr lang="en-US" sz="850" dirty="0"/>
          </a:p>
        </p:txBody>
      </p:sp>
      <p:sp>
        <p:nvSpPr>
          <p:cNvPr id="21" name="Text 19"/>
          <p:cNvSpPr/>
          <p:nvPr/>
        </p:nvSpPr>
        <p:spPr>
          <a:xfrm>
            <a:off x="6217920" y="2275448"/>
            <a:ext cx="2468880" cy="548640"/>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Hostnames used for command-and-control or downloading additional payloads.</a:t>
            </a:r>
            <a:endParaRPr lang="en-US" sz="1100" dirty="0"/>
          </a:p>
        </p:txBody>
      </p:sp>
      <p:sp>
        <p:nvSpPr>
          <p:cNvPr id="22" name="Shape 20"/>
          <p:cNvSpPr/>
          <p:nvPr/>
        </p:nvSpPr>
        <p:spPr>
          <a:xfrm>
            <a:off x="228600" y="3200400"/>
            <a:ext cx="2743200" cy="1280160"/>
          </a:xfrm>
          <a:prstGeom prst="rect">
            <a:avLst/>
          </a:prstGeom>
          <a:solidFill>
            <a:srgbClr val="161B22"/>
          </a:solidFill>
          <a:ln w="12700">
            <a:solidFill>
              <a:srgbClr val="30363D"/>
            </a:solidFill>
            <a:prstDash val="solid"/>
          </a:ln>
          <a:effectLst>
            <a:outerShdw blurRad="101600" dist="38100" dir="8100000" algn="bl" rotWithShape="0">
              <a:srgbClr val="000000">
                <a:alpha val="30000"/>
              </a:srgbClr>
            </a:outerShdw>
          </a:effectLst>
        </p:spPr>
      </p:sp>
      <p:sp>
        <p:nvSpPr>
          <p:cNvPr id="23" name="Shape 21"/>
          <p:cNvSpPr/>
          <p:nvPr/>
        </p:nvSpPr>
        <p:spPr>
          <a:xfrm>
            <a:off x="228600" y="3200400"/>
            <a:ext cx="54864" cy="1280160"/>
          </a:xfrm>
          <a:prstGeom prst="rect">
            <a:avLst/>
          </a:prstGeom>
          <a:solidFill>
            <a:srgbClr val="A78BFA"/>
          </a:solidFill>
          <a:ln w="12700">
            <a:solidFill>
              <a:srgbClr val="A78BFA"/>
            </a:solidFill>
            <a:prstDash val="solid"/>
          </a:ln>
        </p:spPr>
      </p:sp>
      <p:sp>
        <p:nvSpPr>
          <p:cNvPr id="24" name="Text 22"/>
          <p:cNvSpPr/>
          <p:nvPr/>
        </p:nvSpPr>
        <p:spPr>
          <a:xfrm>
            <a:off x="365760" y="3273552"/>
            <a:ext cx="2468880" cy="274320"/>
          </a:xfrm>
          <a:prstGeom prst="rect">
            <a:avLst/>
          </a:prstGeom>
          <a:noFill/>
          <a:ln/>
        </p:spPr>
        <p:txBody>
          <a:bodyPr wrap="square" lIns="0" tIns="0" rIns="0" bIns="0" rtlCol="0" anchor="ctr"/>
          <a:lstStyle/>
          <a:p>
            <a:pPr marL="0" indent="0">
              <a:buNone/>
            </a:pPr>
            <a:r>
              <a:rPr lang="en-US" sz="1100" b="1" dirty="0">
                <a:solidFill>
                  <a:srgbClr val="A78BFA"/>
                </a:solidFill>
                <a:latin typeface="Calibri" pitchFamily="34" charset="0"/>
                <a:ea typeface="Calibri" pitchFamily="34" charset="-122"/>
                <a:cs typeface="Calibri" pitchFamily="34" charset="-120"/>
              </a:rPr>
              <a:t>Registry Keys</a:t>
            </a:r>
            <a:endParaRPr lang="en-US" sz="1100" dirty="0"/>
          </a:p>
        </p:txBody>
      </p:sp>
      <p:sp>
        <p:nvSpPr>
          <p:cNvPr id="25" name="Text 23"/>
          <p:cNvSpPr/>
          <p:nvPr/>
        </p:nvSpPr>
        <p:spPr>
          <a:xfrm>
            <a:off x="365760" y="3584448"/>
            <a:ext cx="2468880" cy="228600"/>
          </a:xfrm>
          <a:prstGeom prst="rect">
            <a:avLst/>
          </a:prstGeom>
          <a:noFill/>
          <a:ln/>
        </p:spPr>
        <p:txBody>
          <a:bodyPr wrap="square" lIns="0" tIns="0" rIns="0" bIns="0" rtlCol="0" anchor="ctr"/>
          <a:lstStyle/>
          <a:p>
            <a:pPr marL="0" indent="0">
              <a:buNone/>
            </a:pPr>
            <a:r>
              <a:rPr lang="en-US" sz="850" dirty="0">
                <a:solidFill>
                  <a:srgbClr val="00FF88"/>
                </a:solidFill>
                <a:latin typeface="Consolas" pitchFamily="34" charset="0"/>
                <a:ea typeface="Consolas" pitchFamily="34" charset="-122"/>
                <a:cs typeface="Consolas" pitchFamily="34" charset="-120"/>
              </a:rPr>
              <a:t>Persistence Run keys</a:t>
            </a:r>
            <a:endParaRPr lang="en-US" sz="850" dirty="0"/>
          </a:p>
        </p:txBody>
      </p:sp>
      <p:sp>
        <p:nvSpPr>
          <p:cNvPr id="26" name="Text 24"/>
          <p:cNvSpPr/>
          <p:nvPr/>
        </p:nvSpPr>
        <p:spPr>
          <a:xfrm>
            <a:off x="365760" y="3784208"/>
            <a:ext cx="2468880" cy="548640"/>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Registry locations the malware creates or modifies. Useful for detection rules.</a:t>
            </a:r>
            <a:endParaRPr lang="en-US" sz="1100" dirty="0"/>
          </a:p>
        </p:txBody>
      </p:sp>
      <p:sp>
        <p:nvSpPr>
          <p:cNvPr id="27" name="Shape 25"/>
          <p:cNvSpPr/>
          <p:nvPr/>
        </p:nvSpPr>
        <p:spPr>
          <a:xfrm>
            <a:off x="3154680" y="3200400"/>
            <a:ext cx="2743200" cy="1280160"/>
          </a:xfrm>
          <a:prstGeom prst="rect">
            <a:avLst/>
          </a:prstGeom>
          <a:solidFill>
            <a:srgbClr val="161B22"/>
          </a:solidFill>
          <a:ln w="12700">
            <a:solidFill>
              <a:srgbClr val="30363D"/>
            </a:solidFill>
            <a:prstDash val="solid"/>
          </a:ln>
          <a:effectLst>
            <a:outerShdw blurRad="101600" dist="38100" dir="8100000" algn="bl" rotWithShape="0">
              <a:srgbClr val="000000">
                <a:alpha val="30000"/>
              </a:srgbClr>
            </a:outerShdw>
          </a:effectLst>
        </p:spPr>
      </p:sp>
      <p:sp>
        <p:nvSpPr>
          <p:cNvPr id="28" name="Shape 26"/>
          <p:cNvSpPr/>
          <p:nvPr/>
        </p:nvSpPr>
        <p:spPr>
          <a:xfrm>
            <a:off x="3154680" y="3200400"/>
            <a:ext cx="54864" cy="1280160"/>
          </a:xfrm>
          <a:prstGeom prst="rect">
            <a:avLst/>
          </a:prstGeom>
          <a:solidFill>
            <a:srgbClr val="34D399"/>
          </a:solidFill>
          <a:ln w="12700">
            <a:solidFill>
              <a:srgbClr val="34D399"/>
            </a:solidFill>
            <a:prstDash val="solid"/>
          </a:ln>
        </p:spPr>
      </p:sp>
      <p:sp>
        <p:nvSpPr>
          <p:cNvPr id="29" name="Text 27"/>
          <p:cNvSpPr/>
          <p:nvPr/>
        </p:nvSpPr>
        <p:spPr>
          <a:xfrm>
            <a:off x="3291840" y="3273552"/>
            <a:ext cx="2468880" cy="274320"/>
          </a:xfrm>
          <a:prstGeom prst="rect">
            <a:avLst/>
          </a:prstGeom>
          <a:noFill/>
          <a:ln/>
        </p:spPr>
        <p:txBody>
          <a:bodyPr wrap="square" lIns="0" tIns="0" rIns="0" bIns="0" rtlCol="0" anchor="ctr"/>
          <a:lstStyle/>
          <a:p>
            <a:pPr marL="0" indent="0">
              <a:buNone/>
            </a:pPr>
            <a:r>
              <a:rPr lang="en-US" sz="1100" b="1" dirty="0">
                <a:solidFill>
                  <a:srgbClr val="34D399"/>
                </a:solidFill>
                <a:latin typeface="Calibri" pitchFamily="34" charset="0"/>
                <a:ea typeface="Calibri" pitchFamily="34" charset="-122"/>
                <a:cs typeface="Calibri" pitchFamily="34" charset="-120"/>
              </a:rPr>
              <a:t>File Paths</a:t>
            </a:r>
            <a:endParaRPr lang="en-US" sz="1100" dirty="0"/>
          </a:p>
        </p:txBody>
      </p:sp>
      <p:sp>
        <p:nvSpPr>
          <p:cNvPr id="30" name="Text 28"/>
          <p:cNvSpPr/>
          <p:nvPr/>
        </p:nvSpPr>
        <p:spPr>
          <a:xfrm>
            <a:off x="3291840" y="3584448"/>
            <a:ext cx="2468880" cy="228600"/>
          </a:xfrm>
          <a:prstGeom prst="rect">
            <a:avLst/>
          </a:prstGeom>
          <a:noFill/>
          <a:ln/>
        </p:spPr>
        <p:txBody>
          <a:bodyPr wrap="square" lIns="0" tIns="0" rIns="0" bIns="0" rtlCol="0" anchor="ctr"/>
          <a:lstStyle/>
          <a:p>
            <a:pPr marL="0" indent="0">
              <a:buNone/>
            </a:pPr>
            <a:r>
              <a:rPr lang="en-US" sz="850" dirty="0">
                <a:solidFill>
                  <a:srgbClr val="00FF88"/>
                </a:solidFill>
                <a:latin typeface="Consolas" pitchFamily="34" charset="0"/>
                <a:ea typeface="Consolas" pitchFamily="34" charset="-122"/>
                <a:cs typeface="Consolas" pitchFamily="34" charset="-120"/>
              </a:rPr>
              <a:t>%TEMP%\payload.exe</a:t>
            </a:r>
            <a:endParaRPr lang="en-US" sz="850" dirty="0"/>
          </a:p>
        </p:txBody>
      </p:sp>
      <p:sp>
        <p:nvSpPr>
          <p:cNvPr id="31" name="Text 29"/>
          <p:cNvSpPr/>
          <p:nvPr/>
        </p:nvSpPr>
        <p:spPr>
          <a:xfrm>
            <a:off x="3291840" y="3784208"/>
            <a:ext cx="2468880" cy="548640"/>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Locations where the malware drops files. Used in endpoint detection rules.</a:t>
            </a:r>
            <a:endParaRPr lang="en-US" sz="1100" dirty="0"/>
          </a:p>
        </p:txBody>
      </p:sp>
      <p:sp>
        <p:nvSpPr>
          <p:cNvPr id="32" name="Shape 30"/>
          <p:cNvSpPr/>
          <p:nvPr/>
        </p:nvSpPr>
        <p:spPr>
          <a:xfrm>
            <a:off x="6080760" y="3200400"/>
            <a:ext cx="2743200" cy="1280160"/>
          </a:xfrm>
          <a:prstGeom prst="rect">
            <a:avLst/>
          </a:prstGeom>
          <a:solidFill>
            <a:srgbClr val="161B22"/>
          </a:solidFill>
          <a:ln w="12700">
            <a:solidFill>
              <a:srgbClr val="30363D"/>
            </a:solidFill>
            <a:prstDash val="solid"/>
          </a:ln>
          <a:effectLst>
            <a:outerShdw blurRad="101600" dist="38100" dir="8100000" algn="bl" rotWithShape="0">
              <a:srgbClr val="000000">
                <a:alpha val="30000"/>
              </a:srgbClr>
            </a:outerShdw>
          </a:effectLst>
        </p:spPr>
      </p:sp>
      <p:sp>
        <p:nvSpPr>
          <p:cNvPr id="33" name="Shape 31"/>
          <p:cNvSpPr/>
          <p:nvPr/>
        </p:nvSpPr>
        <p:spPr>
          <a:xfrm>
            <a:off x="6080760" y="3200400"/>
            <a:ext cx="54864" cy="1280160"/>
          </a:xfrm>
          <a:prstGeom prst="rect">
            <a:avLst/>
          </a:prstGeom>
          <a:solidFill>
            <a:srgbClr val="F472B6"/>
          </a:solidFill>
          <a:ln w="12700">
            <a:solidFill>
              <a:srgbClr val="F472B6"/>
            </a:solidFill>
            <a:prstDash val="solid"/>
          </a:ln>
        </p:spPr>
      </p:sp>
      <p:sp>
        <p:nvSpPr>
          <p:cNvPr id="34" name="Text 32"/>
          <p:cNvSpPr/>
          <p:nvPr/>
        </p:nvSpPr>
        <p:spPr>
          <a:xfrm>
            <a:off x="6217920" y="3273552"/>
            <a:ext cx="2468880" cy="274320"/>
          </a:xfrm>
          <a:prstGeom prst="rect">
            <a:avLst/>
          </a:prstGeom>
          <a:noFill/>
          <a:ln/>
        </p:spPr>
        <p:txBody>
          <a:bodyPr wrap="square" lIns="0" tIns="0" rIns="0" bIns="0" rtlCol="0" anchor="ctr"/>
          <a:lstStyle/>
          <a:p>
            <a:pPr marL="0" indent="0">
              <a:buNone/>
            </a:pPr>
            <a:r>
              <a:rPr lang="en-US" sz="1100" b="1" dirty="0">
                <a:solidFill>
                  <a:srgbClr val="F472B6"/>
                </a:solidFill>
                <a:latin typeface="Calibri" pitchFamily="34" charset="0"/>
                <a:ea typeface="Calibri" pitchFamily="34" charset="-122"/>
                <a:cs typeface="Calibri" pitchFamily="34" charset="-120"/>
              </a:rPr>
              <a:t>Mutexes</a:t>
            </a:r>
            <a:endParaRPr lang="en-US" sz="1100" dirty="0"/>
          </a:p>
        </p:txBody>
      </p:sp>
      <p:sp>
        <p:nvSpPr>
          <p:cNvPr id="35" name="Text 33"/>
          <p:cNvSpPr/>
          <p:nvPr/>
        </p:nvSpPr>
        <p:spPr>
          <a:xfrm>
            <a:off x="6217920" y="3584448"/>
            <a:ext cx="2468880" cy="228600"/>
          </a:xfrm>
          <a:prstGeom prst="rect">
            <a:avLst/>
          </a:prstGeom>
          <a:noFill/>
          <a:ln/>
        </p:spPr>
        <p:txBody>
          <a:bodyPr wrap="square" lIns="0" tIns="0" rIns="0" bIns="0" rtlCol="0" anchor="ctr"/>
          <a:lstStyle/>
          <a:p>
            <a:pPr marL="0" indent="0">
              <a:buNone/>
            </a:pPr>
            <a:r>
              <a:rPr lang="en-US" sz="850" dirty="0">
                <a:solidFill>
                  <a:srgbClr val="00FF88"/>
                </a:solidFill>
                <a:latin typeface="Consolas" pitchFamily="34" charset="0"/>
                <a:ea typeface="Consolas" pitchFamily="34" charset="-122"/>
                <a:cs typeface="Consolas" pitchFamily="34" charset="-120"/>
              </a:rPr>
              <a:t>Unique named objects</a:t>
            </a:r>
            <a:endParaRPr lang="en-US" sz="850" dirty="0"/>
          </a:p>
        </p:txBody>
      </p:sp>
      <p:sp>
        <p:nvSpPr>
          <p:cNvPr id="36" name="Text 34"/>
          <p:cNvSpPr/>
          <p:nvPr/>
        </p:nvSpPr>
        <p:spPr>
          <a:xfrm>
            <a:off x="6217920" y="3784208"/>
            <a:ext cx="2468880" cy="548640"/>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Malware creates mutexes to avoid running twice. A great unique identifier for detection.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61B22"/>
          </a:solidFill>
          <a:ln w="12700">
            <a:solidFill>
              <a:srgbClr val="161B22"/>
            </a:solidFill>
            <a:prstDash val="solid"/>
          </a:ln>
        </p:spPr>
      </p:sp>
      <p:sp>
        <p:nvSpPr>
          <p:cNvPr id="3" name="Shape 1"/>
          <p:cNvSpPr/>
          <p:nvPr/>
        </p:nvSpPr>
        <p:spPr>
          <a:xfrm>
            <a:off x="0" y="685800"/>
            <a:ext cx="9144000" cy="36576"/>
          </a:xfrm>
          <a:prstGeom prst="rect">
            <a:avLst/>
          </a:prstGeom>
          <a:solidFill>
            <a:srgbClr val="00FF88"/>
          </a:solidFill>
          <a:ln w="12700">
            <a:solidFill>
              <a:srgbClr val="00FF88"/>
            </a:solidFill>
            <a:prstDash val="solid"/>
          </a:ln>
        </p:spPr>
      </p:sp>
      <p:sp>
        <p:nvSpPr>
          <p:cNvPr id="4" name="Text 2"/>
          <p:cNvSpPr/>
          <p:nvPr/>
        </p:nvSpPr>
        <p:spPr>
          <a:xfrm>
            <a:off x="320040" y="64008"/>
            <a:ext cx="8503920" cy="548640"/>
          </a:xfrm>
          <a:prstGeom prst="rect">
            <a:avLst/>
          </a:prstGeom>
          <a:noFill/>
          <a:ln/>
        </p:spPr>
        <p:txBody>
          <a:bodyPr wrap="square" lIns="0" tIns="0" rIns="0" bIns="0" rtlCol="0" anchor="ctr"/>
          <a:lstStyle/>
          <a:p>
            <a:pPr marL="0" indent="0">
              <a:buNone/>
            </a:pPr>
            <a:r>
              <a:rPr lang="en-US" sz="2200" b="1" dirty="0">
                <a:solidFill>
                  <a:srgbClr val="F0F6FC"/>
                </a:solidFill>
                <a:latin typeface="Calibri" pitchFamily="34" charset="0"/>
                <a:ea typeface="Calibri" pitchFamily="34" charset="-122"/>
                <a:cs typeface="Calibri" pitchFamily="34" charset="-120"/>
              </a:rPr>
              <a:t>Writing Your Analysis Report</a:t>
            </a:r>
            <a:endParaRPr lang="en-US" sz="2200" dirty="0"/>
          </a:p>
        </p:txBody>
      </p:sp>
      <p:sp>
        <p:nvSpPr>
          <p:cNvPr id="6" name="Shape 4"/>
          <p:cNvSpPr/>
          <p:nvPr/>
        </p:nvSpPr>
        <p:spPr>
          <a:xfrm>
            <a:off x="274320" y="896112"/>
            <a:ext cx="4160520" cy="1188720"/>
          </a:xfrm>
          <a:prstGeom prst="rect">
            <a:avLst/>
          </a:prstGeom>
          <a:solidFill>
            <a:srgbClr val="161B22"/>
          </a:solidFill>
          <a:ln w="12700">
            <a:solidFill>
              <a:srgbClr val="30363D"/>
            </a:solidFill>
            <a:prstDash val="solid"/>
          </a:ln>
          <a:effectLst>
            <a:outerShdw blurRad="101600" dist="38100" dir="8100000" algn="bl" rotWithShape="0">
              <a:srgbClr val="000000">
                <a:alpha val="30000"/>
              </a:srgbClr>
            </a:outerShdw>
          </a:effectLst>
        </p:spPr>
      </p:sp>
      <p:sp>
        <p:nvSpPr>
          <p:cNvPr id="7" name="Shape 5"/>
          <p:cNvSpPr/>
          <p:nvPr/>
        </p:nvSpPr>
        <p:spPr>
          <a:xfrm>
            <a:off x="411480" y="1005840"/>
            <a:ext cx="329184" cy="329184"/>
          </a:xfrm>
          <a:prstGeom prst="ellipse">
            <a:avLst/>
          </a:prstGeom>
          <a:solidFill>
            <a:srgbClr val="60A5FA"/>
          </a:solidFill>
          <a:ln w="12700">
            <a:solidFill>
              <a:srgbClr val="60A5FA"/>
            </a:solidFill>
            <a:prstDash val="solid"/>
          </a:ln>
        </p:spPr>
      </p:sp>
      <p:sp>
        <p:nvSpPr>
          <p:cNvPr id="8" name="Text 6"/>
          <p:cNvSpPr/>
          <p:nvPr/>
        </p:nvSpPr>
        <p:spPr>
          <a:xfrm>
            <a:off x="411480" y="1005840"/>
            <a:ext cx="329184" cy="329184"/>
          </a:xfrm>
          <a:prstGeom prst="rect">
            <a:avLst/>
          </a:prstGeom>
          <a:noFill/>
          <a:ln/>
        </p:spPr>
        <p:txBody>
          <a:bodyPr wrap="square" lIns="0" tIns="0" rIns="0" bIns="0" rtlCol="0" anchor="ctr"/>
          <a:lstStyle/>
          <a:p>
            <a:pPr marL="0" indent="0" algn="ctr">
              <a:buNone/>
            </a:pPr>
            <a:r>
              <a:rPr lang="en-US" sz="1300" b="1" dirty="0">
                <a:solidFill>
                  <a:srgbClr val="0D1117"/>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841248" y="987552"/>
            <a:ext cx="3383280" cy="320040"/>
          </a:xfrm>
          <a:prstGeom prst="rect">
            <a:avLst/>
          </a:prstGeom>
          <a:noFill/>
          <a:ln/>
        </p:spPr>
        <p:txBody>
          <a:bodyPr wrap="square" lIns="0" tIns="0" rIns="0" bIns="0" rtlCol="0" anchor="ctr"/>
          <a:lstStyle/>
          <a:p>
            <a:pPr marL="0" indent="0">
              <a:buNone/>
            </a:pPr>
            <a:r>
              <a:rPr lang="en-US" sz="1100" b="1" dirty="0">
                <a:solidFill>
                  <a:srgbClr val="F0F6FC"/>
                </a:solidFill>
                <a:latin typeface="Calibri" pitchFamily="34" charset="0"/>
                <a:ea typeface="Calibri" pitchFamily="34" charset="-122"/>
                <a:cs typeface="Calibri" pitchFamily="34" charset="-120"/>
              </a:rPr>
              <a:t>Executive Summary</a:t>
            </a:r>
            <a:endParaRPr lang="en-US" sz="1100" dirty="0"/>
          </a:p>
        </p:txBody>
      </p:sp>
      <p:sp>
        <p:nvSpPr>
          <p:cNvPr id="10" name="Text 8"/>
          <p:cNvSpPr/>
          <p:nvPr/>
        </p:nvSpPr>
        <p:spPr>
          <a:xfrm>
            <a:off x="841248" y="1219666"/>
            <a:ext cx="3383280" cy="640080"/>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Two to three sentences: what the file is, what it does, and how dangerous it is. Written for someone who will not read the rest of the report.</a:t>
            </a:r>
            <a:endParaRPr lang="en-US" sz="1100" dirty="0"/>
          </a:p>
        </p:txBody>
      </p:sp>
      <p:sp>
        <p:nvSpPr>
          <p:cNvPr id="11" name="Shape 9"/>
          <p:cNvSpPr/>
          <p:nvPr/>
        </p:nvSpPr>
        <p:spPr>
          <a:xfrm>
            <a:off x="4754880" y="896112"/>
            <a:ext cx="4160520" cy="1188720"/>
          </a:xfrm>
          <a:prstGeom prst="rect">
            <a:avLst/>
          </a:prstGeom>
          <a:solidFill>
            <a:srgbClr val="161B22"/>
          </a:solidFill>
          <a:ln w="12700">
            <a:solidFill>
              <a:srgbClr val="30363D"/>
            </a:solidFill>
            <a:prstDash val="solid"/>
          </a:ln>
          <a:effectLst>
            <a:outerShdw blurRad="101600" dist="38100" dir="8100000" algn="bl" rotWithShape="0">
              <a:srgbClr val="000000">
                <a:alpha val="30000"/>
              </a:srgbClr>
            </a:outerShdw>
          </a:effectLst>
        </p:spPr>
      </p:sp>
      <p:sp>
        <p:nvSpPr>
          <p:cNvPr id="12" name="Shape 10"/>
          <p:cNvSpPr/>
          <p:nvPr/>
        </p:nvSpPr>
        <p:spPr>
          <a:xfrm>
            <a:off x="4892040" y="1005840"/>
            <a:ext cx="329184" cy="329184"/>
          </a:xfrm>
          <a:prstGeom prst="ellipse">
            <a:avLst/>
          </a:prstGeom>
          <a:solidFill>
            <a:srgbClr val="34D399"/>
          </a:solidFill>
          <a:ln w="12700">
            <a:solidFill>
              <a:srgbClr val="34D399"/>
            </a:solidFill>
            <a:prstDash val="solid"/>
          </a:ln>
        </p:spPr>
      </p:sp>
      <p:sp>
        <p:nvSpPr>
          <p:cNvPr id="13" name="Text 11"/>
          <p:cNvSpPr/>
          <p:nvPr/>
        </p:nvSpPr>
        <p:spPr>
          <a:xfrm>
            <a:off x="4892040" y="1005840"/>
            <a:ext cx="329184" cy="329184"/>
          </a:xfrm>
          <a:prstGeom prst="rect">
            <a:avLst/>
          </a:prstGeom>
          <a:noFill/>
          <a:ln/>
        </p:spPr>
        <p:txBody>
          <a:bodyPr wrap="square" lIns="0" tIns="0" rIns="0" bIns="0" rtlCol="0" anchor="ctr"/>
          <a:lstStyle/>
          <a:p>
            <a:pPr marL="0" indent="0" algn="ctr">
              <a:buNone/>
            </a:pPr>
            <a:r>
              <a:rPr lang="en-US" sz="1300" b="1" dirty="0">
                <a:solidFill>
                  <a:srgbClr val="0D1117"/>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5321808" y="987552"/>
            <a:ext cx="3383280" cy="320040"/>
          </a:xfrm>
          <a:prstGeom prst="rect">
            <a:avLst/>
          </a:prstGeom>
          <a:noFill/>
          <a:ln/>
        </p:spPr>
        <p:txBody>
          <a:bodyPr wrap="square" lIns="0" tIns="0" rIns="0" bIns="0" rtlCol="0" anchor="ctr"/>
          <a:lstStyle/>
          <a:p>
            <a:pPr marL="0" indent="0">
              <a:buNone/>
            </a:pPr>
            <a:r>
              <a:rPr lang="en-US" sz="1100" b="1" dirty="0">
                <a:solidFill>
                  <a:srgbClr val="F0F6FC"/>
                </a:solidFill>
                <a:latin typeface="Calibri" pitchFamily="34" charset="0"/>
                <a:ea typeface="Calibri" pitchFamily="34" charset="-122"/>
                <a:cs typeface="Calibri" pitchFamily="34" charset="-120"/>
              </a:rPr>
              <a:t>Sample Information</a:t>
            </a:r>
            <a:endParaRPr lang="en-US" sz="1100" dirty="0"/>
          </a:p>
        </p:txBody>
      </p:sp>
      <p:sp>
        <p:nvSpPr>
          <p:cNvPr id="15" name="Text 13"/>
          <p:cNvSpPr/>
          <p:nvPr/>
        </p:nvSpPr>
        <p:spPr>
          <a:xfrm>
            <a:off x="5321808" y="1219666"/>
            <a:ext cx="3383280" cy="640080"/>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File name, size, type, and all hashes (MD5, SHA1, SHA256). This lets anyone verify they are looking at the same file.</a:t>
            </a:r>
            <a:endParaRPr lang="en-US" sz="1100" dirty="0"/>
          </a:p>
        </p:txBody>
      </p:sp>
      <p:sp>
        <p:nvSpPr>
          <p:cNvPr id="16" name="Shape 14"/>
          <p:cNvSpPr/>
          <p:nvPr/>
        </p:nvSpPr>
        <p:spPr>
          <a:xfrm>
            <a:off x="274320" y="2286000"/>
            <a:ext cx="4160520" cy="1188720"/>
          </a:xfrm>
          <a:prstGeom prst="rect">
            <a:avLst/>
          </a:prstGeom>
          <a:solidFill>
            <a:srgbClr val="161B22"/>
          </a:solidFill>
          <a:ln w="12700">
            <a:solidFill>
              <a:srgbClr val="30363D"/>
            </a:solidFill>
            <a:prstDash val="solid"/>
          </a:ln>
          <a:effectLst>
            <a:outerShdw blurRad="101600" dist="38100" dir="8100000" algn="bl" rotWithShape="0">
              <a:srgbClr val="000000">
                <a:alpha val="30000"/>
              </a:srgbClr>
            </a:outerShdw>
          </a:effectLst>
        </p:spPr>
      </p:sp>
      <p:sp>
        <p:nvSpPr>
          <p:cNvPr id="17" name="Shape 15"/>
          <p:cNvSpPr/>
          <p:nvPr/>
        </p:nvSpPr>
        <p:spPr>
          <a:xfrm>
            <a:off x="411480" y="2395728"/>
            <a:ext cx="329184" cy="329184"/>
          </a:xfrm>
          <a:prstGeom prst="ellipse">
            <a:avLst/>
          </a:prstGeom>
          <a:solidFill>
            <a:srgbClr val="FFA502"/>
          </a:solidFill>
          <a:ln w="12700">
            <a:solidFill>
              <a:srgbClr val="FFA502"/>
            </a:solidFill>
            <a:prstDash val="solid"/>
          </a:ln>
        </p:spPr>
      </p:sp>
      <p:sp>
        <p:nvSpPr>
          <p:cNvPr id="18" name="Text 16"/>
          <p:cNvSpPr/>
          <p:nvPr/>
        </p:nvSpPr>
        <p:spPr>
          <a:xfrm>
            <a:off x="411480" y="2395728"/>
            <a:ext cx="329184" cy="329184"/>
          </a:xfrm>
          <a:prstGeom prst="rect">
            <a:avLst/>
          </a:prstGeom>
          <a:noFill/>
          <a:ln/>
        </p:spPr>
        <p:txBody>
          <a:bodyPr wrap="square" lIns="0" tIns="0" rIns="0" bIns="0" rtlCol="0" anchor="ctr"/>
          <a:lstStyle/>
          <a:p>
            <a:pPr marL="0" indent="0" algn="ctr">
              <a:buNone/>
            </a:pPr>
            <a:r>
              <a:rPr lang="en-US" sz="1300" b="1" dirty="0">
                <a:solidFill>
                  <a:srgbClr val="0D1117"/>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841248" y="2377440"/>
            <a:ext cx="3383280" cy="320040"/>
          </a:xfrm>
          <a:prstGeom prst="rect">
            <a:avLst/>
          </a:prstGeom>
          <a:noFill/>
          <a:ln/>
        </p:spPr>
        <p:txBody>
          <a:bodyPr wrap="square" lIns="0" tIns="0" rIns="0" bIns="0" rtlCol="0" anchor="ctr"/>
          <a:lstStyle/>
          <a:p>
            <a:pPr marL="0" indent="0">
              <a:buNone/>
            </a:pPr>
            <a:r>
              <a:rPr lang="en-US" sz="1100" b="1" dirty="0">
                <a:solidFill>
                  <a:srgbClr val="F0F6FC"/>
                </a:solidFill>
                <a:latin typeface="Calibri" pitchFamily="34" charset="0"/>
                <a:ea typeface="Calibri" pitchFamily="34" charset="-122"/>
                <a:cs typeface="Calibri" pitchFamily="34" charset="-120"/>
              </a:rPr>
              <a:t>Static Analysis Findings</a:t>
            </a:r>
            <a:endParaRPr lang="en-US" sz="1100" dirty="0"/>
          </a:p>
        </p:txBody>
      </p:sp>
      <p:sp>
        <p:nvSpPr>
          <p:cNvPr id="20" name="Text 18"/>
          <p:cNvSpPr/>
          <p:nvPr/>
        </p:nvSpPr>
        <p:spPr>
          <a:xfrm>
            <a:off x="841248" y="2609554"/>
            <a:ext cx="3383280" cy="640080"/>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ExifTool metadata highlights, Binwalk findings, any embedded files or suspicious strings discovered.</a:t>
            </a:r>
            <a:endParaRPr lang="en-US" sz="1100" dirty="0"/>
          </a:p>
        </p:txBody>
      </p:sp>
      <p:sp>
        <p:nvSpPr>
          <p:cNvPr id="21" name="Shape 19"/>
          <p:cNvSpPr/>
          <p:nvPr/>
        </p:nvSpPr>
        <p:spPr>
          <a:xfrm>
            <a:off x="4754880" y="2286000"/>
            <a:ext cx="4160520" cy="1188720"/>
          </a:xfrm>
          <a:prstGeom prst="rect">
            <a:avLst/>
          </a:prstGeom>
          <a:solidFill>
            <a:srgbClr val="161B22"/>
          </a:solidFill>
          <a:ln w="12700">
            <a:solidFill>
              <a:srgbClr val="30363D"/>
            </a:solidFill>
            <a:prstDash val="solid"/>
          </a:ln>
          <a:effectLst>
            <a:outerShdw blurRad="101600" dist="38100" dir="8100000" algn="bl" rotWithShape="0">
              <a:srgbClr val="000000">
                <a:alpha val="30000"/>
              </a:srgbClr>
            </a:outerShdw>
          </a:effectLst>
        </p:spPr>
      </p:sp>
      <p:sp>
        <p:nvSpPr>
          <p:cNvPr id="22" name="Shape 20"/>
          <p:cNvSpPr/>
          <p:nvPr/>
        </p:nvSpPr>
        <p:spPr>
          <a:xfrm>
            <a:off x="4892040" y="2395728"/>
            <a:ext cx="329184" cy="329184"/>
          </a:xfrm>
          <a:prstGeom prst="ellipse">
            <a:avLst/>
          </a:prstGeom>
          <a:solidFill>
            <a:srgbClr val="A78BFA"/>
          </a:solidFill>
          <a:ln w="12700">
            <a:solidFill>
              <a:srgbClr val="A78BFA"/>
            </a:solidFill>
            <a:prstDash val="solid"/>
          </a:ln>
        </p:spPr>
      </p:sp>
      <p:sp>
        <p:nvSpPr>
          <p:cNvPr id="23" name="Text 21"/>
          <p:cNvSpPr/>
          <p:nvPr/>
        </p:nvSpPr>
        <p:spPr>
          <a:xfrm>
            <a:off x="4892040" y="2395728"/>
            <a:ext cx="329184" cy="329184"/>
          </a:xfrm>
          <a:prstGeom prst="rect">
            <a:avLst/>
          </a:prstGeom>
          <a:noFill/>
          <a:ln/>
        </p:spPr>
        <p:txBody>
          <a:bodyPr wrap="square" lIns="0" tIns="0" rIns="0" bIns="0" rtlCol="0" anchor="ctr"/>
          <a:lstStyle/>
          <a:p>
            <a:pPr marL="0" indent="0" algn="ctr">
              <a:buNone/>
            </a:pPr>
            <a:r>
              <a:rPr lang="en-US" sz="1300" b="1" dirty="0">
                <a:solidFill>
                  <a:srgbClr val="0D1117"/>
                </a:solidFill>
                <a:latin typeface="Calibri" pitchFamily="34" charset="0"/>
                <a:ea typeface="Calibri" pitchFamily="34" charset="-122"/>
                <a:cs typeface="Calibri" pitchFamily="34" charset="-120"/>
              </a:rPr>
              <a:t>4</a:t>
            </a:r>
            <a:endParaRPr lang="en-US" sz="1300" dirty="0"/>
          </a:p>
        </p:txBody>
      </p:sp>
      <p:sp>
        <p:nvSpPr>
          <p:cNvPr id="24" name="Text 22"/>
          <p:cNvSpPr/>
          <p:nvPr/>
        </p:nvSpPr>
        <p:spPr>
          <a:xfrm>
            <a:off x="5321808" y="2377440"/>
            <a:ext cx="3383280" cy="320040"/>
          </a:xfrm>
          <a:prstGeom prst="rect">
            <a:avLst/>
          </a:prstGeom>
          <a:noFill/>
          <a:ln/>
        </p:spPr>
        <p:txBody>
          <a:bodyPr wrap="square" lIns="0" tIns="0" rIns="0" bIns="0" rtlCol="0" anchor="ctr"/>
          <a:lstStyle/>
          <a:p>
            <a:pPr marL="0" indent="0">
              <a:buNone/>
            </a:pPr>
            <a:r>
              <a:rPr lang="en-US" sz="1100" b="1" dirty="0">
                <a:solidFill>
                  <a:srgbClr val="F0F6FC"/>
                </a:solidFill>
                <a:latin typeface="Calibri" pitchFamily="34" charset="0"/>
                <a:ea typeface="Calibri" pitchFamily="34" charset="-122"/>
                <a:cs typeface="Calibri" pitchFamily="34" charset="-120"/>
              </a:rPr>
              <a:t>Dynamic Analysis Findings</a:t>
            </a:r>
            <a:endParaRPr lang="en-US" sz="1100" dirty="0"/>
          </a:p>
        </p:txBody>
      </p:sp>
      <p:sp>
        <p:nvSpPr>
          <p:cNvPr id="25" name="Text 23"/>
          <p:cNvSpPr/>
          <p:nvPr/>
        </p:nvSpPr>
        <p:spPr>
          <a:xfrm>
            <a:off x="5321808" y="2609554"/>
            <a:ext cx="3383280" cy="640080"/>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Process behavior, network connections, file changes, registry modifications observed in any.run. Include screenshots.</a:t>
            </a:r>
            <a:endParaRPr lang="en-US" sz="1100" dirty="0"/>
          </a:p>
        </p:txBody>
      </p:sp>
      <p:sp>
        <p:nvSpPr>
          <p:cNvPr id="26" name="Shape 24"/>
          <p:cNvSpPr/>
          <p:nvPr/>
        </p:nvSpPr>
        <p:spPr>
          <a:xfrm>
            <a:off x="274320" y="3675888"/>
            <a:ext cx="4160520" cy="1188720"/>
          </a:xfrm>
          <a:prstGeom prst="rect">
            <a:avLst/>
          </a:prstGeom>
          <a:solidFill>
            <a:srgbClr val="161B22"/>
          </a:solidFill>
          <a:ln w="12700">
            <a:solidFill>
              <a:srgbClr val="30363D"/>
            </a:solidFill>
            <a:prstDash val="solid"/>
          </a:ln>
          <a:effectLst>
            <a:outerShdw blurRad="101600" dist="38100" dir="8100000" algn="bl" rotWithShape="0">
              <a:srgbClr val="000000">
                <a:alpha val="30000"/>
              </a:srgbClr>
            </a:outerShdw>
          </a:effectLst>
        </p:spPr>
      </p:sp>
      <p:sp>
        <p:nvSpPr>
          <p:cNvPr id="27" name="Shape 25"/>
          <p:cNvSpPr/>
          <p:nvPr/>
        </p:nvSpPr>
        <p:spPr>
          <a:xfrm>
            <a:off x="411480" y="3785616"/>
            <a:ext cx="329184" cy="329184"/>
          </a:xfrm>
          <a:prstGeom prst="ellipse">
            <a:avLst/>
          </a:prstGeom>
          <a:solidFill>
            <a:srgbClr val="FF4757"/>
          </a:solidFill>
          <a:ln w="12700">
            <a:solidFill>
              <a:srgbClr val="FF4757"/>
            </a:solidFill>
            <a:prstDash val="solid"/>
          </a:ln>
        </p:spPr>
      </p:sp>
      <p:sp>
        <p:nvSpPr>
          <p:cNvPr id="28" name="Text 26"/>
          <p:cNvSpPr/>
          <p:nvPr/>
        </p:nvSpPr>
        <p:spPr>
          <a:xfrm>
            <a:off x="411480" y="3785616"/>
            <a:ext cx="329184" cy="329184"/>
          </a:xfrm>
          <a:prstGeom prst="rect">
            <a:avLst/>
          </a:prstGeom>
          <a:noFill/>
          <a:ln/>
        </p:spPr>
        <p:txBody>
          <a:bodyPr wrap="square" lIns="0" tIns="0" rIns="0" bIns="0" rtlCol="0" anchor="ctr"/>
          <a:lstStyle/>
          <a:p>
            <a:pPr marL="0" indent="0" algn="ctr">
              <a:buNone/>
            </a:pPr>
            <a:r>
              <a:rPr lang="en-US" sz="1300" b="1" dirty="0">
                <a:solidFill>
                  <a:srgbClr val="0D1117"/>
                </a:solidFill>
                <a:latin typeface="Calibri" pitchFamily="34" charset="0"/>
                <a:ea typeface="Calibri" pitchFamily="34" charset="-122"/>
                <a:cs typeface="Calibri" pitchFamily="34" charset="-120"/>
              </a:rPr>
              <a:t>5</a:t>
            </a:r>
            <a:endParaRPr lang="en-US" sz="1300" dirty="0"/>
          </a:p>
        </p:txBody>
      </p:sp>
      <p:sp>
        <p:nvSpPr>
          <p:cNvPr id="29" name="Text 27"/>
          <p:cNvSpPr/>
          <p:nvPr/>
        </p:nvSpPr>
        <p:spPr>
          <a:xfrm>
            <a:off x="841248" y="3767328"/>
            <a:ext cx="3383280" cy="320040"/>
          </a:xfrm>
          <a:prstGeom prst="rect">
            <a:avLst/>
          </a:prstGeom>
          <a:noFill/>
          <a:ln/>
        </p:spPr>
        <p:txBody>
          <a:bodyPr wrap="square" lIns="0" tIns="0" rIns="0" bIns="0" rtlCol="0" anchor="ctr"/>
          <a:lstStyle/>
          <a:p>
            <a:pPr marL="0" indent="0">
              <a:buNone/>
            </a:pPr>
            <a:r>
              <a:rPr lang="en-US" sz="1100" b="1" dirty="0">
                <a:solidFill>
                  <a:srgbClr val="F0F6FC"/>
                </a:solidFill>
                <a:latin typeface="Calibri" pitchFamily="34" charset="0"/>
                <a:ea typeface="Calibri" pitchFamily="34" charset="-122"/>
                <a:cs typeface="Calibri" pitchFamily="34" charset="-120"/>
              </a:rPr>
              <a:t>IOCs</a:t>
            </a:r>
            <a:endParaRPr lang="en-US" sz="1100" dirty="0"/>
          </a:p>
        </p:txBody>
      </p:sp>
      <p:sp>
        <p:nvSpPr>
          <p:cNvPr id="30" name="Text 28"/>
          <p:cNvSpPr/>
          <p:nvPr/>
        </p:nvSpPr>
        <p:spPr>
          <a:xfrm>
            <a:off x="841248" y="3999442"/>
            <a:ext cx="3383280" cy="640080"/>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Structured list of all indicators: hashes, IPs, domains, file paths, registry keys, and mutexes.</a:t>
            </a:r>
            <a:endParaRPr lang="en-US" sz="1100" dirty="0"/>
          </a:p>
        </p:txBody>
      </p:sp>
      <p:sp>
        <p:nvSpPr>
          <p:cNvPr id="31" name="Shape 29"/>
          <p:cNvSpPr/>
          <p:nvPr/>
        </p:nvSpPr>
        <p:spPr>
          <a:xfrm>
            <a:off x="4754880" y="3675888"/>
            <a:ext cx="4160520" cy="1188720"/>
          </a:xfrm>
          <a:prstGeom prst="rect">
            <a:avLst/>
          </a:prstGeom>
          <a:solidFill>
            <a:srgbClr val="161B22"/>
          </a:solidFill>
          <a:ln w="12700">
            <a:solidFill>
              <a:srgbClr val="30363D"/>
            </a:solidFill>
            <a:prstDash val="solid"/>
          </a:ln>
          <a:effectLst>
            <a:outerShdw blurRad="101600" dist="38100" dir="8100000" algn="bl" rotWithShape="0">
              <a:srgbClr val="000000">
                <a:alpha val="30000"/>
              </a:srgbClr>
            </a:outerShdw>
          </a:effectLst>
        </p:spPr>
      </p:sp>
      <p:sp>
        <p:nvSpPr>
          <p:cNvPr id="32" name="Shape 30"/>
          <p:cNvSpPr/>
          <p:nvPr/>
        </p:nvSpPr>
        <p:spPr>
          <a:xfrm>
            <a:off x="4892040" y="3785616"/>
            <a:ext cx="329184" cy="329184"/>
          </a:xfrm>
          <a:prstGeom prst="ellipse">
            <a:avLst/>
          </a:prstGeom>
          <a:solidFill>
            <a:srgbClr val="F472B6"/>
          </a:solidFill>
          <a:ln w="12700">
            <a:solidFill>
              <a:srgbClr val="F472B6"/>
            </a:solidFill>
            <a:prstDash val="solid"/>
          </a:ln>
        </p:spPr>
      </p:sp>
      <p:sp>
        <p:nvSpPr>
          <p:cNvPr id="33" name="Text 31"/>
          <p:cNvSpPr/>
          <p:nvPr/>
        </p:nvSpPr>
        <p:spPr>
          <a:xfrm>
            <a:off x="4892040" y="3785616"/>
            <a:ext cx="329184" cy="329184"/>
          </a:xfrm>
          <a:prstGeom prst="rect">
            <a:avLst/>
          </a:prstGeom>
          <a:noFill/>
          <a:ln/>
        </p:spPr>
        <p:txBody>
          <a:bodyPr wrap="square" lIns="0" tIns="0" rIns="0" bIns="0" rtlCol="0" anchor="ctr"/>
          <a:lstStyle/>
          <a:p>
            <a:pPr marL="0" indent="0" algn="ctr">
              <a:buNone/>
            </a:pPr>
            <a:r>
              <a:rPr lang="en-US" sz="1300" b="1" dirty="0">
                <a:solidFill>
                  <a:srgbClr val="0D1117"/>
                </a:solidFill>
                <a:latin typeface="Calibri" pitchFamily="34" charset="0"/>
                <a:ea typeface="Calibri" pitchFamily="34" charset="-122"/>
                <a:cs typeface="Calibri" pitchFamily="34" charset="-120"/>
              </a:rPr>
              <a:t>6</a:t>
            </a:r>
            <a:endParaRPr lang="en-US" sz="1300" dirty="0"/>
          </a:p>
        </p:txBody>
      </p:sp>
      <p:sp>
        <p:nvSpPr>
          <p:cNvPr id="34" name="Text 32"/>
          <p:cNvSpPr/>
          <p:nvPr/>
        </p:nvSpPr>
        <p:spPr>
          <a:xfrm>
            <a:off x="5321808" y="3767328"/>
            <a:ext cx="3383280" cy="320040"/>
          </a:xfrm>
          <a:prstGeom prst="rect">
            <a:avLst/>
          </a:prstGeom>
          <a:noFill/>
          <a:ln/>
        </p:spPr>
        <p:txBody>
          <a:bodyPr wrap="square" lIns="0" tIns="0" rIns="0" bIns="0" rtlCol="0" anchor="ctr"/>
          <a:lstStyle/>
          <a:p>
            <a:pPr marL="0" indent="0">
              <a:buNone/>
            </a:pPr>
            <a:r>
              <a:rPr lang="en-US" sz="1100" b="1" dirty="0">
                <a:solidFill>
                  <a:srgbClr val="F0F6FC"/>
                </a:solidFill>
                <a:latin typeface="Calibri" pitchFamily="34" charset="0"/>
                <a:ea typeface="Calibri" pitchFamily="34" charset="-122"/>
                <a:cs typeface="Calibri" pitchFamily="34" charset="-120"/>
              </a:rPr>
              <a:t>MITRE ATT&amp;CK Mapping</a:t>
            </a:r>
            <a:endParaRPr lang="en-US" sz="1100" dirty="0"/>
          </a:p>
        </p:txBody>
      </p:sp>
      <p:sp>
        <p:nvSpPr>
          <p:cNvPr id="35" name="Text 33"/>
          <p:cNvSpPr/>
          <p:nvPr/>
        </p:nvSpPr>
        <p:spPr>
          <a:xfrm>
            <a:off x="5321808" y="3999442"/>
            <a:ext cx="3383280" cy="640080"/>
          </a:xfrm>
          <a:prstGeom prst="rect">
            <a:avLst/>
          </a:prstGeom>
          <a:noFill/>
          <a:ln/>
        </p:spPr>
        <p:txBody>
          <a:bodyPr wrap="square" lIns="0" tIns="0" rIns="0" bIns="0" rtlCol="0" anchor="ctr"/>
          <a:lstStyle/>
          <a:p>
            <a:pPr marL="0" indent="0">
              <a:buNone/>
            </a:pPr>
            <a:r>
              <a:rPr lang="en-US" sz="1100" dirty="0">
                <a:solidFill>
                  <a:srgbClr val="8B949E"/>
                </a:solidFill>
                <a:latin typeface="Calibri" pitchFamily="34" charset="0"/>
                <a:ea typeface="Calibri" pitchFamily="34" charset="-122"/>
                <a:cs typeface="Calibri" pitchFamily="34" charset="-120"/>
              </a:rPr>
              <a:t>List each observed technique with its ID and a one-line explanation of why it applies to this sample.</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61B22"/>
          </a:solidFill>
          <a:ln w="12700">
            <a:solidFill>
              <a:srgbClr val="161B22"/>
            </a:solidFill>
            <a:prstDash val="solid"/>
          </a:ln>
        </p:spPr>
      </p:sp>
      <p:sp>
        <p:nvSpPr>
          <p:cNvPr id="3" name="Shape 1"/>
          <p:cNvSpPr/>
          <p:nvPr/>
        </p:nvSpPr>
        <p:spPr>
          <a:xfrm>
            <a:off x="0" y="685800"/>
            <a:ext cx="9144000" cy="36576"/>
          </a:xfrm>
          <a:prstGeom prst="rect">
            <a:avLst/>
          </a:prstGeom>
          <a:solidFill>
            <a:srgbClr val="00FF88"/>
          </a:solidFill>
          <a:ln w="12700">
            <a:solidFill>
              <a:srgbClr val="00FF88"/>
            </a:solidFill>
            <a:prstDash val="solid"/>
          </a:ln>
        </p:spPr>
      </p:sp>
      <p:sp>
        <p:nvSpPr>
          <p:cNvPr id="4" name="Text 2"/>
          <p:cNvSpPr/>
          <p:nvPr/>
        </p:nvSpPr>
        <p:spPr>
          <a:xfrm>
            <a:off x="320040" y="64008"/>
            <a:ext cx="8503920" cy="548640"/>
          </a:xfrm>
          <a:prstGeom prst="rect">
            <a:avLst/>
          </a:prstGeom>
          <a:noFill/>
          <a:ln/>
        </p:spPr>
        <p:txBody>
          <a:bodyPr wrap="square" lIns="0" tIns="0" rIns="0" bIns="0" rtlCol="0" anchor="ctr"/>
          <a:lstStyle/>
          <a:p>
            <a:pPr marL="0" indent="0">
              <a:buNone/>
            </a:pPr>
            <a:r>
              <a:rPr lang="en-US" sz="2200" b="1" dirty="0">
                <a:solidFill>
                  <a:srgbClr val="F0F6FC"/>
                </a:solidFill>
                <a:latin typeface="Calibri" pitchFamily="34" charset="0"/>
                <a:ea typeface="Calibri" pitchFamily="34" charset="-122"/>
                <a:cs typeface="Calibri" pitchFamily="34" charset="-120"/>
              </a:rPr>
              <a:t>Your Task This Week</a:t>
            </a:r>
            <a:endParaRPr lang="en-US" sz="2200" dirty="0"/>
          </a:p>
        </p:txBody>
      </p:sp>
      <p:sp>
        <p:nvSpPr>
          <p:cNvPr id="6" name="Shape 4"/>
          <p:cNvSpPr/>
          <p:nvPr/>
        </p:nvSpPr>
        <p:spPr>
          <a:xfrm>
            <a:off x="274320" y="868680"/>
            <a:ext cx="8595360" cy="3200400"/>
          </a:xfrm>
          <a:prstGeom prst="rect">
            <a:avLst/>
          </a:prstGeom>
          <a:solidFill>
            <a:srgbClr val="161B22"/>
          </a:solidFill>
          <a:ln w="12700">
            <a:solidFill>
              <a:srgbClr val="30363D"/>
            </a:solidFill>
            <a:prstDash val="solid"/>
          </a:ln>
          <a:effectLst>
            <a:outerShdw blurRad="101600" dist="38100" dir="8100000" algn="bl" rotWithShape="0">
              <a:srgbClr val="000000">
                <a:alpha val="30000"/>
              </a:srgbClr>
            </a:outerShdw>
          </a:effectLst>
        </p:spPr>
      </p:sp>
      <p:sp>
        <p:nvSpPr>
          <p:cNvPr id="7" name="Shape 5"/>
          <p:cNvSpPr/>
          <p:nvPr/>
        </p:nvSpPr>
        <p:spPr>
          <a:xfrm>
            <a:off x="274320" y="868680"/>
            <a:ext cx="73152" cy="3200400"/>
          </a:xfrm>
          <a:prstGeom prst="rect">
            <a:avLst/>
          </a:prstGeom>
          <a:solidFill>
            <a:srgbClr val="00FF88"/>
          </a:solidFill>
          <a:ln w="12700">
            <a:solidFill>
              <a:srgbClr val="00FF88"/>
            </a:solidFill>
            <a:prstDash val="solid"/>
          </a:ln>
        </p:spPr>
      </p:sp>
      <p:sp>
        <p:nvSpPr>
          <p:cNvPr id="8" name="Text 6"/>
          <p:cNvSpPr/>
          <p:nvPr/>
        </p:nvSpPr>
        <p:spPr>
          <a:xfrm>
            <a:off x="502920" y="987552"/>
            <a:ext cx="457200" cy="457200"/>
          </a:xfrm>
          <a:prstGeom prst="rect">
            <a:avLst/>
          </a:prstGeom>
          <a:noFill/>
          <a:ln/>
        </p:spPr>
        <p:txBody>
          <a:bodyPr wrap="square" lIns="0" tIns="0" rIns="0" bIns="0" rtlCol="0" anchor="ctr"/>
          <a:lstStyle/>
          <a:p>
            <a:pPr marL="0" indent="0">
              <a:buNone/>
            </a:pPr>
            <a:r>
              <a:rPr lang="en-US" sz="1400" b="1" dirty="0">
                <a:solidFill>
                  <a:srgbClr val="00FF88"/>
                </a:solidFill>
                <a:latin typeface="Calibri" pitchFamily="34" charset="0"/>
                <a:ea typeface="Calibri" pitchFamily="34" charset="-122"/>
                <a:cs typeface="Calibri" pitchFamily="34" charset="-120"/>
              </a:rPr>
              <a:t>01</a:t>
            </a:r>
            <a:endParaRPr lang="en-US" sz="1400" dirty="0"/>
          </a:p>
        </p:txBody>
      </p:sp>
      <p:sp>
        <p:nvSpPr>
          <p:cNvPr id="9" name="Text 7"/>
          <p:cNvSpPr/>
          <p:nvPr/>
        </p:nvSpPr>
        <p:spPr>
          <a:xfrm>
            <a:off x="1005840" y="1033272"/>
            <a:ext cx="7589520" cy="411480"/>
          </a:xfrm>
          <a:prstGeom prst="rect">
            <a:avLst/>
          </a:prstGeom>
          <a:noFill/>
          <a:ln/>
        </p:spPr>
        <p:txBody>
          <a:bodyPr wrap="square" lIns="0" tIns="0" rIns="0" bIns="0" rtlCol="0" anchor="ctr"/>
          <a:lstStyle/>
          <a:p>
            <a:pPr marL="0" indent="0">
              <a:buNone/>
            </a:pPr>
            <a:r>
              <a:rPr lang="en-US" sz="1050" dirty="0">
                <a:solidFill>
                  <a:srgbClr val="8B949E"/>
                </a:solidFill>
                <a:latin typeface="Calibri" pitchFamily="34" charset="0"/>
                <a:ea typeface="Calibri" pitchFamily="34" charset="-122"/>
                <a:cs typeface="Calibri" pitchFamily="34" charset="-120"/>
              </a:rPr>
              <a:t>Set up your MalwareLab directory and download both samples</a:t>
            </a:r>
            <a:endParaRPr lang="en-US" sz="1050" dirty="0"/>
          </a:p>
        </p:txBody>
      </p:sp>
      <p:sp>
        <p:nvSpPr>
          <p:cNvPr id="10" name="Text 8"/>
          <p:cNvSpPr/>
          <p:nvPr/>
        </p:nvSpPr>
        <p:spPr>
          <a:xfrm>
            <a:off x="502920" y="1609344"/>
            <a:ext cx="457200" cy="457200"/>
          </a:xfrm>
          <a:prstGeom prst="rect">
            <a:avLst/>
          </a:prstGeom>
          <a:noFill/>
          <a:ln/>
        </p:spPr>
        <p:txBody>
          <a:bodyPr wrap="square" lIns="0" tIns="0" rIns="0" bIns="0" rtlCol="0" anchor="ctr"/>
          <a:lstStyle/>
          <a:p>
            <a:pPr marL="0" indent="0">
              <a:buNone/>
            </a:pPr>
            <a:r>
              <a:rPr lang="en-US" sz="1400" b="1" dirty="0">
                <a:solidFill>
                  <a:srgbClr val="00FF88"/>
                </a:solidFill>
                <a:latin typeface="Calibri" pitchFamily="34" charset="0"/>
                <a:ea typeface="Calibri" pitchFamily="34" charset="-122"/>
                <a:cs typeface="Calibri" pitchFamily="34" charset="-120"/>
              </a:rPr>
              <a:t>02</a:t>
            </a:r>
            <a:endParaRPr lang="en-US" sz="1400" dirty="0"/>
          </a:p>
        </p:txBody>
      </p:sp>
      <p:sp>
        <p:nvSpPr>
          <p:cNvPr id="11" name="Text 9"/>
          <p:cNvSpPr/>
          <p:nvPr/>
        </p:nvSpPr>
        <p:spPr>
          <a:xfrm>
            <a:off x="1005840" y="1655064"/>
            <a:ext cx="7589520" cy="411480"/>
          </a:xfrm>
          <a:prstGeom prst="rect">
            <a:avLst/>
          </a:prstGeom>
          <a:noFill/>
          <a:ln/>
        </p:spPr>
        <p:txBody>
          <a:bodyPr wrap="square" lIns="0" tIns="0" rIns="0" bIns="0" rtlCol="0" anchor="ctr"/>
          <a:lstStyle/>
          <a:p>
            <a:pPr marL="0" indent="0">
              <a:buNone/>
            </a:pPr>
            <a:r>
              <a:rPr lang="en-US" sz="1050" dirty="0">
                <a:solidFill>
                  <a:srgbClr val="8B949E"/>
                </a:solidFill>
                <a:latin typeface="Calibri" pitchFamily="34" charset="0"/>
                <a:ea typeface="Calibri" pitchFamily="34" charset="-122"/>
                <a:cs typeface="Calibri" pitchFamily="34" charset="-120"/>
              </a:rPr>
              <a:t>Run ExifTool on both executables and document the key metadata fields in your report</a:t>
            </a:r>
            <a:endParaRPr lang="en-US" sz="1050" dirty="0"/>
          </a:p>
        </p:txBody>
      </p:sp>
      <p:sp>
        <p:nvSpPr>
          <p:cNvPr id="12" name="Text 10"/>
          <p:cNvSpPr/>
          <p:nvPr/>
        </p:nvSpPr>
        <p:spPr>
          <a:xfrm>
            <a:off x="502920" y="2231136"/>
            <a:ext cx="457200" cy="457200"/>
          </a:xfrm>
          <a:prstGeom prst="rect">
            <a:avLst/>
          </a:prstGeom>
          <a:noFill/>
          <a:ln/>
        </p:spPr>
        <p:txBody>
          <a:bodyPr wrap="square" lIns="0" tIns="0" rIns="0" bIns="0" rtlCol="0" anchor="ctr"/>
          <a:lstStyle/>
          <a:p>
            <a:pPr marL="0" indent="0">
              <a:buNone/>
            </a:pPr>
            <a:r>
              <a:rPr lang="en-US" sz="1400" b="1" dirty="0">
                <a:solidFill>
                  <a:srgbClr val="00FF88"/>
                </a:solidFill>
                <a:latin typeface="Calibri" pitchFamily="34" charset="0"/>
                <a:ea typeface="Calibri" pitchFamily="34" charset="-122"/>
                <a:cs typeface="Calibri" pitchFamily="34" charset="-120"/>
              </a:rPr>
              <a:t>03</a:t>
            </a:r>
            <a:endParaRPr lang="en-US" sz="1400" dirty="0"/>
          </a:p>
        </p:txBody>
      </p:sp>
      <p:sp>
        <p:nvSpPr>
          <p:cNvPr id="13" name="Text 11"/>
          <p:cNvSpPr/>
          <p:nvPr/>
        </p:nvSpPr>
        <p:spPr>
          <a:xfrm>
            <a:off x="1005840" y="2276856"/>
            <a:ext cx="7589520" cy="411480"/>
          </a:xfrm>
          <a:prstGeom prst="rect">
            <a:avLst/>
          </a:prstGeom>
          <a:noFill/>
          <a:ln/>
        </p:spPr>
        <p:txBody>
          <a:bodyPr wrap="square" lIns="0" tIns="0" rIns="0" bIns="0" rtlCol="0" anchor="ctr"/>
          <a:lstStyle/>
          <a:p>
            <a:pPr marL="0" indent="0">
              <a:buNone/>
            </a:pPr>
            <a:r>
              <a:rPr lang="en-US" sz="1050" dirty="0">
                <a:solidFill>
                  <a:srgbClr val="8B949E"/>
                </a:solidFill>
                <a:latin typeface="Calibri" pitchFamily="34" charset="0"/>
                <a:ea typeface="Calibri" pitchFamily="34" charset="-122"/>
                <a:cs typeface="Calibri" pitchFamily="34" charset="-120"/>
              </a:rPr>
              <a:t>Run Binwalk on both executables and note any embedded files or compressed sections</a:t>
            </a:r>
            <a:endParaRPr lang="en-US" sz="1050" dirty="0"/>
          </a:p>
        </p:txBody>
      </p:sp>
      <p:sp>
        <p:nvSpPr>
          <p:cNvPr id="14" name="Text 12"/>
          <p:cNvSpPr/>
          <p:nvPr/>
        </p:nvSpPr>
        <p:spPr>
          <a:xfrm>
            <a:off x="502920" y="2852928"/>
            <a:ext cx="457200" cy="457200"/>
          </a:xfrm>
          <a:prstGeom prst="rect">
            <a:avLst/>
          </a:prstGeom>
          <a:noFill/>
          <a:ln/>
        </p:spPr>
        <p:txBody>
          <a:bodyPr wrap="square" lIns="0" tIns="0" rIns="0" bIns="0" rtlCol="0" anchor="ctr"/>
          <a:lstStyle/>
          <a:p>
            <a:pPr marL="0" indent="0">
              <a:buNone/>
            </a:pPr>
            <a:r>
              <a:rPr lang="en-US" sz="1400" b="1" dirty="0">
                <a:solidFill>
                  <a:srgbClr val="00FF88"/>
                </a:solidFill>
                <a:latin typeface="Calibri" pitchFamily="34" charset="0"/>
                <a:ea typeface="Calibri" pitchFamily="34" charset="-122"/>
                <a:cs typeface="Calibri" pitchFamily="34" charset="-120"/>
              </a:rPr>
              <a:t>04</a:t>
            </a:r>
            <a:endParaRPr lang="en-US" sz="1400" dirty="0"/>
          </a:p>
        </p:txBody>
      </p:sp>
      <p:sp>
        <p:nvSpPr>
          <p:cNvPr id="15" name="Text 13"/>
          <p:cNvSpPr/>
          <p:nvPr/>
        </p:nvSpPr>
        <p:spPr>
          <a:xfrm>
            <a:off x="1005840" y="2898648"/>
            <a:ext cx="7589520" cy="411480"/>
          </a:xfrm>
          <a:prstGeom prst="rect">
            <a:avLst/>
          </a:prstGeom>
          <a:noFill/>
          <a:ln/>
        </p:spPr>
        <p:txBody>
          <a:bodyPr wrap="square" lIns="0" tIns="0" rIns="0" bIns="0" rtlCol="0" anchor="ctr"/>
          <a:lstStyle/>
          <a:p>
            <a:pPr marL="0" indent="0">
              <a:buNone/>
            </a:pPr>
            <a:r>
              <a:rPr lang="en-US" sz="1050" dirty="0">
                <a:solidFill>
                  <a:srgbClr val="8B949E"/>
                </a:solidFill>
                <a:latin typeface="Calibri" pitchFamily="34" charset="0"/>
                <a:ea typeface="Calibri" pitchFamily="34" charset="-122"/>
                <a:cs typeface="Calibri" pitchFamily="34" charset="-120"/>
              </a:rPr>
              <a:t>Upload each sample to any.run and run a dynamic analysis. Screenshot the process tree, network activity, and MITRE tags</a:t>
            </a:r>
            <a:endParaRPr lang="en-US" sz="1050" dirty="0"/>
          </a:p>
        </p:txBody>
      </p:sp>
      <p:sp>
        <p:nvSpPr>
          <p:cNvPr id="16" name="Text 14"/>
          <p:cNvSpPr/>
          <p:nvPr/>
        </p:nvSpPr>
        <p:spPr>
          <a:xfrm>
            <a:off x="502920" y="3474720"/>
            <a:ext cx="457200" cy="457200"/>
          </a:xfrm>
          <a:prstGeom prst="rect">
            <a:avLst/>
          </a:prstGeom>
          <a:noFill/>
          <a:ln/>
        </p:spPr>
        <p:txBody>
          <a:bodyPr wrap="square" lIns="0" tIns="0" rIns="0" bIns="0" rtlCol="0" anchor="ctr"/>
          <a:lstStyle/>
          <a:p>
            <a:pPr marL="0" indent="0">
              <a:buNone/>
            </a:pPr>
            <a:r>
              <a:rPr lang="en-US" sz="1400" b="1" dirty="0">
                <a:solidFill>
                  <a:srgbClr val="00FF88"/>
                </a:solidFill>
                <a:latin typeface="Calibri" pitchFamily="34" charset="0"/>
                <a:ea typeface="Calibri" pitchFamily="34" charset="-122"/>
                <a:cs typeface="Calibri" pitchFamily="34" charset="-120"/>
              </a:rPr>
              <a:t>05</a:t>
            </a:r>
            <a:endParaRPr lang="en-US" sz="1400" dirty="0"/>
          </a:p>
        </p:txBody>
      </p:sp>
      <p:sp>
        <p:nvSpPr>
          <p:cNvPr id="17" name="Text 15"/>
          <p:cNvSpPr/>
          <p:nvPr/>
        </p:nvSpPr>
        <p:spPr>
          <a:xfrm>
            <a:off x="1005840" y="3520440"/>
            <a:ext cx="7589520" cy="411480"/>
          </a:xfrm>
          <a:prstGeom prst="rect">
            <a:avLst/>
          </a:prstGeom>
          <a:noFill/>
          <a:ln/>
        </p:spPr>
        <p:txBody>
          <a:bodyPr wrap="square" lIns="0" tIns="0" rIns="0" bIns="0" rtlCol="0" anchor="ctr"/>
          <a:lstStyle/>
          <a:p>
            <a:pPr marL="0" indent="0">
              <a:buNone/>
            </a:pPr>
            <a:r>
              <a:rPr lang="en-US" sz="1050" dirty="0">
                <a:solidFill>
                  <a:srgbClr val="8B949E"/>
                </a:solidFill>
                <a:latin typeface="Calibri" pitchFamily="34" charset="0"/>
                <a:ea typeface="Calibri" pitchFamily="34" charset="-122"/>
                <a:cs typeface="Calibri" pitchFamily="34" charset="-120"/>
              </a:rPr>
              <a:t>Write a structured report for BOTH samples following the 6-section format covered in this session</a:t>
            </a:r>
            <a:endParaRPr lang="en-US" sz="1050" dirty="0"/>
          </a:p>
        </p:txBody>
      </p:sp>
      <p:sp>
        <p:nvSpPr>
          <p:cNvPr id="18" name="Shape 16"/>
          <p:cNvSpPr/>
          <p:nvPr/>
        </p:nvSpPr>
        <p:spPr>
          <a:xfrm>
            <a:off x="274320" y="4206240"/>
            <a:ext cx="8595360" cy="685800"/>
          </a:xfrm>
          <a:prstGeom prst="rect">
            <a:avLst/>
          </a:prstGeom>
          <a:solidFill>
            <a:srgbClr val="1C2128"/>
          </a:solidFill>
          <a:ln w="12700">
            <a:solidFill>
              <a:srgbClr val="30363D"/>
            </a:solidFill>
            <a:prstDash val="solid"/>
          </a:ln>
        </p:spPr>
      </p:sp>
      <p:sp>
        <p:nvSpPr>
          <p:cNvPr id="19" name="Text 17"/>
          <p:cNvSpPr/>
          <p:nvPr/>
        </p:nvSpPr>
        <p:spPr>
          <a:xfrm>
            <a:off x="457200" y="4279392"/>
            <a:ext cx="8229600" cy="502920"/>
          </a:xfrm>
          <a:prstGeom prst="rect">
            <a:avLst/>
          </a:prstGeom>
          <a:noFill/>
          <a:ln/>
        </p:spPr>
        <p:txBody>
          <a:bodyPr wrap="square" lIns="0" tIns="0" rIns="0" bIns="0" rtlCol="0" anchor="ctr"/>
          <a:lstStyle/>
          <a:p>
            <a:pPr marL="0" indent="0">
              <a:buNone/>
            </a:pPr>
            <a:r>
              <a:rPr lang="en-US" sz="1050" b="1" dirty="0">
                <a:solidFill>
                  <a:srgbClr val="FFA502"/>
                </a:solidFill>
                <a:latin typeface="Calibri" pitchFamily="34" charset="0"/>
                <a:ea typeface="Calibri" pitchFamily="34" charset="-122"/>
                <a:cs typeface="Calibri" pitchFamily="34" charset="-120"/>
              </a:rPr>
              <a:t>Submission: </a:t>
            </a:r>
            <a:r>
              <a:rPr lang="en-US" sz="1050" dirty="0">
                <a:solidFill>
                  <a:srgbClr val="8B949E"/>
                </a:solidFill>
                <a:latin typeface="Calibri" pitchFamily="34" charset="0"/>
                <a:ea typeface="Calibri" pitchFamily="34" charset="-122"/>
                <a:cs typeface="Calibri" pitchFamily="34" charset="-120"/>
              </a:rPr>
              <a:t>PDF report + screenshots for each sample. Upload to the course portal before the next session deadline.</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0D1117"/>
        </a:solidFill>
        <a:effectLst/>
      </p:bgPr>
    </p:bg>
    <p:spTree>
      <p:nvGrpSpPr>
        <p:cNvPr id="1" name=""/>
        <p:cNvGrpSpPr/>
        <p:nvPr/>
      </p:nvGrpSpPr>
      <p:grpSpPr>
        <a:xfrm>
          <a:off x="0" y="0"/>
          <a:ext cx="0" cy="0"/>
          <a:chOff x="0" y="0"/>
          <a:chExt cx="0" cy="0"/>
        </a:xfrm>
      </p:grpSpPr>
      <p:sp>
        <p:nvSpPr>
          <p:cNvPr id="2" name="Shape 0"/>
          <p:cNvSpPr/>
          <p:nvPr/>
        </p:nvSpPr>
        <p:spPr>
          <a:xfrm>
            <a:off x="0" y="0"/>
            <a:ext cx="0" cy="5143500"/>
          </a:xfrm>
          <a:prstGeom prst="line">
            <a:avLst/>
          </a:prstGeom>
          <a:noFill/>
          <a:ln w="12700">
            <a:solidFill>
              <a:srgbClr val="161B22"/>
            </a:solidFill>
            <a:prstDash val="solid"/>
          </a:ln>
        </p:spPr>
      </p:sp>
      <p:sp>
        <p:nvSpPr>
          <p:cNvPr id="3" name="Shape 1"/>
          <p:cNvSpPr/>
          <p:nvPr/>
        </p:nvSpPr>
        <p:spPr>
          <a:xfrm>
            <a:off x="502920" y="0"/>
            <a:ext cx="0" cy="5143500"/>
          </a:xfrm>
          <a:prstGeom prst="line">
            <a:avLst/>
          </a:prstGeom>
          <a:noFill/>
          <a:ln w="12700">
            <a:solidFill>
              <a:srgbClr val="161B22"/>
            </a:solidFill>
            <a:prstDash val="solid"/>
          </a:ln>
        </p:spPr>
      </p:sp>
      <p:sp>
        <p:nvSpPr>
          <p:cNvPr id="4" name="Shape 2"/>
          <p:cNvSpPr/>
          <p:nvPr/>
        </p:nvSpPr>
        <p:spPr>
          <a:xfrm>
            <a:off x="1005840" y="0"/>
            <a:ext cx="0" cy="5143500"/>
          </a:xfrm>
          <a:prstGeom prst="line">
            <a:avLst/>
          </a:prstGeom>
          <a:noFill/>
          <a:ln w="12700">
            <a:solidFill>
              <a:srgbClr val="161B22"/>
            </a:solidFill>
            <a:prstDash val="solid"/>
          </a:ln>
        </p:spPr>
      </p:sp>
      <p:sp>
        <p:nvSpPr>
          <p:cNvPr id="5" name="Shape 3"/>
          <p:cNvSpPr/>
          <p:nvPr/>
        </p:nvSpPr>
        <p:spPr>
          <a:xfrm>
            <a:off x="1508760" y="0"/>
            <a:ext cx="0" cy="5143500"/>
          </a:xfrm>
          <a:prstGeom prst="line">
            <a:avLst/>
          </a:prstGeom>
          <a:noFill/>
          <a:ln w="12700">
            <a:solidFill>
              <a:srgbClr val="161B22"/>
            </a:solidFill>
            <a:prstDash val="solid"/>
          </a:ln>
        </p:spPr>
      </p:sp>
      <p:sp>
        <p:nvSpPr>
          <p:cNvPr id="6" name="Shape 4"/>
          <p:cNvSpPr/>
          <p:nvPr/>
        </p:nvSpPr>
        <p:spPr>
          <a:xfrm>
            <a:off x="2011680" y="0"/>
            <a:ext cx="0" cy="5143500"/>
          </a:xfrm>
          <a:prstGeom prst="line">
            <a:avLst/>
          </a:prstGeom>
          <a:noFill/>
          <a:ln w="12700">
            <a:solidFill>
              <a:srgbClr val="161B22"/>
            </a:solidFill>
            <a:prstDash val="solid"/>
          </a:ln>
        </p:spPr>
      </p:sp>
      <p:sp>
        <p:nvSpPr>
          <p:cNvPr id="7" name="Shape 5"/>
          <p:cNvSpPr/>
          <p:nvPr/>
        </p:nvSpPr>
        <p:spPr>
          <a:xfrm>
            <a:off x="2514600" y="0"/>
            <a:ext cx="0" cy="5143500"/>
          </a:xfrm>
          <a:prstGeom prst="line">
            <a:avLst/>
          </a:prstGeom>
          <a:noFill/>
          <a:ln w="12700">
            <a:solidFill>
              <a:srgbClr val="161B22"/>
            </a:solidFill>
            <a:prstDash val="solid"/>
          </a:ln>
        </p:spPr>
      </p:sp>
      <p:sp>
        <p:nvSpPr>
          <p:cNvPr id="8" name="Shape 6"/>
          <p:cNvSpPr/>
          <p:nvPr/>
        </p:nvSpPr>
        <p:spPr>
          <a:xfrm>
            <a:off x="3017520" y="0"/>
            <a:ext cx="0" cy="5143500"/>
          </a:xfrm>
          <a:prstGeom prst="line">
            <a:avLst/>
          </a:prstGeom>
          <a:noFill/>
          <a:ln w="12700">
            <a:solidFill>
              <a:srgbClr val="161B22"/>
            </a:solidFill>
            <a:prstDash val="solid"/>
          </a:ln>
        </p:spPr>
      </p:sp>
      <p:sp>
        <p:nvSpPr>
          <p:cNvPr id="9" name="Shape 7"/>
          <p:cNvSpPr/>
          <p:nvPr/>
        </p:nvSpPr>
        <p:spPr>
          <a:xfrm>
            <a:off x="3520440" y="0"/>
            <a:ext cx="0" cy="5143500"/>
          </a:xfrm>
          <a:prstGeom prst="line">
            <a:avLst/>
          </a:prstGeom>
          <a:noFill/>
          <a:ln w="12700">
            <a:solidFill>
              <a:srgbClr val="161B22"/>
            </a:solidFill>
            <a:prstDash val="solid"/>
          </a:ln>
        </p:spPr>
      </p:sp>
      <p:sp>
        <p:nvSpPr>
          <p:cNvPr id="10" name="Shape 8"/>
          <p:cNvSpPr/>
          <p:nvPr/>
        </p:nvSpPr>
        <p:spPr>
          <a:xfrm>
            <a:off x="4023360" y="0"/>
            <a:ext cx="0" cy="5143500"/>
          </a:xfrm>
          <a:prstGeom prst="line">
            <a:avLst/>
          </a:prstGeom>
          <a:noFill/>
          <a:ln w="12700">
            <a:solidFill>
              <a:srgbClr val="161B22"/>
            </a:solidFill>
            <a:prstDash val="solid"/>
          </a:ln>
        </p:spPr>
      </p:sp>
      <p:sp>
        <p:nvSpPr>
          <p:cNvPr id="11" name="Shape 9"/>
          <p:cNvSpPr/>
          <p:nvPr/>
        </p:nvSpPr>
        <p:spPr>
          <a:xfrm>
            <a:off x="4526280" y="0"/>
            <a:ext cx="0" cy="5143500"/>
          </a:xfrm>
          <a:prstGeom prst="line">
            <a:avLst/>
          </a:prstGeom>
          <a:noFill/>
          <a:ln w="12700">
            <a:solidFill>
              <a:srgbClr val="161B22"/>
            </a:solidFill>
            <a:prstDash val="solid"/>
          </a:ln>
        </p:spPr>
      </p:sp>
      <p:sp>
        <p:nvSpPr>
          <p:cNvPr id="12" name="Shape 10"/>
          <p:cNvSpPr/>
          <p:nvPr/>
        </p:nvSpPr>
        <p:spPr>
          <a:xfrm>
            <a:off x="5029200" y="0"/>
            <a:ext cx="0" cy="5143500"/>
          </a:xfrm>
          <a:prstGeom prst="line">
            <a:avLst/>
          </a:prstGeom>
          <a:noFill/>
          <a:ln w="12700">
            <a:solidFill>
              <a:srgbClr val="161B22"/>
            </a:solidFill>
            <a:prstDash val="solid"/>
          </a:ln>
        </p:spPr>
      </p:sp>
      <p:sp>
        <p:nvSpPr>
          <p:cNvPr id="13" name="Shape 11"/>
          <p:cNvSpPr/>
          <p:nvPr/>
        </p:nvSpPr>
        <p:spPr>
          <a:xfrm>
            <a:off x="5532120" y="0"/>
            <a:ext cx="0" cy="5143500"/>
          </a:xfrm>
          <a:prstGeom prst="line">
            <a:avLst/>
          </a:prstGeom>
          <a:noFill/>
          <a:ln w="12700">
            <a:solidFill>
              <a:srgbClr val="161B22"/>
            </a:solidFill>
            <a:prstDash val="solid"/>
          </a:ln>
        </p:spPr>
      </p:sp>
      <p:sp>
        <p:nvSpPr>
          <p:cNvPr id="14" name="Shape 12"/>
          <p:cNvSpPr/>
          <p:nvPr/>
        </p:nvSpPr>
        <p:spPr>
          <a:xfrm>
            <a:off x="6035040" y="0"/>
            <a:ext cx="0" cy="5143500"/>
          </a:xfrm>
          <a:prstGeom prst="line">
            <a:avLst/>
          </a:prstGeom>
          <a:noFill/>
          <a:ln w="12700">
            <a:solidFill>
              <a:srgbClr val="161B22"/>
            </a:solidFill>
            <a:prstDash val="solid"/>
          </a:ln>
        </p:spPr>
      </p:sp>
      <p:sp>
        <p:nvSpPr>
          <p:cNvPr id="15" name="Shape 13"/>
          <p:cNvSpPr/>
          <p:nvPr/>
        </p:nvSpPr>
        <p:spPr>
          <a:xfrm>
            <a:off x="6537960" y="0"/>
            <a:ext cx="0" cy="5143500"/>
          </a:xfrm>
          <a:prstGeom prst="line">
            <a:avLst/>
          </a:prstGeom>
          <a:noFill/>
          <a:ln w="12700">
            <a:solidFill>
              <a:srgbClr val="161B22"/>
            </a:solidFill>
            <a:prstDash val="solid"/>
          </a:ln>
        </p:spPr>
      </p:sp>
      <p:sp>
        <p:nvSpPr>
          <p:cNvPr id="16" name="Shape 14"/>
          <p:cNvSpPr/>
          <p:nvPr/>
        </p:nvSpPr>
        <p:spPr>
          <a:xfrm>
            <a:off x="7040880" y="0"/>
            <a:ext cx="0" cy="5143500"/>
          </a:xfrm>
          <a:prstGeom prst="line">
            <a:avLst/>
          </a:prstGeom>
          <a:noFill/>
          <a:ln w="12700">
            <a:solidFill>
              <a:srgbClr val="161B22"/>
            </a:solidFill>
            <a:prstDash val="solid"/>
          </a:ln>
        </p:spPr>
      </p:sp>
      <p:sp>
        <p:nvSpPr>
          <p:cNvPr id="17" name="Shape 15"/>
          <p:cNvSpPr/>
          <p:nvPr/>
        </p:nvSpPr>
        <p:spPr>
          <a:xfrm>
            <a:off x="7543800" y="0"/>
            <a:ext cx="0" cy="5143500"/>
          </a:xfrm>
          <a:prstGeom prst="line">
            <a:avLst/>
          </a:prstGeom>
          <a:noFill/>
          <a:ln w="12700">
            <a:solidFill>
              <a:srgbClr val="161B22"/>
            </a:solidFill>
            <a:prstDash val="solid"/>
          </a:ln>
        </p:spPr>
      </p:sp>
      <p:sp>
        <p:nvSpPr>
          <p:cNvPr id="18" name="Shape 16"/>
          <p:cNvSpPr/>
          <p:nvPr/>
        </p:nvSpPr>
        <p:spPr>
          <a:xfrm>
            <a:off x="8046720" y="0"/>
            <a:ext cx="0" cy="5143500"/>
          </a:xfrm>
          <a:prstGeom prst="line">
            <a:avLst/>
          </a:prstGeom>
          <a:noFill/>
          <a:ln w="12700">
            <a:solidFill>
              <a:srgbClr val="161B22"/>
            </a:solidFill>
            <a:prstDash val="solid"/>
          </a:ln>
        </p:spPr>
      </p:sp>
      <p:sp>
        <p:nvSpPr>
          <p:cNvPr id="19" name="Shape 17"/>
          <p:cNvSpPr/>
          <p:nvPr/>
        </p:nvSpPr>
        <p:spPr>
          <a:xfrm>
            <a:off x="8549640" y="0"/>
            <a:ext cx="0" cy="5143500"/>
          </a:xfrm>
          <a:prstGeom prst="line">
            <a:avLst/>
          </a:prstGeom>
          <a:noFill/>
          <a:ln w="12700">
            <a:solidFill>
              <a:srgbClr val="161B22"/>
            </a:solidFill>
            <a:prstDash val="solid"/>
          </a:ln>
        </p:spPr>
      </p:sp>
      <p:sp>
        <p:nvSpPr>
          <p:cNvPr id="20" name="Shape 18"/>
          <p:cNvSpPr/>
          <p:nvPr/>
        </p:nvSpPr>
        <p:spPr>
          <a:xfrm>
            <a:off x="9052560" y="0"/>
            <a:ext cx="0" cy="5143500"/>
          </a:xfrm>
          <a:prstGeom prst="line">
            <a:avLst/>
          </a:prstGeom>
          <a:noFill/>
          <a:ln w="12700">
            <a:solidFill>
              <a:srgbClr val="161B22"/>
            </a:solidFill>
            <a:prstDash val="solid"/>
          </a:ln>
        </p:spPr>
      </p:sp>
      <p:sp>
        <p:nvSpPr>
          <p:cNvPr id="21" name="Shape 19"/>
          <p:cNvSpPr/>
          <p:nvPr/>
        </p:nvSpPr>
        <p:spPr>
          <a:xfrm>
            <a:off x="9555480" y="0"/>
            <a:ext cx="0" cy="5143500"/>
          </a:xfrm>
          <a:prstGeom prst="line">
            <a:avLst/>
          </a:prstGeom>
          <a:noFill/>
          <a:ln w="12700">
            <a:solidFill>
              <a:srgbClr val="161B22"/>
            </a:solidFill>
            <a:prstDash val="solid"/>
          </a:ln>
        </p:spPr>
      </p:sp>
      <p:sp>
        <p:nvSpPr>
          <p:cNvPr id="22" name="Shape 20"/>
          <p:cNvSpPr/>
          <p:nvPr/>
        </p:nvSpPr>
        <p:spPr>
          <a:xfrm>
            <a:off x="0" y="1645920"/>
            <a:ext cx="9144000" cy="2011680"/>
          </a:xfrm>
          <a:prstGeom prst="rect">
            <a:avLst/>
          </a:prstGeom>
          <a:solidFill>
            <a:srgbClr val="161B22"/>
          </a:solidFill>
          <a:ln w="12700">
            <a:solidFill>
              <a:srgbClr val="30363D"/>
            </a:solidFill>
            <a:prstDash val="solid"/>
          </a:ln>
        </p:spPr>
      </p:sp>
      <p:sp>
        <p:nvSpPr>
          <p:cNvPr id="23" name="Shape 21"/>
          <p:cNvSpPr/>
          <p:nvPr/>
        </p:nvSpPr>
        <p:spPr>
          <a:xfrm>
            <a:off x="0" y="1645920"/>
            <a:ext cx="109728" cy="2011680"/>
          </a:xfrm>
          <a:prstGeom prst="rect">
            <a:avLst/>
          </a:prstGeom>
          <a:solidFill>
            <a:srgbClr val="00FF88"/>
          </a:solidFill>
          <a:ln w="12700">
            <a:solidFill>
              <a:srgbClr val="00FF88"/>
            </a:solidFill>
            <a:prstDash val="solid"/>
          </a:ln>
        </p:spPr>
      </p:sp>
      <p:sp>
        <p:nvSpPr>
          <p:cNvPr id="24" name="Text 22"/>
          <p:cNvSpPr/>
          <p:nvPr/>
        </p:nvSpPr>
        <p:spPr>
          <a:xfrm>
            <a:off x="457200" y="1691640"/>
            <a:ext cx="8229600" cy="777240"/>
          </a:xfrm>
          <a:prstGeom prst="rect">
            <a:avLst/>
          </a:prstGeom>
          <a:noFill/>
          <a:ln/>
        </p:spPr>
        <p:txBody>
          <a:bodyPr wrap="square" lIns="0" tIns="0" rIns="0" bIns="0" rtlCol="0" anchor="ctr"/>
          <a:lstStyle/>
          <a:p>
            <a:pPr marL="0" indent="0">
              <a:buNone/>
            </a:pPr>
            <a:r>
              <a:rPr lang="en-US" sz="4600" b="1" dirty="0">
                <a:solidFill>
                  <a:srgbClr val="F0F6FC"/>
                </a:solidFill>
                <a:latin typeface="Calibri" pitchFamily="34" charset="0"/>
                <a:ea typeface="Calibri" pitchFamily="34" charset="-122"/>
                <a:cs typeface="Calibri" pitchFamily="34" charset="-120"/>
              </a:rPr>
              <a:t>Questions?</a:t>
            </a:r>
            <a:endParaRPr lang="en-US" sz="4600" dirty="0"/>
          </a:p>
        </p:txBody>
      </p:sp>
      <p:sp>
        <p:nvSpPr>
          <p:cNvPr id="25" name="Text 23"/>
          <p:cNvSpPr/>
          <p:nvPr/>
        </p:nvSpPr>
        <p:spPr>
          <a:xfrm>
            <a:off x="457200" y="2514600"/>
            <a:ext cx="8229600" cy="457200"/>
          </a:xfrm>
          <a:prstGeom prst="rect">
            <a:avLst/>
          </a:prstGeom>
          <a:noFill/>
          <a:ln/>
        </p:spPr>
        <p:txBody>
          <a:bodyPr wrap="square" lIns="0" tIns="0" rIns="0" bIns="0" rtlCol="0" anchor="ctr"/>
          <a:lstStyle/>
          <a:p>
            <a:pPr marL="0" indent="0">
              <a:buNone/>
            </a:pPr>
            <a:r>
              <a:rPr lang="en-US" sz="1300" dirty="0">
                <a:solidFill>
                  <a:srgbClr val="8B949E"/>
                </a:solidFill>
                <a:latin typeface="Calibri" pitchFamily="34" charset="0"/>
                <a:ea typeface="Calibri" pitchFamily="34" charset="-122"/>
                <a:cs typeface="Calibri" pitchFamily="34" charset="-120"/>
              </a:rPr>
              <a:t>Head to the demo — watch closely, take notes, and ask anything that is unclear.</a:t>
            </a:r>
            <a:endParaRPr lang="en-US" sz="1300" dirty="0"/>
          </a:p>
        </p:txBody>
      </p:sp>
      <p:sp>
        <p:nvSpPr>
          <p:cNvPr id="26" name="Text 24"/>
          <p:cNvSpPr/>
          <p:nvPr/>
        </p:nvSpPr>
        <p:spPr>
          <a:xfrm>
            <a:off x="457200" y="4389120"/>
            <a:ext cx="8229600" cy="365760"/>
          </a:xfrm>
          <a:prstGeom prst="rect">
            <a:avLst/>
          </a:prstGeom>
          <a:noFill/>
          <a:ln/>
        </p:spPr>
        <p:txBody>
          <a:bodyPr wrap="square" lIns="0" tIns="0" rIns="0" bIns="0" rtlCol="0" anchor="ctr"/>
          <a:lstStyle/>
          <a:p>
            <a:pPr marL="0" indent="0" algn="ctr">
              <a:buNone/>
            </a:pPr>
            <a:r>
              <a:rPr lang="en-US" sz="1100" b="1" dirty="0">
                <a:solidFill>
                  <a:srgbClr val="00FF88"/>
                </a:solidFill>
                <a:latin typeface="Calibri" pitchFamily="34" charset="0"/>
                <a:ea typeface="Calibri" pitchFamily="34" charset="-122"/>
                <a:cs typeface="Calibri" pitchFamily="34" charset="-120"/>
              </a:rPr>
              <a:t>any.run  </a:t>
            </a:r>
            <a:r>
              <a:rPr lang="en-US" sz="1100" dirty="0">
                <a:solidFill>
                  <a:srgbClr val="8B949E"/>
                </a:solidFill>
                <a:latin typeface="Calibri" pitchFamily="34" charset="0"/>
                <a:ea typeface="Calibri" pitchFamily="34" charset="-122"/>
                <a:cs typeface="Calibri" pitchFamily="34" charset="-120"/>
              </a:rPr>
              <a:t>|  </a:t>
            </a:r>
            <a:r>
              <a:rPr lang="en-US" sz="1100" b="1" dirty="0">
                <a:solidFill>
                  <a:srgbClr val="00FF88"/>
                </a:solidFill>
                <a:latin typeface="Calibri" pitchFamily="34" charset="0"/>
                <a:ea typeface="Calibri" pitchFamily="34" charset="-122"/>
                <a:cs typeface="Calibri" pitchFamily="34" charset="-120"/>
              </a:rPr>
              <a:t>theZoo Repository  </a:t>
            </a:r>
            <a:r>
              <a:rPr lang="en-US" sz="1100" dirty="0">
                <a:solidFill>
                  <a:srgbClr val="8B949E"/>
                </a:solidFill>
                <a:latin typeface="Calibri" pitchFamily="34" charset="0"/>
                <a:ea typeface="Calibri" pitchFamily="34" charset="-122"/>
                <a:cs typeface="Calibri" pitchFamily="34" charset="-120"/>
              </a:rPr>
              <a:t>|  </a:t>
            </a:r>
            <a:r>
              <a:rPr lang="en-US" sz="1100" b="1" dirty="0">
                <a:solidFill>
                  <a:srgbClr val="00FF88"/>
                </a:solidFill>
                <a:latin typeface="Calibri" pitchFamily="34" charset="0"/>
                <a:ea typeface="Calibri" pitchFamily="34" charset="-122"/>
                <a:cs typeface="Calibri" pitchFamily="34" charset="-120"/>
              </a:rPr>
              <a:t>MITRE ATT&amp;CK  </a:t>
            </a:r>
            <a:r>
              <a:rPr lang="en-US" sz="1100" dirty="0">
                <a:solidFill>
                  <a:srgbClr val="8B949E"/>
                </a:solidFill>
                <a:latin typeface="Calibri" pitchFamily="34" charset="0"/>
                <a:ea typeface="Calibri" pitchFamily="34" charset="-122"/>
                <a:cs typeface="Calibri" pitchFamily="34" charset="-120"/>
              </a:rPr>
              <a:t>|  </a:t>
            </a:r>
            <a:r>
              <a:rPr lang="en-US" sz="1100" b="1" dirty="0">
                <a:solidFill>
                  <a:srgbClr val="00FF88"/>
                </a:solidFill>
                <a:latin typeface="Calibri" pitchFamily="34" charset="0"/>
                <a:ea typeface="Calibri" pitchFamily="34" charset="-122"/>
                <a:cs typeface="Calibri" pitchFamily="34" charset="-120"/>
              </a:rPr>
              <a:t>VirusTotal</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TotalTime>
  <Words>1336</Words>
  <Application>Microsoft Office PowerPoint</Application>
  <PresentationFormat>On-screen Show (16:9)</PresentationFormat>
  <Paragraphs>182</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5 - Malware Analysis</dc:title>
  <dc:subject>PptxGenJS Presentation</dc:subject>
  <dc:creator>PptxGenJS</dc:creator>
  <cp:lastModifiedBy>Abdullah Zia</cp:lastModifiedBy>
  <cp:revision>3</cp:revision>
  <dcterms:created xsi:type="dcterms:W3CDTF">2026-03-30T14:59:03Z</dcterms:created>
  <dcterms:modified xsi:type="dcterms:W3CDTF">2026-07-19T14:05:46Z</dcterms:modified>
</cp:coreProperties>
</file>